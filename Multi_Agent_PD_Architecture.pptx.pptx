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alibri (MS) Bold" charset="1" panose="020F0702030404030204"/>
      <p:regular r:id="rId17"/>
    </p:embeddedFont>
    <p:embeddedFont>
      <p:font typeface="Calibri (MS)" charset="1" panose="020F0502020204030204"/>
      <p:regular r:id="rId18"/>
    </p:embeddedFont>
    <p:embeddedFont>
      <p:font typeface="Calibri (MS) Italics" charset="1" panose="020F05020202040A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notesSlides/notesSlide3.xml" Type="http://schemas.openxmlformats.org/officeDocument/2006/relationships/notesSlide"/><Relationship Id="rId21" Target="fonts/font21.fntdata" Type="http://schemas.openxmlformats.org/officeDocument/2006/relationships/font"/><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00ACC1"/>
            </a:solidFill>
          </p:spPr>
        </p:sp>
      </p:grpSp>
      <p:grpSp>
        <p:nvGrpSpPr>
          <p:cNvPr name="Group 4" id="4"/>
          <p:cNvGrpSpPr/>
          <p:nvPr/>
        </p:nvGrpSpPr>
        <p:grpSpPr>
          <a:xfrm rot="0">
            <a:off x="13487582" y="0"/>
            <a:ext cx="4800418" cy="10287000"/>
            <a:chOff x="0" y="0"/>
            <a:chExt cx="6400557" cy="13716000"/>
          </a:xfrm>
        </p:grpSpPr>
        <p:sp>
          <p:nvSpPr>
            <p:cNvPr name="Freeform 5" id="5"/>
            <p:cNvSpPr/>
            <p:nvPr/>
          </p:nvSpPr>
          <p:spPr>
            <a:xfrm flipH="false" flipV="false" rot="0">
              <a:off x="0" y="0"/>
              <a:ext cx="6400557" cy="13716000"/>
            </a:xfrm>
            <a:custGeom>
              <a:avLst/>
              <a:gdLst/>
              <a:ahLst/>
              <a:cxnLst/>
              <a:rect r="r" b="b" t="t" l="l"/>
              <a:pathLst>
                <a:path h="13716000" w="6400557">
                  <a:moveTo>
                    <a:pt x="0" y="0"/>
                  </a:moveTo>
                  <a:lnTo>
                    <a:pt x="6400557" y="0"/>
                  </a:lnTo>
                  <a:lnTo>
                    <a:pt x="6400557" y="13716000"/>
                  </a:lnTo>
                  <a:lnTo>
                    <a:pt x="0" y="13716000"/>
                  </a:lnTo>
                  <a:close/>
                </a:path>
              </a:pathLst>
            </a:custGeom>
            <a:solidFill>
              <a:srgbClr val="0A2540">
                <a:alpha val="48627"/>
              </a:srgbClr>
            </a:solidFill>
          </p:spPr>
        </p:sp>
      </p:grpSp>
      <p:grpSp>
        <p:nvGrpSpPr>
          <p:cNvPr name="Group 6" id="6"/>
          <p:cNvGrpSpPr/>
          <p:nvPr/>
        </p:nvGrpSpPr>
        <p:grpSpPr>
          <a:xfrm rot="0">
            <a:off x="16145767" y="0"/>
            <a:ext cx="2142233" cy="10287000"/>
            <a:chOff x="0" y="0"/>
            <a:chExt cx="2856311" cy="13716000"/>
          </a:xfrm>
        </p:grpSpPr>
        <p:sp>
          <p:nvSpPr>
            <p:cNvPr name="Freeform 7" id="7"/>
            <p:cNvSpPr/>
            <p:nvPr/>
          </p:nvSpPr>
          <p:spPr>
            <a:xfrm flipH="false" flipV="false" rot="0">
              <a:off x="0" y="0"/>
              <a:ext cx="2856311" cy="13716000"/>
            </a:xfrm>
            <a:custGeom>
              <a:avLst/>
              <a:gdLst/>
              <a:ahLst/>
              <a:cxnLst/>
              <a:rect r="r" b="b" t="t" l="l"/>
              <a:pathLst>
                <a:path h="13716000" w="2856311">
                  <a:moveTo>
                    <a:pt x="0" y="0"/>
                  </a:moveTo>
                  <a:lnTo>
                    <a:pt x="2856311" y="0"/>
                  </a:lnTo>
                  <a:lnTo>
                    <a:pt x="2856311" y="13716000"/>
                  </a:lnTo>
                  <a:lnTo>
                    <a:pt x="0" y="13716000"/>
                  </a:lnTo>
                  <a:close/>
                </a:path>
              </a:pathLst>
            </a:custGeom>
            <a:solidFill>
              <a:srgbClr val="1E88E5">
                <a:alpha val="5882"/>
              </a:srgbClr>
            </a:solidFill>
          </p:spPr>
        </p:sp>
      </p:grpSp>
      <p:grpSp>
        <p:nvGrpSpPr>
          <p:cNvPr name="Group 8" id="8"/>
          <p:cNvGrpSpPr/>
          <p:nvPr/>
        </p:nvGrpSpPr>
        <p:grpSpPr>
          <a:xfrm rot="0">
            <a:off x="566928" y="388620"/>
            <a:ext cx="10972800" cy="640080"/>
            <a:chOff x="0" y="0"/>
            <a:chExt cx="14630400" cy="853440"/>
          </a:xfrm>
        </p:grpSpPr>
        <p:sp>
          <p:nvSpPr>
            <p:cNvPr name="Freeform 9" id="9"/>
            <p:cNvSpPr/>
            <p:nvPr/>
          </p:nvSpPr>
          <p:spPr>
            <a:xfrm flipH="false" flipV="false" rot="0">
              <a:off x="0" y="0"/>
              <a:ext cx="14630400" cy="853440"/>
            </a:xfrm>
            <a:custGeom>
              <a:avLst/>
              <a:gdLst/>
              <a:ahLst/>
              <a:cxnLst/>
              <a:rect r="r" b="b" t="t" l="l"/>
              <a:pathLst>
                <a:path h="853440" w="14630400">
                  <a:moveTo>
                    <a:pt x="0" y="0"/>
                  </a:moveTo>
                  <a:lnTo>
                    <a:pt x="14630400" y="0"/>
                  </a:lnTo>
                  <a:lnTo>
                    <a:pt x="14630400" y="853440"/>
                  </a:lnTo>
                  <a:lnTo>
                    <a:pt x="0" y="853440"/>
                  </a:lnTo>
                  <a:close/>
                </a:path>
              </a:pathLst>
            </a:custGeom>
            <a:blipFill>
              <a:blip r:embed="rId3">
                <a:alphaModFix amt="0"/>
              </a:blip>
              <a:stretch>
                <a:fillRect l="0" t="-284029" r="0" b="-284029"/>
              </a:stretch>
            </a:blipFill>
          </p:spPr>
        </p:sp>
        <p:sp>
          <p:nvSpPr>
            <p:cNvPr name="TextBox 10" id="10"/>
            <p:cNvSpPr txBox="true"/>
            <p:nvPr/>
          </p:nvSpPr>
          <p:spPr>
            <a:xfrm>
              <a:off x="0" y="-38100"/>
              <a:ext cx="14630400" cy="891540"/>
            </a:xfrm>
            <a:prstGeom prst="rect">
              <a:avLst/>
            </a:prstGeom>
          </p:spPr>
          <p:txBody>
            <a:bodyPr anchor="ctr" rtlCol="false" tIns="0" lIns="0" bIns="0" rIns="0"/>
            <a:lstStyle/>
            <a:p>
              <a:pPr algn="l">
                <a:lnSpc>
                  <a:spcPts val="2160"/>
                </a:lnSpc>
              </a:pPr>
              <a:r>
                <a:rPr lang="en-US" b="true" sz="1800" spc="599">
                  <a:solidFill>
                    <a:srgbClr val="00ACC1"/>
                  </a:solidFill>
                  <a:latin typeface="Calibri (MS) Bold"/>
                  <a:ea typeface="Calibri (MS) Bold"/>
                  <a:cs typeface="Calibri (MS) Bold"/>
                  <a:sym typeface="Calibri (MS) Bold"/>
                </a:rPr>
                <a:t>PRODUCT DEVELOPMENT INTELLIGENCE</a:t>
              </a:r>
            </a:p>
          </p:txBody>
        </p:sp>
      </p:grpSp>
      <p:grpSp>
        <p:nvGrpSpPr>
          <p:cNvPr name="Group 11" id="11"/>
          <p:cNvGrpSpPr/>
          <p:nvPr/>
        </p:nvGrpSpPr>
        <p:grpSpPr>
          <a:xfrm rot="0">
            <a:off x="566928" y="1724918"/>
            <a:ext cx="15235939" cy="2813745"/>
            <a:chOff x="0" y="0"/>
            <a:chExt cx="20314585" cy="3751659"/>
          </a:xfrm>
        </p:grpSpPr>
        <p:sp>
          <p:nvSpPr>
            <p:cNvPr name="Freeform 12" id="12"/>
            <p:cNvSpPr/>
            <p:nvPr/>
          </p:nvSpPr>
          <p:spPr>
            <a:xfrm flipH="false" flipV="false" rot="0">
              <a:off x="0" y="0"/>
              <a:ext cx="20314585" cy="3751659"/>
            </a:xfrm>
            <a:custGeom>
              <a:avLst/>
              <a:gdLst/>
              <a:ahLst/>
              <a:cxnLst/>
              <a:rect r="r" b="b" t="t" l="l"/>
              <a:pathLst>
                <a:path h="3751659" w="20314585">
                  <a:moveTo>
                    <a:pt x="0" y="0"/>
                  </a:moveTo>
                  <a:lnTo>
                    <a:pt x="20314585" y="0"/>
                  </a:lnTo>
                  <a:lnTo>
                    <a:pt x="20314585" y="3751659"/>
                  </a:lnTo>
                  <a:lnTo>
                    <a:pt x="0" y="3751659"/>
                  </a:lnTo>
                  <a:close/>
                </a:path>
              </a:pathLst>
            </a:custGeom>
            <a:blipFill>
              <a:blip r:embed="rId3">
                <a:alphaModFix amt="0"/>
              </a:blip>
              <a:stretch>
                <a:fillRect l="0" t="-59235" r="9976" b="-30729"/>
              </a:stretch>
            </a:blipFill>
          </p:spPr>
        </p:sp>
        <p:sp>
          <p:nvSpPr>
            <p:cNvPr name="TextBox 13" id="13"/>
            <p:cNvSpPr txBox="true"/>
            <p:nvPr/>
          </p:nvSpPr>
          <p:spPr>
            <a:xfrm>
              <a:off x="0" y="-161925"/>
              <a:ext cx="20314585" cy="3913584"/>
            </a:xfrm>
            <a:prstGeom prst="rect">
              <a:avLst/>
            </a:prstGeom>
          </p:spPr>
          <p:txBody>
            <a:bodyPr anchor="ctr" rtlCol="false" tIns="0" lIns="0" bIns="0" rIns="0"/>
            <a:lstStyle/>
            <a:p>
              <a:pPr algn="l">
                <a:lnSpc>
                  <a:spcPts val="9600"/>
                </a:lnSpc>
              </a:pPr>
              <a:r>
                <a:rPr lang="en-US" sz="8000" b="true">
                  <a:solidFill>
                    <a:srgbClr val="FFFFFF"/>
                  </a:solidFill>
                  <a:latin typeface="Calibri (MS) Bold"/>
                  <a:ea typeface="Calibri (MS) Bold"/>
                  <a:cs typeface="Calibri (MS) Bold"/>
                  <a:sym typeface="Calibri (MS) Bold"/>
                </a:rPr>
                <a:t>Intelligent </a:t>
              </a:r>
              <a:r>
                <a:rPr lang="en-US" sz="8000" b="true">
                  <a:solidFill>
                    <a:srgbClr val="FFFFFF"/>
                  </a:solidFill>
                  <a:latin typeface="Calibri (MS) Bold"/>
                  <a:ea typeface="Calibri (MS) Bold"/>
                  <a:cs typeface="Calibri (MS) Bold"/>
                  <a:sym typeface="Calibri (MS) Bold"/>
                </a:rPr>
                <a:t>Multi-Agent Architecture for Product Development</a:t>
              </a:r>
            </a:p>
          </p:txBody>
        </p:sp>
      </p:grpSp>
      <p:grpSp>
        <p:nvGrpSpPr>
          <p:cNvPr name="Group 14" id="14"/>
          <p:cNvGrpSpPr/>
          <p:nvPr/>
        </p:nvGrpSpPr>
        <p:grpSpPr>
          <a:xfrm rot="0">
            <a:off x="731520" y="7862610"/>
            <a:ext cx="13716000" cy="1645920"/>
            <a:chOff x="0" y="0"/>
            <a:chExt cx="18288000" cy="2194560"/>
          </a:xfrm>
        </p:grpSpPr>
        <p:sp>
          <p:nvSpPr>
            <p:cNvPr name="Freeform 15" id="15"/>
            <p:cNvSpPr/>
            <p:nvPr/>
          </p:nvSpPr>
          <p:spPr>
            <a:xfrm flipH="false" flipV="false" rot="0">
              <a:off x="0" y="0"/>
              <a:ext cx="18288000" cy="2194560"/>
            </a:xfrm>
            <a:custGeom>
              <a:avLst/>
              <a:gdLst/>
              <a:ahLst/>
              <a:cxnLst/>
              <a:rect r="r" b="b" t="t" l="l"/>
              <a:pathLst>
                <a:path h="2194560" w="18288000">
                  <a:moveTo>
                    <a:pt x="0" y="0"/>
                  </a:moveTo>
                  <a:lnTo>
                    <a:pt x="18288000" y="0"/>
                  </a:lnTo>
                  <a:lnTo>
                    <a:pt x="18288000" y="2194560"/>
                  </a:lnTo>
                  <a:lnTo>
                    <a:pt x="0" y="2194560"/>
                  </a:lnTo>
                  <a:close/>
                </a:path>
              </a:pathLst>
            </a:custGeom>
            <a:solidFill>
              <a:srgbClr val="00ACC1">
                <a:alpha val="0"/>
              </a:srgbClr>
            </a:solidFill>
          </p:spPr>
        </p:sp>
        <p:sp>
          <p:nvSpPr>
            <p:cNvPr name="TextBox 16" id="16"/>
            <p:cNvSpPr txBox="true"/>
            <p:nvPr/>
          </p:nvSpPr>
          <p:spPr>
            <a:xfrm>
              <a:off x="0" y="-66675"/>
              <a:ext cx="18288000" cy="2261235"/>
            </a:xfrm>
            <a:prstGeom prst="rect">
              <a:avLst/>
            </a:prstGeom>
          </p:spPr>
          <p:txBody>
            <a:bodyPr anchor="ctr" rtlCol="false" tIns="0" lIns="0" bIns="0" rIns="0"/>
            <a:lstStyle/>
            <a:p>
              <a:pPr algn="l">
                <a:lnSpc>
                  <a:spcPts val="3600"/>
                </a:lnSpc>
              </a:pPr>
              <a:r>
                <a:rPr lang="en-US" sz="3000">
                  <a:solidFill>
                    <a:srgbClr val="90CAF9"/>
                  </a:solidFill>
                  <a:latin typeface="Calibri (MS)"/>
                  <a:ea typeface="Calibri (MS)"/>
                  <a:cs typeface="Calibri (MS)"/>
                  <a:sym typeface="Calibri (MS)"/>
                </a:rPr>
                <a:t>Madhupranavi S</a:t>
              </a:r>
            </a:p>
            <a:p>
              <a:pPr algn="l">
                <a:lnSpc>
                  <a:spcPts val="3600"/>
                </a:lnSpc>
              </a:pPr>
              <a:r>
                <a:rPr lang="en-US" sz="3000">
                  <a:solidFill>
                    <a:srgbClr val="90CAF9"/>
                  </a:solidFill>
                  <a:latin typeface="Calibri (MS)"/>
                  <a:ea typeface="Calibri (MS)"/>
                  <a:cs typeface="Calibri (MS)"/>
                  <a:sym typeface="Calibri (MS)"/>
                </a:rPr>
                <a:t>Revanth </a:t>
              </a:r>
            </a:p>
            <a:p>
              <a:pPr algn="l">
                <a:lnSpc>
                  <a:spcPts val="3600"/>
                </a:lnSpc>
              </a:pPr>
              <a:r>
                <a:rPr lang="en-US" sz="3000">
                  <a:solidFill>
                    <a:srgbClr val="90CAF9"/>
                  </a:solidFill>
                  <a:latin typeface="Calibri (MS)"/>
                  <a:ea typeface="Calibri (MS)"/>
                  <a:cs typeface="Calibri (MS)"/>
                  <a:sym typeface="Calibri (MS)"/>
                </a:rPr>
                <a:t>Siddhant</a:t>
              </a:r>
            </a:p>
          </p:txBody>
        </p:sp>
      </p:grpSp>
      <p:grpSp>
        <p:nvGrpSpPr>
          <p:cNvPr name="Group 17" id="17"/>
          <p:cNvGrpSpPr/>
          <p:nvPr/>
        </p:nvGrpSpPr>
        <p:grpSpPr>
          <a:xfrm rot="0">
            <a:off x="731520" y="5927598"/>
            <a:ext cx="11338560" cy="1554480"/>
            <a:chOff x="0" y="0"/>
            <a:chExt cx="15118080" cy="2072640"/>
          </a:xfrm>
        </p:grpSpPr>
        <p:sp>
          <p:nvSpPr>
            <p:cNvPr name="Freeform 18" id="18"/>
            <p:cNvSpPr/>
            <p:nvPr/>
          </p:nvSpPr>
          <p:spPr>
            <a:xfrm flipH="false" flipV="false" rot="0">
              <a:off x="0" y="0"/>
              <a:ext cx="15118080" cy="2072640"/>
            </a:xfrm>
            <a:custGeom>
              <a:avLst/>
              <a:gdLst/>
              <a:ahLst/>
              <a:cxnLst/>
              <a:rect r="r" b="b" t="t" l="l"/>
              <a:pathLst>
                <a:path h="2072640" w="15118080">
                  <a:moveTo>
                    <a:pt x="0" y="0"/>
                  </a:moveTo>
                  <a:lnTo>
                    <a:pt x="15118080" y="0"/>
                  </a:lnTo>
                  <a:lnTo>
                    <a:pt x="15118080" y="2072640"/>
                  </a:lnTo>
                  <a:lnTo>
                    <a:pt x="0" y="2072640"/>
                  </a:lnTo>
                  <a:close/>
                </a:path>
              </a:pathLst>
            </a:custGeom>
            <a:blipFill>
              <a:blip r:embed="rId3">
                <a:alphaModFix amt="0"/>
              </a:blip>
              <a:stretch>
                <a:fillRect l="0" t="-92126" r="0" b="-92126"/>
              </a:stretch>
            </a:blipFill>
          </p:spPr>
        </p:sp>
        <p:sp>
          <p:nvSpPr>
            <p:cNvPr name="TextBox 19" id="19"/>
            <p:cNvSpPr txBox="true"/>
            <p:nvPr/>
          </p:nvSpPr>
          <p:spPr>
            <a:xfrm>
              <a:off x="0" y="-57150"/>
              <a:ext cx="15118080" cy="2129790"/>
            </a:xfrm>
            <a:prstGeom prst="rect">
              <a:avLst/>
            </a:prstGeom>
          </p:spPr>
          <p:txBody>
            <a:bodyPr anchor="ctr" rtlCol="false" tIns="0" lIns="0" bIns="0" rIns="0"/>
            <a:lstStyle/>
            <a:p>
              <a:pPr algn="l">
                <a:lnSpc>
                  <a:spcPts val="3599"/>
                </a:lnSpc>
              </a:pPr>
              <a:r>
                <a:rPr lang="en-US" sz="2999">
                  <a:solidFill>
                    <a:srgbClr val="90CAF9"/>
                  </a:solidFill>
                  <a:latin typeface="Calibri (MS)"/>
                  <a:ea typeface="Calibri (MS)"/>
                  <a:cs typeface="Calibri (MS)"/>
                  <a:sym typeface="Calibri (MS)"/>
                </a:rPr>
                <a:t>A hierarchical, modular AI framework</a:t>
              </a:r>
            </a:p>
            <a:p>
              <a:pPr algn="l">
                <a:lnSpc>
                  <a:spcPts val="3599"/>
                </a:lnSpc>
              </a:pPr>
              <a:r>
                <a:rPr lang="en-US" sz="2999">
                  <a:solidFill>
                    <a:srgbClr val="90CAF9"/>
                  </a:solidFill>
                  <a:latin typeface="Calibri (MS)"/>
                  <a:ea typeface="Calibri (MS)"/>
                  <a:cs typeface="Calibri (MS)"/>
                  <a:sym typeface="Calibri (MS)"/>
                </a:rPr>
                <a:t>spanning vehicle systems from concept to validation</a:t>
              </a:r>
            </a:p>
          </p:txBody>
        </p:sp>
      </p:grpSp>
      <p:grpSp>
        <p:nvGrpSpPr>
          <p:cNvPr name="Group 20" id="20"/>
          <p:cNvGrpSpPr/>
          <p:nvPr/>
        </p:nvGrpSpPr>
        <p:grpSpPr>
          <a:xfrm rot="0">
            <a:off x="731520" y="7454646"/>
            <a:ext cx="10058400" cy="54864"/>
            <a:chOff x="0" y="0"/>
            <a:chExt cx="13411200" cy="73152"/>
          </a:xfrm>
        </p:grpSpPr>
        <p:sp>
          <p:nvSpPr>
            <p:cNvPr name="Freeform 21" id="21"/>
            <p:cNvSpPr/>
            <p:nvPr/>
          </p:nvSpPr>
          <p:spPr>
            <a:xfrm flipH="false" flipV="false" rot="0">
              <a:off x="0" y="0"/>
              <a:ext cx="13411200" cy="73152"/>
            </a:xfrm>
            <a:custGeom>
              <a:avLst/>
              <a:gdLst/>
              <a:ahLst/>
              <a:cxnLst/>
              <a:rect r="r" b="b" t="t" l="l"/>
              <a:pathLst>
                <a:path h="73152" w="13411200">
                  <a:moveTo>
                    <a:pt x="0" y="0"/>
                  </a:moveTo>
                  <a:lnTo>
                    <a:pt x="13411200" y="0"/>
                  </a:lnTo>
                  <a:lnTo>
                    <a:pt x="13411200" y="73152"/>
                  </a:lnTo>
                  <a:lnTo>
                    <a:pt x="0" y="73152"/>
                  </a:lnTo>
                  <a:close/>
                </a:path>
              </a:pathLst>
            </a:custGeom>
            <a:solidFill>
              <a:srgbClr val="00838F"/>
            </a:solid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123801"/>
            <a:chOff x="0" y="0"/>
            <a:chExt cx="21945600" cy="1498402"/>
          </a:xfrm>
        </p:grpSpPr>
        <p:sp>
          <p:nvSpPr>
            <p:cNvPr name="Freeform 3" id="3"/>
            <p:cNvSpPr/>
            <p:nvPr/>
          </p:nvSpPr>
          <p:spPr>
            <a:xfrm flipH="false" flipV="false" rot="0">
              <a:off x="0" y="0"/>
              <a:ext cx="21945600" cy="1498402"/>
            </a:xfrm>
            <a:custGeom>
              <a:avLst/>
              <a:gdLst/>
              <a:ahLst/>
              <a:cxnLst/>
              <a:rect r="r" b="b" t="t" l="l"/>
              <a:pathLst>
                <a:path h="1498402" w="21945600">
                  <a:moveTo>
                    <a:pt x="0" y="0"/>
                  </a:moveTo>
                  <a:lnTo>
                    <a:pt x="21945600" y="0"/>
                  </a:lnTo>
                  <a:lnTo>
                    <a:pt x="21945600" y="1498402"/>
                  </a:lnTo>
                  <a:lnTo>
                    <a:pt x="0" y="1498402"/>
                  </a:lnTo>
                  <a:close/>
                </a:path>
              </a:pathLst>
            </a:custGeom>
            <a:blipFill>
              <a:blip r:embed="rId3">
                <a:alphaModFix amt="0"/>
              </a:blip>
              <a:stretch>
                <a:fillRect l="0" t="-240626" r="0" b="-230129"/>
              </a:stretch>
            </a:blipFill>
          </p:spPr>
        </p:sp>
        <p:sp>
          <p:nvSpPr>
            <p:cNvPr name="TextBox 4" id="4"/>
            <p:cNvSpPr txBox="true"/>
            <p:nvPr/>
          </p:nvSpPr>
          <p:spPr>
            <a:xfrm>
              <a:off x="0" y="-114300"/>
              <a:ext cx="21945600" cy="1612702"/>
            </a:xfrm>
            <a:prstGeom prst="rect">
              <a:avLst/>
            </a:prstGeom>
          </p:spPr>
          <p:txBody>
            <a:bodyPr anchor="ctr" rtlCol="false" tIns="0" lIns="0" bIns="0" rIns="0"/>
            <a:lstStyle/>
            <a:p>
              <a:pPr algn="l">
                <a:lnSpc>
                  <a:spcPts val="6719"/>
                </a:lnSpc>
              </a:pPr>
              <a:r>
                <a:rPr lang="en-US" sz="5599" b="true">
                  <a:solidFill>
                    <a:srgbClr val="0D1B2A"/>
                  </a:solidFill>
                  <a:latin typeface="Calibri (MS) Bold"/>
                  <a:ea typeface="Calibri (MS) Bold"/>
                  <a:cs typeface="Calibri (MS) Bold"/>
                  <a:sym typeface="Calibri (MS) Bold"/>
                </a:rPr>
                <a:t>The Problem We're Solving</a:t>
              </a:r>
            </a:p>
          </p:txBody>
        </p:sp>
      </p:grpSp>
      <p:grpSp>
        <p:nvGrpSpPr>
          <p:cNvPr name="Group 5" id="5"/>
          <p:cNvGrpSpPr/>
          <p:nvPr/>
        </p:nvGrpSpPr>
        <p:grpSpPr>
          <a:xfrm rot="0">
            <a:off x="640080" y="1526591"/>
            <a:ext cx="16733520" cy="55778"/>
            <a:chOff x="0" y="0"/>
            <a:chExt cx="21945600" cy="73152"/>
          </a:xfrm>
        </p:grpSpPr>
        <p:sp>
          <p:nvSpPr>
            <p:cNvPr name="Freeform 6" id="6"/>
            <p:cNvSpPr/>
            <p:nvPr/>
          </p:nvSpPr>
          <p:spPr>
            <a:xfrm flipH="false" flipV="false" rot="0">
              <a:off x="0" y="0"/>
              <a:ext cx="21945600" cy="73152"/>
            </a:xfrm>
            <a:custGeom>
              <a:avLst/>
              <a:gdLst/>
              <a:ahLst/>
              <a:cxnLst/>
              <a:rect r="r" b="b" t="t" l="l"/>
              <a:pathLst>
                <a:path h="73152" w="21945600">
                  <a:moveTo>
                    <a:pt x="0" y="0"/>
                  </a:moveTo>
                  <a:lnTo>
                    <a:pt x="21945600" y="0"/>
                  </a:lnTo>
                  <a:lnTo>
                    <a:pt x="21945600" y="73152"/>
                  </a:lnTo>
                  <a:lnTo>
                    <a:pt x="0" y="73152"/>
                  </a:lnTo>
                  <a:close/>
                </a:path>
              </a:pathLst>
            </a:custGeom>
            <a:solidFill>
              <a:srgbClr val="F0F4F8"/>
            </a:solidFill>
          </p:spPr>
        </p:sp>
      </p:grpSp>
      <p:grpSp>
        <p:nvGrpSpPr>
          <p:cNvPr name="Group 7" id="7"/>
          <p:cNvGrpSpPr/>
          <p:nvPr/>
        </p:nvGrpSpPr>
        <p:grpSpPr>
          <a:xfrm rot="0">
            <a:off x="640080" y="2011680"/>
            <a:ext cx="16733520" cy="8002196"/>
            <a:chOff x="0" y="0"/>
            <a:chExt cx="22311360" cy="10669594"/>
          </a:xfrm>
        </p:grpSpPr>
        <p:sp>
          <p:nvSpPr>
            <p:cNvPr name="Freeform 8" id="8"/>
            <p:cNvSpPr/>
            <p:nvPr/>
          </p:nvSpPr>
          <p:spPr>
            <a:xfrm flipH="false" flipV="false" rot="0">
              <a:off x="0" y="0"/>
              <a:ext cx="22311361" cy="10669594"/>
            </a:xfrm>
            <a:custGeom>
              <a:avLst/>
              <a:gdLst/>
              <a:ahLst/>
              <a:cxnLst/>
              <a:rect r="r" b="b" t="t" l="l"/>
              <a:pathLst>
                <a:path h="10669594" w="22311361">
                  <a:moveTo>
                    <a:pt x="0" y="0"/>
                  </a:moveTo>
                  <a:lnTo>
                    <a:pt x="22311361" y="0"/>
                  </a:lnTo>
                  <a:lnTo>
                    <a:pt x="22311361" y="10669594"/>
                  </a:lnTo>
                  <a:lnTo>
                    <a:pt x="0" y="10669594"/>
                  </a:lnTo>
                  <a:close/>
                </a:path>
              </a:pathLst>
            </a:custGeom>
            <a:solidFill>
              <a:srgbClr val="F7FAFF"/>
            </a:solidFill>
          </p:spPr>
        </p:sp>
      </p:grpSp>
      <p:grpSp>
        <p:nvGrpSpPr>
          <p:cNvPr name="Group 9" id="9"/>
          <p:cNvGrpSpPr/>
          <p:nvPr/>
        </p:nvGrpSpPr>
        <p:grpSpPr>
          <a:xfrm rot="0">
            <a:off x="640080" y="1781065"/>
            <a:ext cx="16733520" cy="340343"/>
            <a:chOff x="0" y="0"/>
            <a:chExt cx="7193280" cy="146304"/>
          </a:xfrm>
        </p:grpSpPr>
        <p:sp>
          <p:nvSpPr>
            <p:cNvPr name="Freeform 10" id="10"/>
            <p:cNvSpPr/>
            <p:nvPr/>
          </p:nvSpPr>
          <p:spPr>
            <a:xfrm flipH="false" flipV="false" rot="0">
              <a:off x="0" y="0"/>
              <a:ext cx="7193280" cy="146304"/>
            </a:xfrm>
            <a:custGeom>
              <a:avLst/>
              <a:gdLst/>
              <a:ahLst/>
              <a:cxnLst/>
              <a:rect r="r" b="b" t="t" l="l"/>
              <a:pathLst>
                <a:path h="146304" w="7193280">
                  <a:moveTo>
                    <a:pt x="0" y="0"/>
                  </a:moveTo>
                  <a:lnTo>
                    <a:pt x="7193280" y="0"/>
                  </a:lnTo>
                  <a:lnTo>
                    <a:pt x="7193280" y="146304"/>
                  </a:lnTo>
                  <a:lnTo>
                    <a:pt x="0" y="146304"/>
                  </a:lnTo>
                  <a:close/>
                </a:path>
              </a:pathLst>
            </a:custGeom>
            <a:solidFill>
              <a:srgbClr val="1565C0"/>
            </a:solidFill>
          </p:spPr>
        </p:sp>
      </p:grpSp>
      <p:grpSp>
        <p:nvGrpSpPr>
          <p:cNvPr name="Group 11" id="11"/>
          <p:cNvGrpSpPr/>
          <p:nvPr/>
        </p:nvGrpSpPr>
        <p:grpSpPr>
          <a:xfrm rot="0">
            <a:off x="914400" y="2321433"/>
            <a:ext cx="4846320" cy="1188720"/>
            <a:chOff x="0" y="0"/>
            <a:chExt cx="6461760" cy="1584960"/>
          </a:xfrm>
        </p:grpSpPr>
        <p:sp>
          <p:nvSpPr>
            <p:cNvPr name="Freeform 12" id="12"/>
            <p:cNvSpPr/>
            <p:nvPr/>
          </p:nvSpPr>
          <p:spPr>
            <a:xfrm flipH="false" flipV="false" rot="0">
              <a:off x="0" y="0"/>
              <a:ext cx="6461760" cy="1584960"/>
            </a:xfrm>
            <a:custGeom>
              <a:avLst/>
              <a:gdLst/>
              <a:ahLst/>
              <a:cxnLst/>
              <a:rect r="r" b="b" t="t" l="l"/>
              <a:pathLst>
                <a:path h="1584960" w="6461760">
                  <a:moveTo>
                    <a:pt x="0" y="0"/>
                  </a:moveTo>
                  <a:lnTo>
                    <a:pt x="6461760" y="0"/>
                  </a:lnTo>
                  <a:lnTo>
                    <a:pt x="6461760" y="1584960"/>
                  </a:lnTo>
                  <a:lnTo>
                    <a:pt x="0" y="1584960"/>
                  </a:lnTo>
                  <a:close/>
                </a:path>
              </a:pathLst>
            </a:custGeom>
            <a:blipFill>
              <a:blip r:embed="rId3">
                <a:alphaModFix amt="0"/>
              </a:blip>
              <a:stretch>
                <a:fillRect l="0" t="-29439" r="0" b="-29438"/>
              </a:stretch>
            </a:blipFill>
          </p:spPr>
        </p:sp>
        <p:sp>
          <p:nvSpPr>
            <p:cNvPr name="TextBox 13" id="13"/>
            <p:cNvSpPr txBox="true"/>
            <p:nvPr/>
          </p:nvSpPr>
          <p:spPr>
            <a:xfrm>
              <a:off x="0" y="-66675"/>
              <a:ext cx="6461760" cy="1651635"/>
            </a:xfrm>
            <a:prstGeom prst="rect">
              <a:avLst/>
            </a:prstGeom>
          </p:spPr>
          <p:txBody>
            <a:bodyPr anchor="ctr" rtlCol="false" tIns="0" lIns="0" bIns="0" rIns="0"/>
            <a:lstStyle/>
            <a:p>
              <a:pPr algn="l">
                <a:lnSpc>
                  <a:spcPts val="3600"/>
                </a:lnSpc>
              </a:pPr>
              <a:r>
                <a:rPr lang="en-US" sz="3000" b="true">
                  <a:solidFill>
                    <a:srgbClr val="0D1B2A"/>
                  </a:solidFill>
                  <a:latin typeface="Calibri (MS) Bold"/>
                  <a:ea typeface="Calibri (MS) Bold"/>
                  <a:cs typeface="Calibri (MS) Bold"/>
                  <a:sym typeface="Calibri (MS) Bold"/>
                </a:rPr>
                <a:t>Scope:</a:t>
              </a:r>
            </a:p>
          </p:txBody>
        </p:sp>
      </p:grpSp>
      <p:grpSp>
        <p:nvGrpSpPr>
          <p:cNvPr name="Group 14" id="14"/>
          <p:cNvGrpSpPr/>
          <p:nvPr/>
        </p:nvGrpSpPr>
        <p:grpSpPr>
          <a:xfrm rot="0">
            <a:off x="914400" y="3277359"/>
            <a:ext cx="15948480" cy="3252378"/>
            <a:chOff x="0" y="0"/>
            <a:chExt cx="21264640" cy="4336504"/>
          </a:xfrm>
        </p:grpSpPr>
        <p:sp>
          <p:nvSpPr>
            <p:cNvPr name="Freeform 15" id="15"/>
            <p:cNvSpPr/>
            <p:nvPr/>
          </p:nvSpPr>
          <p:spPr>
            <a:xfrm flipH="false" flipV="false" rot="0">
              <a:off x="0" y="0"/>
              <a:ext cx="21264638" cy="4336504"/>
            </a:xfrm>
            <a:custGeom>
              <a:avLst/>
              <a:gdLst/>
              <a:ahLst/>
              <a:cxnLst/>
              <a:rect r="r" b="b" t="t" l="l"/>
              <a:pathLst>
                <a:path h="4336504" w="21264638">
                  <a:moveTo>
                    <a:pt x="0" y="0"/>
                  </a:moveTo>
                  <a:lnTo>
                    <a:pt x="21264638" y="0"/>
                  </a:lnTo>
                  <a:lnTo>
                    <a:pt x="21264638" y="4336504"/>
                  </a:lnTo>
                  <a:lnTo>
                    <a:pt x="0" y="4336504"/>
                  </a:lnTo>
                  <a:close/>
                </a:path>
              </a:pathLst>
            </a:custGeom>
            <a:blipFill>
              <a:blip r:embed="rId3">
                <a:alphaModFix amt="0"/>
              </a:blip>
              <a:stretch>
                <a:fillRect l="-9817" t="0" r="59795" b="4409"/>
              </a:stretch>
            </a:blipFill>
          </p:spPr>
        </p:sp>
        <p:sp>
          <p:nvSpPr>
            <p:cNvPr name="TextBox 16" id="16"/>
            <p:cNvSpPr txBox="true"/>
            <p:nvPr/>
          </p:nvSpPr>
          <p:spPr>
            <a:xfrm>
              <a:off x="0" y="-57150"/>
              <a:ext cx="21264640" cy="4393654"/>
            </a:xfrm>
            <a:prstGeom prst="rect">
              <a:avLst/>
            </a:prstGeom>
          </p:spPr>
          <p:txBody>
            <a:bodyPr anchor="ctr" rtlCol="false" tIns="0" lIns="0" bIns="0" rIns="0"/>
            <a:lstStyle/>
            <a:p>
              <a:pPr algn="l" marL="561337" indent="-280669" lvl="1">
                <a:lnSpc>
                  <a:spcPts val="3119"/>
                </a:lnSpc>
                <a:buFont typeface="Arial"/>
                <a:buChar char="•"/>
              </a:pPr>
              <a:r>
                <a:rPr lang="en-US" sz="2599">
                  <a:solidFill>
                    <a:srgbClr val="546E7A"/>
                  </a:solidFill>
                  <a:latin typeface="Calibri (MS)"/>
                  <a:ea typeface="Calibri (MS)"/>
                  <a:cs typeface="Calibri (MS)"/>
                  <a:sym typeface="Calibri (MS)"/>
                </a:rPr>
                <a:t>M</a:t>
              </a:r>
              <a:r>
                <a:rPr lang="en-US" sz="2599">
                  <a:solidFill>
                    <a:srgbClr val="546E7A"/>
                  </a:solidFill>
                  <a:latin typeface="Calibri (MS)"/>
                  <a:ea typeface="Calibri (MS)"/>
                  <a:cs typeface="Calibri (MS)"/>
                  <a:sym typeface="Calibri (MS)"/>
                </a:rPr>
                <a:t>ulti-domain Product Development — The framework spans all major engineering systems in a vehicle program — Integration, Vehicle System, CAB, E&amp;E, Drivetrain, and Engine — each with their own subsystems and design complexity</a:t>
              </a:r>
            </a:p>
            <a:p>
              <a:pPr algn="l" marL="561337" indent="-280669" lvl="1">
                <a:lnSpc>
                  <a:spcPts val="3119"/>
                </a:lnSpc>
                <a:buFont typeface="Arial"/>
                <a:buChar char="•"/>
              </a:pPr>
              <a:r>
                <a:rPr lang="en-US" sz="2599">
                  <a:solidFill>
                    <a:srgbClr val="546E7A"/>
                  </a:solidFill>
                  <a:latin typeface="Calibri (MS)"/>
                  <a:ea typeface="Calibri (MS)"/>
                  <a:cs typeface="Calibri (MS)"/>
                  <a:sym typeface="Calibri (MS)"/>
                </a:rPr>
                <a:t>Subsystem-level intelligence — Within each domain, individual subsystems such as Frames, Suspension, Steering, and Fuel System are addressed independently with their own dedicated agent layer</a:t>
              </a:r>
            </a:p>
            <a:p>
              <a:pPr algn="l" marL="561337" indent="-280669" lvl="1">
                <a:lnSpc>
                  <a:spcPts val="3119"/>
                </a:lnSpc>
                <a:buFont typeface="Arial"/>
                <a:buChar char="•"/>
              </a:pPr>
              <a:r>
                <a:rPr lang="en-US" sz="2599">
                  <a:solidFill>
                    <a:srgbClr val="546E7A"/>
                  </a:solidFill>
                  <a:latin typeface="Calibri (MS)"/>
                  <a:ea typeface="Calibri (MS)"/>
                  <a:cs typeface="Calibri (MS)"/>
                  <a:sym typeface="Calibri (MS)"/>
                </a:rPr>
                <a:t>End-to-end engineering tasks — Each subsystem covers the full engineering workflow — from expert advisory and design calculations through to verification, validation, and failure mode analysis</a:t>
              </a:r>
            </a:p>
            <a:p>
              <a:pPr algn="l">
                <a:lnSpc>
                  <a:spcPts val="3119"/>
                </a:lnSpc>
              </a:pPr>
            </a:p>
          </p:txBody>
        </p:sp>
      </p:grpSp>
      <p:grpSp>
        <p:nvGrpSpPr>
          <p:cNvPr name="Group 17" id="17"/>
          <p:cNvGrpSpPr/>
          <p:nvPr/>
        </p:nvGrpSpPr>
        <p:grpSpPr>
          <a:xfrm rot="0">
            <a:off x="914400" y="6294247"/>
            <a:ext cx="4846320" cy="1188720"/>
            <a:chOff x="0" y="0"/>
            <a:chExt cx="6461760" cy="1584960"/>
          </a:xfrm>
        </p:grpSpPr>
        <p:sp>
          <p:nvSpPr>
            <p:cNvPr name="Freeform 18" id="18"/>
            <p:cNvSpPr/>
            <p:nvPr/>
          </p:nvSpPr>
          <p:spPr>
            <a:xfrm flipH="false" flipV="false" rot="0">
              <a:off x="0" y="0"/>
              <a:ext cx="6461760" cy="1584960"/>
            </a:xfrm>
            <a:custGeom>
              <a:avLst/>
              <a:gdLst/>
              <a:ahLst/>
              <a:cxnLst/>
              <a:rect r="r" b="b" t="t" l="l"/>
              <a:pathLst>
                <a:path h="1584960" w="6461760">
                  <a:moveTo>
                    <a:pt x="0" y="0"/>
                  </a:moveTo>
                  <a:lnTo>
                    <a:pt x="6461760" y="0"/>
                  </a:lnTo>
                  <a:lnTo>
                    <a:pt x="6461760" y="1584960"/>
                  </a:lnTo>
                  <a:lnTo>
                    <a:pt x="0" y="1584960"/>
                  </a:lnTo>
                  <a:close/>
                </a:path>
              </a:pathLst>
            </a:custGeom>
            <a:blipFill>
              <a:blip r:embed="rId3">
                <a:alphaModFix amt="0"/>
              </a:blip>
              <a:stretch>
                <a:fillRect l="0" t="-29439" r="0" b="-29438"/>
              </a:stretch>
            </a:blipFill>
          </p:spPr>
        </p:sp>
        <p:sp>
          <p:nvSpPr>
            <p:cNvPr name="TextBox 19" id="19"/>
            <p:cNvSpPr txBox="true"/>
            <p:nvPr/>
          </p:nvSpPr>
          <p:spPr>
            <a:xfrm>
              <a:off x="0" y="-66675"/>
              <a:ext cx="6461760" cy="1651635"/>
            </a:xfrm>
            <a:prstGeom prst="rect">
              <a:avLst/>
            </a:prstGeom>
          </p:spPr>
          <p:txBody>
            <a:bodyPr anchor="ctr" rtlCol="false" tIns="0" lIns="0" bIns="0" rIns="0"/>
            <a:lstStyle/>
            <a:p>
              <a:pPr algn="l">
                <a:lnSpc>
                  <a:spcPts val="3600"/>
                </a:lnSpc>
              </a:pPr>
              <a:r>
                <a:rPr lang="en-US" sz="3000" b="true">
                  <a:solidFill>
                    <a:srgbClr val="0D1B2A"/>
                  </a:solidFill>
                  <a:latin typeface="Calibri (MS) Bold"/>
                  <a:ea typeface="Calibri (MS) Bold"/>
                  <a:cs typeface="Calibri (MS) Bold"/>
                  <a:sym typeface="Calibri (MS) Bold"/>
                </a:rPr>
                <a:t>Vision:</a:t>
              </a:r>
            </a:p>
          </p:txBody>
        </p:sp>
      </p:grpSp>
      <p:grpSp>
        <p:nvGrpSpPr>
          <p:cNvPr name="Group 20" id="20"/>
          <p:cNvGrpSpPr/>
          <p:nvPr/>
        </p:nvGrpSpPr>
        <p:grpSpPr>
          <a:xfrm rot="0">
            <a:off x="1028700" y="7482967"/>
            <a:ext cx="15948480" cy="2080803"/>
            <a:chOff x="0" y="0"/>
            <a:chExt cx="21264640" cy="2774404"/>
          </a:xfrm>
        </p:grpSpPr>
        <p:sp>
          <p:nvSpPr>
            <p:cNvPr name="Freeform 21" id="21"/>
            <p:cNvSpPr/>
            <p:nvPr/>
          </p:nvSpPr>
          <p:spPr>
            <a:xfrm flipH="false" flipV="false" rot="0">
              <a:off x="0" y="0"/>
              <a:ext cx="21264638" cy="2774404"/>
            </a:xfrm>
            <a:custGeom>
              <a:avLst/>
              <a:gdLst/>
              <a:ahLst/>
              <a:cxnLst/>
              <a:rect r="r" b="b" t="t" l="l"/>
              <a:pathLst>
                <a:path h="2774404" w="21264638">
                  <a:moveTo>
                    <a:pt x="0" y="0"/>
                  </a:moveTo>
                  <a:lnTo>
                    <a:pt x="21264638" y="0"/>
                  </a:lnTo>
                  <a:lnTo>
                    <a:pt x="21264638" y="2774404"/>
                  </a:lnTo>
                  <a:lnTo>
                    <a:pt x="0" y="2774404"/>
                  </a:lnTo>
                  <a:close/>
                </a:path>
              </a:pathLst>
            </a:custGeom>
            <a:blipFill>
              <a:blip r:embed="rId3">
                <a:alphaModFix amt="0"/>
              </a:blip>
              <a:stretch>
                <a:fillRect l="-9817" t="0" r="59795" b="-49411"/>
              </a:stretch>
            </a:blipFill>
          </p:spPr>
        </p:sp>
        <p:sp>
          <p:nvSpPr>
            <p:cNvPr name="TextBox 22" id="22"/>
            <p:cNvSpPr txBox="true"/>
            <p:nvPr/>
          </p:nvSpPr>
          <p:spPr>
            <a:xfrm>
              <a:off x="0" y="-57150"/>
              <a:ext cx="21264640" cy="2831554"/>
            </a:xfrm>
            <a:prstGeom prst="rect">
              <a:avLst/>
            </a:prstGeom>
          </p:spPr>
          <p:txBody>
            <a:bodyPr anchor="ctr" rtlCol="false" tIns="0" lIns="0" bIns="0" rIns="0"/>
            <a:lstStyle/>
            <a:p>
              <a:pPr algn="l">
                <a:lnSpc>
                  <a:spcPts val="3120"/>
                </a:lnSpc>
              </a:pPr>
              <a:r>
                <a:rPr lang="en-US" sz="2600">
                  <a:solidFill>
                    <a:srgbClr val="546E7A"/>
                  </a:solidFill>
                  <a:latin typeface="Calibri (MS)"/>
                  <a:ea typeface="Calibri (MS)"/>
                  <a:cs typeface="Calibri (MS)"/>
                  <a:sym typeface="Calibri (MS)"/>
                </a:rPr>
                <a:t>A connected, a</a:t>
              </a:r>
              <a:r>
                <a:rPr lang="en-US" sz="2600">
                  <a:solidFill>
                    <a:srgbClr val="546E7A"/>
                  </a:solidFill>
                  <a:latin typeface="Calibri (MS)"/>
                  <a:ea typeface="Calibri (MS)"/>
                  <a:cs typeface="Calibri (MS)"/>
                  <a:sym typeface="Calibri (MS)"/>
                </a:rPr>
                <a:t>utomated, intelligent layer across all PD systems</a:t>
              </a:r>
            </a:p>
            <a:p>
              <a:pPr algn="l" marL="561341" indent="-280670" lvl="1">
                <a:lnSpc>
                  <a:spcPts val="3120"/>
                </a:lnSpc>
                <a:buFont typeface="Arial"/>
                <a:buChar char="•"/>
              </a:pPr>
              <a:r>
                <a:rPr lang="en-US" sz="2600">
                  <a:solidFill>
                    <a:srgbClr val="546E7A"/>
                  </a:solidFill>
                  <a:latin typeface="Calibri (MS)"/>
                  <a:ea typeface="Calibri (MS)"/>
                  <a:cs typeface="Calibri (MS)"/>
                  <a:sym typeface="Calibri (MS)"/>
                </a:rPr>
                <a:t>Automated — Agents handle repetitive engineering tasks end-to-end</a:t>
              </a:r>
            </a:p>
            <a:p>
              <a:pPr algn="l" marL="561341" indent="-280670" lvl="1">
                <a:lnSpc>
                  <a:spcPts val="3120"/>
                </a:lnSpc>
                <a:buFont typeface="Arial"/>
                <a:buChar char="•"/>
              </a:pPr>
              <a:r>
                <a:rPr lang="en-US" sz="2600">
                  <a:solidFill>
                    <a:srgbClr val="546E7A"/>
                  </a:solidFill>
                  <a:latin typeface="Calibri (MS)"/>
                  <a:ea typeface="Calibri (MS)"/>
                  <a:cs typeface="Calibri (MS)"/>
                  <a:sym typeface="Calibri (MS)"/>
                </a:rPr>
                <a:t>Expert-Augmented — Domain knowledge and engineering rules embedded in every agent</a:t>
              </a:r>
            </a:p>
            <a:p>
              <a:pPr algn="l" marL="561341" indent="-280670" lvl="1">
                <a:lnSpc>
                  <a:spcPts val="3120"/>
                </a:lnSpc>
                <a:buFont typeface="Arial"/>
                <a:buChar char="•"/>
              </a:pPr>
              <a:r>
                <a:rPr lang="en-US" sz="2600">
                  <a:solidFill>
                    <a:srgbClr val="546E7A"/>
                  </a:solidFill>
                  <a:latin typeface="Calibri (MS)"/>
                  <a:ea typeface="Calibri (MS)"/>
                  <a:cs typeface="Calibri (MS)"/>
                  <a:sym typeface="Calibri (MS)"/>
                </a:rPr>
                <a:t>C</a:t>
              </a:r>
              <a:r>
                <a:rPr lang="en-US" sz="2600">
                  <a:solidFill>
                    <a:srgbClr val="546E7A"/>
                  </a:solidFill>
                  <a:latin typeface="Calibri (MS)"/>
                  <a:ea typeface="Calibri (MS)"/>
                  <a:cs typeface="Calibri (MS)"/>
                  <a:sym typeface="Calibri (MS)"/>
                </a:rPr>
                <a:t>onnected — All systems communicate through a central orchestrator</a:t>
              </a:r>
            </a:p>
            <a:p>
              <a:pPr algn="l">
                <a:lnSpc>
                  <a:spcPts val="312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8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305563"/>
            <a:chOff x="0" y="0"/>
            <a:chExt cx="24417871" cy="1740751"/>
          </a:xfrm>
        </p:grpSpPr>
        <p:sp>
          <p:nvSpPr>
            <p:cNvPr name="Freeform 3" id="3"/>
            <p:cNvSpPr/>
            <p:nvPr/>
          </p:nvSpPr>
          <p:spPr>
            <a:xfrm flipH="false" flipV="false" rot="0">
              <a:off x="16891" y="16891"/>
              <a:ext cx="24383999" cy="1706880"/>
            </a:xfrm>
            <a:custGeom>
              <a:avLst/>
              <a:gdLst/>
              <a:ahLst/>
              <a:cxnLst/>
              <a:rect r="r" b="b" t="t" l="l"/>
              <a:pathLst>
                <a:path h="1706880" w="24383999">
                  <a:moveTo>
                    <a:pt x="0" y="0"/>
                  </a:moveTo>
                  <a:lnTo>
                    <a:pt x="24383999" y="0"/>
                  </a:lnTo>
                  <a:lnTo>
                    <a:pt x="24383999" y="1706880"/>
                  </a:lnTo>
                  <a:lnTo>
                    <a:pt x="0" y="1706880"/>
                  </a:lnTo>
                  <a:close/>
                </a:path>
              </a:pathLst>
            </a:custGeom>
            <a:solidFill>
              <a:srgbClr val="0D1B2A"/>
            </a:solidFill>
          </p:spPr>
        </p:sp>
        <p:sp>
          <p:nvSpPr>
            <p:cNvPr name="Freeform 4" id="4"/>
            <p:cNvSpPr/>
            <p:nvPr/>
          </p:nvSpPr>
          <p:spPr>
            <a:xfrm flipH="false" flipV="false" rot="0">
              <a:off x="0" y="0"/>
              <a:ext cx="24417782" cy="1740662"/>
            </a:xfrm>
            <a:custGeom>
              <a:avLst/>
              <a:gdLst/>
              <a:ahLst/>
              <a:cxnLst/>
              <a:rect r="r" b="b" t="t" l="l"/>
              <a:pathLst>
                <a:path h="1740662" w="24417782">
                  <a:moveTo>
                    <a:pt x="16891" y="0"/>
                  </a:moveTo>
                  <a:lnTo>
                    <a:pt x="24400890" y="0"/>
                  </a:lnTo>
                  <a:cubicBezTo>
                    <a:pt x="24410290" y="0"/>
                    <a:pt x="24417782" y="7620"/>
                    <a:pt x="24417782" y="16891"/>
                  </a:cubicBezTo>
                  <a:lnTo>
                    <a:pt x="24417782" y="1723771"/>
                  </a:lnTo>
                  <a:cubicBezTo>
                    <a:pt x="24417782" y="1733169"/>
                    <a:pt x="24410163" y="1740662"/>
                    <a:pt x="24400890"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24400890" y="1706880"/>
                  </a:lnTo>
                  <a:lnTo>
                    <a:pt x="24400890" y="1723771"/>
                  </a:lnTo>
                  <a:lnTo>
                    <a:pt x="24384000" y="1723771"/>
                  </a:lnTo>
                  <a:lnTo>
                    <a:pt x="24384000" y="16891"/>
                  </a:lnTo>
                  <a:lnTo>
                    <a:pt x="24400890" y="16891"/>
                  </a:lnTo>
                  <a:lnTo>
                    <a:pt x="24400890" y="33909"/>
                  </a:lnTo>
                  <a:lnTo>
                    <a:pt x="16891" y="33909"/>
                  </a:lnTo>
                  <a:close/>
                </a:path>
              </a:pathLst>
            </a:custGeom>
            <a:solidFill>
              <a:srgbClr val="0D1B2A"/>
            </a:solidFill>
          </p:spPr>
        </p:sp>
      </p:grpSp>
      <p:grpSp>
        <p:nvGrpSpPr>
          <p:cNvPr name="Group 5" id="5"/>
          <p:cNvGrpSpPr/>
          <p:nvPr/>
        </p:nvGrpSpPr>
        <p:grpSpPr>
          <a:xfrm rot="0">
            <a:off x="731520" y="0"/>
            <a:ext cx="12801600" cy="1280160"/>
            <a:chOff x="0" y="0"/>
            <a:chExt cx="17068800" cy="1706880"/>
          </a:xfrm>
        </p:grpSpPr>
        <p:sp>
          <p:nvSpPr>
            <p:cNvPr name="Freeform 6" id="6"/>
            <p:cNvSpPr/>
            <p:nvPr/>
          </p:nvSpPr>
          <p:spPr>
            <a:xfrm flipH="false" flipV="false" rot="0">
              <a:off x="0" y="0"/>
              <a:ext cx="17068800" cy="1706880"/>
            </a:xfrm>
            <a:custGeom>
              <a:avLst/>
              <a:gdLst/>
              <a:ahLst/>
              <a:cxnLst/>
              <a:rect r="r" b="b" t="t" l="l"/>
              <a:pathLst>
                <a:path h="1706880" w="17068800">
                  <a:moveTo>
                    <a:pt x="0" y="0"/>
                  </a:moveTo>
                  <a:lnTo>
                    <a:pt x="17068800" y="0"/>
                  </a:lnTo>
                  <a:lnTo>
                    <a:pt x="17068800" y="1706880"/>
                  </a:lnTo>
                  <a:lnTo>
                    <a:pt x="0" y="1706880"/>
                  </a:lnTo>
                  <a:close/>
                </a:path>
              </a:pathLst>
            </a:custGeom>
            <a:blipFill>
              <a:blip r:embed="rId3">
                <a:alphaModFix amt="0"/>
              </a:blip>
              <a:stretch>
                <a:fillRect l="0" t="-144850" r="0" b="-144850"/>
              </a:stretch>
            </a:blipFill>
          </p:spPr>
        </p:sp>
        <p:sp>
          <p:nvSpPr>
            <p:cNvPr name="TextBox 7" id="7"/>
            <p:cNvSpPr txBox="true"/>
            <p:nvPr/>
          </p:nvSpPr>
          <p:spPr>
            <a:xfrm>
              <a:off x="0" y="-85725"/>
              <a:ext cx="17068800" cy="1792605"/>
            </a:xfrm>
            <a:prstGeom prst="rect">
              <a:avLst/>
            </a:prstGeom>
          </p:spPr>
          <p:txBody>
            <a:bodyPr anchor="ctr" rtlCol="false" tIns="0" lIns="0" bIns="0" rIns="0"/>
            <a:lstStyle/>
            <a:p>
              <a:pPr algn="l">
                <a:lnSpc>
                  <a:spcPts val="4799"/>
                </a:lnSpc>
              </a:pPr>
              <a:r>
                <a:rPr lang="en-US" b="true" sz="3999" spc="499">
                  <a:solidFill>
                    <a:srgbClr val="FFFFFF"/>
                  </a:solidFill>
                  <a:latin typeface="Calibri (MS) Bold"/>
                  <a:ea typeface="Calibri (MS) Bold"/>
                  <a:cs typeface="Calibri (MS) Bold"/>
                  <a:sym typeface="Calibri (MS) Bold"/>
                </a:rPr>
                <a:t>ARCHITECTURE OVERVIEW</a:t>
              </a:r>
            </a:p>
          </p:txBody>
        </p:sp>
      </p:grpSp>
      <p:grpSp>
        <p:nvGrpSpPr>
          <p:cNvPr name="Group 8" id="8"/>
          <p:cNvGrpSpPr/>
          <p:nvPr/>
        </p:nvGrpSpPr>
        <p:grpSpPr>
          <a:xfrm rot="0">
            <a:off x="12801600" y="0"/>
            <a:ext cx="5120640" cy="1280160"/>
            <a:chOff x="0" y="0"/>
            <a:chExt cx="6827520" cy="1706880"/>
          </a:xfrm>
        </p:grpSpPr>
        <p:sp>
          <p:nvSpPr>
            <p:cNvPr name="Freeform 9" id="9"/>
            <p:cNvSpPr/>
            <p:nvPr/>
          </p:nvSpPr>
          <p:spPr>
            <a:xfrm flipH="false" flipV="false" rot="0">
              <a:off x="0" y="0"/>
              <a:ext cx="6827520" cy="1706880"/>
            </a:xfrm>
            <a:custGeom>
              <a:avLst/>
              <a:gdLst/>
              <a:ahLst/>
              <a:cxnLst/>
              <a:rect r="r" b="b" t="t" l="l"/>
              <a:pathLst>
                <a:path h="1706880" w="6827520">
                  <a:moveTo>
                    <a:pt x="0" y="0"/>
                  </a:moveTo>
                  <a:lnTo>
                    <a:pt x="6827520" y="0"/>
                  </a:lnTo>
                  <a:lnTo>
                    <a:pt x="6827520" y="1706880"/>
                  </a:lnTo>
                  <a:lnTo>
                    <a:pt x="0" y="1706880"/>
                  </a:lnTo>
                  <a:close/>
                </a:path>
              </a:pathLst>
            </a:custGeom>
            <a:blipFill>
              <a:blip r:embed="rId3">
                <a:alphaModFix amt="0"/>
              </a:blip>
              <a:stretch>
                <a:fillRect l="0" t="-27940" r="0" b="-27940"/>
              </a:stretch>
            </a:blipFill>
          </p:spPr>
        </p:sp>
        <p:sp>
          <p:nvSpPr>
            <p:cNvPr name="TextBox 10" id="10"/>
            <p:cNvSpPr txBox="true"/>
            <p:nvPr/>
          </p:nvSpPr>
          <p:spPr>
            <a:xfrm>
              <a:off x="0" y="-38100"/>
              <a:ext cx="6827520" cy="1744980"/>
            </a:xfrm>
            <a:prstGeom prst="rect">
              <a:avLst/>
            </a:prstGeom>
          </p:spPr>
          <p:txBody>
            <a:bodyPr anchor="ctr" rtlCol="false" tIns="0" lIns="0" bIns="0" rIns="0"/>
            <a:lstStyle/>
            <a:p>
              <a:pPr algn="r">
                <a:lnSpc>
                  <a:spcPts val="2160"/>
                </a:lnSpc>
              </a:pPr>
              <a:r>
                <a:rPr lang="en-US" sz="1800">
                  <a:solidFill>
                    <a:srgbClr val="B8D4E0"/>
                  </a:solidFill>
                  <a:latin typeface="Calibri (MS)"/>
                  <a:ea typeface="Calibri (MS)"/>
                  <a:cs typeface="Calibri (MS)"/>
                  <a:sym typeface="Calibri (MS)"/>
                </a:rPr>
                <a:t>N  ·  N-1  ·  N-2  ·  Agent Layer</a:t>
              </a:r>
            </a:p>
          </p:txBody>
        </p:sp>
      </p:grpSp>
      <p:grpSp>
        <p:nvGrpSpPr>
          <p:cNvPr name="Group 11" id="11"/>
          <p:cNvGrpSpPr/>
          <p:nvPr/>
        </p:nvGrpSpPr>
        <p:grpSpPr>
          <a:xfrm rot="0">
            <a:off x="170183" y="1486919"/>
            <a:ext cx="1159259" cy="1159259"/>
            <a:chOff x="0" y="0"/>
            <a:chExt cx="1545679" cy="1545679"/>
          </a:xfrm>
        </p:grpSpPr>
        <p:sp>
          <p:nvSpPr>
            <p:cNvPr name="Freeform 12" id="12"/>
            <p:cNvSpPr/>
            <p:nvPr/>
          </p:nvSpPr>
          <p:spPr>
            <a:xfrm flipH="false" flipV="false" rot="0">
              <a:off x="16891" y="16891"/>
              <a:ext cx="1511808" cy="1511808"/>
            </a:xfrm>
            <a:custGeom>
              <a:avLst/>
              <a:gdLst/>
              <a:ahLst/>
              <a:cxnLst/>
              <a:rect r="r" b="b" t="t" l="l"/>
              <a:pathLst>
                <a:path h="1511808" w="1511808">
                  <a:moveTo>
                    <a:pt x="0" y="0"/>
                  </a:moveTo>
                  <a:lnTo>
                    <a:pt x="1511808" y="0"/>
                  </a:lnTo>
                  <a:lnTo>
                    <a:pt x="1511808" y="1511808"/>
                  </a:lnTo>
                  <a:lnTo>
                    <a:pt x="0" y="1511808"/>
                  </a:lnTo>
                  <a:close/>
                </a:path>
              </a:pathLst>
            </a:custGeom>
            <a:solidFill>
              <a:srgbClr val="0D1B2A"/>
            </a:solidFill>
          </p:spPr>
        </p:sp>
        <p:sp>
          <p:nvSpPr>
            <p:cNvPr name="Freeform 13" id="13"/>
            <p:cNvSpPr/>
            <p:nvPr/>
          </p:nvSpPr>
          <p:spPr>
            <a:xfrm flipH="false" flipV="false" rot="0">
              <a:off x="0" y="0"/>
              <a:ext cx="1545590" cy="1545590"/>
            </a:xfrm>
            <a:custGeom>
              <a:avLst/>
              <a:gdLst/>
              <a:ahLst/>
              <a:cxnLst/>
              <a:rect r="r" b="b" t="t" l="l"/>
              <a:pathLst>
                <a:path h="1545590" w="1545590">
                  <a:moveTo>
                    <a:pt x="16891" y="0"/>
                  </a:moveTo>
                  <a:lnTo>
                    <a:pt x="1528699" y="0"/>
                  </a:lnTo>
                  <a:cubicBezTo>
                    <a:pt x="1538097" y="0"/>
                    <a:pt x="1545590" y="7620"/>
                    <a:pt x="1545590" y="16891"/>
                  </a:cubicBezTo>
                  <a:lnTo>
                    <a:pt x="1545590" y="1528699"/>
                  </a:lnTo>
                  <a:cubicBezTo>
                    <a:pt x="1545590" y="1538097"/>
                    <a:pt x="1537970" y="1545590"/>
                    <a:pt x="1528699"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1528699" y="1511808"/>
                  </a:lnTo>
                  <a:lnTo>
                    <a:pt x="1528699" y="1528699"/>
                  </a:lnTo>
                  <a:lnTo>
                    <a:pt x="1511808" y="1528699"/>
                  </a:lnTo>
                  <a:lnTo>
                    <a:pt x="1511808" y="16891"/>
                  </a:lnTo>
                  <a:lnTo>
                    <a:pt x="1528699" y="16891"/>
                  </a:lnTo>
                  <a:lnTo>
                    <a:pt x="1528699" y="33909"/>
                  </a:lnTo>
                  <a:lnTo>
                    <a:pt x="16891" y="33909"/>
                  </a:lnTo>
                  <a:close/>
                </a:path>
              </a:pathLst>
            </a:custGeom>
            <a:solidFill>
              <a:srgbClr val="0D1B2A"/>
            </a:solidFill>
          </p:spPr>
        </p:sp>
      </p:grpSp>
      <p:grpSp>
        <p:nvGrpSpPr>
          <p:cNvPr name="Group 14" id="14"/>
          <p:cNvGrpSpPr/>
          <p:nvPr/>
        </p:nvGrpSpPr>
        <p:grpSpPr>
          <a:xfrm rot="0">
            <a:off x="195586" y="1643129"/>
            <a:ext cx="1133856" cy="640080"/>
            <a:chOff x="0" y="0"/>
            <a:chExt cx="1511808" cy="853440"/>
          </a:xfrm>
        </p:grpSpPr>
        <p:sp>
          <p:nvSpPr>
            <p:cNvPr name="Freeform 15" id="15"/>
            <p:cNvSpPr/>
            <p:nvPr/>
          </p:nvSpPr>
          <p:spPr>
            <a:xfrm flipH="false" flipV="false" rot="0">
              <a:off x="0" y="0"/>
              <a:ext cx="1511808" cy="853440"/>
            </a:xfrm>
            <a:custGeom>
              <a:avLst/>
              <a:gdLst/>
              <a:ahLst/>
              <a:cxnLst/>
              <a:rect r="r" b="b" t="t" l="l"/>
              <a:pathLst>
                <a:path h="853440" w="1511808">
                  <a:moveTo>
                    <a:pt x="0" y="0"/>
                  </a:moveTo>
                  <a:lnTo>
                    <a:pt x="1511808" y="0"/>
                  </a:lnTo>
                  <a:lnTo>
                    <a:pt x="1511808" y="853440"/>
                  </a:lnTo>
                  <a:lnTo>
                    <a:pt x="0" y="853440"/>
                  </a:lnTo>
                  <a:close/>
                </a:path>
              </a:pathLst>
            </a:custGeom>
            <a:blipFill>
              <a:blip r:embed="rId3">
                <a:alphaModFix amt="0"/>
              </a:blip>
              <a:stretch>
                <a:fillRect l="-22429" t="0" r="-22429" b="0"/>
              </a:stretch>
            </a:blipFill>
          </p:spPr>
        </p:sp>
        <p:sp>
          <p:nvSpPr>
            <p:cNvPr name="TextBox 16" id="16"/>
            <p:cNvSpPr txBox="true"/>
            <p:nvPr/>
          </p:nvSpPr>
          <p:spPr>
            <a:xfrm>
              <a:off x="0" y="-66675"/>
              <a:ext cx="1511808" cy="920115"/>
            </a:xfrm>
            <a:prstGeom prst="rect">
              <a:avLst/>
            </a:prstGeom>
          </p:spPr>
          <p:txBody>
            <a:bodyPr anchor="ctr" rtlCol="false" tIns="0" lIns="0" bIns="0" rIns="0"/>
            <a:lstStyle/>
            <a:p>
              <a:pPr algn="ctr">
                <a:lnSpc>
                  <a:spcPts val="3719"/>
                </a:lnSpc>
              </a:pPr>
              <a:r>
                <a:rPr lang="en-US" sz="3099" b="true">
                  <a:solidFill>
                    <a:srgbClr val="FFFFFF"/>
                  </a:solidFill>
                  <a:latin typeface="Calibri (MS) Bold"/>
                  <a:ea typeface="Calibri (MS) Bold"/>
                  <a:cs typeface="Calibri (MS) Bold"/>
                  <a:sym typeface="Calibri (MS) Bold"/>
                </a:rPr>
                <a:t>N</a:t>
              </a:r>
            </a:p>
          </p:txBody>
        </p:sp>
      </p:grpSp>
      <p:grpSp>
        <p:nvGrpSpPr>
          <p:cNvPr name="Group 17" id="17"/>
          <p:cNvGrpSpPr/>
          <p:nvPr/>
        </p:nvGrpSpPr>
        <p:grpSpPr>
          <a:xfrm rot="0">
            <a:off x="146304" y="2633472"/>
            <a:ext cx="1207008" cy="1005840"/>
            <a:chOff x="0" y="0"/>
            <a:chExt cx="1609344" cy="1341120"/>
          </a:xfrm>
        </p:grpSpPr>
        <p:sp>
          <p:nvSpPr>
            <p:cNvPr name="Freeform 18" id="18"/>
            <p:cNvSpPr/>
            <p:nvPr/>
          </p:nvSpPr>
          <p:spPr>
            <a:xfrm flipH="false" flipV="false" rot="0">
              <a:off x="0" y="0"/>
              <a:ext cx="1609344" cy="1341120"/>
            </a:xfrm>
            <a:custGeom>
              <a:avLst/>
              <a:gdLst/>
              <a:ahLst/>
              <a:cxnLst/>
              <a:rect r="r" b="b" t="t" l="l"/>
              <a:pathLst>
                <a:path h="1341120" w="1609344">
                  <a:moveTo>
                    <a:pt x="0" y="0"/>
                  </a:moveTo>
                  <a:lnTo>
                    <a:pt x="1609344" y="0"/>
                  </a:lnTo>
                  <a:lnTo>
                    <a:pt x="1609344" y="1341120"/>
                  </a:lnTo>
                  <a:lnTo>
                    <a:pt x="0" y="1341120"/>
                  </a:lnTo>
                  <a:close/>
                </a:path>
              </a:pathLst>
            </a:custGeom>
            <a:blipFill>
              <a:blip r:embed="rId3">
                <a:alphaModFix amt="0"/>
              </a:blip>
              <a:stretch>
                <a:fillRect l="-56919" t="0" r="-56919" b="0"/>
              </a:stretch>
            </a:blipFill>
          </p:spPr>
        </p:sp>
        <p:sp>
          <p:nvSpPr>
            <p:cNvPr name="TextBox 19" id="19"/>
            <p:cNvSpPr txBox="true"/>
            <p:nvPr/>
          </p:nvSpPr>
          <p:spPr>
            <a:xfrm>
              <a:off x="0" y="-28575"/>
              <a:ext cx="1609344" cy="1369695"/>
            </a:xfrm>
            <a:prstGeom prst="rect">
              <a:avLst/>
            </a:prstGeom>
          </p:spPr>
          <p:txBody>
            <a:bodyPr anchor="ctr" rtlCol="false" tIns="0" lIns="0" bIns="0" rIns="0"/>
            <a:lstStyle/>
            <a:p>
              <a:pPr algn="ctr">
                <a:lnSpc>
                  <a:spcPts val="1560"/>
                </a:lnSpc>
              </a:pPr>
              <a:r>
                <a:rPr lang="en-US" sz="1300">
                  <a:solidFill>
                    <a:srgbClr val="0D1B2A"/>
                  </a:solidFill>
                  <a:latin typeface="Calibri (MS)"/>
                  <a:ea typeface="Calibri (MS)"/>
                  <a:cs typeface="Calibri (MS)"/>
                  <a:sym typeface="Calibri (MS)"/>
                </a:rPr>
                <a:t>Central</a:t>
              </a:r>
            </a:p>
            <a:p>
              <a:pPr algn="ctr">
                <a:lnSpc>
                  <a:spcPts val="1560"/>
                </a:lnSpc>
              </a:pPr>
              <a:r>
                <a:rPr lang="en-US" sz="1300">
                  <a:solidFill>
                    <a:srgbClr val="0D1B2A"/>
                  </a:solidFill>
                  <a:latin typeface="Calibri (MS)"/>
                  <a:ea typeface="Calibri (MS)"/>
                  <a:cs typeface="Calibri (MS)"/>
                  <a:sym typeface="Calibri (MS)"/>
                </a:rPr>
                <a:t>Orchestrator</a:t>
              </a:r>
            </a:p>
          </p:txBody>
        </p:sp>
      </p:grpSp>
      <p:grpSp>
        <p:nvGrpSpPr>
          <p:cNvPr name="Group 20" id="20"/>
          <p:cNvGrpSpPr/>
          <p:nvPr/>
        </p:nvGrpSpPr>
        <p:grpSpPr>
          <a:xfrm rot="0">
            <a:off x="170183" y="3132839"/>
            <a:ext cx="1159259" cy="1159259"/>
            <a:chOff x="0" y="0"/>
            <a:chExt cx="1545679" cy="1545679"/>
          </a:xfrm>
        </p:grpSpPr>
        <p:sp>
          <p:nvSpPr>
            <p:cNvPr name="Freeform 21" id="21"/>
            <p:cNvSpPr/>
            <p:nvPr/>
          </p:nvSpPr>
          <p:spPr>
            <a:xfrm flipH="false" flipV="false" rot="0">
              <a:off x="16891" y="16891"/>
              <a:ext cx="1511808" cy="1511808"/>
            </a:xfrm>
            <a:custGeom>
              <a:avLst/>
              <a:gdLst/>
              <a:ahLst/>
              <a:cxnLst/>
              <a:rect r="r" b="b" t="t" l="l"/>
              <a:pathLst>
                <a:path h="1511808" w="1511808">
                  <a:moveTo>
                    <a:pt x="0" y="0"/>
                  </a:moveTo>
                  <a:lnTo>
                    <a:pt x="1511808" y="0"/>
                  </a:lnTo>
                  <a:lnTo>
                    <a:pt x="1511808" y="1511808"/>
                  </a:lnTo>
                  <a:lnTo>
                    <a:pt x="0" y="1511808"/>
                  </a:lnTo>
                  <a:close/>
                </a:path>
              </a:pathLst>
            </a:custGeom>
            <a:solidFill>
              <a:srgbClr val="0A7EA4"/>
            </a:solidFill>
          </p:spPr>
        </p:sp>
        <p:sp>
          <p:nvSpPr>
            <p:cNvPr name="Freeform 22" id="22"/>
            <p:cNvSpPr/>
            <p:nvPr/>
          </p:nvSpPr>
          <p:spPr>
            <a:xfrm flipH="false" flipV="false" rot="0">
              <a:off x="0" y="0"/>
              <a:ext cx="1545590" cy="1545590"/>
            </a:xfrm>
            <a:custGeom>
              <a:avLst/>
              <a:gdLst/>
              <a:ahLst/>
              <a:cxnLst/>
              <a:rect r="r" b="b" t="t" l="l"/>
              <a:pathLst>
                <a:path h="1545590" w="1545590">
                  <a:moveTo>
                    <a:pt x="16891" y="0"/>
                  </a:moveTo>
                  <a:lnTo>
                    <a:pt x="1528699" y="0"/>
                  </a:lnTo>
                  <a:cubicBezTo>
                    <a:pt x="1538097" y="0"/>
                    <a:pt x="1545590" y="7620"/>
                    <a:pt x="1545590" y="16891"/>
                  </a:cubicBezTo>
                  <a:lnTo>
                    <a:pt x="1545590" y="1528699"/>
                  </a:lnTo>
                  <a:cubicBezTo>
                    <a:pt x="1545590" y="1538097"/>
                    <a:pt x="1537970" y="1545590"/>
                    <a:pt x="1528699"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1528699" y="1511808"/>
                  </a:lnTo>
                  <a:lnTo>
                    <a:pt x="1528699" y="1528699"/>
                  </a:lnTo>
                  <a:lnTo>
                    <a:pt x="1511808" y="1528699"/>
                  </a:lnTo>
                  <a:lnTo>
                    <a:pt x="1511808" y="16891"/>
                  </a:lnTo>
                  <a:lnTo>
                    <a:pt x="1528699" y="16891"/>
                  </a:lnTo>
                  <a:lnTo>
                    <a:pt x="1528699" y="33909"/>
                  </a:lnTo>
                  <a:lnTo>
                    <a:pt x="16891" y="33909"/>
                  </a:lnTo>
                  <a:close/>
                </a:path>
              </a:pathLst>
            </a:custGeom>
            <a:solidFill>
              <a:srgbClr val="0A7EA4"/>
            </a:solidFill>
          </p:spPr>
        </p:sp>
      </p:grpSp>
      <p:grpSp>
        <p:nvGrpSpPr>
          <p:cNvPr name="Group 23" id="23"/>
          <p:cNvGrpSpPr/>
          <p:nvPr/>
        </p:nvGrpSpPr>
        <p:grpSpPr>
          <a:xfrm rot="0">
            <a:off x="182880" y="3145536"/>
            <a:ext cx="1133856" cy="640080"/>
            <a:chOff x="0" y="0"/>
            <a:chExt cx="1511808" cy="853440"/>
          </a:xfrm>
        </p:grpSpPr>
        <p:sp>
          <p:nvSpPr>
            <p:cNvPr name="Freeform 24" id="24"/>
            <p:cNvSpPr/>
            <p:nvPr/>
          </p:nvSpPr>
          <p:spPr>
            <a:xfrm flipH="false" flipV="false" rot="0">
              <a:off x="0" y="0"/>
              <a:ext cx="1511808" cy="853440"/>
            </a:xfrm>
            <a:custGeom>
              <a:avLst/>
              <a:gdLst/>
              <a:ahLst/>
              <a:cxnLst/>
              <a:rect r="r" b="b" t="t" l="l"/>
              <a:pathLst>
                <a:path h="853440" w="1511808">
                  <a:moveTo>
                    <a:pt x="0" y="0"/>
                  </a:moveTo>
                  <a:lnTo>
                    <a:pt x="1511808" y="0"/>
                  </a:lnTo>
                  <a:lnTo>
                    <a:pt x="1511808" y="853440"/>
                  </a:lnTo>
                  <a:lnTo>
                    <a:pt x="0" y="853440"/>
                  </a:lnTo>
                  <a:close/>
                </a:path>
              </a:pathLst>
            </a:custGeom>
            <a:blipFill>
              <a:blip r:embed="rId3">
                <a:alphaModFix amt="0"/>
              </a:blip>
              <a:stretch>
                <a:fillRect l="-22429" t="0" r="-22429" b="0"/>
              </a:stretch>
            </a:blipFill>
          </p:spPr>
        </p:sp>
        <p:sp>
          <p:nvSpPr>
            <p:cNvPr name="TextBox 25" id="25"/>
            <p:cNvSpPr txBox="true"/>
            <p:nvPr/>
          </p:nvSpPr>
          <p:spPr>
            <a:xfrm>
              <a:off x="0" y="-38100"/>
              <a:ext cx="1511808" cy="89154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N-1</a:t>
              </a:r>
            </a:p>
          </p:txBody>
        </p:sp>
      </p:grpSp>
      <p:grpSp>
        <p:nvGrpSpPr>
          <p:cNvPr name="Group 26" id="26"/>
          <p:cNvGrpSpPr/>
          <p:nvPr/>
        </p:nvGrpSpPr>
        <p:grpSpPr>
          <a:xfrm rot="0">
            <a:off x="146304" y="4279392"/>
            <a:ext cx="1207008" cy="1005840"/>
            <a:chOff x="0" y="0"/>
            <a:chExt cx="1609344" cy="1341120"/>
          </a:xfrm>
        </p:grpSpPr>
        <p:sp>
          <p:nvSpPr>
            <p:cNvPr name="Freeform 27" id="27"/>
            <p:cNvSpPr/>
            <p:nvPr/>
          </p:nvSpPr>
          <p:spPr>
            <a:xfrm flipH="false" flipV="false" rot="0">
              <a:off x="0" y="0"/>
              <a:ext cx="1609344" cy="1341120"/>
            </a:xfrm>
            <a:custGeom>
              <a:avLst/>
              <a:gdLst/>
              <a:ahLst/>
              <a:cxnLst/>
              <a:rect r="r" b="b" t="t" l="l"/>
              <a:pathLst>
                <a:path h="1341120" w="1609344">
                  <a:moveTo>
                    <a:pt x="0" y="0"/>
                  </a:moveTo>
                  <a:lnTo>
                    <a:pt x="1609344" y="0"/>
                  </a:lnTo>
                  <a:lnTo>
                    <a:pt x="1609344" y="1341120"/>
                  </a:lnTo>
                  <a:lnTo>
                    <a:pt x="0" y="1341120"/>
                  </a:lnTo>
                  <a:close/>
                </a:path>
              </a:pathLst>
            </a:custGeom>
            <a:blipFill>
              <a:blip r:embed="rId3">
                <a:alphaModFix amt="0"/>
              </a:blip>
              <a:stretch>
                <a:fillRect l="-56919" t="0" r="-56919" b="0"/>
              </a:stretch>
            </a:blipFill>
          </p:spPr>
        </p:sp>
        <p:sp>
          <p:nvSpPr>
            <p:cNvPr name="TextBox 28" id="28"/>
            <p:cNvSpPr txBox="true"/>
            <p:nvPr/>
          </p:nvSpPr>
          <p:spPr>
            <a:xfrm>
              <a:off x="0" y="-28575"/>
              <a:ext cx="1609344" cy="1369695"/>
            </a:xfrm>
            <a:prstGeom prst="rect">
              <a:avLst/>
            </a:prstGeom>
          </p:spPr>
          <p:txBody>
            <a:bodyPr anchor="ctr" rtlCol="false" tIns="0" lIns="0" bIns="0" rIns="0"/>
            <a:lstStyle/>
            <a:p>
              <a:pPr algn="ctr">
                <a:lnSpc>
                  <a:spcPts val="1560"/>
                </a:lnSpc>
              </a:pPr>
              <a:r>
                <a:rPr lang="en-US" sz="1300">
                  <a:solidFill>
                    <a:srgbClr val="0A7EA4"/>
                  </a:solidFill>
                  <a:latin typeface="Calibri (MS)"/>
                  <a:ea typeface="Calibri (MS)"/>
                  <a:cs typeface="Calibri (MS)"/>
                  <a:sym typeface="Calibri (MS)"/>
                </a:rPr>
                <a:t>Domain</a:t>
              </a:r>
            </a:p>
            <a:p>
              <a:pPr algn="ctr">
                <a:lnSpc>
                  <a:spcPts val="1560"/>
                </a:lnSpc>
              </a:pPr>
              <a:r>
                <a:rPr lang="en-US" sz="1300">
                  <a:solidFill>
                    <a:srgbClr val="0A7EA4"/>
                  </a:solidFill>
                  <a:latin typeface="Calibri (MS)"/>
                  <a:ea typeface="Calibri (MS)"/>
                  <a:cs typeface="Calibri (MS)"/>
                  <a:sym typeface="Calibri (MS)"/>
                </a:rPr>
                <a:t>Systems</a:t>
              </a:r>
            </a:p>
          </p:txBody>
        </p:sp>
      </p:grpSp>
      <p:grpSp>
        <p:nvGrpSpPr>
          <p:cNvPr name="Group 29" id="29"/>
          <p:cNvGrpSpPr/>
          <p:nvPr/>
        </p:nvGrpSpPr>
        <p:grpSpPr>
          <a:xfrm rot="0">
            <a:off x="170183" y="5327399"/>
            <a:ext cx="1159259" cy="1159259"/>
            <a:chOff x="0" y="0"/>
            <a:chExt cx="1545679" cy="1545679"/>
          </a:xfrm>
        </p:grpSpPr>
        <p:sp>
          <p:nvSpPr>
            <p:cNvPr name="Freeform 30" id="30"/>
            <p:cNvSpPr/>
            <p:nvPr/>
          </p:nvSpPr>
          <p:spPr>
            <a:xfrm flipH="false" flipV="false" rot="0">
              <a:off x="16891" y="16891"/>
              <a:ext cx="1511808" cy="1511808"/>
            </a:xfrm>
            <a:custGeom>
              <a:avLst/>
              <a:gdLst/>
              <a:ahLst/>
              <a:cxnLst/>
              <a:rect r="r" b="b" t="t" l="l"/>
              <a:pathLst>
                <a:path h="1511808" w="1511808">
                  <a:moveTo>
                    <a:pt x="0" y="0"/>
                  </a:moveTo>
                  <a:lnTo>
                    <a:pt x="1511808" y="0"/>
                  </a:lnTo>
                  <a:lnTo>
                    <a:pt x="1511808" y="1511808"/>
                  </a:lnTo>
                  <a:lnTo>
                    <a:pt x="0" y="1511808"/>
                  </a:lnTo>
                  <a:close/>
                </a:path>
              </a:pathLst>
            </a:custGeom>
            <a:solidFill>
              <a:srgbClr val="2E86AB"/>
            </a:solidFill>
          </p:spPr>
        </p:sp>
        <p:sp>
          <p:nvSpPr>
            <p:cNvPr name="Freeform 31" id="31"/>
            <p:cNvSpPr/>
            <p:nvPr/>
          </p:nvSpPr>
          <p:spPr>
            <a:xfrm flipH="false" flipV="false" rot="0">
              <a:off x="0" y="0"/>
              <a:ext cx="1545590" cy="1545590"/>
            </a:xfrm>
            <a:custGeom>
              <a:avLst/>
              <a:gdLst/>
              <a:ahLst/>
              <a:cxnLst/>
              <a:rect r="r" b="b" t="t" l="l"/>
              <a:pathLst>
                <a:path h="1545590" w="1545590">
                  <a:moveTo>
                    <a:pt x="16891" y="0"/>
                  </a:moveTo>
                  <a:lnTo>
                    <a:pt x="1528699" y="0"/>
                  </a:lnTo>
                  <a:cubicBezTo>
                    <a:pt x="1538097" y="0"/>
                    <a:pt x="1545590" y="7620"/>
                    <a:pt x="1545590" y="16891"/>
                  </a:cubicBezTo>
                  <a:lnTo>
                    <a:pt x="1545590" y="1528699"/>
                  </a:lnTo>
                  <a:cubicBezTo>
                    <a:pt x="1545590" y="1538097"/>
                    <a:pt x="1537970" y="1545590"/>
                    <a:pt x="1528699"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1528699" y="1511808"/>
                  </a:lnTo>
                  <a:lnTo>
                    <a:pt x="1528699" y="1528699"/>
                  </a:lnTo>
                  <a:lnTo>
                    <a:pt x="1511808" y="1528699"/>
                  </a:lnTo>
                  <a:lnTo>
                    <a:pt x="1511808" y="16891"/>
                  </a:lnTo>
                  <a:lnTo>
                    <a:pt x="1528699" y="16891"/>
                  </a:lnTo>
                  <a:lnTo>
                    <a:pt x="1528699" y="33909"/>
                  </a:lnTo>
                  <a:lnTo>
                    <a:pt x="16891" y="33909"/>
                  </a:lnTo>
                  <a:close/>
                </a:path>
              </a:pathLst>
            </a:custGeom>
            <a:solidFill>
              <a:srgbClr val="2E86AB"/>
            </a:solidFill>
          </p:spPr>
        </p:sp>
      </p:grpSp>
      <p:grpSp>
        <p:nvGrpSpPr>
          <p:cNvPr name="Group 32" id="32"/>
          <p:cNvGrpSpPr/>
          <p:nvPr/>
        </p:nvGrpSpPr>
        <p:grpSpPr>
          <a:xfrm rot="0">
            <a:off x="182880" y="5340096"/>
            <a:ext cx="1133856" cy="640080"/>
            <a:chOff x="0" y="0"/>
            <a:chExt cx="1511808" cy="853440"/>
          </a:xfrm>
        </p:grpSpPr>
        <p:sp>
          <p:nvSpPr>
            <p:cNvPr name="Freeform 33" id="33"/>
            <p:cNvSpPr/>
            <p:nvPr/>
          </p:nvSpPr>
          <p:spPr>
            <a:xfrm flipH="false" flipV="false" rot="0">
              <a:off x="0" y="0"/>
              <a:ext cx="1511808" cy="853440"/>
            </a:xfrm>
            <a:custGeom>
              <a:avLst/>
              <a:gdLst/>
              <a:ahLst/>
              <a:cxnLst/>
              <a:rect r="r" b="b" t="t" l="l"/>
              <a:pathLst>
                <a:path h="853440" w="1511808">
                  <a:moveTo>
                    <a:pt x="0" y="0"/>
                  </a:moveTo>
                  <a:lnTo>
                    <a:pt x="1511808" y="0"/>
                  </a:lnTo>
                  <a:lnTo>
                    <a:pt x="1511808" y="853440"/>
                  </a:lnTo>
                  <a:lnTo>
                    <a:pt x="0" y="853440"/>
                  </a:lnTo>
                  <a:close/>
                </a:path>
              </a:pathLst>
            </a:custGeom>
            <a:blipFill>
              <a:blip r:embed="rId3">
                <a:alphaModFix amt="0"/>
              </a:blip>
              <a:stretch>
                <a:fillRect l="-22429" t="0" r="-22429" b="0"/>
              </a:stretch>
            </a:blipFill>
          </p:spPr>
        </p:sp>
        <p:sp>
          <p:nvSpPr>
            <p:cNvPr name="TextBox 34" id="34"/>
            <p:cNvSpPr txBox="true"/>
            <p:nvPr/>
          </p:nvSpPr>
          <p:spPr>
            <a:xfrm>
              <a:off x="0" y="-38100"/>
              <a:ext cx="1511808" cy="89154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N-2</a:t>
              </a:r>
            </a:p>
          </p:txBody>
        </p:sp>
      </p:grpSp>
      <p:grpSp>
        <p:nvGrpSpPr>
          <p:cNvPr name="Group 35" id="35"/>
          <p:cNvGrpSpPr/>
          <p:nvPr/>
        </p:nvGrpSpPr>
        <p:grpSpPr>
          <a:xfrm rot="0">
            <a:off x="146304" y="6473952"/>
            <a:ext cx="1207008" cy="1005840"/>
            <a:chOff x="0" y="0"/>
            <a:chExt cx="1609344" cy="1341120"/>
          </a:xfrm>
        </p:grpSpPr>
        <p:sp>
          <p:nvSpPr>
            <p:cNvPr name="Freeform 36" id="36"/>
            <p:cNvSpPr/>
            <p:nvPr/>
          </p:nvSpPr>
          <p:spPr>
            <a:xfrm flipH="false" flipV="false" rot="0">
              <a:off x="0" y="0"/>
              <a:ext cx="1609344" cy="1341120"/>
            </a:xfrm>
            <a:custGeom>
              <a:avLst/>
              <a:gdLst/>
              <a:ahLst/>
              <a:cxnLst/>
              <a:rect r="r" b="b" t="t" l="l"/>
              <a:pathLst>
                <a:path h="1341120" w="1609344">
                  <a:moveTo>
                    <a:pt x="0" y="0"/>
                  </a:moveTo>
                  <a:lnTo>
                    <a:pt x="1609344" y="0"/>
                  </a:lnTo>
                  <a:lnTo>
                    <a:pt x="1609344" y="1341120"/>
                  </a:lnTo>
                  <a:lnTo>
                    <a:pt x="0" y="1341120"/>
                  </a:lnTo>
                  <a:close/>
                </a:path>
              </a:pathLst>
            </a:custGeom>
            <a:blipFill>
              <a:blip r:embed="rId3">
                <a:alphaModFix amt="0"/>
              </a:blip>
              <a:stretch>
                <a:fillRect l="-56919" t="0" r="-56919" b="0"/>
              </a:stretch>
            </a:blipFill>
          </p:spPr>
        </p:sp>
        <p:sp>
          <p:nvSpPr>
            <p:cNvPr name="TextBox 37" id="37"/>
            <p:cNvSpPr txBox="true"/>
            <p:nvPr/>
          </p:nvSpPr>
          <p:spPr>
            <a:xfrm>
              <a:off x="0" y="-28575"/>
              <a:ext cx="1609344" cy="1369695"/>
            </a:xfrm>
            <a:prstGeom prst="rect">
              <a:avLst/>
            </a:prstGeom>
          </p:spPr>
          <p:txBody>
            <a:bodyPr anchor="ctr" rtlCol="false" tIns="0" lIns="0" bIns="0" rIns="0"/>
            <a:lstStyle/>
            <a:p>
              <a:pPr algn="ctr">
                <a:lnSpc>
                  <a:spcPts val="1560"/>
                </a:lnSpc>
              </a:pPr>
              <a:r>
                <a:rPr lang="en-US" sz="1300">
                  <a:solidFill>
                    <a:srgbClr val="2E86AB"/>
                  </a:solidFill>
                  <a:latin typeface="Calibri (MS)"/>
                  <a:ea typeface="Calibri (MS)"/>
                  <a:cs typeface="Calibri (MS)"/>
                  <a:sym typeface="Calibri (MS)"/>
                </a:rPr>
                <a:t>Sub</a:t>
              </a:r>
            </a:p>
            <a:p>
              <a:pPr algn="ctr">
                <a:lnSpc>
                  <a:spcPts val="1560"/>
                </a:lnSpc>
              </a:pPr>
              <a:r>
                <a:rPr lang="en-US" sz="1300">
                  <a:solidFill>
                    <a:srgbClr val="2E86AB"/>
                  </a:solidFill>
                  <a:latin typeface="Calibri (MS)"/>
                  <a:ea typeface="Calibri (MS)"/>
                  <a:cs typeface="Calibri (MS)"/>
                  <a:sym typeface="Calibri (MS)"/>
                </a:rPr>
                <a:t>Systems</a:t>
              </a:r>
            </a:p>
          </p:txBody>
        </p:sp>
      </p:grpSp>
      <p:grpSp>
        <p:nvGrpSpPr>
          <p:cNvPr name="Group 38" id="38"/>
          <p:cNvGrpSpPr/>
          <p:nvPr/>
        </p:nvGrpSpPr>
        <p:grpSpPr>
          <a:xfrm rot="0">
            <a:off x="170183" y="7302503"/>
            <a:ext cx="1159259" cy="1159259"/>
            <a:chOff x="0" y="0"/>
            <a:chExt cx="1545679" cy="1545679"/>
          </a:xfrm>
        </p:grpSpPr>
        <p:sp>
          <p:nvSpPr>
            <p:cNvPr name="Freeform 39" id="39"/>
            <p:cNvSpPr/>
            <p:nvPr/>
          </p:nvSpPr>
          <p:spPr>
            <a:xfrm flipH="false" flipV="false" rot="0">
              <a:off x="16891" y="16891"/>
              <a:ext cx="1511808" cy="1511808"/>
            </a:xfrm>
            <a:custGeom>
              <a:avLst/>
              <a:gdLst/>
              <a:ahLst/>
              <a:cxnLst/>
              <a:rect r="r" b="b" t="t" l="l"/>
              <a:pathLst>
                <a:path h="1511808" w="1511808">
                  <a:moveTo>
                    <a:pt x="0" y="0"/>
                  </a:moveTo>
                  <a:lnTo>
                    <a:pt x="1511808" y="0"/>
                  </a:lnTo>
                  <a:lnTo>
                    <a:pt x="1511808" y="1511808"/>
                  </a:lnTo>
                  <a:lnTo>
                    <a:pt x="0" y="1511808"/>
                  </a:lnTo>
                  <a:close/>
                </a:path>
              </a:pathLst>
            </a:custGeom>
            <a:solidFill>
              <a:srgbClr val="1E88E5"/>
            </a:solidFill>
          </p:spPr>
        </p:sp>
        <p:sp>
          <p:nvSpPr>
            <p:cNvPr name="Freeform 40" id="40"/>
            <p:cNvSpPr/>
            <p:nvPr/>
          </p:nvSpPr>
          <p:spPr>
            <a:xfrm flipH="false" flipV="false" rot="0">
              <a:off x="0" y="0"/>
              <a:ext cx="1545590" cy="1545590"/>
            </a:xfrm>
            <a:custGeom>
              <a:avLst/>
              <a:gdLst/>
              <a:ahLst/>
              <a:cxnLst/>
              <a:rect r="r" b="b" t="t" l="l"/>
              <a:pathLst>
                <a:path h="1545590" w="1545590">
                  <a:moveTo>
                    <a:pt x="16891" y="0"/>
                  </a:moveTo>
                  <a:lnTo>
                    <a:pt x="1528699" y="0"/>
                  </a:lnTo>
                  <a:cubicBezTo>
                    <a:pt x="1538097" y="0"/>
                    <a:pt x="1545590" y="7620"/>
                    <a:pt x="1545590" y="16891"/>
                  </a:cubicBezTo>
                  <a:lnTo>
                    <a:pt x="1545590" y="1528699"/>
                  </a:lnTo>
                  <a:cubicBezTo>
                    <a:pt x="1545590" y="1538097"/>
                    <a:pt x="1537970" y="1545590"/>
                    <a:pt x="1528699"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1528699" y="1511808"/>
                  </a:lnTo>
                  <a:lnTo>
                    <a:pt x="1528699" y="1528699"/>
                  </a:lnTo>
                  <a:lnTo>
                    <a:pt x="1511808" y="1528699"/>
                  </a:lnTo>
                  <a:lnTo>
                    <a:pt x="1511808" y="16891"/>
                  </a:lnTo>
                  <a:lnTo>
                    <a:pt x="1528699" y="16891"/>
                  </a:lnTo>
                  <a:lnTo>
                    <a:pt x="1528699" y="33909"/>
                  </a:lnTo>
                  <a:lnTo>
                    <a:pt x="16891" y="33909"/>
                  </a:lnTo>
                  <a:close/>
                </a:path>
              </a:pathLst>
            </a:custGeom>
            <a:solidFill>
              <a:srgbClr val="1E88E5"/>
            </a:solidFill>
          </p:spPr>
        </p:sp>
      </p:grpSp>
      <p:grpSp>
        <p:nvGrpSpPr>
          <p:cNvPr name="Group 41" id="41"/>
          <p:cNvGrpSpPr/>
          <p:nvPr/>
        </p:nvGrpSpPr>
        <p:grpSpPr>
          <a:xfrm rot="0">
            <a:off x="195586" y="7562093"/>
            <a:ext cx="1133856" cy="640080"/>
            <a:chOff x="0" y="0"/>
            <a:chExt cx="1511808" cy="853440"/>
          </a:xfrm>
        </p:grpSpPr>
        <p:sp>
          <p:nvSpPr>
            <p:cNvPr name="Freeform 42" id="42"/>
            <p:cNvSpPr/>
            <p:nvPr/>
          </p:nvSpPr>
          <p:spPr>
            <a:xfrm flipH="false" flipV="false" rot="0">
              <a:off x="0" y="0"/>
              <a:ext cx="1511808" cy="853440"/>
            </a:xfrm>
            <a:custGeom>
              <a:avLst/>
              <a:gdLst/>
              <a:ahLst/>
              <a:cxnLst/>
              <a:rect r="r" b="b" t="t" l="l"/>
              <a:pathLst>
                <a:path h="853440" w="1511808">
                  <a:moveTo>
                    <a:pt x="0" y="0"/>
                  </a:moveTo>
                  <a:lnTo>
                    <a:pt x="1511808" y="0"/>
                  </a:lnTo>
                  <a:lnTo>
                    <a:pt x="1511808" y="853440"/>
                  </a:lnTo>
                  <a:lnTo>
                    <a:pt x="0" y="853440"/>
                  </a:lnTo>
                  <a:close/>
                </a:path>
              </a:pathLst>
            </a:custGeom>
            <a:blipFill>
              <a:blip r:embed="rId3">
                <a:alphaModFix amt="0"/>
              </a:blip>
              <a:stretch>
                <a:fillRect l="-22429" t="0" r="-22429" b="0"/>
              </a:stretch>
            </a:blipFill>
          </p:spPr>
        </p:sp>
        <p:sp>
          <p:nvSpPr>
            <p:cNvPr name="TextBox 43" id="43"/>
            <p:cNvSpPr txBox="true"/>
            <p:nvPr/>
          </p:nvSpPr>
          <p:spPr>
            <a:xfrm>
              <a:off x="0" y="-38100"/>
              <a:ext cx="1511808" cy="89154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Agents</a:t>
              </a:r>
            </a:p>
          </p:txBody>
        </p:sp>
      </p:grpSp>
      <p:grpSp>
        <p:nvGrpSpPr>
          <p:cNvPr name="Group 44" id="44"/>
          <p:cNvGrpSpPr/>
          <p:nvPr/>
        </p:nvGrpSpPr>
        <p:grpSpPr>
          <a:xfrm rot="0">
            <a:off x="146304" y="8449056"/>
            <a:ext cx="1207008" cy="1005840"/>
            <a:chOff x="0" y="0"/>
            <a:chExt cx="1609344" cy="1341120"/>
          </a:xfrm>
        </p:grpSpPr>
        <p:sp>
          <p:nvSpPr>
            <p:cNvPr name="Freeform 45" id="45"/>
            <p:cNvSpPr/>
            <p:nvPr/>
          </p:nvSpPr>
          <p:spPr>
            <a:xfrm flipH="false" flipV="false" rot="0">
              <a:off x="0" y="0"/>
              <a:ext cx="1609344" cy="1341120"/>
            </a:xfrm>
            <a:custGeom>
              <a:avLst/>
              <a:gdLst/>
              <a:ahLst/>
              <a:cxnLst/>
              <a:rect r="r" b="b" t="t" l="l"/>
              <a:pathLst>
                <a:path h="1341120" w="1609344">
                  <a:moveTo>
                    <a:pt x="0" y="0"/>
                  </a:moveTo>
                  <a:lnTo>
                    <a:pt x="1609344" y="0"/>
                  </a:lnTo>
                  <a:lnTo>
                    <a:pt x="1609344" y="1341120"/>
                  </a:lnTo>
                  <a:lnTo>
                    <a:pt x="0" y="1341120"/>
                  </a:lnTo>
                  <a:close/>
                </a:path>
              </a:pathLst>
            </a:custGeom>
            <a:solidFill>
              <a:srgbClr val="00ACC1">
                <a:alpha val="0"/>
              </a:srgbClr>
            </a:solidFill>
          </p:spPr>
        </p:sp>
        <p:sp>
          <p:nvSpPr>
            <p:cNvPr name="TextBox 46" id="46"/>
            <p:cNvSpPr txBox="true"/>
            <p:nvPr/>
          </p:nvSpPr>
          <p:spPr>
            <a:xfrm>
              <a:off x="0" y="-28575"/>
              <a:ext cx="1609344" cy="1369695"/>
            </a:xfrm>
            <a:prstGeom prst="rect">
              <a:avLst/>
            </a:prstGeom>
          </p:spPr>
          <p:txBody>
            <a:bodyPr anchor="ctr" rtlCol="false" tIns="0" lIns="0" bIns="0" rIns="0"/>
            <a:lstStyle/>
            <a:p>
              <a:pPr algn="ctr">
                <a:lnSpc>
                  <a:spcPts val="1560"/>
                </a:lnSpc>
              </a:pPr>
              <a:r>
                <a:rPr lang="en-US" sz="1300">
                  <a:solidFill>
                    <a:srgbClr val="1E88E5"/>
                  </a:solidFill>
                  <a:latin typeface="Calibri (MS)"/>
                  <a:ea typeface="Calibri (MS)"/>
                  <a:cs typeface="Calibri (MS)"/>
                  <a:sym typeface="Calibri (MS)"/>
                </a:rPr>
                <a:t>Per Sub-</a:t>
              </a:r>
            </a:p>
            <a:p>
              <a:pPr algn="ctr">
                <a:lnSpc>
                  <a:spcPts val="1560"/>
                </a:lnSpc>
              </a:pPr>
              <a:r>
                <a:rPr lang="en-US" sz="1300">
                  <a:solidFill>
                    <a:srgbClr val="1E88E5"/>
                  </a:solidFill>
                  <a:latin typeface="Calibri (MS)"/>
                  <a:ea typeface="Calibri (MS)"/>
                  <a:cs typeface="Calibri (MS)"/>
                  <a:sym typeface="Calibri (MS)"/>
                </a:rPr>
                <a:t>System</a:t>
              </a:r>
            </a:p>
          </p:txBody>
        </p:sp>
      </p:grpSp>
      <p:grpSp>
        <p:nvGrpSpPr>
          <p:cNvPr name="Group 47" id="47"/>
          <p:cNvGrpSpPr/>
          <p:nvPr/>
        </p:nvGrpSpPr>
        <p:grpSpPr>
          <a:xfrm rot="0">
            <a:off x="1541783" y="1450343"/>
            <a:ext cx="16210283" cy="1268987"/>
            <a:chOff x="0" y="0"/>
            <a:chExt cx="21613711" cy="1691983"/>
          </a:xfrm>
        </p:grpSpPr>
        <p:sp>
          <p:nvSpPr>
            <p:cNvPr name="Freeform 48" id="48"/>
            <p:cNvSpPr/>
            <p:nvPr/>
          </p:nvSpPr>
          <p:spPr>
            <a:xfrm flipH="false" flipV="false" rot="0">
              <a:off x="16891" y="16891"/>
              <a:ext cx="21579839" cy="1658112"/>
            </a:xfrm>
            <a:custGeom>
              <a:avLst/>
              <a:gdLst/>
              <a:ahLst/>
              <a:cxnLst/>
              <a:rect r="r" b="b" t="t" l="l"/>
              <a:pathLst>
                <a:path h="1658112" w="21579839">
                  <a:moveTo>
                    <a:pt x="0" y="0"/>
                  </a:moveTo>
                  <a:lnTo>
                    <a:pt x="21579839" y="0"/>
                  </a:lnTo>
                  <a:lnTo>
                    <a:pt x="21579839" y="1658112"/>
                  </a:lnTo>
                  <a:lnTo>
                    <a:pt x="0" y="1658112"/>
                  </a:lnTo>
                  <a:close/>
                </a:path>
              </a:pathLst>
            </a:custGeom>
            <a:solidFill>
              <a:srgbClr val="0D1B2A"/>
            </a:solidFill>
          </p:spPr>
        </p:sp>
        <p:sp>
          <p:nvSpPr>
            <p:cNvPr name="Freeform 49" id="49"/>
            <p:cNvSpPr/>
            <p:nvPr/>
          </p:nvSpPr>
          <p:spPr>
            <a:xfrm flipH="false" flipV="false" rot="0">
              <a:off x="0" y="0"/>
              <a:ext cx="21613622" cy="1691894"/>
            </a:xfrm>
            <a:custGeom>
              <a:avLst/>
              <a:gdLst/>
              <a:ahLst/>
              <a:cxnLst/>
              <a:rect r="r" b="b" t="t" l="l"/>
              <a:pathLst>
                <a:path h="1691894" w="21613622">
                  <a:moveTo>
                    <a:pt x="16891" y="0"/>
                  </a:moveTo>
                  <a:lnTo>
                    <a:pt x="21596730" y="0"/>
                  </a:lnTo>
                  <a:cubicBezTo>
                    <a:pt x="21606129" y="0"/>
                    <a:pt x="21613622" y="7620"/>
                    <a:pt x="21613622" y="16891"/>
                  </a:cubicBezTo>
                  <a:lnTo>
                    <a:pt x="21613622" y="1675003"/>
                  </a:lnTo>
                  <a:cubicBezTo>
                    <a:pt x="21613622" y="1684401"/>
                    <a:pt x="21606002" y="1691894"/>
                    <a:pt x="2159673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596730" y="1658112"/>
                  </a:lnTo>
                  <a:lnTo>
                    <a:pt x="21596730" y="1675003"/>
                  </a:lnTo>
                  <a:lnTo>
                    <a:pt x="21579839" y="1675003"/>
                  </a:lnTo>
                  <a:lnTo>
                    <a:pt x="21579839" y="16891"/>
                  </a:lnTo>
                  <a:lnTo>
                    <a:pt x="21596730" y="16891"/>
                  </a:lnTo>
                  <a:lnTo>
                    <a:pt x="21596730" y="33909"/>
                  </a:lnTo>
                  <a:lnTo>
                    <a:pt x="16891" y="33909"/>
                  </a:lnTo>
                  <a:close/>
                </a:path>
              </a:pathLst>
            </a:custGeom>
            <a:solidFill>
              <a:srgbClr val="0D1B2A"/>
            </a:solidFill>
          </p:spPr>
        </p:sp>
      </p:grpSp>
      <p:grpSp>
        <p:nvGrpSpPr>
          <p:cNvPr name="Group 50" id="50"/>
          <p:cNvGrpSpPr/>
          <p:nvPr/>
        </p:nvGrpSpPr>
        <p:grpSpPr>
          <a:xfrm rot="0">
            <a:off x="1554480" y="1463040"/>
            <a:ext cx="16184880" cy="1243584"/>
            <a:chOff x="0" y="0"/>
            <a:chExt cx="21579840" cy="1658112"/>
          </a:xfrm>
        </p:grpSpPr>
        <p:sp>
          <p:nvSpPr>
            <p:cNvPr name="Freeform 51" id="51"/>
            <p:cNvSpPr/>
            <p:nvPr/>
          </p:nvSpPr>
          <p:spPr>
            <a:xfrm flipH="false" flipV="false" rot="0">
              <a:off x="0" y="0"/>
              <a:ext cx="21579839" cy="1658112"/>
            </a:xfrm>
            <a:custGeom>
              <a:avLst/>
              <a:gdLst/>
              <a:ahLst/>
              <a:cxnLst/>
              <a:rect r="r" b="b" t="t" l="l"/>
              <a:pathLst>
                <a:path h="1658112" w="21579839">
                  <a:moveTo>
                    <a:pt x="0" y="0"/>
                  </a:moveTo>
                  <a:lnTo>
                    <a:pt x="21579839" y="0"/>
                  </a:lnTo>
                  <a:lnTo>
                    <a:pt x="21579839" y="1658112"/>
                  </a:lnTo>
                  <a:lnTo>
                    <a:pt x="0" y="1658112"/>
                  </a:lnTo>
                  <a:close/>
                </a:path>
              </a:pathLst>
            </a:custGeom>
            <a:blipFill>
              <a:blip r:embed="rId3">
                <a:alphaModFix amt="0"/>
              </a:blip>
              <a:stretch>
                <a:fillRect l="0" t="-203592" r="0" b="-203592"/>
              </a:stretch>
            </a:blipFill>
          </p:spPr>
        </p:sp>
        <p:sp>
          <p:nvSpPr>
            <p:cNvPr name="TextBox 52" id="52"/>
            <p:cNvSpPr txBox="true"/>
            <p:nvPr/>
          </p:nvSpPr>
          <p:spPr>
            <a:xfrm>
              <a:off x="0" y="-76200"/>
              <a:ext cx="21579840" cy="1734312"/>
            </a:xfrm>
            <a:prstGeom prst="rect">
              <a:avLst/>
            </a:prstGeom>
          </p:spPr>
          <p:txBody>
            <a:bodyPr anchor="ctr" rtlCol="false" tIns="0" lIns="0" bIns="0" rIns="0"/>
            <a:lstStyle/>
            <a:p>
              <a:pPr algn="ctr">
                <a:lnSpc>
                  <a:spcPts val="3839"/>
                </a:lnSpc>
              </a:pPr>
              <a:r>
                <a:rPr lang="en-US" b="true" sz="3199" spc="685">
                  <a:solidFill>
                    <a:srgbClr val="FFFFFF"/>
                  </a:solidFill>
                  <a:latin typeface="Calibri (MS) Bold"/>
                  <a:ea typeface="Calibri (MS) Bold"/>
                  <a:cs typeface="Calibri (MS) Bold"/>
                  <a:sym typeface="Calibri (MS) Bold"/>
                </a:rPr>
                <a:t>CENTRAL ORCHESTRATOR</a:t>
              </a:r>
            </a:p>
          </p:txBody>
        </p:sp>
      </p:grpSp>
      <p:grpSp>
        <p:nvGrpSpPr>
          <p:cNvPr name="Group 53" id="53"/>
          <p:cNvGrpSpPr/>
          <p:nvPr/>
        </p:nvGrpSpPr>
        <p:grpSpPr>
          <a:xfrm rot="0">
            <a:off x="9630661" y="2681221"/>
            <a:ext cx="50797" cy="507997"/>
            <a:chOff x="0" y="0"/>
            <a:chExt cx="67729" cy="677329"/>
          </a:xfrm>
        </p:grpSpPr>
        <p:sp>
          <p:nvSpPr>
            <p:cNvPr name="Freeform 54" id="54"/>
            <p:cNvSpPr/>
            <p:nvPr/>
          </p:nvSpPr>
          <p:spPr>
            <a:xfrm flipH="false" flipV="false" rot="0">
              <a:off x="0" y="33909"/>
              <a:ext cx="67691" cy="609600"/>
            </a:xfrm>
            <a:custGeom>
              <a:avLst/>
              <a:gdLst/>
              <a:ahLst/>
              <a:cxnLst/>
              <a:rect r="r" b="b" t="t" l="l"/>
              <a:pathLst>
                <a:path h="609600" w="67691">
                  <a:moveTo>
                    <a:pt x="67691" y="0"/>
                  </a:moveTo>
                  <a:lnTo>
                    <a:pt x="67691" y="609600"/>
                  </a:lnTo>
                  <a:lnTo>
                    <a:pt x="0" y="609600"/>
                  </a:lnTo>
                  <a:lnTo>
                    <a:pt x="0" y="0"/>
                  </a:lnTo>
                  <a:close/>
                </a:path>
              </a:pathLst>
            </a:custGeom>
            <a:solidFill>
              <a:srgbClr val="0A7EA4"/>
            </a:solidFill>
          </p:spPr>
        </p:sp>
      </p:grpSp>
      <p:grpSp>
        <p:nvGrpSpPr>
          <p:cNvPr name="Group 55" id="55"/>
          <p:cNvGrpSpPr/>
          <p:nvPr/>
        </p:nvGrpSpPr>
        <p:grpSpPr>
          <a:xfrm rot="0">
            <a:off x="1541783" y="3151127"/>
            <a:ext cx="2494283" cy="1159259"/>
            <a:chOff x="0" y="0"/>
            <a:chExt cx="3325711" cy="1545679"/>
          </a:xfrm>
        </p:grpSpPr>
        <p:sp>
          <p:nvSpPr>
            <p:cNvPr name="Freeform 56" id="56"/>
            <p:cNvSpPr/>
            <p:nvPr/>
          </p:nvSpPr>
          <p:spPr>
            <a:xfrm flipH="false" flipV="false" rot="0">
              <a:off x="16891" y="16891"/>
              <a:ext cx="3291840" cy="1511808"/>
            </a:xfrm>
            <a:custGeom>
              <a:avLst/>
              <a:gdLst/>
              <a:ahLst/>
              <a:cxnLst/>
              <a:rect r="r" b="b" t="t" l="l"/>
              <a:pathLst>
                <a:path h="1511808" w="3291840">
                  <a:moveTo>
                    <a:pt x="0" y="0"/>
                  </a:moveTo>
                  <a:lnTo>
                    <a:pt x="3291840" y="0"/>
                  </a:lnTo>
                  <a:lnTo>
                    <a:pt x="3291840" y="1511808"/>
                  </a:lnTo>
                  <a:lnTo>
                    <a:pt x="0" y="1511808"/>
                  </a:lnTo>
                  <a:close/>
                </a:path>
              </a:pathLst>
            </a:custGeom>
            <a:solidFill>
              <a:srgbClr val="0A7EA4"/>
            </a:solidFill>
          </p:spPr>
        </p:sp>
        <p:sp>
          <p:nvSpPr>
            <p:cNvPr name="Freeform 57" id="57"/>
            <p:cNvSpPr/>
            <p:nvPr/>
          </p:nvSpPr>
          <p:spPr>
            <a:xfrm flipH="false" flipV="false" rot="0">
              <a:off x="0" y="0"/>
              <a:ext cx="3325622" cy="1545590"/>
            </a:xfrm>
            <a:custGeom>
              <a:avLst/>
              <a:gdLst/>
              <a:ahLst/>
              <a:cxnLst/>
              <a:rect r="r" b="b" t="t" l="l"/>
              <a:pathLst>
                <a:path h="1545590" w="3325622">
                  <a:moveTo>
                    <a:pt x="16891" y="0"/>
                  </a:moveTo>
                  <a:lnTo>
                    <a:pt x="3308731" y="0"/>
                  </a:lnTo>
                  <a:cubicBezTo>
                    <a:pt x="3318129" y="0"/>
                    <a:pt x="3325622" y="7620"/>
                    <a:pt x="3325622" y="16891"/>
                  </a:cubicBezTo>
                  <a:lnTo>
                    <a:pt x="3325622" y="1528699"/>
                  </a:lnTo>
                  <a:cubicBezTo>
                    <a:pt x="3325622" y="1538097"/>
                    <a:pt x="3318002" y="1545590"/>
                    <a:pt x="330873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308731" y="1511808"/>
                  </a:lnTo>
                  <a:lnTo>
                    <a:pt x="3308731" y="1528699"/>
                  </a:lnTo>
                  <a:lnTo>
                    <a:pt x="3291840" y="1528699"/>
                  </a:lnTo>
                  <a:lnTo>
                    <a:pt x="3291840" y="16891"/>
                  </a:lnTo>
                  <a:lnTo>
                    <a:pt x="3308731" y="16891"/>
                  </a:lnTo>
                  <a:lnTo>
                    <a:pt x="3308731" y="33909"/>
                  </a:lnTo>
                  <a:lnTo>
                    <a:pt x="16891" y="33909"/>
                  </a:lnTo>
                  <a:close/>
                </a:path>
              </a:pathLst>
            </a:custGeom>
            <a:solidFill>
              <a:srgbClr val="14B8D4"/>
            </a:solidFill>
          </p:spPr>
        </p:sp>
      </p:grpSp>
      <p:grpSp>
        <p:nvGrpSpPr>
          <p:cNvPr name="Group 58" id="58"/>
          <p:cNvGrpSpPr/>
          <p:nvPr/>
        </p:nvGrpSpPr>
        <p:grpSpPr>
          <a:xfrm rot="0">
            <a:off x="1554480" y="3163824"/>
            <a:ext cx="2468880" cy="1133856"/>
            <a:chOff x="0" y="0"/>
            <a:chExt cx="3291840" cy="1511808"/>
          </a:xfrm>
        </p:grpSpPr>
        <p:sp>
          <p:nvSpPr>
            <p:cNvPr name="Freeform 59" id="59"/>
            <p:cNvSpPr/>
            <p:nvPr/>
          </p:nvSpPr>
          <p:spPr>
            <a:xfrm flipH="false" flipV="false" rot="0">
              <a:off x="0" y="0"/>
              <a:ext cx="3291840" cy="1511808"/>
            </a:xfrm>
            <a:custGeom>
              <a:avLst/>
              <a:gdLst/>
              <a:ahLst/>
              <a:cxnLst/>
              <a:rect r="r" b="b" t="t" l="l"/>
              <a:pathLst>
                <a:path h="1511808" w="3291840">
                  <a:moveTo>
                    <a:pt x="0" y="0"/>
                  </a:moveTo>
                  <a:lnTo>
                    <a:pt x="3291840" y="0"/>
                  </a:lnTo>
                  <a:lnTo>
                    <a:pt x="3291840" y="1511808"/>
                  </a:lnTo>
                  <a:lnTo>
                    <a:pt x="0" y="1511808"/>
                  </a:lnTo>
                  <a:close/>
                </a:path>
              </a:pathLst>
            </a:custGeom>
            <a:blipFill>
              <a:blip r:embed="rId3">
                <a:alphaModFix amt="0"/>
              </a:blip>
              <a:stretch>
                <a:fillRect l="-8924" t="0" r="-8924" b="0"/>
              </a:stretch>
            </a:blipFill>
          </p:spPr>
        </p:sp>
        <p:sp>
          <p:nvSpPr>
            <p:cNvPr name="TextBox 60" id="60"/>
            <p:cNvSpPr txBox="true"/>
            <p:nvPr/>
          </p:nvSpPr>
          <p:spPr>
            <a:xfrm>
              <a:off x="0" y="-38100"/>
              <a:ext cx="3291840" cy="154990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Integration</a:t>
              </a:r>
            </a:p>
          </p:txBody>
        </p:sp>
      </p:grpSp>
      <p:grpSp>
        <p:nvGrpSpPr>
          <p:cNvPr name="Group 61" id="61"/>
          <p:cNvGrpSpPr/>
          <p:nvPr/>
        </p:nvGrpSpPr>
        <p:grpSpPr>
          <a:xfrm rot="0">
            <a:off x="2776223" y="2693927"/>
            <a:ext cx="25403" cy="482603"/>
            <a:chOff x="0" y="0"/>
            <a:chExt cx="33871" cy="643471"/>
          </a:xfrm>
        </p:grpSpPr>
        <p:sp>
          <p:nvSpPr>
            <p:cNvPr name="Freeform 62" id="62"/>
            <p:cNvSpPr/>
            <p:nvPr/>
          </p:nvSpPr>
          <p:spPr>
            <a:xfrm flipH="false" flipV="false" rot="0">
              <a:off x="0" y="16891"/>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B8D4E0"/>
            </a:solidFill>
          </p:spPr>
        </p:sp>
      </p:grpSp>
      <p:grpSp>
        <p:nvGrpSpPr>
          <p:cNvPr name="Group 63" id="63"/>
          <p:cNvGrpSpPr/>
          <p:nvPr/>
        </p:nvGrpSpPr>
        <p:grpSpPr>
          <a:xfrm rot="0">
            <a:off x="4284983" y="3151127"/>
            <a:ext cx="2494283" cy="1159259"/>
            <a:chOff x="0" y="0"/>
            <a:chExt cx="3325711" cy="1545679"/>
          </a:xfrm>
        </p:grpSpPr>
        <p:sp>
          <p:nvSpPr>
            <p:cNvPr name="Freeform 64" id="64"/>
            <p:cNvSpPr/>
            <p:nvPr/>
          </p:nvSpPr>
          <p:spPr>
            <a:xfrm flipH="false" flipV="false" rot="0">
              <a:off x="16891" y="16891"/>
              <a:ext cx="3291840" cy="1511808"/>
            </a:xfrm>
            <a:custGeom>
              <a:avLst/>
              <a:gdLst/>
              <a:ahLst/>
              <a:cxnLst/>
              <a:rect r="r" b="b" t="t" l="l"/>
              <a:pathLst>
                <a:path h="1511808" w="3291840">
                  <a:moveTo>
                    <a:pt x="0" y="0"/>
                  </a:moveTo>
                  <a:lnTo>
                    <a:pt x="3291840" y="0"/>
                  </a:lnTo>
                  <a:lnTo>
                    <a:pt x="3291840" y="1511808"/>
                  </a:lnTo>
                  <a:lnTo>
                    <a:pt x="0" y="1511808"/>
                  </a:lnTo>
                  <a:close/>
                </a:path>
              </a:pathLst>
            </a:custGeom>
            <a:solidFill>
              <a:srgbClr val="0A7EA4"/>
            </a:solidFill>
          </p:spPr>
        </p:sp>
        <p:sp>
          <p:nvSpPr>
            <p:cNvPr name="Freeform 65" id="65"/>
            <p:cNvSpPr/>
            <p:nvPr/>
          </p:nvSpPr>
          <p:spPr>
            <a:xfrm flipH="false" flipV="false" rot="0">
              <a:off x="0" y="0"/>
              <a:ext cx="3325622" cy="1545590"/>
            </a:xfrm>
            <a:custGeom>
              <a:avLst/>
              <a:gdLst/>
              <a:ahLst/>
              <a:cxnLst/>
              <a:rect r="r" b="b" t="t" l="l"/>
              <a:pathLst>
                <a:path h="1545590" w="3325622">
                  <a:moveTo>
                    <a:pt x="16891" y="0"/>
                  </a:moveTo>
                  <a:lnTo>
                    <a:pt x="3308731" y="0"/>
                  </a:lnTo>
                  <a:cubicBezTo>
                    <a:pt x="3318129" y="0"/>
                    <a:pt x="3325622" y="7620"/>
                    <a:pt x="3325622" y="16891"/>
                  </a:cubicBezTo>
                  <a:lnTo>
                    <a:pt x="3325622" y="1528699"/>
                  </a:lnTo>
                  <a:cubicBezTo>
                    <a:pt x="3325622" y="1538097"/>
                    <a:pt x="3318002" y="1545590"/>
                    <a:pt x="330873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308731" y="1511808"/>
                  </a:lnTo>
                  <a:lnTo>
                    <a:pt x="3308731" y="1528699"/>
                  </a:lnTo>
                  <a:lnTo>
                    <a:pt x="3291840" y="1528699"/>
                  </a:lnTo>
                  <a:lnTo>
                    <a:pt x="3291840" y="16891"/>
                  </a:lnTo>
                  <a:lnTo>
                    <a:pt x="3308731" y="16891"/>
                  </a:lnTo>
                  <a:lnTo>
                    <a:pt x="3308731" y="33909"/>
                  </a:lnTo>
                  <a:lnTo>
                    <a:pt x="16891" y="33909"/>
                  </a:lnTo>
                  <a:close/>
                </a:path>
              </a:pathLst>
            </a:custGeom>
            <a:solidFill>
              <a:srgbClr val="14B8D4"/>
            </a:solidFill>
          </p:spPr>
        </p:sp>
      </p:grpSp>
      <p:grpSp>
        <p:nvGrpSpPr>
          <p:cNvPr name="Group 66" id="66"/>
          <p:cNvGrpSpPr/>
          <p:nvPr/>
        </p:nvGrpSpPr>
        <p:grpSpPr>
          <a:xfrm rot="0">
            <a:off x="4297680" y="3163824"/>
            <a:ext cx="2468880" cy="1133856"/>
            <a:chOff x="0" y="0"/>
            <a:chExt cx="3291840" cy="1511808"/>
          </a:xfrm>
        </p:grpSpPr>
        <p:sp>
          <p:nvSpPr>
            <p:cNvPr name="Freeform 67" id="67"/>
            <p:cNvSpPr/>
            <p:nvPr/>
          </p:nvSpPr>
          <p:spPr>
            <a:xfrm flipH="false" flipV="false" rot="0">
              <a:off x="0" y="0"/>
              <a:ext cx="3291840" cy="1511808"/>
            </a:xfrm>
            <a:custGeom>
              <a:avLst/>
              <a:gdLst/>
              <a:ahLst/>
              <a:cxnLst/>
              <a:rect r="r" b="b" t="t" l="l"/>
              <a:pathLst>
                <a:path h="1511808" w="3291840">
                  <a:moveTo>
                    <a:pt x="0" y="0"/>
                  </a:moveTo>
                  <a:lnTo>
                    <a:pt x="3291840" y="0"/>
                  </a:lnTo>
                  <a:lnTo>
                    <a:pt x="3291840" y="1511808"/>
                  </a:lnTo>
                  <a:lnTo>
                    <a:pt x="0" y="1511808"/>
                  </a:lnTo>
                  <a:close/>
                </a:path>
              </a:pathLst>
            </a:custGeom>
            <a:blipFill>
              <a:blip r:embed="rId3">
                <a:alphaModFix amt="0"/>
              </a:blip>
              <a:stretch>
                <a:fillRect l="-8924" t="0" r="-8924" b="0"/>
              </a:stretch>
            </a:blipFill>
          </p:spPr>
        </p:sp>
        <p:sp>
          <p:nvSpPr>
            <p:cNvPr name="TextBox 68" id="68"/>
            <p:cNvSpPr txBox="true"/>
            <p:nvPr/>
          </p:nvSpPr>
          <p:spPr>
            <a:xfrm>
              <a:off x="0" y="-38100"/>
              <a:ext cx="3291840" cy="154990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Vehicle</a:t>
              </a:r>
            </a:p>
            <a:p>
              <a:pPr algn="ctr">
                <a:lnSpc>
                  <a:spcPts val="2039"/>
                </a:lnSpc>
              </a:pPr>
              <a:r>
                <a:rPr lang="en-US" sz="1700" b="true">
                  <a:solidFill>
                    <a:srgbClr val="FFFFFF"/>
                  </a:solidFill>
                  <a:latin typeface="Calibri (MS) Bold"/>
                  <a:ea typeface="Calibri (MS) Bold"/>
                  <a:cs typeface="Calibri (MS) Bold"/>
                  <a:sym typeface="Calibri (MS) Bold"/>
                </a:rPr>
                <a:t>System</a:t>
              </a:r>
            </a:p>
          </p:txBody>
        </p:sp>
      </p:grpSp>
      <p:grpSp>
        <p:nvGrpSpPr>
          <p:cNvPr name="Group 69" id="69"/>
          <p:cNvGrpSpPr/>
          <p:nvPr/>
        </p:nvGrpSpPr>
        <p:grpSpPr>
          <a:xfrm rot="0">
            <a:off x="5519423" y="2693927"/>
            <a:ext cx="25403" cy="482603"/>
            <a:chOff x="0" y="0"/>
            <a:chExt cx="33871" cy="643471"/>
          </a:xfrm>
        </p:grpSpPr>
        <p:sp>
          <p:nvSpPr>
            <p:cNvPr name="Freeform 70" id="70"/>
            <p:cNvSpPr/>
            <p:nvPr/>
          </p:nvSpPr>
          <p:spPr>
            <a:xfrm flipH="false" flipV="false" rot="0">
              <a:off x="0" y="16891"/>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B8D4E0"/>
            </a:solidFill>
          </p:spPr>
        </p:sp>
      </p:grpSp>
      <p:grpSp>
        <p:nvGrpSpPr>
          <p:cNvPr name="Group 71" id="71"/>
          <p:cNvGrpSpPr/>
          <p:nvPr/>
        </p:nvGrpSpPr>
        <p:grpSpPr>
          <a:xfrm rot="0">
            <a:off x="7028183" y="3151127"/>
            <a:ext cx="2494283" cy="1159259"/>
            <a:chOff x="0" y="0"/>
            <a:chExt cx="3325711" cy="1545679"/>
          </a:xfrm>
        </p:grpSpPr>
        <p:sp>
          <p:nvSpPr>
            <p:cNvPr name="Freeform 72" id="72"/>
            <p:cNvSpPr/>
            <p:nvPr/>
          </p:nvSpPr>
          <p:spPr>
            <a:xfrm flipH="false" flipV="false" rot="0">
              <a:off x="16891" y="16891"/>
              <a:ext cx="3291840" cy="1511808"/>
            </a:xfrm>
            <a:custGeom>
              <a:avLst/>
              <a:gdLst/>
              <a:ahLst/>
              <a:cxnLst/>
              <a:rect r="r" b="b" t="t" l="l"/>
              <a:pathLst>
                <a:path h="1511808" w="3291840">
                  <a:moveTo>
                    <a:pt x="0" y="0"/>
                  </a:moveTo>
                  <a:lnTo>
                    <a:pt x="3291840" y="0"/>
                  </a:lnTo>
                  <a:lnTo>
                    <a:pt x="3291840" y="1511808"/>
                  </a:lnTo>
                  <a:lnTo>
                    <a:pt x="0" y="1511808"/>
                  </a:lnTo>
                  <a:close/>
                </a:path>
              </a:pathLst>
            </a:custGeom>
            <a:solidFill>
              <a:srgbClr val="0A7EA4"/>
            </a:solidFill>
          </p:spPr>
        </p:sp>
        <p:sp>
          <p:nvSpPr>
            <p:cNvPr name="Freeform 73" id="73"/>
            <p:cNvSpPr/>
            <p:nvPr/>
          </p:nvSpPr>
          <p:spPr>
            <a:xfrm flipH="false" flipV="false" rot="0">
              <a:off x="0" y="0"/>
              <a:ext cx="3325622" cy="1545590"/>
            </a:xfrm>
            <a:custGeom>
              <a:avLst/>
              <a:gdLst/>
              <a:ahLst/>
              <a:cxnLst/>
              <a:rect r="r" b="b" t="t" l="l"/>
              <a:pathLst>
                <a:path h="1545590" w="3325622">
                  <a:moveTo>
                    <a:pt x="16891" y="0"/>
                  </a:moveTo>
                  <a:lnTo>
                    <a:pt x="3308731" y="0"/>
                  </a:lnTo>
                  <a:cubicBezTo>
                    <a:pt x="3318129" y="0"/>
                    <a:pt x="3325622" y="7620"/>
                    <a:pt x="3325622" y="16891"/>
                  </a:cubicBezTo>
                  <a:lnTo>
                    <a:pt x="3325622" y="1528699"/>
                  </a:lnTo>
                  <a:cubicBezTo>
                    <a:pt x="3325622" y="1538097"/>
                    <a:pt x="3318002" y="1545590"/>
                    <a:pt x="330873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308731" y="1511808"/>
                  </a:lnTo>
                  <a:lnTo>
                    <a:pt x="3308731" y="1528699"/>
                  </a:lnTo>
                  <a:lnTo>
                    <a:pt x="3291840" y="1528699"/>
                  </a:lnTo>
                  <a:lnTo>
                    <a:pt x="3291840" y="16891"/>
                  </a:lnTo>
                  <a:lnTo>
                    <a:pt x="3308731" y="16891"/>
                  </a:lnTo>
                  <a:lnTo>
                    <a:pt x="3308731" y="33909"/>
                  </a:lnTo>
                  <a:lnTo>
                    <a:pt x="16891" y="33909"/>
                  </a:lnTo>
                  <a:close/>
                </a:path>
              </a:pathLst>
            </a:custGeom>
            <a:solidFill>
              <a:srgbClr val="14B8D4"/>
            </a:solidFill>
          </p:spPr>
        </p:sp>
      </p:grpSp>
      <p:grpSp>
        <p:nvGrpSpPr>
          <p:cNvPr name="Group 74" id="74"/>
          <p:cNvGrpSpPr/>
          <p:nvPr/>
        </p:nvGrpSpPr>
        <p:grpSpPr>
          <a:xfrm rot="0">
            <a:off x="7040880" y="3163824"/>
            <a:ext cx="2468880" cy="1133856"/>
            <a:chOff x="0" y="0"/>
            <a:chExt cx="3291840" cy="1511808"/>
          </a:xfrm>
        </p:grpSpPr>
        <p:sp>
          <p:nvSpPr>
            <p:cNvPr name="Freeform 75" id="75"/>
            <p:cNvSpPr/>
            <p:nvPr/>
          </p:nvSpPr>
          <p:spPr>
            <a:xfrm flipH="false" flipV="false" rot="0">
              <a:off x="0" y="0"/>
              <a:ext cx="3291840" cy="1511808"/>
            </a:xfrm>
            <a:custGeom>
              <a:avLst/>
              <a:gdLst/>
              <a:ahLst/>
              <a:cxnLst/>
              <a:rect r="r" b="b" t="t" l="l"/>
              <a:pathLst>
                <a:path h="1511808" w="3291840">
                  <a:moveTo>
                    <a:pt x="0" y="0"/>
                  </a:moveTo>
                  <a:lnTo>
                    <a:pt x="3291840" y="0"/>
                  </a:lnTo>
                  <a:lnTo>
                    <a:pt x="3291840" y="1511808"/>
                  </a:lnTo>
                  <a:lnTo>
                    <a:pt x="0" y="1511808"/>
                  </a:lnTo>
                  <a:close/>
                </a:path>
              </a:pathLst>
            </a:custGeom>
            <a:blipFill>
              <a:blip r:embed="rId3">
                <a:alphaModFix amt="0"/>
              </a:blip>
              <a:stretch>
                <a:fillRect l="-8924" t="0" r="-8924" b="0"/>
              </a:stretch>
            </a:blipFill>
          </p:spPr>
        </p:sp>
        <p:sp>
          <p:nvSpPr>
            <p:cNvPr name="TextBox 76" id="76"/>
            <p:cNvSpPr txBox="true"/>
            <p:nvPr/>
          </p:nvSpPr>
          <p:spPr>
            <a:xfrm>
              <a:off x="0" y="-38100"/>
              <a:ext cx="3291840" cy="154990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CAB</a:t>
              </a:r>
            </a:p>
          </p:txBody>
        </p:sp>
      </p:grpSp>
      <p:grpSp>
        <p:nvGrpSpPr>
          <p:cNvPr name="Group 77" id="77"/>
          <p:cNvGrpSpPr/>
          <p:nvPr/>
        </p:nvGrpSpPr>
        <p:grpSpPr>
          <a:xfrm rot="0">
            <a:off x="8262623" y="2693927"/>
            <a:ext cx="25403" cy="482603"/>
            <a:chOff x="0" y="0"/>
            <a:chExt cx="33871" cy="643471"/>
          </a:xfrm>
        </p:grpSpPr>
        <p:sp>
          <p:nvSpPr>
            <p:cNvPr name="Freeform 78" id="78"/>
            <p:cNvSpPr/>
            <p:nvPr/>
          </p:nvSpPr>
          <p:spPr>
            <a:xfrm flipH="false" flipV="false" rot="0">
              <a:off x="0" y="16891"/>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B8D4E0"/>
            </a:solidFill>
          </p:spPr>
        </p:sp>
      </p:grpSp>
      <p:grpSp>
        <p:nvGrpSpPr>
          <p:cNvPr name="Group 79" id="79"/>
          <p:cNvGrpSpPr/>
          <p:nvPr/>
        </p:nvGrpSpPr>
        <p:grpSpPr>
          <a:xfrm rot="0">
            <a:off x="9771383" y="3151127"/>
            <a:ext cx="2494283" cy="1159259"/>
            <a:chOff x="0" y="0"/>
            <a:chExt cx="3325711" cy="1545679"/>
          </a:xfrm>
        </p:grpSpPr>
        <p:sp>
          <p:nvSpPr>
            <p:cNvPr name="Freeform 80" id="80"/>
            <p:cNvSpPr/>
            <p:nvPr/>
          </p:nvSpPr>
          <p:spPr>
            <a:xfrm flipH="false" flipV="false" rot="0">
              <a:off x="16891" y="16891"/>
              <a:ext cx="3291840" cy="1511808"/>
            </a:xfrm>
            <a:custGeom>
              <a:avLst/>
              <a:gdLst/>
              <a:ahLst/>
              <a:cxnLst/>
              <a:rect r="r" b="b" t="t" l="l"/>
              <a:pathLst>
                <a:path h="1511808" w="3291840">
                  <a:moveTo>
                    <a:pt x="0" y="0"/>
                  </a:moveTo>
                  <a:lnTo>
                    <a:pt x="3291840" y="0"/>
                  </a:lnTo>
                  <a:lnTo>
                    <a:pt x="3291840" y="1511808"/>
                  </a:lnTo>
                  <a:lnTo>
                    <a:pt x="0" y="1511808"/>
                  </a:lnTo>
                  <a:close/>
                </a:path>
              </a:pathLst>
            </a:custGeom>
            <a:solidFill>
              <a:srgbClr val="0A7EA4"/>
            </a:solidFill>
          </p:spPr>
        </p:sp>
        <p:sp>
          <p:nvSpPr>
            <p:cNvPr name="Freeform 81" id="81"/>
            <p:cNvSpPr/>
            <p:nvPr/>
          </p:nvSpPr>
          <p:spPr>
            <a:xfrm flipH="false" flipV="false" rot="0">
              <a:off x="0" y="0"/>
              <a:ext cx="3325622" cy="1545590"/>
            </a:xfrm>
            <a:custGeom>
              <a:avLst/>
              <a:gdLst/>
              <a:ahLst/>
              <a:cxnLst/>
              <a:rect r="r" b="b" t="t" l="l"/>
              <a:pathLst>
                <a:path h="1545590" w="3325622">
                  <a:moveTo>
                    <a:pt x="16891" y="0"/>
                  </a:moveTo>
                  <a:lnTo>
                    <a:pt x="3308731" y="0"/>
                  </a:lnTo>
                  <a:cubicBezTo>
                    <a:pt x="3318129" y="0"/>
                    <a:pt x="3325622" y="7620"/>
                    <a:pt x="3325622" y="16891"/>
                  </a:cubicBezTo>
                  <a:lnTo>
                    <a:pt x="3325622" y="1528699"/>
                  </a:lnTo>
                  <a:cubicBezTo>
                    <a:pt x="3325622" y="1538097"/>
                    <a:pt x="3318002" y="1545590"/>
                    <a:pt x="330873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308731" y="1511808"/>
                  </a:lnTo>
                  <a:lnTo>
                    <a:pt x="3308731" y="1528699"/>
                  </a:lnTo>
                  <a:lnTo>
                    <a:pt x="3291840" y="1528699"/>
                  </a:lnTo>
                  <a:lnTo>
                    <a:pt x="3291840" y="16891"/>
                  </a:lnTo>
                  <a:lnTo>
                    <a:pt x="3308731" y="16891"/>
                  </a:lnTo>
                  <a:lnTo>
                    <a:pt x="3308731" y="33909"/>
                  </a:lnTo>
                  <a:lnTo>
                    <a:pt x="16891" y="33909"/>
                  </a:lnTo>
                  <a:close/>
                </a:path>
              </a:pathLst>
            </a:custGeom>
            <a:solidFill>
              <a:srgbClr val="14B8D4"/>
            </a:solidFill>
          </p:spPr>
        </p:sp>
      </p:grpSp>
      <p:grpSp>
        <p:nvGrpSpPr>
          <p:cNvPr name="Group 82" id="82"/>
          <p:cNvGrpSpPr/>
          <p:nvPr/>
        </p:nvGrpSpPr>
        <p:grpSpPr>
          <a:xfrm rot="0">
            <a:off x="9784080" y="3163824"/>
            <a:ext cx="2468880" cy="1133856"/>
            <a:chOff x="0" y="0"/>
            <a:chExt cx="3291840" cy="1511808"/>
          </a:xfrm>
        </p:grpSpPr>
        <p:sp>
          <p:nvSpPr>
            <p:cNvPr name="Freeform 83" id="83"/>
            <p:cNvSpPr/>
            <p:nvPr/>
          </p:nvSpPr>
          <p:spPr>
            <a:xfrm flipH="false" flipV="false" rot="0">
              <a:off x="0" y="0"/>
              <a:ext cx="3291840" cy="1511808"/>
            </a:xfrm>
            <a:custGeom>
              <a:avLst/>
              <a:gdLst/>
              <a:ahLst/>
              <a:cxnLst/>
              <a:rect r="r" b="b" t="t" l="l"/>
              <a:pathLst>
                <a:path h="1511808" w="3291840">
                  <a:moveTo>
                    <a:pt x="0" y="0"/>
                  </a:moveTo>
                  <a:lnTo>
                    <a:pt x="3291840" y="0"/>
                  </a:lnTo>
                  <a:lnTo>
                    <a:pt x="3291840" y="1511808"/>
                  </a:lnTo>
                  <a:lnTo>
                    <a:pt x="0" y="1511808"/>
                  </a:lnTo>
                  <a:close/>
                </a:path>
              </a:pathLst>
            </a:custGeom>
            <a:blipFill>
              <a:blip r:embed="rId3">
                <a:alphaModFix amt="0"/>
              </a:blip>
              <a:stretch>
                <a:fillRect l="-8924" t="0" r="-8924" b="0"/>
              </a:stretch>
            </a:blipFill>
          </p:spPr>
        </p:sp>
        <p:sp>
          <p:nvSpPr>
            <p:cNvPr name="TextBox 84" id="84"/>
            <p:cNvSpPr txBox="true"/>
            <p:nvPr/>
          </p:nvSpPr>
          <p:spPr>
            <a:xfrm>
              <a:off x="0" y="-38100"/>
              <a:ext cx="3291840" cy="154990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E&amp;E</a:t>
              </a:r>
            </a:p>
          </p:txBody>
        </p:sp>
      </p:grpSp>
      <p:grpSp>
        <p:nvGrpSpPr>
          <p:cNvPr name="Group 85" id="85"/>
          <p:cNvGrpSpPr/>
          <p:nvPr/>
        </p:nvGrpSpPr>
        <p:grpSpPr>
          <a:xfrm rot="0">
            <a:off x="11005823" y="2693927"/>
            <a:ext cx="25403" cy="482603"/>
            <a:chOff x="0" y="0"/>
            <a:chExt cx="33871" cy="643471"/>
          </a:xfrm>
        </p:grpSpPr>
        <p:sp>
          <p:nvSpPr>
            <p:cNvPr name="Freeform 86" id="86"/>
            <p:cNvSpPr/>
            <p:nvPr/>
          </p:nvSpPr>
          <p:spPr>
            <a:xfrm flipH="false" flipV="false" rot="0">
              <a:off x="0" y="16891"/>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B8D4E0"/>
            </a:solidFill>
          </p:spPr>
        </p:sp>
      </p:grpSp>
      <p:grpSp>
        <p:nvGrpSpPr>
          <p:cNvPr name="Group 87" id="87"/>
          <p:cNvGrpSpPr/>
          <p:nvPr/>
        </p:nvGrpSpPr>
        <p:grpSpPr>
          <a:xfrm rot="0">
            <a:off x="12514583" y="3151127"/>
            <a:ext cx="2494283" cy="1159259"/>
            <a:chOff x="0" y="0"/>
            <a:chExt cx="3325711" cy="1545679"/>
          </a:xfrm>
        </p:grpSpPr>
        <p:sp>
          <p:nvSpPr>
            <p:cNvPr name="Freeform 88" id="88"/>
            <p:cNvSpPr/>
            <p:nvPr/>
          </p:nvSpPr>
          <p:spPr>
            <a:xfrm flipH="false" flipV="false" rot="0">
              <a:off x="16891" y="16891"/>
              <a:ext cx="3291840" cy="1511808"/>
            </a:xfrm>
            <a:custGeom>
              <a:avLst/>
              <a:gdLst/>
              <a:ahLst/>
              <a:cxnLst/>
              <a:rect r="r" b="b" t="t" l="l"/>
              <a:pathLst>
                <a:path h="1511808" w="3291840">
                  <a:moveTo>
                    <a:pt x="0" y="0"/>
                  </a:moveTo>
                  <a:lnTo>
                    <a:pt x="3291840" y="0"/>
                  </a:lnTo>
                  <a:lnTo>
                    <a:pt x="3291840" y="1511808"/>
                  </a:lnTo>
                  <a:lnTo>
                    <a:pt x="0" y="1511808"/>
                  </a:lnTo>
                  <a:close/>
                </a:path>
              </a:pathLst>
            </a:custGeom>
            <a:solidFill>
              <a:srgbClr val="0A7EA4"/>
            </a:solidFill>
          </p:spPr>
        </p:sp>
        <p:sp>
          <p:nvSpPr>
            <p:cNvPr name="Freeform 89" id="89"/>
            <p:cNvSpPr/>
            <p:nvPr/>
          </p:nvSpPr>
          <p:spPr>
            <a:xfrm flipH="false" flipV="false" rot="0">
              <a:off x="0" y="0"/>
              <a:ext cx="3325622" cy="1545590"/>
            </a:xfrm>
            <a:custGeom>
              <a:avLst/>
              <a:gdLst/>
              <a:ahLst/>
              <a:cxnLst/>
              <a:rect r="r" b="b" t="t" l="l"/>
              <a:pathLst>
                <a:path h="1545590" w="3325622">
                  <a:moveTo>
                    <a:pt x="16891" y="0"/>
                  </a:moveTo>
                  <a:lnTo>
                    <a:pt x="3308731" y="0"/>
                  </a:lnTo>
                  <a:cubicBezTo>
                    <a:pt x="3318129" y="0"/>
                    <a:pt x="3325622" y="7620"/>
                    <a:pt x="3325622" y="16891"/>
                  </a:cubicBezTo>
                  <a:lnTo>
                    <a:pt x="3325622" y="1528699"/>
                  </a:lnTo>
                  <a:cubicBezTo>
                    <a:pt x="3325622" y="1538097"/>
                    <a:pt x="3318002" y="1545590"/>
                    <a:pt x="330873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308731" y="1511808"/>
                  </a:lnTo>
                  <a:lnTo>
                    <a:pt x="3308731" y="1528699"/>
                  </a:lnTo>
                  <a:lnTo>
                    <a:pt x="3291840" y="1528699"/>
                  </a:lnTo>
                  <a:lnTo>
                    <a:pt x="3291840" y="16891"/>
                  </a:lnTo>
                  <a:lnTo>
                    <a:pt x="3308731" y="16891"/>
                  </a:lnTo>
                  <a:lnTo>
                    <a:pt x="3308731" y="33909"/>
                  </a:lnTo>
                  <a:lnTo>
                    <a:pt x="16891" y="33909"/>
                  </a:lnTo>
                  <a:close/>
                </a:path>
              </a:pathLst>
            </a:custGeom>
            <a:solidFill>
              <a:srgbClr val="14B8D4"/>
            </a:solidFill>
          </p:spPr>
        </p:sp>
      </p:grpSp>
      <p:grpSp>
        <p:nvGrpSpPr>
          <p:cNvPr name="Group 90" id="90"/>
          <p:cNvGrpSpPr/>
          <p:nvPr/>
        </p:nvGrpSpPr>
        <p:grpSpPr>
          <a:xfrm rot="0">
            <a:off x="12527280" y="3163824"/>
            <a:ext cx="2468880" cy="1133856"/>
            <a:chOff x="0" y="0"/>
            <a:chExt cx="3291840" cy="1511808"/>
          </a:xfrm>
        </p:grpSpPr>
        <p:sp>
          <p:nvSpPr>
            <p:cNvPr name="Freeform 91" id="91"/>
            <p:cNvSpPr/>
            <p:nvPr/>
          </p:nvSpPr>
          <p:spPr>
            <a:xfrm flipH="false" flipV="false" rot="0">
              <a:off x="0" y="0"/>
              <a:ext cx="3291840" cy="1511808"/>
            </a:xfrm>
            <a:custGeom>
              <a:avLst/>
              <a:gdLst/>
              <a:ahLst/>
              <a:cxnLst/>
              <a:rect r="r" b="b" t="t" l="l"/>
              <a:pathLst>
                <a:path h="1511808" w="3291840">
                  <a:moveTo>
                    <a:pt x="0" y="0"/>
                  </a:moveTo>
                  <a:lnTo>
                    <a:pt x="3291840" y="0"/>
                  </a:lnTo>
                  <a:lnTo>
                    <a:pt x="3291840" y="1511808"/>
                  </a:lnTo>
                  <a:lnTo>
                    <a:pt x="0" y="1511808"/>
                  </a:lnTo>
                  <a:close/>
                </a:path>
              </a:pathLst>
            </a:custGeom>
            <a:blipFill>
              <a:blip r:embed="rId3">
                <a:alphaModFix amt="0"/>
              </a:blip>
              <a:stretch>
                <a:fillRect l="-8924" t="0" r="-8924" b="0"/>
              </a:stretch>
            </a:blipFill>
          </p:spPr>
        </p:sp>
        <p:sp>
          <p:nvSpPr>
            <p:cNvPr name="TextBox 92" id="92"/>
            <p:cNvSpPr txBox="true"/>
            <p:nvPr/>
          </p:nvSpPr>
          <p:spPr>
            <a:xfrm>
              <a:off x="0" y="-38100"/>
              <a:ext cx="3291840" cy="154990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Drivetrain</a:t>
              </a:r>
            </a:p>
          </p:txBody>
        </p:sp>
      </p:grpSp>
      <p:grpSp>
        <p:nvGrpSpPr>
          <p:cNvPr name="Group 93" id="93"/>
          <p:cNvGrpSpPr/>
          <p:nvPr/>
        </p:nvGrpSpPr>
        <p:grpSpPr>
          <a:xfrm rot="0">
            <a:off x="13749023" y="2693927"/>
            <a:ext cx="25403" cy="482603"/>
            <a:chOff x="0" y="0"/>
            <a:chExt cx="33871" cy="643471"/>
          </a:xfrm>
        </p:grpSpPr>
        <p:sp>
          <p:nvSpPr>
            <p:cNvPr name="Freeform 94" id="94"/>
            <p:cNvSpPr/>
            <p:nvPr/>
          </p:nvSpPr>
          <p:spPr>
            <a:xfrm flipH="false" flipV="false" rot="0">
              <a:off x="0" y="16891"/>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B8D4E0"/>
            </a:solidFill>
          </p:spPr>
        </p:sp>
      </p:grpSp>
      <p:grpSp>
        <p:nvGrpSpPr>
          <p:cNvPr name="Group 95" id="95"/>
          <p:cNvGrpSpPr/>
          <p:nvPr/>
        </p:nvGrpSpPr>
        <p:grpSpPr>
          <a:xfrm rot="0">
            <a:off x="15257783" y="3151127"/>
            <a:ext cx="2494283" cy="1159259"/>
            <a:chOff x="0" y="0"/>
            <a:chExt cx="3325711" cy="1545679"/>
          </a:xfrm>
        </p:grpSpPr>
        <p:sp>
          <p:nvSpPr>
            <p:cNvPr name="Freeform 96" id="96"/>
            <p:cNvSpPr/>
            <p:nvPr/>
          </p:nvSpPr>
          <p:spPr>
            <a:xfrm flipH="false" flipV="false" rot="0">
              <a:off x="16891" y="16891"/>
              <a:ext cx="3291840" cy="1511808"/>
            </a:xfrm>
            <a:custGeom>
              <a:avLst/>
              <a:gdLst/>
              <a:ahLst/>
              <a:cxnLst/>
              <a:rect r="r" b="b" t="t" l="l"/>
              <a:pathLst>
                <a:path h="1511808" w="3291840">
                  <a:moveTo>
                    <a:pt x="0" y="0"/>
                  </a:moveTo>
                  <a:lnTo>
                    <a:pt x="3291840" y="0"/>
                  </a:lnTo>
                  <a:lnTo>
                    <a:pt x="3291840" y="1511808"/>
                  </a:lnTo>
                  <a:lnTo>
                    <a:pt x="0" y="1511808"/>
                  </a:lnTo>
                  <a:close/>
                </a:path>
              </a:pathLst>
            </a:custGeom>
            <a:solidFill>
              <a:srgbClr val="0A7EA4"/>
            </a:solidFill>
          </p:spPr>
        </p:sp>
        <p:sp>
          <p:nvSpPr>
            <p:cNvPr name="Freeform 97" id="97"/>
            <p:cNvSpPr/>
            <p:nvPr/>
          </p:nvSpPr>
          <p:spPr>
            <a:xfrm flipH="false" flipV="false" rot="0">
              <a:off x="0" y="0"/>
              <a:ext cx="3325622" cy="1545590"/>
            </a:xfrm>
            <a:custGeom>
              <a:avLst/>
              <a:gdLst/>
              <a:ahLst/>
              <a:cxnLst/>
              <a:rect r="r" b="b" t="t" l="l"/>
              <a:pathLst>
                <a:path h="1545590" w="3325622">
                  <a:moveTo>
                    <a:pt x="16891" y="0"/>
                  </a:moveTo>
                  <a:lnTo>
                    <a:pt x="3308731" y="0"/>
                  </a:lnTo>
                  <a:cubicBezTo>
                    <a:pt x="3318129" y="0"/>
                    <a:pt x="3325622" y="7620"/>
                    <a:pt x="3325622" y="16891"/>
                  </a:cubicBezTo>
                  <a:lnTo>
                    <a:pt x="3325622" y="1528699"/>
                  </a:lnTo>
                  <a:cubicBezTo>
                    <a:pt x="3325622" y="1538097"/>
                    <a:pt x="3318002" y="1545590"/>
                    <a:pt x="330873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308731" y="1511808"/>
                  </a:lnTo>
                  <a:lnTo>
                    <a:pt x="3308731" y="1528699"/>
                  </a:lnTo>
                  <a:lnTo>
                    <a:pt x="3291840" y="1528699"/>
                  </a:lnTo>
                  <a:lnTo>
                    <a:pt x="3291840" y="16891"/>
                  </a:lnTo>
                  <a:lnTo>
                    <a:pt x="3308731" y="16891"/>
                  </a:lnTo>
                  <a:lnTo>
                    <a:pt x="3308731" y="33909"/>
                  </a:lnTo>
                  <a:lnTo>
                    <a:pt x="16891" y="33909"/>
                  </a:lnTo>
                  <a:close/>
                </a:path>
              </a:pathLst>
            </a:custGeom>
            <a:solidFill>
              <a:srgbClr val="14B8D4"/>
            </a:solidFill>
          </p:spPr>
        </p:sp>
      </p:grpSp>
      <p:grpSp>
        <p:nvGrpSpPr>
          <p:cNvPr name="Group 98" id="98"/>
          <p:cNvGrpSpPr/>
          <p:nvPr/>
        </p:nvGrpSpPr>
        <p:grpSpPr>
          <a:xfrm rot="0">
            <a:off x="15270480" y="3163824"/>
            <a:ext cx="2468880" cy="1133856"/>
            <a:chOff x="0" y="0"/>
            <a:chExt cx="3291840" cy="1511808"/>
          </a:xfrm>
        </p:grpSpPr>
        <p:sp>
          <p:nvSpPr>
            <p:cNvPr name="Freeform 99" id="99"/>
            <p:cNvSpPr/>
            <p:nvPr/>
          </p:nvSpPr>
          <p:spPr>
            <a:xfrm flipH="false" flipV="false" rot="0">
              <a:off x="0" y="0"/>
              <a:ext cx="3291840" cy="1511808"/>
            </a:xfrm>
            <a:custGeom>
              <a:avLst/>
              <a:gdLst/>
              <a:ahLst/>
              <a:cxnLst/>
              <a:rect r="r" b="b" t="t" l="l"/>
              <a:pathLst>
                <a:path h="1511808" w="3291840">
                  <a:moveTo>
                    <a:pt x="0" y="0"/>
                  </a:moveTo>
                  <a:lnTo>
                    <a:pt x="3291840" y="0"/>
                  </a:lnTo>
                  <a:lnTo>
                    <a:pt x="3291840" y="1511808"/>
                  </a:lnTo>
                  <a:lnTo>
                    <a:pt x="0" y="1511808"/>
                  </a:lnTo>
                  <a:close/>
                </a:path>
              </a:pathLst>
            </a:custGeom>
            <a:blipFill>
              <a:blip r:embed="rId3">
                <a:alphaModFix amt="0"/>
              </a:blip>
              <a:stretch>
                <a:fillRect l="-8924" t="0" r="-8924" b="0"/>
              </a:stretch>
            </a:blipFill>
          </p:spPr>
        </p:sp>
        <p:sp>
          <p:nvSpPr>
            <p:cNvPr name="TextBox 100" id="100"/>
            <p:cNvSpPr txBox="true"/>
            <p:nvPr/>
          </p:nvSpPr>
          <p:spPr>
            <a:xfrm>
              <a:off x="0" y="-38100"/>
              <a:ext cx="3291840" cy="154990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Engine</a:t>
              </a:r>
            </a:p>
          </p:txBody>
        </p:sp>
      </p:grpSp>
      <p:grpSp>
        <p:nvGrpSpPr>
          <p:cNvPr name="Group 101" id="101"/>
          <p:cNvGrpSpPr/>
          <p:nvPr/>
        </p:nvGrpSpPr>
        <p:grpSpPr>
          <a:xfrm rot="0">
            <a:off x="16492223" y="2693927"/>
            <a:ext cx="25403" cy="482603"/>
            <a:chOff x="0" y="0"/>
            <a:chExt cx="33871" cy="643471"/>
          </a:xfrm>
        </p:grpSpPr>
        <p:sp>
          <p:nvSpPr>
            <p:cNvPr name="Freeform 102" id="102"/>
            <p:cNvSpPr/>
            <p:nvPr/>
          </p:nvSpPr>
          <p:spPr>
            <a:xfrm flipH="false" flipV="false" rot="0">
              <a:off x="0" y="16891"/>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B8D4E0"/>
            </a:solidFill>
          </p:spPr>
        </p:sp>
      </p:grpSp>
      <p:grpSp>
        <p:nvGrpSpPr>
          <p:cNvPr name="Group 103" id="103"/>
          <p:cNvGrpSpPr/>
          <p:nvPr/>
        </p:nvGrpSpPr>
        <p:grpSpPr>
          <a:xfrm rot="0">
            <a:off x="2776223" y="3132839"/>
            <a:ext cx="13741403" cy="25403"/>
            <a:chOff x="0" y="0"/>
            <a:chExt cx="18321871" cy="33871"/>
          </a:xfrm>
        </p:grpSpPr>
        <p:sp>
          <p:nvSpPr>
            <p:cNvPr name="Freeform 104" id="104"/>
            <p:cNvSpPr/>
            <p:nvPr/>
          </p:nvSpPr>
          <p:spPr>
            <a:xfrm flipH="false" flipV="false" rot="0">
              <a:off x="16891" y="0"/>
              <a:ext cx="18287999" cy="33909"/>
            </a:xfrm>
            <a:custGeom>
              <a:avLst/>
              <a:gdLst/>
              <a:ahLst/>
              <a:cxnLst/>
              <a:rect r="r" b="b" t="t" l="l"/>
              <a:pathLst>
                <a:path h="33909" w="18287999">
                  <a:moveTo>
                    <a:pt x="0" y="0"/>
                  </a:moveTo>
                  <a:lnTo>
                    <a:pt x="18287999" y="0"/>
                  </a:lnTo>
                  <a:lnTo>
                    <a:pt x="18287999" y="33909"/>
                  </a:lnTo>
                  <a:lnTo>
                    <a:pt x="0" y="33909"/>
                  </a:lnTo>
                  <a:close/>
                </a:path>
              </a:pathLst>
            </a:custGeom>
            <a:solidFill>
              <a:srgbClr val="B8D4E0"/>
            </a:solidFill>
          </p:spPr>
        </p:sp>
      </p:grpSp>
      <p:grpSp>
        <p:nvGrpSpPr>
          <p:cNvPr name="Group 105" id="105"/>
          <p:cNvGrpSpPr/>
          <p:nvPr/>
        </p:nvGrpSpPr>
        <p:grpSpPr>
          <a:xfrm rot="0">
            <a:off x="4180837" y="3083557"/>
            <a:ext cx="2702557" cy="1294381"/>
            <a:chOff x="0" y="0"/>
            <a:chExt cx="3603409" cy="1725841"/>
          </a:xfrm>
        </p:grpSpPr>
        <p:sp>
          <p:nvSpPr>
            <p:cNvPr name="Freeform 106" id="106"/>
            <p:cNvSpPr/>
            <p:nvPr/>
          </p:nvSpPr>
          <p:spPr>
            <a:xfrm flipH="false" flipV="false" rot="0">
              <a:off x="0" y="0"/>
              <a:ext cx="3603498" cy="1725930"/>
            </a:xfrm>
            <a:custGeom>
              <a:avLst/>
              <a:gdLst/>
              <a:ahLst/>
              <a:cxnLst/>
              <a:rect r="r" b="b" t="t" l="l"/>
              <a:pathLst>
                <a:path h="1725930" w="3603498">
                  <a:moveTo>
                    <a:pt x="33909" y="0"/>
                  </a:moveTo>
                  <a:lnTo>
                    <a:pt x="3569589" y="0"/>
                  </a:lnTo>
                  <a:cubicBezTo>
                    <a:pt x="3588258" y="0"/>
                    <a:pt x="3603498" y="15113"/>
                    <a:pt x="3603498" y="33909"/>
                  </a:cubicBezTo>
                  <a:lnTo>
                    <a:pt x="3603498" y="1692021"/>
                  </a:lnTo>
                  <a:cubicBezTo>
                    <a:pt x="3603498" y="1710690"/>
                    <a:pt x="3588385" y="1725930"/>
                    <a:pt x="3569589" y="1725930"/>
                  </a:cubicBezTo>
                  <a:lnTo>
                    <a:pt x="33909" y="1725930"/>
                  </a:lnTo>
                  <a:cubicBezTo>
                    <a:pt x="15240" y="1725930"/>
                    <a:pt x="0" y="1710817"/>
                    <a:pt x="0" y="1692021"/>
                  </a:cubicBezTo>
                  <a:lnTo>
                    <a:pt x="0" y="33909"/>
                  </a:lnTo>
                  <a:cubicBezTo>
                    <a:pt x="0" y="15113"/>
                    <a:pt x="15113" y="0"/>
                    <a:pt x="33909" y="0"/>
                  </a:cubicBezTo>
                  <a:moveTo>
                    <a:pt x="33909" y="67691"/>
                  </a:moveTo>
                  <a:lnTo>
                    <a:pt x="33909" y="33909"/>
                  </a:lnTo>
                  <a:lnTo>
                    <a:pt x="67691" y="33909"/>
                  </a:lnTo>
                  <a:lnTo>
                    <a:pt x="67691" y="1692021"/>
                  </a:lnTo>
                  <a:lnTo>
                    <a:pt x="33909" y="1692021"/>
                  </a:lnTo>
                  <a:lnTo>
                    <a:pt x="33909" y="1658112"/>
                  </a:lnTo>
                  <a:lnTo>
                    <a:pt x="3569589" y="1658112"/>
                  </a:lnTo>
                  <a:lnTo>
                    <a:pt x="3569589" y="1692021"/>
                  </a:lnTo>
                  <a:lnTo>
                    <a:pt x="3535680" y="1692021"/>
                  </a:lnTo>
                  <a:lnTo>
                    <a:pt x="3535680" y="33909"/>
                  </a:lnTo>
                  <a:lnTo>
                    <a:pt x="3569589" y="33909"/>
                  </a:lnTo>
                  <a:lnTo>
                    <a:pt x="3569589" y="67691"/>
                  </a:lnTo>
                  <a:lnTo>
                    <a:pt x="33909" y="67691"/>
                  </a:lnTo>
                  <a:close/>
                </a:path>
              </a:pathLst>
            </a:custGeom>
            <a:solidFill>
              <a:srgbClr val="F4845F"/>
            </a:solidFill>
          </p:spPr>
        </p:sp>
      </p:grpSp>
      <p:grpSp>
        <p:nvGrpSpPr>
          <p:cNvPr name="Group 107" id="107"/>
          <p:cNvGrpSpPr/>
          <p:nvPr/>
        </p:nvGrpSpPr>
        <p:grpSpPr>
          <a:xfrm rot="0">
            <a:off x="5818527" y="4453128"/>
            <a:ext cx="548640" cy="365760"/>
            <a:chOff x="0" y="0"/>
            <a:chExt cx="731520" cy="487680"/>
          </a:xfrm>
        </p:grpSpPr>
        <p:sp>
          <p:nvSpPr>
            <p:cNvPr name="Freeform 108" id="108"/>
            <p:cNvSpPr/>
            <p:nvPr/>
          </p:nvSpPr>
          <p:spPr>
            <a:xfrm flipH="false" flipV="false" rot="0">
              <a:off x="0" y="0"/>
              <a:ext cx="731520" cy="487680"/>
            </a:xfrm>
            <a:custGeom>
              <a:avLst/>
              <a:gdLst/>
              <a:ahLst/>
              <a:cxnLst/>
              <a:rect r="r" b="b" t="t" l="l"/>
              <a:pathLst>
                <a:path h="487680" w="731520">
                  <a:moveTo>
                    <a:pt x="0" y="0"/>
                  </a:moveTo>
                  <a:lnTo>
                    <a:pt x="731520" y="0"/>
                  </a:lnTo>
                  <a:lnTo>
                    <a:pt x="731520" y="487680"/>
                  </a:lnTo>
                  <a:lnTo>
                    <a:pt x="0" y="487680"/>
                  </a:lnTo>
                  <a:close/>
                </a:path>
              </a:pathLst>
            </a:custGeom>
            <a:blipFill>
              <a:blip r:embed="rId3">
                <a:alphaModFix amt="0"/>
              </a:blip>
              <a:stretch>
                <a:fillRect l="-35535" t="0" r="-35535" b="0"/>
              </a:stretch>
            </a:blipFill>
          </p:spPr>
        </p:sp>
        <p:sp>
          <p:nvSpPr>
            <p:cNvPr name="TextBox 109" id="109"/>
            <p:cNvSpPr txBox="true"/>
            <p:nvPr/>
          </p:nvSpPr>
          <p:spPr>
            <a:xfrm>
              <a:off x="0" y="-28575"/>
              <a:ext cx="731520" cy="516255"/>
            </a:xfrm>
            <a:prstGeom prst="rect">
              <a:avLst/>
            </a:prstGeom>
          </p:spPr>
          <p:txBody>
            <a:bodyPr anchor="ctr" rtlCol="false" tIns="0" lIns="0" bIns="0" rIns="0"/>
            <a:lstStyle/>
            <a:p>
              <a:pPr algn="l">
                <a:lnSpc>
                  <a:spcPts val="1679"/>
                </a:lnSpc>
              </a:pPr>
              <a:r>
                <a:rPr lang="en-US" sz="1399" i="true">
                  <a:solidFill>
                    <a:srgbClr val="F4845F"/>
                  </a:solidFill>
                  <a:latin typeface="Calibri (MS) Italics"/>
                  <a:ea typeface="Calibri (MS) Italics"/>
                  <a:cs typeface="Calibri (MS) Italics"/>
                  <a:sym typeface="Calibri (MS) Italics"/>
                </a:rPr>
                <a:t>e.g.</a:t>
              </a:r>
            </a:p>
          </p:txBody>
        </p:sp>
      </p:grpSp>
      <p:grpSp>
        <p:nvGrpSpPr>
          <p:cNvPr name="Group 110" id="110"/>
          <p:cNvGrpSpPr/>
          <p:nvPr/>
        </p:nvGrpSpPr>
        <p:grpSpPr>
          <a:xfrm rot="0">
            <a:off x="5500373" y="4453128"/>
            <a:ext cx="38100" cy="1080516"/>
            <a:chOff x="0" y="0"/>
            <a:chExt cx="50800" cy="1440688"/>
          </a:xfrm>
        </p:grpSpPr>
        <p:sp>
          <p:nvSpPr>
            <p:cNvPr name="Freeform 111" id="111"/>
            <p:cNvSpPr/>
            <p:nvPr/>
          </p:nvSpPr>
          <p:spPr>
            <a:xfrm flipH="false" flipV="false" rot="0">
              <a:off x="0" y="25400"/>
              <a:ext cx="50800" cy="1219200"/>
            </a:xfrm>
            <a:custGeom>
              <a:avLst/>
              <a:gdLst/>
              <a:ahLst/>
              <a:cxnLst/>
              <a:rect r="r" b="b" t="t" l="l"/>
              <a:pathLst>
                <a:path h="1219200" w="50800">
                  <a:moveTo>
                    <a:pt x="50800" y="355600"/>
                  </a:moveTo>
                  <a:lnTo>
                    <a:pt x="50800" y="508000"/>
                  </a:lnTo>
                  <a:lnTo>
                    <a:pt x="0" y="508000"/>
                  </a:lnTo>
                  <a:lnTo>
                    <a:pt x="0" y="355600"/>
                  </a:lnTo>
                  <a:close/>
                  <a:moveTo>
                    <a:pt x="50800" y="711200"/>
                  </a:moveTo>
                  <a:lnTo>
                    <a:pt x="50800" y="863600"/>
                  </a:lnTo>
                  <a:lnTo>
                    <a:pt x="0" y="863600"/>
                  </a:lnTo>
                  <a:lnTo>
                    <a:pt x="0" y="711200"/>
                  </a:lnTo>
                  <a:close/>
                  <a:moveTo>
                    <a:pt x="50800" y="1066800"/>
                  </a:moveTo>
                  <a:lnTo>
                    <a:pt x="50800" y="1219200"/>
                  </a:lnTo>
                  <a:lnTo>
                    <a:pt x="0" y="1219200"/>
                  </a:lnTo>
                  <a:lnTo>
                    <a:pt x="0" y="1066800"/>
                  </a:lnTo>
                  <a:close/>
                  <a:moveTo>
                    <a:pt x="50800" y="0"/>
                  </a:moveTo>
                  <a:lnTo>
                    <a:pt x="50800" y="152400"/>
                  </a:lnTo>
                  <a:lnTo>
                    <a:pt x="0" y="152400"/>
                  </a:lnTo>
                  <a:lnTo>
                    <a:pt x="0" y="0"/>
                  </a:lnTo>
                  <a:close/>
                </a:path>
              </a:pathLst>
            </a:custGeom>
            <a:solidFill>
              <a:srgbClr val="0A7EA4"/>
            </a:solidFill>
          </p:spPr>
        </p:sp>
      </p:grpSp>
      <p:grpSp>
        <p:nvGrpSpPr>
          <p:cNvPr name="Group 112" id="112"/>
          <p:cNvGrpSpPr/>
          <p:nvPr/>
        </p:nvGrpSpPr>
        <p:grpSpPr>
          <a:xfrm rot="0">
            <a:off x="4622540" y="5432555"/>
            <a:ext cx="10120379" cy="25403"/>
            <a:chOff x="0" y="0"/>
            <a:chExt cx="13493839" cy="33871"/>
          </a:xfrm>
        </p:grpSpPr>
        <p:sp>
          <p:nvSpPr>
            <p:cNvPr name="Freeform 113" id="113"/>
            <p:cNvSpPr/>
            <p:nvPr/>
          </p:nvSpPr>
          <p:spPr>
            <a:xfrm flipH="false" flipV="false" rot="0">
              <a:off x="16891" y="0"/>
              <a:ext cx="13459969" cy="33909"/>
            </a:xfrm>
            <a:custGeom>
              <a:avLst/>
              <a:gdLst/>
              <a:ahLst/>
              <a:cxnLst/>
              <a:rect r="r" b="b" t="t" l="l"/>
              <a:pathLst>
                <a:path h="33909" w="13459969">
                  <a:moveTo>
                    <a:pt x="0" y="0"/>
                  </a:moveTo>
                  <a:lnTo>
                    <a:pt x="13459969" y="0"/>
                  </a:lnTo>
                  <a:lnTo>
                    <a:pt x="13459969" y="33909"/>
                  </a:lnTo>
                  <a:lnTo>
                    <a:pt x="0" y="33909"/>
                  </a:lnTo>
                  <a:close/>
                </a:path>
              </a:pathLst>
            </a:custGeom>
            <a:solidFill>
              <a:srgbClr val="2E86AB"/>
            </a:solidFill>
          </p:spPr>
        </p:sp>
      </p:grpSp>
      <p:grpSp>
        <p:nvGrpSpPr>
          <p:cNvPr name="Group 114" id="114"/>
          <p:cNvGrpSpPr/>
          <p:nvPr/>
        </p:nvGrpSpPr>
        <p:grpSpPr>
          <a:xfrm rot="0">
            <a:off x="3449564" y="5430012"/>
            <a:ext cx="2371344" cy="1036320"/>
            <a:chOff x="0" y="0"/>
            <a:chExt cx="3161792" cy="1381760"/>
          </a:xfrm>
        </p:grpSpPr>
        <p:sp>
          <p:nvSpPr>
            <p:cNvPr name="Freeform 115" id="115"/>
            <p:cNvSpPr/>
            <p:nvPr/>
          </p:nvSpPr>
          <p:spPr>
            <a:xfrm flipH="false" flipV="false" rot="0">
              <a:off x="20320" y="20320"/>
              <a:ext cx="3121152" cy="1341120"/>
            </a:xfrm>
            <a:custGeom>
              <a:avLst/>
              <a:gdLst/>
              <a:ahLst/>
              <a:cxnLst/>
              <a:rect r="r" b="b" t="t" l="l"/>
              <a:pathLst>
                <a:path h="1341120" w="3121152">
                  <a:moveTo>
                    <a:pt x="0" y="0"/>
                  </a:moveTo>
                  <a:lnTo>
                    <a:pt x="3121152" y="0"/>
                  </a:lnTo>
                  <a:lnTo>
                    <a:pt x="3121152" y="1341120"/>
                  </a:lnTo>
                  <a:lnTo>
                    <a:pt x="0" y="1341120"/>
                  </a:lnTo>
                  <a:close/>
                </a:path>
              </a:pathLst>
            </a:custGeom>
            <a:solidFill>
              <a:srgbClr val="E8F4FA"/>
            </a:solidFill>
          </p:spPr>
        </p:sp>
        <p:sp>
          <p:nvSpPr>
            <p:cNvPr name="Freeform 116" id="116"/>
            <p:cNvSpPr/>
            <p:nvPr/>
          </p:nvSpPr>
          <p:spPr>
            <a:xfrm flipH="false" flipV="false" rot="0">
              <a:off x="0" y="0"/>
              <a:ext cx="3161792" cy="1381760"/>
            </a:xfrm>
            <a:custGeom>
              <a:avLst/>
              <a:gdLst/>
              <a:ahLst/>
              <a:cxnLst/>
              <a:rect r="r" b="b" t="t" l="l"/>
              <a:pathLst>
                <a:path h="1381760" w="3161792">
                  <a:moveTo>
                    <a:pt x="20320" y="0"/>
                  </a:moveTo>
                  <a:lnTo>
                    <a:pt x="3141472" y="0"/>
                  </a:lnTo>
                  <a:cubicBezTo>
                    <a:pt x="3152648" y="0"/>
                    <a:pt x="3161792" y="9144"/>
                    <a:pt x="3161792" y="20320"/>
                  </a:cubicBezTo>
                  <a:lnTo>
                    <a:pt x="3161792" y="1361440"/>
                  </a:lnTo>
                  <a:cubicBezTo>
                    <a:pt x="3161792" y="1372616"/>
                    <a:pt x="3152648" y="1381760"/>
                    <a:pt x="3141472" y="1381760"/>
                  </a:cubicBezTo>
                  <a:lnTo>
                    <a:pt x="20320" y="1381760"/>
                  </a:lnTo>
                  <a:cubicBezTo>
                    <a:pt x="9144" y="1381760"/>
                    <a:pt x="0" y="1372616"/>
                    <a:pt x="0" y="1361440"/>
                  </a:cubicBezTo>
                  <a:lnTo>
                    <a:pt x="0" y="20320"/>
                  </a:lnTo>
                  <a:cubicBezTo>
                    <a:pt x="0" y="9144"/>
                    <a:pt x="9144" y="0"/>
                    <a:pt x="20320" y="0"/>
                  </a:cubicBezTo>
                  <a:moveTo>
                    <a:pt x="20320" y="40640"/>
                  </a:moveTo>
                  <a:lnTo>
                    <a:pt x="20320" y="20320"/>
                  </a:lnTo>
                  <a:lnTo>
                    <a:pt x="40640" y="20320"/>
                  </a:lnTo>
                  <a:lnTo>
                    <a:pt x="40640" y="1361440"/>
                  </a:lnTo>
                  <a:lnTo>
                    <a:pt x="20320" y="1361440"/>
                  </a:lnTo>
                  <a:lnTo>
                    <a:pt x="20320" y="1341120"/>
                  </a:lnTo>
                  <a:lnTo>
                    <a:pt x="3141472" y="1341120"/>
                  </a:lnTo>
                  <a:lnTo>
                    <a:pt x="3141472" y="1361440"/>
                  </a:lnTo>
                  <a:lnTo>
                    <a:pt x="3121152" y="1361440"/>
                  </a:lnTo>
                  <a:lnTo>
                    <a:pt x="3121152" y="20320"/>
                  </a:lnTo>
                  <a:lnTo>
                    <a:pt x="3141472" y="20320"/>
                  </a:lnTo>
                  <a:lnTo>
                    <a:pt x="3141472" y="40640"/>
                  </a:lnTo>
                  <a:lnTo>
                    <a:pt x="20320" y="40640"/>
                  </a:lnTo>
                  <a:close/>
                </a:path>
              </a:pathLst>
            </a:custGeom>
            <a:solidFill>
              <a:srgbClr val="2E86AB"/>
            </a:solidFill>
          </p:spPr>
        </p:sp>
      </p:grpSp>
      <p:grpSp>
        <p:nvGrpSpPr>
          <p:cNvPr name="Group 117" id="117"/>
          <p:cNvGrpSpPr/>
          <p:nvPr/>
        </p:nvGrpSpPr>
        <p:grpSpPr>
          <a:xfrm rot="0">
            <a:off x="3464804" y="5445252"/>
            <a:ext cx="2340864" cy="1005840"/>
            <a:chOff x="0" y="0"/>
            <a:chExt cx="3121152" cy="1341120"/>
          </a:xfrm>
        </p:grpSpPr>
        <p:sp>
          <p:nvSpPr>
            <p:cNvPr name="Freeform 118" id="118"/>
            <p:cNvSpPr/>
            <p:nvPr/>
          </p:nvSpPr>
          <p:spPr>
            <a:xfrm flipH="false" flipV="false" rot="0">
              <a:off x="0" y="0"/>
              <a:ext cx="3121152" cy="1341120"/>
            </a:xfrm>
            <a:custGeom>
              <a:avLst/>
              <a:gdLst/>
              <a:ahLst/>
              <a:cxnLst/>
              <a:rect r="r" b="b" t="t" l="l"/>
              <a:pathLst>
                <a:path h="1341120" w="3121152">
                  <a:moveTo>
                    <a:pt x="0" y="0"/>
                  </a:moveTo>
                  <a:lnTo>
                    <a:pt x="3121152" y="0"/>
                  </a:lnTo>
                  <a:lnTo>
                    <a:pt x="3121152" y="1341120"/>
                  </a:lnTo>
                  <a:lnTo>
                    <a:pt x="0" y="1341120"/>
                  </a:lnTo>
                  <a:close/>
                </a:path>
              </a:pathLst>
            </a:custGeom>
            <a:blipFill>
              <a:blip r:embed="rId3">
                <a:alphaModFix amt="0"/>
              </a:blip>
              <a:stretch>
                <a:fillRect l="-5130" t="0" r="-5130" b="0"/>
              </a:stretch>
            </a:blipFill>
          </p:spPr>
        </p:sp>
        <p:sp>
          <p:nvSpPr>
            <p:cNvPr name="TextBox 119" id="119"/>
            <p:cNvSpPr txBox="true"/>
            <p:nvPr/>
          </p:nvSpPr>
          <p:spPr>
            <a:xfrm>
              <a:off x="0" y="-28575"/>
              <a:ext cx="3121152" cy="1369695"/>
            </a:xfrm>
            <a:prstGeom prst="rect">
              <a:avLst/>
            </a:prstGeom>
          </p:spPr>
          <p:txBody>
            <a:bodyPr anchor="ctr" rtlCol="false" tIns="0" lIns="0" bIns="0" rIns="0"/>
            <a:lstStyle/>
            <a:p>
              <a:pPr algn="ctr">
                <a:lnSpc>
                  <a:spcPts val="1920"/>
                </a:lnSpc>
              </a:pPr>
              <a:r>
                <a:rPr lang="en-US" sz="1600" b="true">
                  <a:solidFill>
                    <a:srgbClr val="0D1B2A"/>
                  </a:solidFill>
                  <a:latin typeface="Calibri (MS) Bold"/>
                  <a:ea typeface="Calibri (MS) Bold"/>
                  <a:cs typeface="Calibri (MS) Bold"/>
                  <a:sym typeface="Calibri (MS) Bold"/>
                </a:rPr>
                <a:t>Frames</a:t>
              </a:r>
            </a:p>
          </p:txBody>
        </p:sp>
      </p:grpSp>
      <p:grpSp>
        <p:nvGrpSpPr>
          <p:cNvPr name="Group 120" id="120"/>
          <p:cNvGrpSpPr/>
          <p:nvPr/>
        </p:nvGrpSpPr>
        <p:grpSpPr>
          <a:xfrm rot="0">
            <a:off x="5973308" y="5430012"/>
            <a:ext cx="2371344" cy="1036320"/>
            <a:chOff x="0" y="0"/>
            <a:chExt cx="3161792" cy="1381760"/>
          </a:xfrm>
        </p:grpSpPr>
        <p:sp>
          <p:nvSpPr>
            <p:cNvPr name="Freeform 121" id="121"/>
            <p:cNvSpPr/>
            <p:nvPr/>
          </p:nvSpPr>
          <p:spPr>
            <a:xfrm flipH="false" flipV="false" rot="0">
              <a:off x="20320" y="20320"/>
              <a:ext cx="3121152" cy="1341120"/>
            </a:xfrm>
            <a:custGeom>
              <a:avLst/>
              <a:gdLst/>
              <a:ahLst/>
              <a:cxnLst/>
              <a:rect r="r" b="b" t="t" l="l"/>
              <a:pathLst>
                <a:path h="1341120" w="3121152">
                  <a:moveTo>
                    <a:pt x="0" y="0"/>
                  </a:moveTo>
                  <a:lnTo>
                    <a:pt x="3121152" y="0"/>
                  </a:lnTo>
                  <a:lnTo>
                    <a:pt x="3121152" y="1341120"/>
                  </a:lnTo>
                  <a:lnTo>
                    <a:pt x="0" y="1341120"/>
                  </a:lnTo>
                  <a:close/>
                </a:path>
              </a:pathLst>
            </a:custGeom>
            <a:solidFill>
              <a:srgbClr val="E8F4FA"/>
            </a:solidFill>
          </p:spPr>
        </p:sp>
        <p:sp>
          <p:nvSpPr>
            <p:cNvPr name="Freeform 122" id="122"/>
            <p:cNvSpPr/>
            <p:nvPr/>
          </p:nvSpPr>
          <p:spPr>
            <a:xfrm flipH="false" flipV="false" rot="0">
              <a:off x="0" y="0"/>
              <a:ext cx="3161792" cy="1381760"/>
            </a:xfrm>
            <a:custGeom>
              <a:avLst/>
              <a:gdLst/>
              <a:ahLst/>
              <a:cxnLst/>
              <a:rect r="r" b="b" t="t" l="l"/>
              <a:pathLst>
                <a:path h="1381760" w="3161792">
                  <a:moveTo>
                    <a:pt x="20320" y="0"/>
                  </a:moveTo>
                  <a:lnTo>
                    <a:pt x="3141472" y="0"/>
                  </a:lnTo>
                  <a:cubicBezTo>
                    <a:pt x="3152648" y="0"/>
                    <a:pt x="3161792" y="9144"/>
                    <a:pt x="3161792" y="20320"/>
                  </a:cubicBezTo>
                  <a:lnTo>
                    <a:pt x="3161792" y="1361440"/>
                  </a:lnTo>
                  <a:cubicBezTo>
                    <a:pt x="3161792" y="1372616"/>
                    <a:pt x="3152648" y="1381760"/>
                    <a:pt x="3141472" y="1381760"/>
                  </a:cubicBezTo>
                  <a:lnTo>
                    <a:pt x="20320" y="1381760"/>
                  </a:lnTo>
                  <a:cubicBezTo>
                    <a:pt x="9144" y="1381760"/>
                    <a:pt x="0" y="1372616"/>
                    <a:pt x="0" y="1361440"/>
                  </a:cubicBezTo>
                  <a:lnTo>
                    <a:pt x="0" y="20320"/>
                  </a:lnTo>
                  <a:cubicBezTo>
                    <a:pt x="0" y="9144"/>
                    <a:pt x="9144" y="0"/>
                    <a:pt x="20320" y="0"/>
                  </a:cubicBezTo>
                  <a:moveTo>
                    <a:pt x="20320" y="40640"/>
                  </a:moveTo>
                  <a:lnTo>
                    <a:pt x="20320" y="20320"/>
                  </a:lnTo>
                  <a:lnTo>
                    <a:pt x="40640" y="20320"/>
                  </a:lnTo>
                  <a:lnTo>
                    <a:pt x="40640" y="1361440"/>
                  </a:lnTo>
                  <a:lnTo>
                    <a:pt x="20320" y="1361440"/>
                  </a:lnTo>
                  <a:lnTo>
                    <a:pt x="20320" y="1341120"/>
                  </a:lnTo>
                  <a:lnTo>
                    <a:pt x="3141472" y="1341120"/>
                  </a:lnTo>
                  <a:lnTo>
                    <a:pt x="3141472" y="1361440"/>
                  </a:lnTo>
                  <a:lnTo>
                    <a:pt x="3121152" y="1361440"/>
                  </a:lnTo>
                  <a:lnTo>
                    <a:pt x="3121152" y="20320"/>
                  </a:lnTo>
                  <a:lnTo>
                    <a:pt x="3141472" y="20320"/>
                  </a:lnTo>
                  <a:lnTo>
                    <a:pt x="3141472" y="40640"/>
                  </a:lnTo>
                  <a:lnTo>
                    <a:pt x="20320" y="40640"/>
                  </a:lnTo>
                  <a:close/>
                </a:path>
              </a:pathLst>
            </a:custGeom>
            <a:solidFill>
              <a:srgbClr val="2E86AB"/>
            </a:solidFill>
          </p:spPr>
        </p:sp>
      </p:grpSp>
      <p:grpSp>
        <p:nvGrpSpPr>
          <p:cNvPr name="Group 123" id="123"/>
          <p:cNvGrpSpPr/>
          <p:nvPr/>
        </p:nvGrpSpPr>
        <p:grpSpPr>
          <a:xfrm rot="0">
            <a:off x="5988548" y="5445252"/>
            <a:ext cx="2340864" cy="1005840"/>
            <a:chOff x="0" y="0"/>
            <a:chExt cx="3121152" cy="1341120"/>
          </a:xfrm>
        </p:grpSpPr>
        <p:sp>
          <p:nvSpPr>
            <p:cNvPr name="Freeform 124" id="124"/>
            <p:cNvSpPr/>
            <p:nvPr/>
          </p:nvSpPr>
          <p:spPr>
            <a:xfrm flipH="false" flipV="false" rot="0">
              <a:off x="0" y="0"/>
              <a:ext cx="3121152" cy="1341120"/>
            </a:xfrm>
            <a:custGeom>
              <a:avLst/>
              <a:gdLst/>
              <a:ahLst/>
              <a:cxnLst/>
              <a:rect r="r" b="b" t="t" l="l"/>
              <a:pathLst>
                <a:path h="1341120" w="3121152">
                  <a:moveTo>
                    <a:pt x="0" y="0"/>
                  </a:moveTo>
                  <a:lnTo>
                    <a:pt x="3121152" y="0"/>
                  </a:lnTo>
                  <a:lnTo>
                    <a:pt x="3121152" y="1341120"/>
                  </a:lnTo>
                  <a:lnTo>
                    <a:pt x="0" y="1341120"/>
                  </a:lnTo>
                  <a:close/>
                </a:path>
              </a:pathLst>
            </a:custGeom>
            <a:blipFill>
              <a:blip r:embed="rId3">
                <a:alphaModFix amt="0"/>
              </a:blip>
              <a:stretch>
                <a:fillRect l="-5130" t="0" r="-5130" b="0"/>
              </a:stretch>
            </a:blipFill>
          </p:spPr>
        </p:sp>
        <p:sp>
          <p:nvSpPr>
            <p:cNvPr name="TextBox 125" id="125"/>
            <p:cNvSpPr txBox="true"/>
            <p:nvPr/>
          </p:nvSpPr>
          <p:spPr>
            <a:xfrm>
              <a:off x="0" y="-28575"/>
              <a:ext cx="3121152" cy="1369695"/>
            </a:xfrm>
            <a:prstGeom prst="rect">
              <a:avLst/>
            </a:prstGeom>
          </p:spPr>
          <p:txBody>
            <a:bodyPr anchor="ctr" rtlCol="false" tIns="0" lIns="0" bIns="0" rIns="0"/>
            <a:lstStyle/>
            <a:p>
              <a:pPr algn="ctr">
                <a:lnSpc>
                  <a:spcPts val="1920"/>
                </a:lnSpc>
              </a:pPr>
              <a:r>
                <a:rPr lang="en-US" sz="1600" b="true">
                  <a:solidFill>
                    <a:srgbClr val="0D1B2A"/>
                  </a:solidFill>
                  <a:latin typeface="Calibri (MS) Bold"/>
                  <a:ea typeface="Calibri (MS) Bold"/>
                  <a:cs typeface="Calibri (MS) Bold"/>
                  <a:sym typeface="Calibri (MS) Bold"/>
                </a:rPr>
                <a:t>Suspension</a:t>
              </a:r>
            </a:p>
          </p:txBody>
        </p:sp>
      </p:grpSp>
      <p:grpSp>
        <p:nvGrpSpPr>
          <p:cNvPr name="Group 126" id="126"/>
          <p:cNvGrpSpPr/>
          <p:nvPr/>
        </p:nvGrpSpPr>
        <p:grpSpPr>
          <a:xfrm rot="0">
            <a:off x="8497052" y="5430012"/>
            <a:ext cx="2371344" cy="1036320"/>
            <a:chOff x="0" y="0"/>
            <a:chExt cx="3161792" cy="1381760"/>
          </a:xfrm>
        </p:grpSpPr>
        <p:sp>
          <p:nvSpPr>
            <p:cNvPr name="Freeform 127" id="127"/>
            <p:cNvSpPr/>
            <p:nvPr/>
          </p:nvSpPr>
          <p:spPr>
            <a:xfrm flipH="false" flipV="false" rot="0">
              <a:off x="20320" y="20320"/>
              <a:ext cx="3121152" cy="1341120"/>
            </a:xfrm>
            <a:custGeom>
              <a:avLst/>
              <a:gdLst/>
              <a:ahLst/>
              <a:cxnLst/>
              <a:rect r="r" b="b" t="t" l="l"/>
              <a:pathLst>
                <a:path h="1341120" w="3121152">
                  <a:moveTo>
                    <a:pt x="0" y="0"/>
                  </a:moveTo>
                  <a:lnTo>
                    <a:pt x="3121152" y="0"/>
                  </a:lnTo>
                  <a:lnTo>
                    <a:pt x="3121152" y="1341120"/>
                  </a:lnTo>
                  <a:lnTo>
                    <a:pt x="0" y="1341120"/>
                  </a:lnTo>
                  <a:close/>
                </a:path>
              </a:pathLst>
            </a:custGeom>
            <a:solidFill>
              <a:srgbClr val="E8F4FA"/>
            </a:solidFill>
          </p:spPr>
        </p:sp>
        <p:sp>
          <p:nvSpPr>
            <p:cNvPr name="Freeform 128" id="128"/>
            <p:cNvSpPr/>
            <p:nvPr/>
          </p:nvSpPr>
          <p:spPr>
            <a:xfrm flipH="false" flipV="false" rot="0">
              <a:off x="0" y="0"/>
              <a:ext cx="3161792" cy="1381760"/>
            </a:xfrm>
            <a:custGeom>
              <a:avLst/>
              <a:gdLst/>
              <a:ahLst/>
              <a:cxnLst/>
              <a:rect r="r" b="b" t="t" l="l"/>
              <a:pathLst>
                <a:path h="1381760" w="3161792">
                  <a:moveTo>
                    <a:pt x="20320" y="0"/>
                  </a:moveTo>
                  <a:lnTo>
                    <a:pt x="3141472" y="0"/>
                  </a:lnTo>
                  <a:cubicBezTo>
                    <a:pt x="3152648" y="0"/>
                    <a:pt x="3161792" y="9144"/>
                    <a:pt x="3161792" y="20320"/>
                  </a:cubicBezTo>
                  <a:lnTo>
                    <a:pt x="3161792" y="1361440"/>
                  </a:lnTo>
                  <a:cubicBezTo>
                    <a:pt x="3161792" y="1372616"/>
                    <a:pt x="3152648" y="1381760"/>
                    <a:pt x="3141472" y="1381760"/>
                  </a:cubicBezTo>
                  <a:lnTo>
                    <a:pt x="20320" y="1381760"/>
                  </a:lnTo>
                  <a:cubicBezTo>
                    <a:pt x="9144" y="1381760"/>
                    <a:pt x="0" y="1372616"/>
                    <a:pt x="0" y="1361440"/>
                  </a:cubicBezTo>
                  <a:lnTo>
                    <a:pt x="0" y="20320"/>
                  </a:lnTo>
                  <a:cubicBezTo>
                    <a:pt x="0" y="9144"/>
                    <a:pt x="9144" y="0"/>
                    <a:pt x="20320" y="0"/>
                  </a:cubicBezTo>
                  <a:moveTo>
                    <a:pt x="20320" y="40640"/>
                  </a:moveTo>
                  <a:lnTo>
                    <a:pt x="20320" y="20320"/>
                  </a:lnTo>
                  <a:lnTo>
                    <a:pt x="40640" y="20320"/>
                  </a:lnTo>
                  <a:lnTo>
                    <a:pt x="40640" y="1361440"/>
                  </a:lnTo>
                  <a:lnTo>
                    <a:pt x="20320" y="1361440"/>
                  </a:lnTo>
                  <a:lnTo>
                    <a:pt x="20320" y="1341120"/>
                  </a:lnTo>
                  <a:lnTo>
                    <a:pt x="3141472" y="1341120"/>
                  </a:lnTo>
                  <a:lnTo>
                    <a:pt x="3141472" y="1361440"/>
                  </a:lnTo>
                  <a:lnTo>
                    <a:pt x="3121152" y="1361440"/>
                  </a:lnTo>
                  <a:lnTo>
                    <a:pt x="3121152" y="20320"/>
                  </a:lnTo>
                  <a:lnTo>
                    <a:pt x="3141472" y="20320"/>
                  </a:lnTo>
                  <a:lnTo>
                    <a:pt x="3141472" y="40640"/>
                  </a:lnTo>
                  <a:lnTo>
                    <a:pt x="20320" y="40640"/>
                  </a:lnTo>
                  <a:close/>
                </a:path>
              </a:pathLst>
            </a:custGeom>
            <a:solidFill>
              <a:srgbClr val="2E86AB"/>
            </a:solidFill>
          </p:spPr>
        </p:sp>
      </p:grpSp>
      <p:grpSp>
        <p:nvGrpSpPr>
          <p:cNvPr name="Group 129" id="129"/>
          <p:cNvGrpSpPr/>
          <p:nvPr/>
        </p:nvGrpSpPr>
        <p:grpSpPr>
          <a:xfrm rot="0">
            <a:off x="8512292" y="5445252"/>
            <a:ext cx="2340864" cy="1005840"/>
            <a:chOff x="0" y="0"/>
            <a:chExt cx="3121152" cy="1341120"/>
          </a:xfrm>
        </p:grpSpPr>
        <p:sp>
          <p:nvSpPr>
            <p:cNvPr name="Freeform 130" id="130"/>
            <p:cNvSpPr/>
            <p:nvPr/>
          </p:nvSpPr>
          <p:spPr>
            <a:xfrm flipH="false" flipV="false" rot="0">
              <a:off x="0" y="0"/>
              <a:ext cx="3121152" cy="1341120"/>
            </a:xfrm>
            <a:custGeom>
              <a:avLst/>
              <a:gdLst/>
              <a:ahLst/>
              <a:cxnLst/>
              <a:rect r="r" b="b" t="t" l="l"/>
              <a:pathLst>
                <a:path h="1341120" w="3121152">
                  <a:moveTo>
                    <a:pt x="0" y="0"/>
                  </a:moveTo>
                  <a:lnTo>
                    <a:pt x="3121152" y="0"/>
                  </a:lnTo>
                  <a:lnTo>
                    <a:pt x="3121152" y="1341120"/>
                  </a:lnTo>
                  <a:lnTo>
                    <a:pt x="0" y="1341120"/>
                  </a:lnTo>
                  <a:close/>
                </a:path>
              </a:pathLst>
            </a:custGeom>
            <a:blipFill>
              <a:blip r:embed="rId3">
                <a:alphaModFix amt="0"/>
              </a:blip>
              <a:stretch>
                <a:fillRect l="-5130" t="0" r="-5130" b="0"/>
              </a:stretch>
            </a:blipFill>
          </p:spPr>
        </p:sp>
        <p:sp>
          <p:nvSpPr>
            <p:cNvPr name="TextBox 131" id="131"/>
            <p:cNvSpPr txBox="true"/>
            <p:nvPr/>
          </p:nvSpPr>
          <p:spPr>
            <a:xfrm>
              <a:off x="0" y="-28575"/>
              <a:ext cx="3121152" cy="1369695"/>
            </a:xfrm>
            <a:prstGeom prst="rect">
              <a:avLst/>
            </a:prstGeom>
          </p:spPr>
          <p:txBody>
            <a:bodyPr anchor="ctr" rtlCol="false" tIns="0" lIns="0" bIns="0" rIns="0"/>
            <a:lstStyle/>
            <a:p>
              <a:pPr algn="ctr">
                <a:lnSpc>
                  <a:spcPts val="1920"/>
                </a:lnSpc>
              </a:pPr>
              <a:r>
                <a:rPr lang="en-US" sz="1600" b="true">
                  <a:solidFill>
                    <a:srgbClr val="0D1B2A"/>
                  </a:solidFill>
                  <a:latin typeface="Calibri (MS) Bold"/>
                  <a:ea typeface="Calibri (MS) Bold"/>
                  <a:cs typeface="Calibri (MS) Bold"/>
                  <a:sym typeface="Calibri (MS) Bold"/>
                </a:rPr>
                <a:t>Steering</a:t>
              </a:r>
            </a:p>
          </p:txBody>
        </p:sp>
      </p:grpSp>
      <p:grpSp>
        <p:nvGrpSpPr>
          <p:cNvPr name="Group 132" id="132"/>
          <p:cNvGrpSpPr/>
          <p:nvPr/>
        </p:nvGrpSpPr>
        <p:grpSpPr>
          <a:xfrm rot="0">
            <a:off x="11020796" y="5430012"/>
            <a:ext cx="2371344" cy="1036320"/>
            <a:chOff x="0" y="0"/>
            <a:chExt cx="3161792" cy="1381760"/>
          </a:xfrm>
        </p:grpSpPr>
        <p:sp>
          <p:nvSpPr>
            <p:cNvPr name="Freeform 133" id="133"/>
            <p:cNvSpPr/>
            <p:nvPr/>
          </p:nvSpPr>
          <p:spPr>
            <a:xfrm flipH="false" flipV="false" rot="0">
              <a:off x="20320" y="20320"/>
              <a:ext cx="3121152" cy="1341120"/>
            </a:xfrm>
            <a:custGeom>
              <a:avLst/>
              <a:gdLst/>
              <a:ahLst/>
              <a:cxnLst/>
              <a:rect r="r" b="b" t="t" l="l"/>
              <a:pathLst>
                <a:path h="1341120" w="3121152">
                  <a:moveTo>
                    <a:pt x="0" y="0"/>
                  </a:moveTo>
                  <a:lnTo>
                    <a:pt x="3121152" y="0"/>
                  </a:lnTo>
                  <a:lnTo>
                    <a:pt x="3121152" y="1341120"/>
                  </a:lnTo>
                  <a:lnTo>
                    <a:pt x="0" y="1341120"/>
                  </a:lnTo>
                  <a:close/>
                </a:path>
              </a:pathLst>
            </a:custGeom>
            <a:solidFill>
              <a:srgbClr val="E8F4FA"/>
            </a:solidFill>
          </p:spPr>
        </p:sp>
        <p:sp>
          <p:nvSpPr>
            <p:cNvPr name="Freeform 134" id="134"/>
            <p:cNvSpPr/>
            <p:nvPr/>
          </p:nvSpPr>
          <p:spPr>
            <a:xfrm flipH="false" flipV="false" rot="0">
              <a:off x="0" y="0"/>
              <a:ext cx="3161792" cy="1381760"/>
            </a:xfrm>
            <a:custGeom>
              <a:avLst/>
              <a:gdLst/>
              <a:ahLst/>
              <a:cxnLst/>
              <a:rect r="r" b="b" t="t" l="l"/>
              <a:pathLst>
                <a:path h="1381760" w="3161792">
                  <a:moveTo>
                    <a:pt x="20320" y="0"/>
                  </a:moveTo>
                  <a:lnTo>
                    <a:pt x="3141472" y="0"/>
                  </a:lnTo>
                  <a:cubicBezTo>
                    <a:pt x="3152648" y="0"/>
                    <a:pt x="3161792" y="9144"/>
                    <a:pt x="3161792" y="20320"/>
                  </a:cubicBezTo>
                  <a:lnTo>
                    <a:pt x="3161792" y="1361440"/>
                  </a:lnTo>
                  <a:cubicBezTo>
                    <a:pt x="3161792" y="1372616"/>
                    <a:pt x="3152648" y="1381760"/>
                    <a:pt x="3141472" y="1381760"/>
                  </a:cubicBezTo>
                  <a:lnTo>
                    <a:pt x="20320" y="1381760"/>
                  </a:lnTo>
                  <a:cubicBezTo>
                    <a:pt x="9144" y="1381760"/>
                    <a:pt x="0" y="1372616"/>
                    <a:pt x="0" y="1361440"/>
                  </a:cubicBezTo>
                  <a:lnTo>
                    <a:pt x="0" y="20320"/>
                  </a:lnTo>
                  <a:cubicBezTo>
                    <a:pt x="0" y="9144"/>
                    <a:pt x="9144" y="0"/>
                    <a:pt x="20320" y="0"/>
                  </a:cubicBezTo>
                  <a:moveTo>
                    <a:pt x="20320" y="40640"/>
                  </a:moveTo>
                  <a:lnTo>
                    <a:pt x="20320" y="20320"/>
                  </a:lnTo>
                  <a:lnTo>
                    <a:pt x="40640" y="20320"/>
                  </a:lnTo>
                  <a:lnTo>
                    <a:pt x="40640" y="1361440"/>
                  </a:lnTo>
                  <a:lnTo>
                    <a:pt x="20320" y="1361440"/>
                  </a:lnTo>
                  <a:lnTo>
                    <a:pt x="20320" y="1341120"/>
                  </a:lnTo>
                  <a:lnTo>
                    <a:pt x="3141472" y="1341120"/>
                  </a:lnTo>
                  <a:lnTo>
                    <a:pt x="3141472" y="1361440"/>
                  </a:lnTo>
                  <a:lnTo>
                    <a:pt x="3121152" y="1361440"/>
                  </a:lnTo>
                  <a:lnTo>
                    <a:pt x="3121152" y="20320"/>
                  </a:lnTo>
                  <a:lnTo>
                    <a:pt x="3141472" y="20320"/>
                  </a:lnTo>
                  <a:lnTo>
                    <a:pt x="3141472" y="40640"/>
                  </a:lnTo>
                  <a:lnTo>
                    <a:pt x="20320" y="40640"/>
                  </a:lnTo>
                  <a:close/>
                </a:path>
              </a:pathLst>
            </a:custGeom>
            <a:solidFill>
              <a:srgbClr val="2E86AB"/>
            </a:solidFill>
          </p:spPr>
        </p:sp>
      </p:grpSp>
      <p:grpSp>
        <p:nvGrpSpPr>
          <p:cNvPr name="Group 135" id="135"/>
          <p:cNvGrpSpPr/>
          <p:nvPr/>
        </p:nvGrpSpPr>
        <p:grpSpPr>
          <a:xfrm rot="0">
            <a:off x="11036036" y="5445252"/>
            <a:ext cx="2340864" cy="1005840"/>
            <a:chOff x="0" y="0"/>
            <a:chExt cx="3121152" cy="1341120"/>
          </a:xfrm>
        </p:grpSpPr>
        <p:sp>
          <p:nvSpPr>
            <p:cNvPr name="Freeform 136" id="136"/>
            <p:cNvSpPr/>
            <p:nvPr/>
          </p:nvSpPr>
          <p:spPr>
            <a:xfrm flipH="false" flipV="false" rot="0">
              <a:off x="0" y="0"/>
              <a:ext cx="3121152" cy="1341120"/>
            </a:xfrm>
            <a:custGeom>
              <a:avLst/>
              <a:gdLst/>
              <a:ahLst/>
              <a:cxnLst/>
              <a:rect r="r" b="b" t="t" l="l"/>
              <a:pathLst>
                <a:path h="1341120" w="3121152">
                  <a:moveTo>
                    <a:pt x="0" y="0"/>
                  </a:moveTo>
                  <a:lnTo>
                    <a:pt x="3121152" y="0"/>
                  </a:lnTo>
                  <a:lnTo>
                    <a:pt x="3121152" y="1341120"/>
                  </a:lnTo>
                  <a:lnTo>
                    <a:pt x="0" y="1341120"/>
                  </a:lnTo>
                  <a:close/>
                </a:path>
              </a:pathLst>
            </a:custGeom>
            <a:blipFill>
              <a:blip r:embed="rId3">
                <a:alphaModFix amt="0"/>
              </a:blip>
              <a:stretch>
                <a:fillRect l="-5130" t="0" r="-5130" b="0"/>
              </a:stretch>
            </a:blipFill>
          </p:spPr>
        </p:sp>
        <p:sp>
          <p:nvSpPr>
            <p:cNvPr name="TextBox 137" id="137"/>
            <p:cNvSpPr txBox="true"/>
            <p:nvPr/>
          </p:nvSpPr>
          <p:spPr>
            <a:xfrm>
              <a:off x="0" y="-28575"/>
              <a:ext cx="3121152" cy="1369695"/>
            </a:xfrm>
            <a:prstGeom prst="rect">
              <a:avLst/>
            </a:prstGeom>
          </p:spPr>
          <p:txBody>
            <a:bodyPr anchor="ctr" rtlCol="false" tIns="0" lIns="0" bIns="0" rIns="0"/>
            <a:lstStyle/>
            <a:p>
              <a:pPr algn="ctr">
                <a:lnSpc>
                  <a:spcPts val="1920"/>
                </a:lnSpc>
              </a:pPr>
              <a:r>
                <a:rPr lang="en-US" sz="1600" b="true">
                  <a:solidFill>
                    <a:srgbClr val="0D1B2A"/>
                  </a:solidFill>
                  <a:latin typeface="Calibri (MS) Bold"/>
                  <a:ea typeface="Calibri (MS) Bold"/>
                  <a:cs typeface="Calibri (MS) Bold"/>
                  <a:sym typeface="Calibri (MS) Bold"/>
                </a:rPr>
                <a:t>Fuel</a:t>
              </a:r>
            </a:p>
            <a:p>
              <a:pPr algn="ctr">
                <a:lnSpc>
                  <a:spcPts val="1920"/>
                </a:lnSpc>
              </a:pPr>
              <a:r>
                <a:rPr lang="en-US" sz="1600" b="true">
                  <a:solidFill>
                    <a:srgbClr val="0D1B2A"/>
                  </a:solidFill>
                  <a:latin typeface="Calibri (MS) Bold"/>
                  <a:ea typeface="Calibri (MS) Bold"/>
                  <a:cs typeface="Calibri (MS) Bold"/>
                  <a:sym typeface="Calibri (MS) Bold"/>
                </a:rPr>
                <a:t>System</a:t>
              </a:r>
            </a:p>
          </p:txBody>
        </p:sp>
      </p:grpSp>
      <p:grpSp>
        <p:nvGrpSpPr>
          <p:cNvPr name="Group 138" id="138"/>
          <p:cNvGrpSpPr/>
          <p:nvPr/>
        </p:nvGrpSpPr>
        <p:grpSpPr>
          <a:xfrm rot="0">
            <a:off x="13547084" y="5432555"/>
            <a:ext cx="2366267" cy="1031243"/>
            <a:chOff x="0" y="0"/>
            <a:chExt cx="3155023" cy="1374991"/>
          </a:xfrm>
        </p:grpSpPr>
        <p:sp>
          <p:nvSpPr>
            <p:cNvPr name="Freeform 139" id="139"/>
            <p:cNvSpPr/>
            <p:nvPr/>
          </p:nvSpPr>
          <p:spPr>
            <a:xfrm flipH="false" flipV="false" rot="0">
              <a:off x="16891" y="16891"/>
              <a:ext cx="3121152" cy="1341120"/>
            </a:xfrm>
            <a:custGeom>
              <a:avLst/>
              <a:gdLst/>
              <a:ahLst/>
              <a:cxnLst/>
              <a:rect r="r" b="b" t="t" l="l"/>
              <a:pathLst>
                <a:path h="1341120" w="3121152">
                  <a:moveTo>
                    <a:pt x="0" y="0"/>
                  </a:moveTo>
                  <a:lnTo>
                    <a:pt x="3121152" y="0"/>
                  </a:lnTo>
                  <a:lnTo>
                    <a:pt x="3121152" y="1341120"/>
                  </a:lnTo>
                  <a:lnTo>
                    <a:pt x="0" y="1341120"/>
                  </a:lnTo>
                  <a:close/>
                </a:path>
              </a:pathLst>
            </a:custGeom>
            <a:solidFill>
              <a:srgbClr val="F4F8FC"/>
            </a:solidFill>
          </p:spPr>
        </p:sp>
        <p:sp>
          <p:nvSpPr>
            <p:cNvPr name="Freeform 140" id="140"/>
            <p:cNvSpPr/>
            <p:nvPr/>
          </p:nvSpPr>
          <p:spPr>
            <a:xfrm flipH="false" flipV="false" rot="0">
              <a:off x="-20320" y="0"/>
              <a:ext cx="3175381" cy="1409065"/>
            </a:xfrm>
            <a:custGeom>
              <a:avLst/>
              <a:gdLst/>
              <a:ahLst/>
              <a:cxnLst/>
              <a:rect r="r" b="b" t="t" l="l"/>
              <a:pathLst>
                <a:path h="1409065" w="3175381">
                  <a:moveTo>
                    <a:pt x="274320" y="0"/>
                  </a:moveTo>
                  <a:lnTo>
                    <a:pt x="375920" y="0"/>
                  </a:lnTo>
                  <a:lnTo>
                    <a:pt x="375920" y="33909"/>
                  </a:lnTo>
                  <a:lnTo>
                    <a:pt x="274320" y="33909"/>
                  </a:lnTo>
                  <a:close/>
                  <a:moveTo>
                    <a:pt x="511429" y="0"/>
                  </a:moveTo>
                  <a:lnTo>
                    <a:pt x="613029" y="0"/>
                  </a:lnTo>
                  <a:lnTo>
                    <a:pt x="613029" y="33909"/>
                  </a:lnTo>
                  <a:lnTo>
                    <a:pt x="511429" y="33909"/>
                  </a:lnTo>
                  <a:close/>
                  <a:moveTo>
                    <a:pt x="748411" y="0"/>
                  </a:moveTo>
                  <a:lnTo>
                    <a:pt x="850011" y="0"/>
                  </a:lnTo>
                  <a:lnTo>
                    <a:pt x="850011" y="33909"/>
                  </a:lnTo>
                  <a:lnTo>
                    <a:pt x="748411" y="33909"/>
                  </a:lnTo>
                  <a:close/>
                  <a:moveTo>
                    <a:pt x="985520" y="0"/>
                  </a:moveTo>
                  <a:lnTo>
                    <a:pt x="1087120" y="0"/>
                  </a:lnTo>
                  <a:lnTo>
                    <a:pt x="1087120" y="33909"/>
                  </a:lnTo>
                  <a:lnTo>
                    <a:pt x="985520" y="33909"/>
                  </a:lnTo>
                  <a:close/>
                  <a:moveTo>
                    <a:pt x="1222629" y="0"/>
                  </a:moveTo>
                  <a:lnTo>
                    <a:pt x="1324229" y="0"/>
                  </a:lnTo>
                  <a:lnTo>
                    <a:pt x="1324229" y="33909"/>
                  </a:lnTo>
                  <a:lnTo>
                    <a:pt x="1222629" y="33909"/>
                  </a:lnTo>
                  <a:close/>
                  <a:moveTo>
                    <a:pt x="1459738" y="33909"/>
                  </a:moveTo>
                  <a:lnTo>
                    <a:pt x="1561338" y="33909"/>
                  </a:lnTo>
                  <a:lnTo>
                    <a:pt x="1459738" y="33909"/>
                  </a:lnTo>
                  <a:close/>
                  <a:moveTo>
                    <a:pt x="1696720" y="0"/>
                  </a:moveTo>
                  <a:lnTo>
                    <a:pt x="1798320" y="0"/>
                  </a:lnTo>
                  <a:lnTo>
                    <a:pt x="1798320" y="33909"/>
                  </a:lnTo>
                  <a:lnTo>
                    <a:pt x="1696720" y="33909"/>
                  </a:lnTo>
                  <a:close/>
                  <a:moveTo>
                    <a:pt x="1933829" y="33909"/>
                  </a:moveTo>
                  <a:lnTo>
                    <a:pt x="2035429" y="33909"/>
                  </a:lnTo>
                  <a:lnTo>
                    <a:pt x="1933829" y="33909"/>
                  </a:lnTo>
                  <a:close/>
                  <a:moveTo>
                    <a:pt x="2170938" y="33909"/>
                  </a:moveTo>
                  <a:lnTo>
                    <a:pt x="2272538" y="33909"/>
                  </a:lnTo>
                  <a:lnTo>
                    <a:pt x="2170938" y="33909"/>
                  </a:lnTo>
                  <a:close/>
                  <a:moveTo>
                    <a:pt x="2407920" y="0"/>
                  </a:moveTo>
                  <a:lnTo>
                    <a:pt x="2509520" y="0"/>
                  </a:lnTo>
                  <a:lnTo>
                    <a:pt x="2509520" y="33909"/>
                  </a:lnTo>
                  <a:lnTo>
                    <a:pt x="2407920" y="33909"/>
                  </a:lnTo>
                  <a:close/>
                  <a:moveTo>
                    <a:pt x="2645029" y="33909"/>
                  </a:moveTo>
                  <a:lnTo>
                    <a:pt x="2746629" y="33909"/>
                  </a:lnTo>
                  <a:lnTo>
                    <a:pt x="2645029" y="33909"/>
                  </a:lnTo>
                  <a:close/>
                  <a:moveTo>
                    <a:pt x="2882138" y="33909"/>
                  </a:moveTo>
                  <a:lnTo>
                    <a:pt x="2983738" y="33909"/>
                  </a:lnTo>
                  <a:lnTo>
                    <a:pt x="2882138" y="33909"/>
                  </a:lnTo>
                  <a:close/>
                  <a:moveTo>
                    <a:pt x="3119120" y="0"/>
                  </a:moveTo>
                  <a:lnTo>
                    <a:pt x="3158363" y="0"/>
                  </a:lnTo>
                  <a:cubicBezTo>
                    <a:pt x="3167761" y="0"/>
                    <a:pt x="3175254" y="7620"/>
                    <a:pt x="3175254" y="16891"/>
                  </a:cubicBezTo>
                  <a:lnTo>
                    <a:pt x="3175254" y="79248"/>
                  </a:lnTo>
                  <a:lnTo>
                    <a:pt x="3141345" y="79248"/>
                  </a:lnTo>
                  <a:lnTo>
                    <a:pt x="3141345" y="16891"/>
                  </a:lnTo>
                  <a:lnTo>
                    <a:pt x="3158236" y="16891"/>
                  </a:lnTo>
                  <a:lnTo>
                    <a:pt x="3158236" y="33909"/>
                  </a:lnTo>
                  <a:lnTo>
                    <a:pt x="3119120" y="33909"/>
                  </a:lnTo>
                  <a:close/>
                  <a:moveTo>
                    <a:pt x="3175381" y="248666"/>
                  </a:moveTo>
                  <a:lnTo>
                    <a:pt x="3175381" y="350266"/>
                  </a:lnTo>
                  <a:lnTo>
                    <a:pt x="3141472" y="350266"/>
                  </a:lnTo>
                  <a:lnTo>
                    <a:pt x="3141472" y="248666"/>
                  </a:lnTo>
                  <a:close/>
                  <a:moveTo>
                    <a:pt x="3141472" y="485775"/>
                  </a:moveTo>
                  <a:lnTo>
                    <a:pt x="3141472" y="587375"/>
                  </a:lnTo>
                  <a:lnTo>
                    <a:pt x="3107563" y="587375"/>
                  </a:lnTo>
                  <a:lnTo>
                    <a:pt x="3107563" y="485775"/>
                  </a:lnTo>
                  <a:close/>
                  <a:moveTo>
                    <a:pt x="3107563" y="722884"/>
                  </a:moveTo>
                  <a:lnTo>
                    <a:pt x="3107563" y="824484"/>
                  </a:lnTo>
                  <a:lnTo>
                    <a:pt x="3073654" y="824484"/>
                  </a:lnTo>
                  <a:lnTo>
                    <a:pt x="3073654" y="722884"/>
                  </a:lnTo>
                  <a:close/>
                  <a:moveTo>
                    <a:pt x="3073654" y="959993"/>
                  </a:moveTo>
                  <a:lnTo>
                    <a:pt x="3073654" y="1061593"/>
                  </a:lnTo>
                  <a:lnTo>
                    <a:pt x="3039745" y="1061593"/>
                  </a:lnTo>
                  <a:lnTo>
                    <a:pt x="3039745" y="959993"/>
                  </a:lnTo>
                  <a:close/>
                  <a:moveTo>
                    <a:pt x="3039745" y="1197102"/>
                  </a:moveTo>
                  <a:lnTo>
                    <a:pt x="3039745" y="1298702"/>
                  </a:lnTo>
                  <a:lnTo>
                    <a:pt x="3005836" y="1298702"/>
                  </a:lnTo>
                  <a:lnTo>
                    <a:pt x="3005836" y="1197102"/>
                  </a:lnTo>
                  <a:close/>
                  <a:moveTo>
                    <a:pt x="2946908" y="1409065"/>
                  </a:moveTo>
                  <a:lnTo>
                    <a:pt x="2845308" y="1409065"/>
                  </a:lnTo>
                  <a:lnTo>
                    <a:pt x="2845308" y="1341120"/>
                  </a:lnTo>
                  <a:lnTo>
                    <a:pt x="2946908" y="1341120"/>
                  </a:lnTo>
                  <a:close/>
                  <a:moveTo>
                    <a:pt x="2709799" y="1341120"/>
                  </a:moveTo>
                  <a:lnTo>
                    <a:pt x="2608199" y="1341120"/>
                  </a:lnTo>
                  <a:lnTo>
                    <a:pt x="2709799" y="1341120"/>
                  </a:lnTo>
                  <a:close/>
                  <a:moveTo>
                    <a:pt x="2472690" y="1341120"/>
                  </a:moveTo>
                  <a:lnTo>
                    <a:pt x="2371090" y="1341120"/>
                  </a:lnTo>
                  <a:lnTo>
                    <a:pt x="2472690" y="1341120"/>
                  </a:lnTo>
                  <a:close/>
                  <a:moveTo>
                    <a:pt x="2235581" y="1341120"/>
                  </a:moveTo>
                  <a:lnTo>
                    <a:pt x="2133981" y="1341120"/>
                  </a:lnTo>
                  <a:lnTo>
                    <a:pt x="2235581" y="1341120"/>
                  </a:lnTo>
                  <a:close/>
                  <a:moveTo>
                    <a:pt x="1998472" y="1341120"/>
                  </a:moveTo>
                  <a:lnTo>
                    <a:pt x="1896872" y="1341120"/>
                  </a:lnTo>
                  <a:lnTo>
                    <a:pt x="1998472" y="1341120"/>
                  </a:lnTo>
                  <a:close/>
                  <a:moveTo>
                    <a:pt x="1761363" y="1341120"/>
                  </a:moveTo>
                  <a:lnTo>
                    <a:pt x="1659763" y="1341120"/>
                  </a:lnTo>
                  <a:lnTo>
                    <a:pt x="1761363" y="1341120"/>
                  </a:lnTo>
                  <a:close/>
                  <a:moveTo>
                    <a:pt x="1524254" y="1341120"/>
                  </a:moveTo>
                  <a:lnTo>
                    <a:pt x="1422654" y="1341120"/>
                  </a:lnTo>
                  <a:lnTo>
                    <a:pt x="1524254" y="1341120"/>
                  </a:lnTo>
                  <a:close/>
                  <a:moveTo>
                    <a:pt x="1287145" y="1341120"/>
                  </a:moveTo>
                  <a:lnTo>
                    <a:pt x="1185545" y="1341120"/>
                  </a:lnTo>
                  <a:lnTo>
                    <a:pt x="1287145" y="1341120"/>
                  </a:lnTo>
                  <a:close/>
                  <a:moveTo>
                    <a:pt x="1050036" y="1341120"/>
                  </a:moveTo>
                  <a:lnTo>
                    <a:pt x="948436" y="1341120"/>
                  </a:lnTo>
                  <a:lnTo>
                    <a:pt x="1050036" y="1341120"/>
                  </a:lnTo>
                  <a:close/>
                  <a:moveTo>
                    <a:pt x="812927" y="1341120"/>
                  </a:moveTo>
                  <a:lnTo>
                    <a:pt x="711327" y="1341120"/>
                  </a:lnTo>
                  <a:lnTo>
                    <a:pt x="812927" y="1341120"/>
                  </a:lnTo>
                  <a:close/>
                  <a:moveTo>
                    <a:pt x="575818" y="1341120"/>
                  </a:moveTo>
                  <a:lnTo>
                    <a:pt x="474218" y="1341120"/>
                  </a:lnTo>
                  <a:lnTo>
                    <a:pt x="575818" y="1341120"/>
                  </a:lnTo>
                  <a:close/>
                  <a:moveTo>
                    <a:pt x="338709" y="1341120"/>
                  </a:moveTo>
                  <a:lnTo>
                    <a:pt x="237109" y="1341120"/>
                  </a:lnTo>
                  <a:lnTo>
                    <a:pt x="338709" y="1341120"/>
                  </a:lnTo>
                  <a:close/>
                  <a:moveTo>
                    <a:pt x="101600" y="1341120"/>
                  </a:moveTo>
                  <a:lnTo>
                    <a:pt x="0" y="1341120"/>
                  </a:lnTo>
                  <a:lnTo>
                    <a:pt x="101600" y="1341120"/>
                  </a:lnTo>
                  <a:close/>
                  <a:moveTo>
                    <a:pt x="20320" y="1355344"/>
                  </a:moveTo>
                  <a:lnTo>
                    <a:pt x="20320" y="1253744"/>
                  </a:lnTo>
                  <a:lnTo>
                    <a:pt x="54229" y="1253744"/>
                  </a:lnTo>
                  <a:lnTo>
                    <a:pt x="54229" y="1355344"/>
                  </a:lnTo>
                  <a:close/>
                  <a:moveTo>
                    <a:pt x="20320" y="1118235"/>
                  </a:moveTo>
                  <a:lnTo>
                    <a:pt x="20320" y="1016635"/>
                  </a:lnTo>
                  <a:lnTo>
                    <a:pt x="54229" y="1016635"/>
                  </a:lnTo>
                  <a:lnTo>
                    <a:pt x="54229" y="1118235"/>
                  </a:lnTo>
                  <a:close/>
                  <a:moveTo>
                    <a:pt x="20320" y="881253"/>
                  </a:moveTo>
                  <a:lnTo>
                    <a:pt x="20320" y="779653"/>
                  </a:lnTo>
                  <a:lnTo>
                    <a:pt x="54229" y="779653"/>
                  </a:lnTo>
                  <a:lnTo>
                    <a:pt x="54229" y="881253"/>
                  </a:lnTo>
                  <a:close/>
                  <a:moveTo>
                    <a:pt x="20320" y="644144"/>
                  </a:moveTo>
                  <a:lnTo>
                    <a:pt x="20320" y="542544"/>
                  </a:lnTo>
                  <a:lnTo>
                    <a:pt x="54229" y="542544"/>
                  </a:lnTo>
                  <a:lnTo>
                    <a:pt x="54229" y="644144"/>
                  </a:lnTo>
                  <a:close/>
                  <a:moveTo>
                    <a:pt x="20320" y="407035"/>
                  </a:moveTo>
                  <a:lnTo>
                    <a:pt x="20320" y="305435"/>
                  </a:lnTo>
                  <a:lnTo>
                    <a:pt x="54229" y="305435"/>
                  </a:lnTo>
                  <a:lnTo>
                    <a:pt x="54229" y="407035"/>
                  </a:lnTo>
                  <a:close/>
                  <a:moveTo>
                    <a:pt x="20320" y="170053"/>
                  </a:moveTo>
                  <a:lnTo>
                    <a:pt x="20320" y="68453"/>
                  </a:lnTo>
                  <a:lnTo>
                    <a:pt x="54229" y="68453"/>
                  </a:lnTo>
                  <a:lnTo>
                    <a:pt x="54229" y="170053"/>
                  </a:lnTo>
                  <a:close/>
                  <a:moveTo>
                    <a:pt x="37211" y="0"/>
                  </a:moveTo>
                  <a:lnTo>
                    <a:pt x="138811" y="0"/>
                  </a:lnTo>
                  <a:lnTo>
                    <a:pt x="138811" y="33909"/>
                  </a:lnTo>
                  <a:lnTo>
                    <a:pt x="37211" y="33909"/>
                  </a:lnTo>
                  <a:close/>
                </a:path>
              </a:pathLst>
            </a:custGeom>
            <a:solidFill>
              <a:srgbClr val="2E86AB"/>
            </a:solidFill>
          </p:spPr>
        </p:sp>
      </p:grpSp>
      <p:grpSp>
        <p:nvGrpSpPr>
          <p:cNvPr name="Group 141" id="141"/>
          <p:cNvGrpSpPr/>
          <p:nvPr/>
        </p:nvGrpSpPr>
        <p:grpSpPr>
          <a:xfrm rot="0">
            <a:off x="13559780" y="5445252"/>
            <a:ext cx="2340864" cy="1005840"/>
            <a:chOff x="0" y="0"/>
            <a:chExt cx="3121152" cy="1341120"/>
          </a:xfrm>
        </p:grpSpPr>
        <p:sp>
          <p:nvSpPr>
            <p:cNvPr name="Freeform 142" id="142"/>
            <p:cNvSpPr/>
            <p:nvPr/>
          </p:nvSpPr>
          <p:spPr>
            <a:xfrm flipH="false" flipV="false" rot="0">
              <a:off x="0" y="0"/>
              <a:ext cx="3121152" cy="1341120"/>
            </a:xfrm>
            <a:custGeom>
              <a:avLst/>
              <a:gdLst/>
              <a:ahLst/>
              <a:cxnLst/>
              <a:rect r="r" b="b" t="t" l="l"/>
              <a:pathLst>
                <a:path h="1341120" w="3121152">
                  <a:moveTo>
                    <a:pt x="0" y="0"/>
                  </a:moveTo>
                  <a:lnTo>
                    <a:pt x="3121152" y="0"/>
                  </a:lnTo>
                  <a:lnTo>
                    <a:pt x="3121152" y="1341120"/>
                  </a:lnTo>
                  <a:lnTo>
                    <a:pt x="0" y="1341120"/>
                  </a:lnTo>
                  <a:close/>
                </a:path>
              </a:pathLst>
            </a:custGeom>
            <a:blipFill>
              <a:blip r:embed="rId3">
                <a:alphaModFix amt="0"/>
              </a:blip>
              <a:stretch>
                <a:fillRect l="-5130" t="0" r="-5130" b="0"/>
              </a:stretch>
            </a:blipFill>
          </p:spPr>
        </p:sp>
        <p:sp>
          <p:nvSpPr>
            <p:cNvPr name="TextBox 143" id="143"/>
            <p:cNvSpPr txBox="true"/>
            <p:nvPr/>
          </p:nvSpPr>
          <p:spPr>
            <a:xfrm>
              <a:off x="0" y="-28575"/>
              <a:ext cx="3121152" cy="1369695"/>
            </a:xfrm>
            <a:prstGeom prst="rect">
              <a:avLst/>
            </a:prstGeom>
          </p:spPr>
          <p:txBody>
            <a:bodyPr anchor="ctr" rtlCol="false" tIns="0" lIns="0" bIns="0" rIns="0"/>
            <a:lstStyle/>
            <a:p>
              <a:pPr algn="ctr">
                <a:lnSpc>
                  <a:spcPts val="1920"/>
                </a:lnSpc>
              </a:pPr>
              <a:r>
                <a:rPr lang="en-US" sz="1600" i="true">
                  <a:solidFill>
                    <a:srgbClr val="6B7A8D"/>
                  </a:solidFill>
                  <a:latin typeface="Calibri (MS) Italics"/>
                  <a:ea typeface="Calibri (MS) Italics"/>
                  <a:cs typeface="Calibri (MS) Italics"/>
                  <a:sym typeface="Calibri (MS) Italics"/>
                </a:rPr>
                <a:t>Others...</a:t>
              </a:r>
            </a:p>
          </p:txBody>
        </p:sp>
      </p:grpSp>
      <p:grpSp>
        <p:nvGrpSpPr>
          <p:cNvPr name="Group 144" id="144"/>
          <p:cNvGrpSpPr/>
          <p:nvPr/>
        </p:nvGrpSpPr>
        <p:grpSpPr>
          <a:xfrm rot="0">
            <a:off x="3477511" y="8855964"/>
            <a:ext cx="12435840" cy="402336"/>
            <a:chOff x="0" y="0"/>
            <a:chExt cx="16581120" cy="536448"/>
          </a:xfrm>
        </p:grpSpPr>
        <p:sp>
          <p:nvSpPr>
            <p:cNvPr name="Freeform 145" id="145"/>
            <p:cNvSpPr/>
            <p:nvPr/>
          </p:nvSpPr>
          <p:spPr>
            <a:xfrm flipH="false" flipV="false" rot="0">
              <a:off x="0" y="0"/>
              <a:ext cx="16581120" cy="536448"/>
            </a:xfrm>
            <a:custGeom>
              <a:avLst/>
              <a:gdLst/>
              <a:ahLst/>
              <a:cxnLst/>
              <a:rect r="r" b="b" t="t" l="l"/>
              <a:pathLst>
                <a:path h="536448" w="16581120">
                  <a:moveTo>
                    <a:pt x="0" y="0"/>
                  </a:moveTo>
                  <a:lnTo>
                    <a:pt x="16581120" y="0"/>
                  </a:lnTo>
                  <a:lnTo>
                    <a:pt x="16581120" y="536448"/>
                  </a:lnTo>
                  <a:lnTo>
                    <a:pt x="0" y="536448"/>
                  </a:lnTo>
                  <a:close/>
                </a:path>
              </a:pathLst>
            </a:custGeom>
            <a:blipFill>
              <a:blip r:embed="rId3">
                <a:alphaModFix amt="0"/>
              </a:blip>
              <a:stretch>
                <a:fillRect l="0" t="-552264" r="0" b="-552264"/>
              </a:stretch>
            </a:blipFill>
          </p:spPr>
        </p:sp>
        <p:sp>
          <p:nvSpPr>
            <p:cNvPr name="TextBox 146" id="146"/>
            <p:cNvSpPr txBox="true"/>
            <p:nvPr/>
          </p:nvSpPr>
          <p:spPr>
            <a:xfrm>
              <a:off x="0" y="-38100"/>
              <a:ext cx="16581120" cy="574548"/>
            </a:xfrm>
            <a:prstGeom prst="rect">
              <a:avLst/>
            </a:prstGeom>
          </p:spPr>
          <p:txBody>
            <a:bodyPr anchor="ctr" rtlCol="false" tIns="0" lIns="0" bIns="0" rIns="0"/>
            <a:lstStyle/>
            <a:p>
              <a:pPr algn="ctr">
                <a:lnSpc>
                  <a:spcPts val="1800"/>
                </a:lnSpc>
              </a:pPr>
              <a:r>
                <a:rPr lang="en-US" sz="1500" i="true">
                  <a:solidFill>
                    <a:srgbClr val="6B7A8D"/>
                  </a:solidFill>
                  <a:latin typeface="Calibri (MS) Italics"/>
                  <a:ea typeface="Calibri (MS) Italics"/>
                  <a:cs typeface="Calibri (MS) Italics"/>
                  <a:sym typeface="Calibri (MS) Italics"/>
                </a:rPr>
                <a:t>Same agent set for every subsystem — infinitely extensible</a:t>
              </a:r>
            </a:p>
          </p:txBody>
        </p:sp>
      </p:grpSp>
      <p:grpSp>
        <p:nvGrpSpPr>
          <p:cNvPr name="Group 147" id="147"/>
          <p:cNvGrpSpPr/>
          <p:nvPr/>
        </p:nvGrpSpPr>
        <p:grpSpPr>
          <a:xfrm rot="0">
            <a:off x="4622540" y="6438395"/>
            <a:ext cx="25403" cy="1086107"/>
            <a:chOff x="0" y="0"/>
            <a:chExt cx="33871" cy="1448143"/>
          </a:xfrm>
        </p:grpSpPr>
        <p:sp>
          <p:nvSpPr>
            <p:cNvPr name="Freeform 148" id="148"/>
            <p:cNvSpPr/>
            <p:nvPr/>
          </p:nvSpPr>
          <p:spPr>
            <a:xfrm flipH="false" flipV="false" rot="0">
              <a:off x="0" y="16891"/>
              <a:ext cx="33909" cy="1414272"/>
            </a:xfrm>
            <a:custGeom>
              <a:avLst/>
              <a:gdLst/>
              <a:ahLst/>
              <a:cxnLst/>
              <a:rect r="r" b="b" t="t" l="l"/>
              <a:pathLst>
                <a:path h="1414272" w="33909">
                  <a:moveTo>
                    <a:pt x="33909" y="0"/>
                  </a:moveTo>
                  <a:lnTo>
                    <a:pt x="33909" y="1414272"/>
                  </a:lnTo>
                  <a:lnTo>
                    <a:pt x="0" y="1414272"/>
                  </a:lnTo>
                  <a:lnTo>
                    <a:pt x="0" y="0"/>
                  </a:lnTo>
                  <a:close/>
                </a:path>
              </a:pathLst>
            </a:custGeom>
            <a:solidFill>
              <a:srgbClr val="00838F"/>
            </a:solidFill>
          </p:spPr>
        </p:sp>
      </p:grpSp>
      <p:grpSp>
        <p:nvGrpSpPr>
          <p:cNvPr name="Group 149" id="149"/>
          <p:cNvGrpSpPr/>
          <p:nvPr/>
        </p:nvGrpSpPr>
        <p:grpSpPr>
          <a:xfrm rot="0">
            <a:off x="3452108" y="7499099"/>
            <a:ext cx="2366267" cy="1159259"/>
            <a:chOff x="0" y="0"/>
            <a:chExt cx="3155023" cy="1545679"/>
          </a:xfrm>
        </p:grpSpPr>
        <p:sp>
          <p:nvSpPr>
            <p:cNvPr name="Freeform 150" id="150"/>
            <p:cNvSpPr/>
            <p:nvPr/>
          </p:nvSpPr>
          <p:spPr>
            <a:xfrm flipH="false" flipV="false" rot="0">
              <a:off x="16891" y="16891"/>
              <a:ext cx="3121152" cy="1511808"/>
            </a:xfrm>
            <a:custGeom>
              <a:avLst/>
              <a:gdLst/>
              <a:ahLst/>
              <a:cxnLst/>
              <a:rect r="r" b="b" t="t" l="l"/>
              <a:pathLst>
                <a:path h="1511808" w="3121152">
                  <a:moveTo>
                    <a:pt x="0" y="0"/>
                  </a:moveTo>
                  <a:lnTo>
                    <a:pt x="3121152" y="0"/>
                  </a:lnTo>
                  <a:lnTo>
                    <a:pt x="3121152" y="1511808"/>
                  </a:lnTo>
                  <a:lnTo>
                    <a:pt x="0" y="1511808"/>
                  </a:lnTo>
                  <a:close/>
                </a:path>
              </a:pathLst>
            </a:custGeom>
            <a:solidFill>
              <a:srgbClr val="00838F"/>
            </a:solidFill>
          </p:spPr>
        </p:sp>
        <p:sp>
          <p:nvSpPr>
            <p:cNvPr name="Freeform 151" id="151"/>
            <p:cNvSpPr/>
            <p:nvPr/>
          </p:nvSpPr>
          <p:spPr>
            <a:xfrm flipH="false" flipV="false" rot="0">
              <a:off x="0" y="0"/>
              <a:ext cx="3154934" cy="1545590"/>
            </a:xfrm>
            <a:custGeom>
              <a:avLst/>
              <a:gdLst/>
              <a:ahLst/>
              <a:cxnLst/>
              <a:rect r="r" b="b" t="t" l="l"/>
              <a:pathLst>
                <a:path h="1545590" w="3154934">
                  <a:moveTo>
                    <a:pt x="16891" y="0"/>
                  </a:moveTo>
                  <a:lnTo>
                    <a:pt x="3138043" y="0"/>
                  </a:lnTo>
                  <a:cubicBezTo>
                    <a:pt x="3147441" y="0"/>
                    <a:pt x="3154934" y="7620"/>
                    <a:pt x="3154934" y="16891"/>
                  </a:cubicBezTo>
                  <a:lnTo>
                    <a:pt x="3154934" y="1528699"/>
                  </a:lnTo>
                  <a:cubicBezTo>
                    <a:pt x="3154934" y="1538097"/>
                    <a:pt x="3147314" y="1545590"/>
                    <a:pt x="3138043"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138043" y="1511808"/>
                  </a:lnTo>
                  <a:lnTo>
                    <a:pt x="3138043" y="1528699"/>
                  </a:lnTo>
                  <a:lnTo>
                    <a:pt x="3121152" y="1528699"/>
                  </a:lnTo>
                  <a:lnTo>
                    <a:pt x="3121152" y="16891"/>
                  </a:lnTo>
                  <a:lnTo>
                    <a:pt x="3138043" y="16891"/>
                  </a:lnTo>
                  <a:lnTo>
                    <a:pt x="3138043" y="33909"/>
                  </a:lnTo>
                  <a:lnTo>
                    <a:pt x="16891" y="33909"/>
                  </a:lnTo>
                  <a:close/>
                </a:path>
              </a:pathLst>
            </a:custGeom>
            <a:solidFill>
              <a:srgbClr val="00838F"/>
            </a:solidFill>
          </p:spPr>
        </p:sp>
      </p:grpSp>
      <p:grpSp>
        <p:nvGrpSpPr>
          <p:cNvPr name="Group 152" id="152"/>
          <p:cNvGrpSpPr/>
          <p:nvPr/>
        </p:nvGrpSpPr>
        <p:grpSpPr>
          <a:xfrm rot="0">
            <a:off x="3480044" y="7499099"/>
            <a:ext cx="2340864" cy="1133856"/>
            <a:chOff x="0" y="0"/>
            <a:chExt cx="3121152" cy="1511808"/>
          </a:xfrm>
        </p:grpSpPr>
        <p:sp>
          <p:nvSpPr>
            <p:cNvPr name="Freeform 153" id="153"/>
            <p:cNvSpPr/>
            <p:nvPr/>
          </p:nvSpPr>
          <p:spPr>
            <a:xfrm flipH="false" flipV="false" rot="0">
              <a:off x="0" y="0"/>
              <a:ext cx="3121152" cy="1511808"/>
            </a:xfrm>
            <a:custGeom>
              <a:avLst/>
              <a:gdLst/>
              <a:ahLst/>
              <a:cxnLst/>
              <a:rect r="r" b="b" t="t" l="l"/>
              <a:pathLst>
                <a:path h="1511808" w="3121152">
                  <a:moveTo>
                    <a:pt x="0" y="0"/>
                  </a:moveTo>
                  <a:lnTo>
                    <a:pt x="3121152" y="0"/>
                  </a:lnTo>
                  <a:lnTo>
                    <a:pt x="3121152" y="1511808"/>
                  </a:lnTo>
                  <a:lnTo>
                    <a:pt x="0" y="1511808"/>
                  </a:lnTo>
                  <a:close/>
                </a:path>
              </a:pathLst>
            </a:custGeom>
            <a:blipFill>
              <a:blip r:embed="rId3">
                <a:alphaModFix amt="0"/>
              </a:blip>
              <a:stretch>
                <a:fillRect l="-12147" t="0" r="-12147" b="0"/>
              </a:stretch>
            </a:blipFill>
          </p:spPr>
        </p:sp>
        <p:sp>
          <p:nvSpPr>
            <p:cNvPr name="TextBox 154" id="154"/>
            <p:cNvSpPr txBox="true"/>
            <p:nvPr/>
          </p:nvSpPr>
          <p:spPr>
            <a:xfrm>
              <a:off x="0" y="-38100"/>
              <a:ext cx="3121152" cy="154990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Expert</a:t>
              </a:r>
            </a:p>
            <a:p>
              <a:pPr algn="ctr">
                <a:lnSpc>
                  <a:spcPts val="2039"/>
                </a:lnSpc>
              </a:pPr>
              <a:r>
                <a:rPr lang="en-US" sz="1700" b="true">
                  <a:solidFill>
                    <a:srgbClr val="FFFFFF"/>
                  </a:solidFill>
                  <a:latin typeface="Calibri (MS) Bold"/>
                  <a:ea typeface="Calibri (MS) Bold"/>
                  <a:cs typeface="Calibri (MS) Bold"/>
                  <a:sym typeface="Calibri (MS) Bold"/>
                </a:rPr>
                <a:t>Advisor</a:t>
              </a:r>
            </a:p>
          </p:txBody>
        </p:sp>
      </p:grpSp>
      <p:grpSp>
        <p:nvGrpSpPr>
          <p:cNvPr name="Group 155" id="155"/>
          <p:cNvGrpSpPr/>
          <p:nvPr/>
        </p:nvGrpSpPr>
        <p:grpSpPr>
          <a:xfrm rot="0">
            <a:off x="7146284" y="6438395"/>
            <a:ext cx="25403" cy="1086107"/>
            <a:chOff x="0" y="0"/>
            <a:chExt cx="33871" cy="1448143"/>
          </a:xfrm>
        </p:grpSpPr>
        <p:sp>
          <p:nvSpPr>
            <p:cNvPr name="Freeform 156" id="156"/>
            <p:cNvSpPr/>
            <p:nvPr/>
          </p:nvSpPr>
          <p:spPr>
            <a:xfrm flipH="false" flipV="false" rot="0">
              <a:off x="0" y="16891"/>
              <a:ext cx="33909" cy="1414272"/>
            </a:xfrm>
            <a:custGeom>
              <a:avLst/>
              <a:gdLst/>
              <a:ahLst/>
              <a:cxnLst/>
              <a:rect r="r" b="b" t="t" l="l"/>
              <a:pathLst>
                <a:path h="1414272" w="33909">
                  <a:moveTo>
                    <a:pt x="33909" y="0"/>
                  </a:moveTo>
                  <a:lnTo>
                    <a:pt x="33909" y="1414272"/>
                  </a:lnTo>
                  <a:lnTo>
                    <a:pt x="0" y="1414272"/>
                  </a:lnTo>
                  <a:lnTo>
                    <a:pt x="0" y="0"/>
                  </a:lnTo>
                  <a:close/>
                </a:path>
              </a:pathLst>
            </a:custGeom>
            <a:solidFill>
              <a:srgbClr val="0A7EA4"/>
            </a:solidFill>
          </p:spPr>
        </p:sp>
      </p:grpSp>
      <p:grpSp>
        <p:nvGrpSpPr>
          <p:cNvPr name="Group 157" id="157"/>
          <p:cNvGrpSpPr/>
          <p:nvPr/>
        </p:nvGrpSpPr>
        <p:grpSpPr>
          <a:xfrm rot="0">
            <a:off x="5975852" y="7499099"/>
            <a:ext cx="2366267" cy="1159259"/>
            <a:chOff x="0" y="0"/>
            <a:chExt cx="3155023" cy="1545679"/>
          </a:xfrm>
        </p:grpSpPr>
        <p:sp>
          <p:nvSpPr>
            <p:cNvPr name="Freeform 158" id="158"/>
            <p:cNvSpPr/>
            <p:nvPr/>
          </p:nvSpPr>
          <p:spPr>
            <a:xfrm flipH="false" flipV="false" rot="0">
              <a:off x="16891" y="16891"/>
              <a:ext cx="3121152" cy="1511808"/>
            </a:xfrm>
            <a:custGeom>
              <a:avLst/>
              <a:gdLst/>
              <a:ahLst/>
              <a:cxnLst/>
              <a:rect r="r" b="b" t="t" l="l"/>
              <a:pathLst>
                <a:path h="1511808" w="3121152">
                  <a:moveTo>
                    <a:pt x="0" y="0"/>
                  </a:moveTo>
                  <a:lnTo>
                    <a:pt x="3121152" y="0"/>
                  </a:lnTo>
                  <a:lnTo>
                    <a:pt x="3121152" y="1511808"/>
                  </a:lnTo>
                  <a:lnTo>
                    <a:pt x="0" y="1511808"/>
                  </a:lnTo>
                  <a:close/>
                </a:path>
              </a:pathLst>
            </a:custGeom>
            <a:solidFill>
              <a:srgbClr val="0A7EA4"/>
            </a:solidFill>
          </p:spPr>
        </p:sp>
        <p:sp>
          <p:nvSpPr>
            <p:cNvPr name="Freeform 159" id="159"/>
            <p:cNvSpPr/>
            <p:nvPr/>
          </p:nvSpPr>
          <p:spPr>
            <a:xfrm flipH="false" flipV="false" rot="0">
              <a:off x="0" y="0"/>
              <a:ext cx="3154934" cy="1545590"/>
            </a:xfrm>
            <a:custGeom>
              <a:avLst/>
              <a:gdLst/>
              <a:ahLst/>
              <a:cxnLst/>
              <a:rect r="r" b="b" t="t" l="l"/>
              <a:pathLst>
                <a:path h="1545590" w="3154934">
                  <a:moveTo>
                    <a:pt x="16891" y="0"/>
                  </a:moveTo>
                  <a:lnTo>
                    <a:pt x="3138043" y="0"/>
                  </a:lnTo>
                  <a:cubicBezTo>
                    <a:pt x="3147441" y="0"/>
                    <a:pt x="3154934" y="7620"/>
                    <a:pt x="3154934" y="16891"/>
                  </a:cubicBezTo>
                  <a:lnTo>
                    <a:pt x="3154934" y="1528699"/>
                  </a:lnTo>
                  <a:cubicBezTo>
                    <a:pt x="3154934" y="1538097"/>
                    <a:pt x="3147314" y="1545590"/>
                    <a:pt x="3138043"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138043" y="1511808"/>
                  </a:lnTo>
                  <a:lnTo>
                    <a:pt x="3138043" y="1528699"/>
                  </a:lnTo>
                  <a:lnTo>
                    <a:pt x="3121152" y="1528699"/>
                  </a:lnTo>
                  <a:lnTo>
                    <a:pt x="3121152" y="16891"/>
                  </a:lnTo>
                  <a:lnTo>
                    <a:pt x="3138043" y="16891"/>
                  </a:lnTo>
                  <a:lnTo>
                    <a:pt x="3138043" y="33909"/>
                  </a:lnTo>
                  <a:lnTo>
                    <a:pt x="16891" y="33909"/>
                  </a:lnTo>
                  <a:close/>
                </a:path>
              </a:pathLst>
            </a:custGeom>
            <a:solidFill>
              <a:srgbClr val="0A7EA4"/>
            </a:solidFill>
          </p:spPr>
        </p:sp>
      </p:grpSp>
      <p:grpSp>
        <p:nvGrpSpPr>
          <p:cNvPr name="Group 160" id="160"/>
          <p:cNvGrpSpPr/>
          <p:nvPr/>
        </p:nvGrpSpPr>
        <p:grpSpPr>
          <a:xfrm rot="0">
            <a:off x="5988548" y="7511796"/>
            <a:ext cx="2340864" cy="1133856"/>
            <a:chOff x="0" y="0"/>
            <a:chExt cx="3121152" cy="1511808"/>
          </a:xfrm>
        </p:grpSpPr>
        <p:sp>
          <p:nvSpPr>
            <p:cNvPr name="Freeform 161" id="161"/>
            <p:cNvSpPr/>
            <p:nvPr/>
          </p:nvSpPr>
          <p:spPr>
            <a:xfrm flipH="false" flipV="false" rot="0">
              <a:off x="0" y="0"/>
              <a:ext cx="3121152" cy="1511808"/>
            </a:xfrm>
            <a:custGeom>
              <a:avLst/>
              <a:gdLst/>
              <a:ahLst/>
              <a:cxnLst/>
              <a:rect r="r" b="b" t="t" l="l"/>
              <a:pathLst>
                <a:path h="1511808" w="3121152">
                  <a:moveTo>
                    <a:pt x="0" y="0"/>
                  </a:moveTo>
                  <a:lnTo>
                    <a:pt x="3121152" y="0"/>
                  </a:lnTo>
                  <a:lnTo>
                    <a:pt x="3121152" y="1511808"/>
                  </a:lnTo>
                  <a:lnTo>
                    <a:pt x="0" y="1511808"/>
                  </a:lnTo>
                  <a:close/>
                </a:path>
              </a:pathLst>
            </a:custGeom>
            <a:blipFill>
              <a:blip r:embed="rId3">
                <a:alphaModFix amt="0"/>
              </a:blip>
              <a:stretch>
                <a:fillRect l="-12147" t="0" r="-12147" b="0"/>
              </a:stretch>
            </a:blipFill>
          </p:spPr>
        </p:sp>
        <p:sp>
          <p:nvSpPr>
            <p:cNvPr name="TextBox 162" id="162"/>
            <p:cNvSpPr txBox="true"/>
            <p:nvPr/>
          </p:nvSpPr>
          <p:spPr>
            <a:xfrm>
              <a:off x="0" y="-38100"/>
              <a:ext cx="3121152" cy="154990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Design</a:t>
              </a:r>
            </a:p>
            <a:p>
              <a:pPr algn="ctr">
                <a:lnSpc>
                  <a:spcPts val="2039"/>
                </a:lnSpc>
              </a:pPr>
              <a:r>
                <a:rPr lang="en-US" sz="1700" b="true">
                  <a:solidFill>
                    <a:srgbClr val="FFFFFF"/>
                  </a:solidFill>
                  <a:latin typeface="Calibri (MS) Bold"/>
                  <a:ea typeface="Calibri (MS) Bold"/>
                  <a:cs typeface="Calibri (MS) Bold"/>
                  <a:sym typeface="Calibri (MS) Bold"/>
                </a:rPr>
                <a:t>Calculation</a:t>
              </a:r>
            </a:p>
          </p:txBody>
        </p:sp>
      </p:grpSp>
      <p:grpSp>
        <p:nvGrpSpPr>
          <p:cNvPr name="Group 163" id="163"/>
          <p:cNvGrpSpPr/>
          <p:nvPr/>
        </p:nvGrpSpPr>
        <p:grpSpPr>
          <a:xfrm rot="0">
            <a:off x="9670028" y="6438395"/>
            <a:ext cx="25403" cy="1086107"/>
            <a:chOff x="0" y="0"/>
            <a:chExt cx="33871" cy="1448143"/>
          </a:xfrm>
        </p:grpSpPr>
        <p:sp>
          <p:nvSpPr>
            <p:cNvPr name="Freeform 164" id="164"/>
            <p:cNvSpPr/>
            <p:nvPr/>
          </p:nvSpPr>
          <p:spPr>
            <a:xfrm flipH="false" flipV="false" rot="0">
              <a:off x="0" y="16891"/>
              <a:ext cx="33909" cy="1414272"/>
            </a:xfrm>
            <a:custGeom>
              <a:avLst/>
              <a:gdLst/>
              <a:ahLst/>
              <a:cxnLst/>
              <a:rect r="r" b="b" t="t" l="l"/>
              <a:pathLst>
                <a:path h="1414272" w="33909">
                  <a:moveTo>
                    <a:pt x="33909" y="0"/>
                  </a:moveTo>
                  <a:lnTo>
                    <a:pt x="33909" y="1414272"/>
                  </a:lnTo>
                  <a:lnTo>
                    <a:pt x="0" y="1414272"/>
                  </a:lnTo>
                  <a:lnTo>
                    <a:pt x="0" y="0"/>
                  </a:lnTo>
                  <a:close/>
                </a:path>
              </a:pathLst>
            </a:custGeom>
            <a:solidFill>
              <a:srgbClr val="2E86AB"/>
            </a:solidFill>
          </p:spPr>
        </p:sp>
      </p:grpSp>
      <p:grpSp>
        <p:nvGrpSpPr>
          <p:cNvPr name="Group 165" id="165"/>
          <p:cNvGrpSpPr/>
          <p:nvPr/>
        </p:nvGrpSpPr>
        <p:grpSpPr>
          <a:xfrm rot="0">
            <a:off x="8499596" y="7499099"/>
            <a:ext cx="2366267" cy="1159259"/>
            <a:chOff x="0" y="0"/>
            <a:chExt cx="3155023" cy="1545679"/>
          </a:xfrm>
        </p:grpSpPr>
        <p:sp>
          <p:nvSpPr>
            <p:cNvPr name="Freeform 166" id="166"/>
            <p:cNvSpPr/>
            <p:nvPr/>
          </p:nvSpPr>
          <p:spPr>
            <a:xfrm flipH="false" flipV="false" rot="0">
              <a:off x="16891" y="16891"/>
              <a:ext cx="3121152" cy="1511808"/>
            </a:xfrm>
            <a:custGeom>
              <a:avLst/>
              <a:gdLst/>
              <a:ahLst/>
              <a:cxnLst/>
              <a:rect r="r" b="b" t="t" l="l"/>
              <a:pathLst>
                <a:path h="1511808" w="3121152">
                  <a:moveTo>
                    <a:pt x="0" y="0"/>
                  </a:moveTo>
                  <a:lnTo>
                    <a:pt x="3121152" y="0"/>
                  </a:lnTo>
                  <a:lnTo>
                    <a:pt x="3121152" y="1511808"/>
                  </a:lnTo>
                  <a:lnTo>
                    <a:pt x="0" y="1511808"/>
                  </a:lnTo>
                  <a:close/>
                </a:path>
              </a:pathLst>
            </a:custGeom>
            <a:solidFill>
              <a:srgbClr val="2E86AB"/>
            </a:solidFill>
          </p:spPr>
        </p:sp>
        <p:sp>
          <p:nvSpPr>
            <p:cNvPr name="Freeform 167" id="167"/>
            <p:cNvSpPr/>
            <p:nvPr/>
          </p:nvSpPr>
          <p:spPr>
            <a:xfrm flipH="false" flipV="false" rot="0">
              <a:off x="0" y="0"/>
              <a:ext cx="3154934" cy="1545590"/>
            </a:xfrm>
            <a:custGeom>
              <a:avLst/>
              <a:gdLst/>
              <a:ahLst/>
              <a:cxnLst/>
              <a:rect r="r" b="b" t="t" l="l"/>
              <a:pathLst>
                <a:path h="1545590" w="3154934">
                  <a:moveTo>
                    <a:pt x="16891" y="0"/>
                  </a:moveTo>
                  <a:lnTo>
                    <a:pt x="3138043" y="0"/>
                  </a:lnTo>
                  <a:cubicBezTo>
                    <a:pt x="3147441" y="0"/>
                    <a:pt x="3154934" y="7620"/>
                    <a:pt x="3154934" y="16891"/>
                  </a:cubicBezTo>
                  <a:lnTo>
                    <a:pt x="3154934" y="1528699"/>
                  </a:lnTo>
                  <a:cubicBezTo>
                    <a:pt x="3154934" y="1538097"/>
                    <a:pt x="3147314" y="1545590"/>
                    <a:pt x="3138043"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138043" y="1511808"/>
                  </a:lnTo>
                  <a:lnTo>
                    <a:pt x="3138043" y="1528699"/>
                  </a:lnTo>
                  <a:lnTo>
                    <a:pt x="3121152" y="1528699"/>
                  </a:lnTo>
                  <a:lnTo>
                    <a:pt x="3121152" y="16891"/>
                  </a:lnTo>
                  <a:lnTo>
                    <a:pt x="3138043" y="16891"/>
                  </a:lnTo>
                  <a:lnTo>
                    <a:pt x="3138043" y="33909"/>
                  </a:lnTo>
                  <a:lnTo>
                    <a:pt x="16891" y="33909"/>
                  </a:lnTo>
                  <a:close/>
                </a:path>
              </a:pathLst>
            </a:custGeom>
            <a:solidFill>
              <a:srgbClr val="2E86AB"/>
            </a:solidFill>
          </p:spPr>
        </p:sp>
      </p:grpSp>
      <p:grpSp>
        <p:nvGrpSpPr>
          <p:cNvPr name="Group 168" id="168"/>
          <p:cNvGrpSpPr/>
          <p:nvPr/>
        </p:nvGrpSpPr>
        <p:grpSpPr>
          <a:xfrm rot="0">
            <a:off x="8512292" y="7511796"/>
            <a:ext cx="2340864" cy="1133856"/>
            <a:chOff x="0" y="0"/>
            <a:chExt cx="3121152" cy="1511808"/>
          </a:xfrm>
        </p:grpSpPr>
        <p:sp>
          <p:nvSpPr>
            <p:cNvPr name="Freeform 169" id="169"/>
            <p:cNvSpPr/>
            <p:nvPr/>
          </p:nvSpPr>
          <p:spPr>
            <a:xfrm flipH="false" flipV="false" rot="0">
              <a:off x="0" y="0"/>
              <a:ext cx="3121152" cy="1511808"/>
            </a:xfrm>
            <a:custGeom>
              <a:avLst/>
              <a:gdLst/>
              <a:ahLst/>
              <a:cxnLst/>
              <a:rect r="r" b="b" t="t" l="l"/>
              <a:pathLst>
                <a:path h="1511808" w="3121152">
                  <a:moveTo>
                    <a:pt x="0" y="0"/>
                  </a:moveTo>
                  <a:lnTo>
                    <a:pt x="3121152" y="0"/>
                  </a:lnTo>
                  <a:lnTo>
                    <a:pt x="3121152" y="1511808"/>
                  </a:lnTo>
                  <a:lnTo>
                    <a:pt x="0" y="1511808"/>
                  </a:lnTo>
                  <a:close/>
                </a:path>
              </a:pathLst>
            </a:custGeom>
            <a:blipFill>
              <a:blip r:embed="rId3">
                <a:alphaModFix amt="0"/>
              </a:blip>
              <a:stretch>
                <a:fillRect l="-12147" t="0" r="-12147" b="0"/>
              </a:stretch>
            </a:blipFill>
          </p:spPr>
        </p:sp>
        <p:sp>
          <p:nvSpPr>
            <p:cNvPr name="TextBox 170" id="170"/>
            <p:cNvSpPr txBox="true"/>
            <p:nvPr/>
          </p:nvSpPr>
          <p:spPr>
            <a:xfrm>
              <a:off x="0" y="-38100"/>
              <a:ext cx="3121152" cy="154990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V&amp;V</a:t>
              </a:r>
            </a:p>
          </p:txBody>
        </p:sp>
      </p:grpSp>
      <p:grpSp>
        <p:nvGrpSpPr>
          <p:cNvPr name="Group 171" id="171"/>
          <p:cNvGrpSpPr/>
          <p:nvPr/>
        </p:nvGrpSpPr>
        <p:grpSpPr>
          <a:xfrm rot="0">
            <a:off x="12193772" y="6438395"/>
            <a:ext cx="25403" cy="1086107"/>
            <a:chOff x="0" y="0"/>
            <a:chExt cx="33871" cy="1448143"/>
          </a:xfrm>
        </p:grpSpPr>
        <p:sp>
          <p:nvSpPr>
            <p:cNvPr name="Freeform 172" id="172"/>
            <p:cNvSpPr/>
            <p:nvPr/>
          </p:nvSpPr>
          <p:spPr>
            <a:xfrm flipH="false" flipV="false" rot="0">
              <a:off x="0" y="16891"/>
              <a:ext cx="33909" cy="1414272"/>
            </a:xfrm>
            <a:custGeom>
              <a:avLst/>
              <a:gdLst/>
              <a:ahLst/>
              <a:cxnLst/>
              <a:rect r="r" b="b" t="t" l="l"/>
              <a:pathLst>
                <a:path h="1414272" w="33909">
                  <a:moveTo>
                    <a:pt x="33909" y="0"/>
                  </a:moveTo>
                  <a:lnTo>
                    <a:pt x="33909" y="1414272"/>
                  </a:lnTo>
                  <a:lnTo>
                    <a:pt x="0" y="1414272"/>
                  </a:lnTo>
                  <a:lnTo>
                    <a:pt x="0" y="0"/>
                  </a:lnTo>
                  <a:close/>
                </a:path>
              </a:pathLst>
            </a:custGeom>
            <a:solidFill>
              <a:srgbClr val="6C63AC"/>
            </a:solidFill>
          </p:spPr>
        </p:sp>
      </p:grpSp>
      <p:grpSp>
        <p:nvGrpSpPr>
          <p:cNvPr name="Group 173" id="173"/>
          <p:cNvGrpSpPr/>
          <p:nvPr/>
        </p:nvGrpSpPr>
        <p:grpSpPr>
          <a:xfrm rot="0">
            <a:off x="11023340" y="7499099"/>
            <a:ext cx="2366267" cy="1159259"/>
            <a:chOff x="0" y="0"/>
            <a:chExt cx="3155023" cy="1545679"/>
          </a:xfrm>
        </p:grpSpPr>
        <p:sp>
          <p:nvSpPr>
            <p:cNvPr name="Freeform 174" id="174"/>
            <p:cNvSpPr/>
            <p:nvPr/>
          </p:nvSpPr>
          <p:spPr>
            <a:xfrm flipH="false" flipV="false" rot="0">
              <a:off x="16891" y="16891"/>
              <a:ext cx="3121152" cy="1511808"/>
            </a:xfrm>
            <a:custGeom>
              <a:avLst/>
              <a:gdLst/>
              <a:ahLst/>
              <a:cxnLst/>
              <a:rect r="r" b="b" t="t" l="l"/>
              <a:pathLst>
                <a:path h="1511808" w="3121152">
                  <a:moveTo>
                    <a:pt x="0" y="0"/>
                  </a:moveTo>
                  <a:lnTo>
                    <a:pt x="3121152" y="0"/>
                  </a:lnTo>
                  <a:lnTo>
                    <a:pt x="3121152" y="1511808"/>
                  </a:lnTo>
                  <a:lnTo>
                    <a:pt x="0" y="1511808"/>
                  </a:lnTo>
                  <a:close/>
                </a:path>
              </a:pathLst>
            </a:custGeom>
            <a:solidFill>
              <a:srgbClr val="6C63AC"/>
            </a:solidFill>
          </p:spPr>
        </p:sp>
        <p:sp>
          <p:nvSpPr>
            <p:cNvPr name="Freeform 175" id="175"/>
            <p:cNvSpPr/>
            <p:nvPr/>
          </p:nvSpPr>
          <p:spPr>
            <a:xfrm flipH="false" flipV="false" rot="0">
              <a:off x="0" y="0"/>
              <a:ext cx="3154934" cy="1545590"/>
            </a:xfrm>
            <a:custGeom>
              <a:avLst/>
              <a:gdLst/>
              <a:ahLst/>
              <a:cxnLst/>
              <a:rect r="r" b="b" t="t" l="l"/>
              <a:pathLst>
                <a:path h="1545590" w="3154934">
                  <a:moveTo>
                    <a:pt x="16891" y="0"/>
                  </a:moveTo>
                  <a:lnTo>
                    <a:pt x="3138043" y="0"/>
                  </a:lnTo>
                  <a:cubicBezTo>
                    <a:pt x="3147441" y="0"/>
                    <a:pt x="3154934" y="7620"/>
                    <a:pt x="3154934" y="16891"/>
                  </a:cubicBezTo>
                  <a:lnTo>
                    <a:pt x="3154934" y="1528699"/>
                  </a:lnTo>
                  <a:cubicBezTo>
                    <a:pt x="3154934" y="1538097"/>
                    <a:pt x="3147314" y="1545590"/>
                    <a:pt x="3138043"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138043" y="1511808"/>
                  </a:lnTo>
                  <a:lnTo>
                    <a:pt x="3138043" y="1528699"/>
                  </a:lnTo>
                  <a:lnTo>
                    <a:pt x="3121152" y="1528699"/>
                  </a:lnTo>
                  <a:lnTo>
                    <a:pt x="3121152" y="16891"/>
                  </a:lnTo>
                  <a:lnTo>
                    <a:pt x="3138043" y="16891"/>
                  </a:lnTo>
                  <a:lnTo>
                    <a:pt x="3138043" y="33909"/>
                  </a:lnTo>
                  <a:lnTo>
                    <a:pt x="16891" y="33909"/>
                  </a:lnTo>
                  <a:close/>
                </a:path>
              </a:pathLst>
            </a:custGeom>
            <a:solidFill>
              <a:srgbClr val="6C63AC"/>
            </a:solidFill>
          </p:spPr>
        </p:sp>
      </p:grpSp>
      <p:grpSp>
        <p:nvGrpSpPr>
          <p:cNvPr name="Group 176" id="176"/>
          <p:cNvGrpSpPr/>
          <p:nvPr/>
        </p:nvGrpSpPr>
        <p:grpSpPr>
          <a:xfrm rot="0">
            <a:off x="11036036" y="7511796"/>
            <a:ext cx="2340864" cy="1133856"/>
            <a:chOff x="0" y="0"/>
            <a:chExt cx="3121152" cy="1511808"/>
          </a:xfrm>
        </p:grpSpPr>
        <p:sp>
          <p:nvSpPr>
            <p:cNvPr name="Freeform 177" id="177"/>
            <p:cNvSpPr/>
            <p:nvPr/>
          </p:nvSpPr>
          <p:spPr>
            <a:xfrm flipH="false" flipV="false" rot="0">
              <a:off x="0" y="0"/>
              <a:ext cx="3121152" cy="1511808"/>
            </a:xfrm>
            <a:custGeom>
              <a:avLst/>
              <a:gdLst/>
              <a:ahLst/>
              <a:cxnLst/>
              <a:rect r="r" b="b" t="t" l="l"/>
              <a:pathLst>
                <a:path h="1511808" w="3121152">
                  <a:moveTo>
                    <a:pt x="0" y="0"/>
                  </a:moveTo>
                  <a:lnTo>
                    <a:pt x="3121152" y="0"/>
                  </a:lnTo>
                  <a:lnTo>
                    <a:pt x="3121152" y="1511808"/>
                  </a:lnTo>
                  <a:lnTo>
                    <a:pt x="0" y="1511808"/>
                  </a:lnTo>
                  <a:close/>
                </a:path>
              </a:pathLst>
            </a:custGeom>
            <a:blipFill>
              <a:blip r:embed="rId3">
                <a:alphaModFix amt="0"/>
              </a:blip>
              <a:stretch>
                <a:fillRect l="-12147" t="0" r="-12147" b="0"/>
              </a:stretch>
            </a:blipFill>
          </p:spPr>
        </p:sp>
        <p:sp>
          <p:nvSpPr>
            <p:cNvPr name="TextBox 178" id="178"/>
            <p:cNvSpPr txBox="true"/>
            <p:nvPr/>
          </p:nvSpPr>
          <p:spPr>
            <a:xfrm>
              <a:off x="0" y="-38100"/>
              <a:ext cx="3121152" cy="154990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DFMEA</a:t>
              </a:r>
            </a:p>
          </p:txBody>
        </p:sp>
      </p:grpSp>
      <p:grpSp>
        <p:nvGrpSpPr>
          <p:cNvPr name="Group 179" id="179"/>
          <p:cNvGrpSpPr/>
          <p:nvPr/>
        </p:nvGrpSpPr>
        <p:grpSpPr>
          <a:xfrm rot="0">
            <a:off x="14717516" y="6438395"/>
            <a:ext cx="25403" cy="1086107"/>
            <a:chOff x="0" y="0"/>
            <a:chExt cx="33871" cy="1448143"/>
          </a:xfrm>
        </p:grpSpPr>
        <p:sp>
          <p:nvSpPr>
            <p:cNvPr name="Freeform 180" id="180"/>
            <p:cNvSpPr/>
            <p:nvPr/>
          </p:nvSpPr>
          <p:spPr>
            <a:xfrm flipH="false" flipV="false" rot="0">
              <a:off x="0" y="17018"/>
              <a:ext cx="33909" cy="1286891"/>
            </a:xfrm>
            <a:custGeom>
              <a:avLst/>
              <a:gdLst/>
              <a:ahLst/>
              <a:cxnLst/>
              <a:rect r="r" b="b" t="t" l="l"/>
              <a:pathLst>
                <a:path h="1286891" w="33909">
                  <a:moveTo>
                    <a:pt x="33909" y="236982"/>
                  </a:moveTo>
                  <a:lnTo>
                    <a:pt x="33909" y="338582"/>
                  </a:lnTo>
                  <a:lnTo>
                    <a:pt x="0" y="338582"/>
                  </a:lnTo>
                  <a:lnTo>
                    <a:pt x="0" y="236982"/>
                  </a:lnTo>
                  <a:close/>
                  <a:moveTo>
                    <a:pt x="0" y="474091"/>
                  </a:moveTo>
                  <a:lnTo>
                    <a:pt x="0" y="575691"/>
                  </a:lnTo>
                  <a:lnTo>
                    <a:pt x="0" y="474091"/>
                  </a:lnTo>
                  <a:close/>
                  <a:moveTo>
                    <a:pt x="0" y="711200"/>
                  </a:moveTo>
                  <a:lnTo>
                    <a:pt x="0" y="812800"/>
                  </a:lnTo>
                  <a:lnTo>
                    <a:pt x="0" y="711200"/>
                  </a:lnTo>
                  <a:close/>
                  <a:moveTo>
                    <a:pt x="33909" y="948182"/>
                  </a:moveTo>
                  <a:lnTo>
                    <a:pt x="33909" y="1049782"/>
                  </a:lnTo>
                  <a:lnTo>
                    <a:pt x="0" y="1049782"/>
                  </a:lnTo>
                  <a:lnTo>
                    <a:pt x="0" y="948182"/>
                  </a:lnTo>
                  <a:close/>
                  <a:moveTo>
                    <a:pt x="0" y="1185291"/>
                  </a:moveTo>
                  <a:lnTo>
                    <a:pt x="0" y="1286891"/>
                  </a:lnTo>
                  <a:lnTo>
                    <a:pt x="0" y="1185291"/>
                  </a:lnTo>
                  <a:close/>
                  <a:moveTo>
                    <a:pt x="0" y="0"/>
                  </a:moveTo>
                  <a:lnTo>
                    <a:pt x="0" y="101600"/>
                  </a:lnTo>
                  <a:lnTo>
                    <a:pt x="0" y="0"/>
                  </a:lnTo>
                  <a:close/>
                </a:path>
              </a:pathLst>
            </a:custGeom>
            <a:solidFill>
              <a:srgbClr val="6B7A8D"/>
            </a:solidFill>
          </p:spPr>
        </p:sp>
      </p:grpSp>
      <p:grpSp>
        <p:nvGrpSpPr>
          <p:cNvPr name="Group 181" id="181"/>
          <p:cNvGrpSpPr/>
          <p:nvPr/>
        </p:nvGrpSpPr>
        <p:grpSpPr>
          <a:xfrm rot="0">
            <a:off x="13547084" y="7499099"/>
            <a:ext cx="2366267" cy="1159259"/>
            <a:chOff x="0" y="0"/>
            <a:chExt cx="3155023" cy="1545679"/>
          </a:xfrm>
        </p:grpSpPr>
        <p:sp>
          <p:nvSpPr>
            <p:cNvPr name="Freeform 182" id="182"/>
            <p:cNvSpPr/>
            <p:nvPr/>
          </p:nvSpPr>
          <p:spPr>
            <a:xfrm flipH="false" flipV="false" rot="0">
              <a:off x="16891" y="16891"/>
              <a:ext cx="3121152" cy="1511808"/>
            </a:xfrm>
            <a:custGeom>
              <a:avLst/>
              <a:gdLst/>
              <a:ahLst/>
              <a:cxnLst/>
              <a:rect r="r" b="b" t="t" l="l"/>
              <a:pathLst>
                <a:path h="1511808" w="3121152">
                  <a:moveTo>
                    <a:pt x="0" y="0"/>
                  </a:moveTo>
                  <a:lnTo>
                    <a:pt x="3121152" y="0"/>
                  </a:lnTo>
                  <a:lnTo>
                    <a:pt x="3121152" y="1511808"/>
                  </a:lnTo>
                  <a:lnTo>
                    <a:pt x="0" y="1511808"/>
                  </a:lnTo>
                  <a:close/>
                </a:path>
              </a:pathLst>
            </a:custGeom>
            <a:solidFill>
              <a:srgbClr val="F4F8FC"/>
            </a:solidFill>
          </p:spPr>
        </p:sp>
        <p:sp>
          <p:nvSpPr>
            <p:cNvPr name="Freeform 183" id="183"/>
            <p:cNvSpPr/>
            <p:nvPr/>
          </p:nvSpPr>
          <p:spPr>
            <a:xfrm flipH="false" flipV="false" rot="0">
              <a:off x="-120650" y="0"/>
              <a:ext cx="3275711" cy="1579880"/>
            </a:xfrm>
            <a:custGeom>
              <a:avLst/>
              <a:gdLst/>
              <a:ahLst/>
              <a:cxnLst/>
              <a:rect r="r" b="b" t="t" l="l"/>
              <a:pathLst>
                <a:path h="1579880" w="3275711">
                  <a:moveTo>
                    <a:pt x="374650" y="0"/>
                  </a:moveTo>
                  <a:lnTo>
                    <a:pt x="476250" y="0"/>
                  </a:lnTo>
                  <a:lnTo>
                    <a:pt x="476250" y="33909"/>
                  </a:lnTo>
                  <a:lnTo>
                    <a:pt x="374650" y="33909"/>
                  </a:lnTo>
                  <a:close/>
                  <a:moveTo>
                    <a:pt x="611759" y="0"/>
                  </a:moveTo>
                  <a:lnTo>
                    <a:pt x="713359" y="0"/>
                  </a:lnTo>
                  <a:lnTo>
                    <a:pt x="713359" y="33909"/>
                  </a:lnTo>
                  <a:lnTo>
                    <a:pt x="611759" y="33909"/>
                  </a:lnTo>
                  <a:close/>
                  <a:moveTo>
                    <a:pt x="848741" y="0"/>
                  </a:moveTo>
                  <a:lnTo>
                    <a:pt x="950341" y="0"/>
                  </a:lnTo>
                  <a:lnTo>
                    <a:pt x="950341" y="33909"/>
                  </a:lnTo>
                  <a:lnTo>
                    <a:pt x="848741" y="33909"/>
                  </a:lnTo>
                  <a:close/>
                  <a:moveTo>
                    <a:pt x="1085850" y="0"/>
                  </a:moveTo>
                  <a:lnTo>
                    <a:pt x="1187450" y="0"/>
                  </a:lnTo>
                  <a:lnTo>
                    <a:pt x="1187450" y="33909"/>
                  </a:lnTo>
                  <a:lnTo>
                    <a:pt x="1085850" y="33909"/>
                  </a:lnTo>
                  <a:close/>
                  <a:moveTo>
                    <a:pt x="1322959" y="0"/>
                  </a:moveTo>
                  <a:lnTo>
                    <a:pt x="1424559" y="0"/>
                  </a:lnTo>
                  <a:lnTo>
                    <a:pt x="1424559" y="33909"/>
                  </a:lnTo>
                  <a:lnTo>
                    <a:pt x="1322959" y="33909"/>
                  </a:lnTo>
                  <a:close/>
                  <a:moveTo>
                    <a:pt x="1560068" y="33909"/>
                  </a:moveTo>
                  <a:lnTo>
                    <a:pt x="1661668" y="33909"/>
                  </a:lnTo>
                  <a:lnTo>
                    <a:pt x="1560068" y="33909"/>
                  </a:lnTo>
                  <a:close/>
                  <a:moveTo>
                    <a:pt x="1797050" y="0"/>
                  </a:moveTo>
                  <a:lnTo>
                    <a:pt x="1898650" y="0"/>
                  </a:lnTo>
                  <a:lnTo>
                    <a:pt x="1898650" y="33909"/>
                  </a:lnTo>
                  <a:lnTo>
                    <a:pt x="1797050" y="33909"/>
                  </a:lnTo>
                  <a:close/>
                  <a:moveTo>
                    <a:pt x="2034159" y="33909"/>
                  </a:moveTo>
                  <a:lnTo>
                    <a:pt x="2135759" y="33909"/>
                  </a:lnTo>
                  <a:lnTo>
                    <a:pt x="2034159" y="33909"/>
                  </a:lnTo>
                  <a:close/>
                  <a:moveTo>
                    <a:pt x="2271268" y="33909"/>
                  </a:moveTo>
                  <a:lnTo>
                    <a:pt x="2372868" y="33909"/>
                  </a:lnTo>
                  <a:lnTo>
                    <a:pt x="2271268" y="33909"/>
                  </a:lnTo>
                  <a:close/>
                  <a:moveTo>
                    <a:pt x="2508250" y="0"/>
                  </a:moveTo>
                  <a:lnTo>
                    <a:pt x="2609850" y="0"/>
                  </a:lnTo>
                  <a:lnTo>
                    <a:pt x="2609850" y="33909"/>
                  </a:lnTo>
                  <a:lnTo>
                    <a:pt x="2508250" y="33909"/>
                  </a:lnTo>
                  <a:close/>
                  <a:moveTo>
                    <a:pt x="2745359" y="33909"/>
                  </a:moveTo>
                  <a:lnTo>
                    <a:pt x="2846959" y="33909"/>
                  </a:lnTo>
                  <a:lnTo>
                    <a:pt x="2745359" y="33909"/>
                  </a:lnTo>
                  <a:close/>
                  <a:moveTo>
                    <a:pt x="2982468" y="33909"/>
                  </a:moveTo>
                  <a:lnTo>
                    <a:pt x="3084068" y="33909"/>
                  </a:lnTo>
                  <a:lnTo>
                    <a:pt x="2982468" y="33909"/>
                  </a:lnTo>
                  <a:close/>
                  <a:moveTo>
                    <a:pt x="3219450" y="0"/>
                  </a:moveTo>
                  <a:lnTo>
                    <a:pt x="3258693" y="0"/>
                  </a:lnTo>
                  <a:cubicBezTo>
                    <a:pt x="3268091" y="0"/>
                    <a:pt x="3275584" y="7620"/>
                    <a:pt x="3275584" y="16891"/>
                  </a:cubicBezTo>
                  <a:lnTo>
                    <a:pt x="3275584" y="79248"/>
                  </a:lnTo>
                  <a:lnTo>
                    <a:pt x="3241675" y="79248"/>
                  </a:lnTo>
                  <a:lnTo>
                    <a:pt x="3241675" y="16891"/>
                  </a:lnTo>
                  <a:lnTo>
                    <a:pt x="3258566" y="16891"/>
                  </a:lnTo>
                  <a:lnTo>
                    <a:pt x="3258566" y="33909"/>
                  </a:lnTo>
                  <a:lnTo>
                    <a:pt x="3219450" y="33909"/>
                  </a:lnTo>
                  <a:close/>
                  <a:moveTo>
                    <a:pt x="3275711" y="248666"/>
                  </a:moveTo>
                  <a:lnTo>
                    <a:pt x="3275711" y="350266"/>
                  </a:lnTo>
                  <a:lnTo>
                    <a:pt x="3241802" y="350266"/>
                  </a:lnTo>
                  <a:lnTo>
                    <a:pt x="3241802" y="248666"/>
                  </a:lnTo>
                  <a:close/>
                  <a:moveTo>
                    <a:pt x="3241802" y="485775"/>
                  </a:moveTo>
                  <a:lnTo>
                    <a:pt x="3241802" y="587375"/>
                  </a:lnTo>
                  <a:lnTo>
                    <a:pt x="3207893" y="587375"/>
                  </a:lnTo>
                  <a:lnTo>
                    <a:pt x="3207893" y="485775"/>
                  </a:lnTo>
                  <a:close/>
                  <a:moveTo>
                    <a:pt x="3207893" y="722884"/>
                  </a:moveTo>
                  <a:lnTo>
                    <a:pt x="3207893" y="824484"/>
                  </a:lnTo>
                  <a:lnTo>
                    <a:pt x="3173984" y="824484"/>
                  </a:lnTo>
                  <a:lnTo>
                    <a:pt x="3173984" y="722884"/>
                  </a:lnTo>
                  <a:close/>
                  <a:moveTo>
                    <a:pt x="3173984" y="959993"/>
                  </a:moveTo>
                  <a:lnTo>
                    <a:pt x="3173984" y="1061593"/>
                  </a:lnTo>
                  <a:lnTo>
                    <a:pt x="3140075" y="1061593"/>
                  </a:lnTo>
                  <a:lnTo>
                    <a:pt x="3140075" y="959993"/>
                  </a:lnTo>
                  <a:close/>
                  <a:moveTo>
                    <a:pt x="3140075" y="1197102"/>
                  </a:moveTo>
                  <a:lnTo>
                    <a:pt x="3140075" y="1298702"/>
                  </a:lnTo>
                  <a:lnTo>
                    <a:pt x="3106166" y="1298702"/>
                  </a:lnTo>
                  <a:lnTo>
                    <a:pt x="3106166" y="1197102"/>
                  </a:lnTo>
                  <a:close/>
                  <a:moveTo>
                    <a:pt x="3106166" y="1434211"/>
                  </a:moveTo>
                  <a:lnTo>
                    <a:pt x="3106166" y="1535811"/>
                  </a:lnTo>
                  <a:lnTo>
                    <a:pt x="3072257" y="1535811"/>
                  </a:lnTo>
                  <a:lnTo>
                    <a:pt x="3072257" y="1434211"/>
                  </a:lnTo>
                  <a:close/>
                  <a:moveTo>
                    <a:pt x="2946908" y="1579880"/>
                  </a:moveTo>
                  <a:lnTo>
                    <a:pt x="2845308" y="1579880"/>
                  </a:lnTo>
                  <a:lnTo>
                    <a:pt x="2845308" y="1545971"/>
                  </a:lnTo>
                  <a:lnTo>
                    <a:pt x="2946908" y="1545971"/>
                  </a:lnTo>
                  <a:close/>
                  <a:moveTo>
                    <a:pt x="2709799" y="1545971"/>
                  </a:moveTo>
                  <a:lnTo>
                    <a:pt x="2608199" y="1545971"/>
                  </a:lnTo>
                  <a:lnTo>
                    <a:pt x="2608199" y="1512062"/>
                  </a:lnTo>
                  <a:lnTo>
                    <a:pt x="2709799" y="1512062"/>
                  </a:lnTo>
                  <a:close/>
                  <a:moveTo>
                    <a:pt x="2472690" y="1512062"/>
                  </a:moveTo>
                  <a:lnTo>
                    <a:pt x="2371090" y="1512062"/>
                  </a:lnTo>
                  <a:lnTo>
                    <a:pt x="2371090" y="1478153"/>
                  </a:lnTo>
                  <a:lnTo>
                    <a:pt x="2472690" y="1478153"/>
                  </a:lnTo>
                  <a:close/>
                  <a:moveTo>
                    <a:pt x="2235581" y="1478153"/>
                  </a:moveTo>
                  <a:lnTo>
                    <a:pt x="2133981" y="1478153"/>
                  </a:lnTo>
                  <a:lnTo>
                    <a:pt x="2133981" y="1444244"/>
                  </a:lnTo>
                  <a:lnTo>
                    <a:pt x="2235581" y="1444244"/>
                  </a:lnTo>
                  <a:close/>
                  <a:moveTo>
                    <a:pt x="1998472" y="1444244"/>
                  </a:moveTo>
                  <a:lnTo>
                    <a:pt x="1896872" y="1444244"/>
                  </a:lnTo>
                  <a:lnTo>
                    <a:pt x="1896872" y="1410335"/>
                  </a:lnTo>
                  <a:lnTo>
                    <a:pt x="1998472" y="1410335"/>
                  </a:lnTo>
                  <a:close/>
                  <a:moveTo>
                    <a:pt x="1761363" y="1410335"/>
                  </a:moveTo>
                  <a:lnTo>
                    <a:pt x="1659763" y="1410335"/>
                  </a:lnTo>
                  <a:lnTo>
                    <a:pt x="1659763" y="1376426"/>
                  </a:lnTo>
                  <a:lnTo>
                    <a:pt x="1761363" y="1376426"/>
                  </a:lnTo>
                  <a:close/>
                  <a:moveTo>
                    <a:pt x="1524254" y="1376426"/>
                  </a:moveTo>
                  <a:lnTo>
                    <a:pt x="1422654" y="1376426"/>
                  </a:lnTo>
                  <a:lnTo>
                    <a:pt x="1422654" y="1342517"/>
                  </a:lnTo>
                  <a:lnTo>
                    <a:pt x="1524254" y="1342517"/>
                  </a:lnTo>
                  <a:close/>
                  <a:moveTo>
                    <a:pt x="1287145" y="1342517"/>
                  </a:moveTo>
                  <a:lnTo>
                    <a:pt x="1185545" y="1342517"/>
                  </a:lnTo>
                  <a:lnTo>
                    <a:pt x="1185545" y="1308608"/>
                  </a:lnTo>
                  <a:lnTo>
                    <a:pt x="1287145" y="1308608"/>
                  </a:lnTo>
                  <a:close/>
                  <a:moveTo>
                    <a:pt x="1050036" y="1308608"/>
                  </a:moveTo>
                  <a:lnTo>
                    <a:pt x="948436" y="1308608"/>
                  </a:lnTo>
                  <a:lnTo>
                    <a:pt x="948436" y="1274699"/>
                  </a:lnTo>
                  <a:lnTo>
                    <a:pt x="1050036" y="1274699"/>
                  </a:lnTo>
                  <a:close/>
                  <a:moveTo>
                    <a:pt x="812927" y="1274699"/>
                  </a:moveTo>
                  <a:lnTo>
                    <a:pt x="711327" y="1274699"/>
                  </a:lnTo>
                  <a:lnTo>
                    <a:pt x="711327" y="1240790"/>
                  </a:lnTo>
                  <a:lnTo>
                    <a:pt x="812927" y="1240790"/>
                  </a:lnTo>
                  <a:close/>
                  <a:moveTo>
                    <a:pt x="575818" y="1240790"/>
                  </a:moveTo>
                  <a:lnTo>
                    <a:pt x="474218" y="1240790"/>
                  </a:lnTo>
                  <a:lnTo>
                    <a:pt x="474218" y="1206881"/>
                  </a:lnTo>
                  <a:lnTo>
                    <a:pt x="575818" y="1206881"/>
                  </a:lnTo>
                  <a:close/>
                  <a:moveTo>
                    <a:pt x="338709" y="1206881"/>
                  </a:moveTo>
                  <a:lnTo>
                    <a:pt x="237109" y="1206881"/>
                  </a:lnTo>
                  <a:lnTo>
                    <a:pt x="237109" y="1172972"/>
                  </a:lnTo>
                  <a:lnTo>
                    <a:pt x="338709" y="1172972"/>
                  </a:lnTo>
                  <a:close/>
                  <a:moveTo>
                    <a:pt x="101600" y="1172972"/>
                  </a:moveTo>
                  <a:lnTo>
                    <a:pt x="0" y="1172972"/>
                  </a:lnTo>
                  <a:lnTo>
                    <a:pt x="0" y="1139063"/>
                  </a:lnTo>
                  <a:lnTo>
                    <a:pt x="101600" y="1139063"/>
                  </a:lnTo>
                  <a:close/>
                  <a:moveTo>
                    <a:pt x="120650" y="1459611"/>
                  </a:moveTo>
                  <a:lnTo>
                    <a:pt x="120650" y="1358011"/>
                  </a:lnTo>
                  <a:lnTo>
                    <a:pt x="154559" y="1358011"/>
                  </a:lnTo>
                  <a:lnTo>
                    <a:pt x="154559" y="1459611"/>
                  </a:lnTo>
                  <a:close/>
                  <a:moveTo>
                    <a:pt x="120650" y="1222629"/>
                  </a:moveTo>
                  <a:lnTo>
                    <a:pt x="120650" y="1121029"/>
                  </a:lnTo>
                  <a:lnTo>
                    <a:pt x="154559" y="1121029"/>
                  </a:lnTo>
                  <a:lnTo>
                    <a:pt x="154559" y="1222629"/>
                  </a:lnTo>
                  <a:close/>
                  <a:moveTo>
                    <a:pt x="120650" y="985520"/>
                  </a:moveTo>
                  <a:lnTo>
                    <a:pt x="120650" y="883920"/>
                  </a:lnTo>
                  <a:lnTo>
                    <a:pt x="154559" y="883920"/>
                  </a:lnTo>
                  <a:lnTo>
                    <a:pt x="154559" y="985520"/>
                  </a:lnTo>
                  <a:close/>
                  <a:moveTo>
                    <a:pt x="120650" y="748411"/>
                  </a:moveTo>
                  <a:lnTo>
                    <a:pt x="120650" y="646811"/>
                  </a:lnTo>
                  <a:lnTo>
                    <a:pt x="154559" y="646811"/>
                  </a:lnTo>
                  <a:lnTo>
                    <a:pt x="154559" y="748411"/>
                  </a:lnTo>
                  <a:close/>
                  <a:moveTo>
                    <a:pt x="120650" y="511429"/>
                  </a:moveTo>
                  <a:lnTo>
                    <a:pt x="120650" y="409829"/>
                  </a:lnTo>
                  <a:lnTo>
                    <a:pt x="154559" y="409829"/>
                  </a:lnTo>
                  <a:lnTo>
                    <a:pt x="154559" y="511429"/>
                  </a:lnTo>
                  <a:close/>
                  <a:moveTo>
                    <a:pt x="120650" y="274320"/>
                  </a:moveTo>
                  <a:lnTo>
                    <a:pt x="120650" y="172720"/>
                  </a:lnTo>
                  <a:lnTo>
                    <a:pt x="154559" y="172720"/>
                  </a:lnTo>
                  <a:lnTo>
                    <a:pt x="154559" y="274320"/>
                  </a:lnTo>
                  <a:close/>
                  <a:moveTo>
                    <a:pt x="120650" y="37211"/>
                  </a:moveTo>
                  <a:lnTo>
                    <a:pt x="120650" y="16891"/>
                  </a:lnTo>
                  <a:cubicBezTo>
                    <a:pt x="120650" y="7620"/>
                    <a:pt x="128270" y="0"/>
                    <a:pt x="137541" y="0"/>
                  </a:cubicBezTo>
                  <a:lnTo>
                    <a:pt x="239141" y="0"/>
                  </a:lnTo>
                  <a:lnTo>
                    <a:pt x="239141" y="33909"/>
                  </a:lnTo>
                  <a:lnTo>
                    <a:pt x="137541" y="33909"/>
                  </a:lnTo>
                  <a:lnTo>
                    <a:pt x="137541" y="16891"/>
                  </a:lnTo>
                  <a:lnTo>
                    <a:pt x="154559" y="16891"/>
                  </a:lnTo>
                  <a:lnTo>
                    <a:pt x="154559" y="37211"/>
                  </a:lnTo>
                  <a:close/>
                </a:path>
              </a:pathLst>
            </a:custGeom>
            <a:solidFill>
              <a:srgbClr val="6B7A8D"/>
            </a:solidFill>
          </p:spPr>
        </p:sp>
      </p:grpSp>
      <p:grpSp>
        <p:nvGrpSpPr>
          <p:cNvPr name="Group 184" id="184"/>
          <p:cNvGrpSpPr/>
          <p:nvPr/>
        </p:nvGrpSpPr>
        <p:grpSpPr>
          <a:xfrm rot="0">
            <a:off x="13559780" y="7511796"/>
            <a:ext cx="2340864" cy="1133856"/>
            <a:chOff x="0" y="0"/>
            <a:chExt cx="3121152" cy="1511808"/>
          </a:xfrm>
        </p:grpSpPr>
        <p:sp>
          <p:nvSpPr>
            <p:cNvPr name="Freeform 185" id="185"/>
            <p:cNvSpPr/>
            <p:nvPr/>
          </p:nvSpPr>
          <p:spPr>
            <a:xfrm flipH="false" flipV="false" rot="0">
              <a:off x="0" y="0"/>
              <a:ext cx="3121152" cy="1511808"/>
            </a:xfrm>
            <a:custGeom>
              <a:avLst/>
              <a:gdLst/>
              <a:ahLst/>
              <a:cxnLst/>
              <a:rect r="r" b="b" t="t" l="l"/>
              <a:pathLst>
                <a:path h="1511808" w="3121152">
                  <a:moveTo>
                    <a:pt x="0" y="0"/>
                  </a:moveTo>
                  <a:lnTo>
                    <a:pt x="3121152" y="0"/>
                  </a:lnTo>
                  <a:lnTo>
                    <a:pt x="3121152" y="1511808"/>
                  </a:lnTo>
                  <a:lnTo>
                    <a:pt x="0" y="1511808"/>
                  </a:lnTo>
                  <a:close/>
                </a:path>
              </a:pathLst>
            </a:custGeom>
            <a:blipFill>
              <a:blip r:embed="rId3">
                <a:alphaModFix amt="0"/>
              </a:blip>
              <a:stretch>
                <a:fillRect l="-12147" t="0" r="-12147" b="0"/>
              </a:stretch>
            </a:blipFill>
          </p:spPr>
        </p:sp>
        <p:sp>
          <p:nvSpPr>
            <p:cNvPr name="TextBox 186" id="186"/>
            <p:cNvSpPr txBox="true"/>
            <p:nvPr/>
          </p:nvSpPr>
          <p:spPr>
            <a:xfrm>
              <a:off x="0" y="-38100"/>
              <a:ext cx="3121152" cy="1549908"/>
            </a:xfrm>
            <a:prstGeom prst="rect">
              <a:avLst/>
            </a:prstGeom>
          </p:spPr>
          <p:txBody>
            <a:bodyPr anchor="ctr" rtlCol="false" tIns="0" lIns="0" bIns="0" rIns="0"/>
            <a:lstStyle/>
            <a:p>
              <a:pPr algn="ctr">
                <a:lnSpc>
                  <a:spcPts val="2039"/>
                </a:lnSpc>
              </a:pPr>
              <a:r>
                <a:rPr lang="en-US" sz="1700" i="true">
                  <a:solidFill>
                    <a:srgbClr val="6B7A8D"/>
                  </a:solidFill>
                  <a:latin typeface="Calibri (MS) Italics"/>
                  <a:ea typeface="Calibri (MS) Italics"/>
                  <a:cs typeface="Calibri (MS) Italics"/>
                  <a:sym typeface="Calibri (MS) Italics"/>
                </a:rPr>
                <a:t>+ More</a:t>
              </a:r>
            </a:p>
            <a:p>
              <a:pPr algn="ctr">
                <a:lnSpc>
                  <a:spcPts val="2039"/>
                </a:lnSpc>
              </a:pPr>
              <a:r>
                <a:rPr lang="en-US" sz="1700" i="true">
                  <a:solidFill>
                    <a:srgbClr val="6B7A8D"/>
                  </a:solidFill>
                  <a:latin typeface="Calibri (MS) Italics"/>
                  <a:ea typeface="Calibri (MS) Italics"/>
                  <a:cs typeface="Calibri (MS) Italics"/>
                  <a:sym typeface="Calibri (MS) Italics"/>
                </a:rPr>
                <a:t>Agents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971526"/>
            <a:chOff x="0" y="0"/>
            <a:chExt cx="21945600" cy="2628702"/>
          </a:xfrm>
        </p:grpSpPr>
        <p:sp>
          <p:nvSpPr>
            <p:cNvPr name="Freeform 3" id="3"/>
            <p:cNvSpPr/>
            <p:nvPr/>
          </p:nvSpPr>
          <p:spPr>
            <a:xfrm flipH="false" flipV="false" rot="0">
              <a:off x="0" y="0"/>
              <a:ext cx="21945600" cy="2628702"/>
            </a:xfrm>
            <a:custGeom>
              <a:avLst/>
              <a:gdLst/>
              <a:ahLst/>
              <a:cxnLst/>
              <a:rect r="r" b="b" t="t" l="l"/>
              <a:pathLst>
                <a:path h="2628702" w="21945600">
                  <a:moveTo>
                    <a:pt x="0" y="0"/>
                  </a:moveTo>
                  <a:lnTo>
                    <a:pt x="21945600" y="0"/>
                  </a:lnTo>
                  <a:lnTo>
                    <a:pt x="21945600" y="2628702"/>
                  </a:lnTo>
                  <a:lnTo>
                    <a:pt x="0" y="2628702"/>
                  </a:lnTo>
                  <a:close/>
                </a:path>
              </a:pathLst>
            </a:custGeom>
            <a:blipFill>
              <a:blip r:embed="rId3">
                <a:alphaModFix amt="0"/>
              </a:blip>
              <a:stretch>
                <a:fillRect l="0" t="-137160" r="0" b="-88179"/>
              </a:stretch>
            </a:blipFill>
          </p:spPr>
        </p:sp>
        <p:sp>
          <p:nvSpPr>
            <p:cNvPr name="TextBox 4" id="4"/>
            <p:cNvSpPr txBox="true"/>
            <p:nvPr/>
          </p:nvSpPr>
          <p:spPr>
            <a:xfrm>
              <a:off x="0" y="-114300"/>
              <a:ext cx="21945600" cy="2743002"/>
            </a:xfrm>
            <a:prstGeom prst="rect">
              <a:avLst/>
            </a:prstGeom>
          </p:spPr>
          <p:txBody>
            <a:bodyPr anchor="ctr" rtlCol="false" tIns="0" lIns="0" bIns="0" rIns="0"/>
            <a:lstStyle/>
            <a:p>
              <a:pPr algn="l">
                <a:lnSpc>
                  <a:spcPts val="6720"/>
                </a:lnSpc>
              </a:pPr>
              <a:r>
                <a:rPr lang="en-US" sz="5600" b="true">
                  <a:solidFill>
                    <a:srgbClr val="0D1B2A"/>
                  </a:solidFill>
                  <a:latin typeface="Calibri (MS) Bold"/>
                  <a:ea typeface="Calibri (MS) Bold"/>
                  <a:cs typeface="Calibri (MS) Bold"/>
                  <a:sym typeface="Calibri (MS) Bold"/>
                </a:rPr>
                <a:t>WHY </a:t>
              </a:r>
              <a:r>
                <a:rPr lang="en-US" sz="5600" b="true">
                  <a:solidFill>
                    <a:srgbClr val="0D1B2A"/>
                  </a:solidFill>
                  <a:latin typeface="Calibri (MS) Bold"/>
                  <a:ea typeface="Calibri (MS) Bold"/>
                  <a:cs typeface="Calibri (MS) Bold"/>
                  <a:sym typeface="Calibri (MS) Bold"/>
                </a:rPr>
                <a:t>THIS APPROACH</a:t>
              </a:r>
            </a:p>
            <a:p>
              <a:pPr algn="l">
                <a:lnSpc>
                  <a:spcPts val="6719"/>
                </a:lnSpc>
              </a:pPr>
            </a:p>
          </p:txBody>
        </p:sp>
      </p:grpSp>
      <p:grpSp>
        <p:nvGrpSpPr>
          <p:cNvPr name="Group 5" id="5"/>
          <p:cNvGrpSpPr/>
          <p:nvPr/>
        </p:nvGrpSpPr>
        <p:grpSpPr>
          <a:xfrm rot="0">
            <a:off x="640080" y="1526591"/>
            <a:ext cx="16733520" cy="55778"/>
            <a:chOff x="0" y="0"/>
            <a:chExt cx="21945600" cy="73152"/>
          </a:xfrm>
        </p:grpSpPr>
        <p:sp>
          <p:nvSpPr>
            <p:cNvPr name="Freeform 6" id="6"/>
            <p:cNvSpPr/>
            <p:nvPr/>
          </p:nvSpPr>
          <p:spPr>
            <a:xfrm flipH="false" flipV="false" rot="0">
              <a:off x="0" y="0"/>
              <a:ext cx="21945600" cy="73152"/>
            </a:xfrm>
            <a:custGeom>
              <a:avLst/>
              <a:gdLst/>
              <a:ahLst/>
              <a:cxnLst/>
              <a:rect r="r" b="b" t="t" l="l"/>
              <a:pathLst>
                <a:path h="73152" w="21945600">
                  <a:moveTo>
                    <a:pt x="0" y="0"/>
                  </a:moveTo>
                  <a:lnTo>
                    <a:pt x="21945600" y="0"/>
                  </a:lnTo>
                  <a:lnTo>
                    <a:pt x="21945600" y="73152"/>
                  </a:lnTo>
                  <a:lnTo>
                    <a:pt x="0" y="73152"/>
                  </a:lnTo>
                  <a:close/>
                </a:path>
              </a:pathLst>
            </a:custGeom>
            <a:solidFill>
              <a:srgbClr val="F0F4F8"/>
            </a:solidFill>
          </p:spPr>
        </p:sp>
      </p:grpSp>
      <p:grpSp>
        <p:nvGrpSpPr>
          <p:cNvPr name="Group 7" id="7"/>
          <p:cNvGrpSpPr/>
          <p:nvPr/>
        </p:nvGrpSpPr>
        <p:grpSpPr>
          <a:xfrm rot="0">
            <a:off x="640080" y="2011680"/>
            <a:ext cx="16733520" cy="8002196"/>
            <a:chOff x="0" y="0"/>
            <a:chExt cx="22311360" cy="10669594"/>
          </a:xfrm>
        </p:grpSpPr>
        <p:sp>
          <p:nvSpPr>
            <p:cNvPr name="Freeform 8" id="8"/>
            <p:cNvSpPr/>
            <p:nvPr/>
          </p:nvSpPr>
          <p:spPr>
            <a:xfrm flipH="false" flipV="false" rot="0">
              <a:off x="0" y="0"/>
              <a:ext cx="22311361" cy="10669594"/>
            </a:xfrm>
            <a:custGeom>
              <a:avLst/>
              <a:gdLst/>
              <a:ahLst/>
              <a:cxnLst/>
              <a:rect r="r" b="b" t="t" l="l"/>
              <a:pathLst>
                <a:path h="10669594" w="22311361">
                  <a:moveTo>
                    <a:pt x="0" y="0"/>
                  </a:moveTo>
                  <a:lnTo>
                    <a:pt x="22311361" y="0"/>
                  </a:lnTo>
                  <a:lnTo>
                    <a:pt x="22311361" y="10669594"/>
                  </a:lnTo>
                  <a:lnTo>
                    <a:pt x="0" y="10669594"/>
                  </a:lnTo>
                  <a:close/>
                </a:path>
              </a:pathLst>
            </a:custGeom>
            <a:solidFill>
              <a:srgbClr val="F7FAFF"/>
            </a:solidFill>
          </p:spPr>
        </p:sp>
      </p:grpSp>
      <p:grpSp>
        <p:nvGrpSpPr>
          <p:cNvPr name="Group 9" id="9"/>
          <p:cNvGrpSpPr/>
          <p:nvPr/>
        </p:nvGrpSpPr>
        <p:grpSpPr>
          <a:xfrm rot="0">
            <a:off x="640080" y="1781065"/>
            <a:ext cx="16733520" cy="340343"/>
            <a:chOff x="0" y="0"/>
            <a:chExt cx="7193280" cy="146304"/>
          </a:xfrm>
        </p:grpSpPr>
        <p:sp>
          <p:nvSpPr>
            <p:cNvPr name="Freeform 10" id="10"/>
            <p:cNvSpPr/>
            <p:nvPr/>
          </p:nvSpPr>
          <p:spPr>
            <a:xfrm flipH="false" flipV="false" rot="0">
              <a:off x="0" y="0"/>
              <a:ext cx="7193280" cy="146304"/>
            </a:xfrm>
            <a:custGeom>
              <a:avLst/>
              <a:gdLst/>
              <a:ahLst/>
              <a:cxnLst/>
              <a:rect r="r" b="b" t="t" l="l"/>
              <a:pathLst>
                <a:path h="146304" w="7193280">
                  <a:moveTo>
                    <a:pt x="0" y="0"/>
                  </a:moveTo>
                  <a:lnTo>
                    <a:pt x="7193280" y="0"/>
                  </a:lnTo>
                  <a:lnTo>
                    <a:pt x="7193280" y="146304"/>
                  </a:lnTo>
                  <a:lnTo>
                    <a:pt x="0" y="146304"/>
                  </a:lnTo>
                  <a:close/>
                </a:path>
              </a:pathLst>
            </a:custGeom>
            <a:solidFill>
              <a:srgbClr val="1565C0"/>
            </a:solidFill>
          </p:spPr>
        </p:sp>
      </p:grpSp>
      <p:grpSp>
        <p:nvGrpSpPr>
          <p:cNvPr name="Group 11" id="11"/>
          <p:cNvGrpSpPr/>
          <p:nvPr/>
        </p:nvGrpSpPr>
        <p:grpSpPr>
          <a:xfrm rot="0">
            <a:off x="640080" y="2881722"/>
            <a:ext cx="16528400" cy="6376578"/>
            <a:chOff x="0" y="0"/>
            <a:chExt cx="22037866" cy="8502104"/>
          </a:xfrm>
        </p:grpSpPr>
        <p:sp>
          <p:nvSpPr>
            <p:cNvPr name="Freeform 12" id="12"/>
            <p:cNvSpPr/>
            <p:nvPr/>
          </p:nvSpPr>
          <p:spPr>
            <a:xfrm flipH="false" flipV="false" rot="0">
              <a:off x="0" y="0"/>
              <a:ext cx="22037866" cy="8502104"/>
            </a:xfrm>
            <a:custGeom>
              <a:avLst/>
              <a:gdLst/>
              <a:ahLst/>
              <a:cxnLst/>
              <a:rect r="r" b="b" t="t" l="l"/>
              <a:pathLst>
                <a:path h="8502104" w="22037866">
                  <a:moveTo>
                    <a:pt x="0" y="0"/>
                  </a:moveTo>
                  <a:lnTo>
                    <a:pt x="22037866" y="0"/>
                  </a:lnTo>
                  <a:lnTo>
                    <a:pt x="22037866" y="8502104"/>
                  </a:lnTo>
                  <a:lnTo>
                    <a:pt x="0" y="8502104"/>
                  </a:lnTo>
                  <a:close/>
                </a:path>
              </a:pathLst>
            </a:custGeom>
            <a:blipFill>
              <a:blip r:embed="rId3">
                <a:alphaModFix amt="0"/>
              </a:blip>
              <a:stretch>
                <a:fillRect l="-9473" t="0" r="61205" b="51244"/>
              </a:stretch>
            </a:blipFill>
          </p:spPr>
        </p:sp>
        <p:sp>
          <p:nvSpPr>
            <p:cNvPr name="TextBox 13" id="13"/>
            <p:cNvSpPr txBox="true"/>
            <p:nvPr/>
          </p:nvSpPr>
          <p:spPr>
            <a:xfrm>
              <a:off x="0" y="-57150"/>
              <a:ext cx="22037866" cy="8559254"/>
            </a:xfrm>
            <a:prstGeom prst="rect">
              <a:avLst/>
            </a:prstGeom>
          </p:spPr>
          <p:txBody>
            <a:bodyPr anchor="ctr" rtlCol="false" tIns="0" lIns="0" bIns="0" rIns="0"/>
            <a:lstStyle/>
            <a:p>
              <a:pPr algn="l" marL="561337" indent="-280669" lvl="1">
                <a:lnSpc>
                  <a:spcPts val="3119"/>
                </a:lnSpc>
                <a:buFont typeface="Arial"/>
                <a:buChar char="•"/>
              </a:pPr>
              <a:r>
                <a:rPr lang="en-US" sz="2599">
                  <a:solidFill>
                    <a:srgbClr val="546E7A"/>
                  </a:solidFill>
                  <a:latin typeface="Calibri (MS)"/>
                  <a:ea typeface="Calibri (MS)"/>
                  <a:cs typeface="Calibri (MS)"/>
                  <a:sym typeface="Calibri (MS)"/>
                </a:rPr>
                <a:t>Mod</a:t>
              </a:r>
              <a:r>
                <a:rPr lang="en-US" sz="2599">
                  <a:solidFill>
                    <a:srgbClr val="546E7A"/>
                  </a:solidFill>
                  <a:latin typeface="Calibri (MS)"/>
                  <a:ea typeface="Calibri (MS)"/>
                  <a:cs typeface="Calibri (MS)"/>
                  <a:sym typeface="Calibri (MS)"/>
                </a:rPr>
                <a:t>ular — Each subsystem agent follows the exact same pattern. Once the framework is built for one subsystem like Suspension, the same blueprint applies directly to Steering, Frames, Fuel System, and every other subsystem without redesigning or rebuilding from scratch. This means parallel development across teams is possible from day one.</a:t>
              </a:r>
            </a:p>
            <a:p>
              <a:pPr algn="l" marL="561337" indent="-280669" lvl="1">
                <a:lnSpc>
                  <a:spcPts val="3119"/>
                </a:lnSpc>
                <a:buFont typeface="Arial"/>
                <a:buChar char="•"/>
              </a:pPr>
              <a:r>
                <a:rPr lang="en-US" sz="2599">
                  <a:solidFill>
                    <a:srgbClr val="546E7A"/>
                  </a:solidFill>
                  <a:latin typeface="Calibri (MS)"/>
                  <a:ea typeface="Calibri (MS)"/>
                  <a:cs typeface="Calibri (MS)"/>
                  <a:sym typeface="Calibri (MS)"/>
                </a:rPr>
                <a:t>Scalable — The N → N-1 → N-2 hierarchy is designed to grow. New domains, new subsystems, and new agent types can be plugged in at any level without touching the rest of the architecture. As the program expands, the system expands with it — not against it.</a:t>
              </a:r>
            </a:p>
            <a:p>
              <a:pPr algn="l" marL="561337" indent="-280669" lvl="1">
                <a:lnSpc>
                  <a:spcPts val="3119"/>
                </a:lnSpc>
                <a:buFont typeface="Arial"/>
                <a:buChar char="•"/>
              </a:pPr>
              <a:r>
                <a:rPr lang="en-US" sz="2599">
                  <a:solidFill>
                    <a:srgbClr val="546E7A"/>
                  </a:solidFill>
                  <a:latin typeface="Calibri (MS)"/>
                  <a:ea typeface="Calibri (MS)"/>
                  <a:cs typeface="Calibri (MS)"/>
                  <a:sym typeface="Calibri (MS)"/>
                </a:rPr>
                <a:t>Human-in-the-Loop — This is augmentation, not replacement. Engineers remain fully in control. Agents surface recommendations, automate calculations, flag risks, and generate reports — but every critical design decision is reviewed, validated, and owned by the engineer. The system supports judgment, it does not replace it.</a:t>
              </a:r>
            </a:p>
            <a:p>
              <a:pPr algn="l" marL="561337" indent="-280669" lvl="1">
                <a:lnSpc>
                  <a:spcPts val="3119"/>
                </a:lnSpc>
                <a:buFont typeface="Arial"/>
                <a:buChar char="•"/>
              </a:pPr>
              <a:r>
                <a:rPr lang="en-US" sz="2599">
                  <a:solidFill>
                    <a:srgbClr val="546E7A"/>
                  </a:solidFill>
                  <a:latin typeface="Calibri (MS)"/>
                  <a:ea typeface="Calibri (MS)"/>
                  <a:cs typeface="Calibri (MS)"/>
                  <a:sym typeface="Calibri (MS)"/>
                </a:rPr>
                <a:t>Domai</a:t>
              </a:r>
              <a:r>
                <a:rPr lang="en-US" sz="2599">
                  <a:solidFill>
                    <a:srgbClr val="546E7A"/>
                  </a:solidFill>
                  <a:latin typeface="Calibri (MS)"/>
                  <a:ea typeface="Calibri (MS)"/>
                  <a:cs typeface="Calibri (MS)"/>
                  <a:sym typeface="Calibri (MS)"/>
                </a:rPr>
                <a:t>n-Aware — Generic AI is not sufficient for engineering work. Each agent is grounded in domain-specific knowledge — suspension dynamics, DFMEA methodology, V&amp;V standards, load cases — not just language understanding. The intelligence is engineering-first, not generic-first.</a:t>
              </a:r>
            </a:p>
            <a:p>
              <a:pPr algn="l" marL="561337" indent="-280669" lvl="1">
                <a:lnSpc>
                  <a:spcPts val="3119"/>
                </a:lnSpc>
                <a:buFont typeface="Arial"/>
                <a:buChar char="•"/>
              </a:pPr>
              <a:r>
                <a:rPr lang="en-US" sz="2599">
                  <a:solidFill>
                    <a:srgbClr val="546E7A"/>
                  </a:solidFill>
                  <a:latin typeface="Calibri (MS)"/>
                  <a:ea typeface="Calibri (MS)"/>
                  <a:cs typeface="Calibri (MS)"/>
                  <a:sym typeface="Calibri (MS)"/>
                </a:rPr>
                <a:t>Extensible — The agent layer is not fixed. As needs evolve, new agents can be added to any subsystem — cost estimation, supplier selection, regulatory compliance, weight optimization. The architecture is built to accommodate this without structural change.</a:t>
              </a:r>
            </a:p>
            <a:p>
              <a:pPr algn="l">
                <a:lnSpc>
                  <a:spcPts val="311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00ACC1"/>
            </a:solidFill>
          </p:spPr>
        </p:sp>
      </p:grpSp>
      <p:grpSp>
        <p:nvGrpSpPr>
          <p:cNvPr name="Group 4" id="4"/>
          <p:cNvGrpSpPr/>
          <p:nvPr/>
        </p:nvGrpSpPr>
        <p:grpSpPr>
          <a:xfrm rot="0">
            <a:off x="11887200" y="0"/>
            <a:ext cx="6400800" cy="10287000"/>
            <a:chOff x="0" y="0"/>
            <a:chExt cx="8534400" cy="13716000"/>
          </a:xfrm>
        </p:grpSpPr>
        <p:sp>
          <p:nvSpPr>
            <p:cNvPr name="Freeform 5" id="5"/>
            <p:cNvSpPr/>
            <p:nvPr/>
          </p:nvSpPr>
          <p:spPr>
            <a:xfrm flipH="false" flipV="false" rot="0">
              <a:off x="0" y="0"/>
              <a:ext cx="8534400" cy="13716000"/>
            </a:xfrm>
            <a:custGeom>
              <a:avLst/>
              <a:gdLst/>
              <a:ahLst/>
              <a:cxnLst/>
              <a:rect r="r" b="b" t="t" l="l"/>
              <a:pathLst>
                <a:path h="13716000" w="8534400">
                  <a:moveTo>
                    <a:pt x="0" y="0"/>
                  </a:moveTo>
                  <a:lnTo>
                    <a:pt x="8534400" y="0"/>
                  </a:lnTo>
                  <a:lnTo>
                    <a:pt x="8534400" y="13716000"/>
                  </a:lnTo>
                  <a:lnTo>
                    <a:pt x="0" y="13716000"/>
                  </a:lnTo>
                  <a:close/>
                </a:path>
              </a:pathLst>
            </a:custGeom>
            <a:solidFill>
              <a:srgbClr val="0A2540">
                <a:alpha val="48627"/>
              </a:srgbClr>
            </a:solidFill>
          </p:spPr>
        </p:sp>
      </p:grpSp>
      <p:grpSp>
        <p:nvGrpSpPr>
          <p:cNvPr name="Group 6" id="6"/>
          <p:cNvGrpSpPr/>
          <p:nvPr/>
        </p:nvGrpSpPr>
        <p:grpSpPr>
          <a:xfrm rot="0">
            <a:off x="731520" y="914400"/>
            <a:ext cx="10972800" cy="731520"/>
            <a:chOff x="0" y="0"/>
            <a:chExt cx="14630400" cy="975360"/>
          </a:xfrm>
        </p:grpSpPr>
        <p:sp>
          <p:nvSpPr>
            <p:cNvPr name="Freeform 7" id="7"/>
            <p:cNvSpPr/>
            <p:nvPr/>
          </p:nvSpPr>
          <p:spPr>
            <a:xfrm flipH="false" flipV="false" rot="0">
              <a:off x="0" y="0"/>
              <a:ext cx="14630400" cy="975360"/>
            </a:xfrm>
            <a:custGeom>
              <a:avLst/>
              <a:gdLst/>
              <a:ahLst/>
              <a:cxnLst/>
              <a:rect r="r" b="b" t="t" l="l"/>
              <a:pathLst>
                <a:path h="975360" w="14630400">
                  <a:moveTo>
                    <a:pt x="0" y="0"/>
                  </a:moveTo>
                  <a:lnTo>
                    <a:pt x="14630400" y="0"/>
                  </a:lnTo>
                  <a:lnTo>
                    <a:pt x="14630400" y="975360"/>
                  </a:lnTo>
                  <a:lnTo>
                    <a:pt x="0" y="975360"/>
                  </a:lnTo>
                  <a:close/>
                </a:path>
              </a:pathLst>
            </a:custGeom>
            <a:blipFill>
              <a:blip r:embed="rId3">
                <a:alphaModFix amt="0"/>
              </a:blip>
              <a:stretch>
                <a:fillRect l="0" t="-242275" r="0" b="-242275"/>
              </a:stretch>
            </a:blipFill>
          </p:spPr>
        </p:sp>
        <p:sp>
          <p:nvSpPr>
            <p:cNvPr name="TextBox 8" id="8"/>
            <p:cNvSpPr txBox="true"/>
            <p:nvPr/>
          </p:nvSpPr>
          <p:spPr>
            <a:xfrm>
              <a:off x="0" y="-38100"/>
              <a:ext cx="14630400" cy="1013460"/>
            </a:xfrm>
            <a:prstGeom prst="rect">
              <a:avLst/>
            </a:prstGeom>
          </p:spPr>
          <p:txBody>
            <a:bodyPr anchor="ctr" rtlCol="false" tIns="0" lIns="0" bIns="0" rIns="0"/>
            <a:lstStyle/>
            <a:p>
              <a:pPr algn="l">
                <a:lnSpc>
                  <a:spcPts val="2400"/>
                </a:lnSpc>
              </a:pPr>
              <a:r>
                <a:rPr lang="en-US" b="true" sz="2000" spc="800">
                  <a:solidFill>
                    <a:srgbClr val="00ACC1"/>
                  </a:solidFill>
                  <a:latin typeface="Calibri (MS) Bold"/>
                  <a:ea typeface="Calibri (MS) Bold"/>
                  <a:cs typeface="Calibri (MS) Bold"/>
                  <a:sym typeface="Calibri (MS) Bold"/>
                </a:rPr>
                <a:t>WHAT'S NEXT</a:t>
              </a:r>
            </a:p>
          </p:txBody>
        </p:sp>
      </p:grpSp>
      <p:grpSp>
        <p:nvGrpSpPr>
          <p:cNvPr name="Group 9" id="9"/>
          <p:cNvGrpSpPr/>
          <p:nvPr/>
        </p:nvGrpSpPr>
        <p:grpSpPr>
          <a:xfrm rot="0">
            <a:off x="731520" y="1737360"/>
            <a:ext cx="10972800" cy="2560320"/>
            <a:chOff x="0" y="0"/>
            <a:chExt cx="14630400" cy="3413760"/>
          </a:xfrm>
        </p:grpSpPr>
        <p:sp>
          <p:nvSpPr>
            <p:cNvPr name="Freeform 10" id="10"/>
            <p:cNvSpPr/>
            <p:nvPr/>
          </p:nvSpPr>
          <p:spPr>
            <a:xfrm flipH="false" flipV="false" rot="0">
              <a:off x="0" y="0"/>
              <a:ext cx="14630400" cy="3413760"/>
            </a:xfrm>
            <a:custGeom>
              <a:avLst/>
              <a:gdLst/>
              <a:ahLst/>
              <a:cxnLst/>
              <a:rect r="r" b="b" t="t" l="l"/>
              <a:pathLst>
                <a:path h="3413760" w="14630400">
                  <a:moveTo>
                    <a:pt x="0" y="0"/>
                  </a:moveTo>
                  <a:lnTo>
                    <a:pt x="14630400" y="0"/>
                  </a:lnTo>
                  <a:lnTo>
                    <a:pt x="14630400" y="3413760"/>
                  </a:lnTo>
                  <a:lnTo>
                    <a:pt x="0" y="3413760"/>
                  </a:lnTo>
                  <a:close/>
                </a:path>
              </a:pathLst>
            </a:custGeom>
            <a:blipFill>
              <a:blip r:embed="rId3">
                <a:alphaModFix amt="0"/>
              </a:blip>
              <a:stretch>
                <a:fillRect l="0" t="-33507" r="0" b="-33507"/>
              </a:stretch>
            </a:blipFill>
          </p:spPr>
        </p:sp>
        <p:sp>
          <p:nvSpPr>
            <p:cNvPr name="TextBox 11" id="11"/>
            <p:cNvSpPr txBox="true"/>
            <p:nvPr/>
          </p:nvSpPr>
          <p:spPr>
            <a:xfrm>
              <a:off x="0" y="-133350"/>
              <a:ext cx="14630400" cy="3547110"/>
            </a:xfrm>
            <a:prstGeom prst="rect">
              <a:avLst/>
            </a:prstGeom>
          </p:spPr>
          <p:txBody>
            <a:bodyPr anchor="ctr" rtlCol="false" tIns="0" lIns="0" bIns="0" rIns="0"/>
            <a:lstStyle/>
            <a:p>
              <a:pPr algn="l">
                <a:lnSpc>
                  <a:spcPts val="8159"/>
                </a:lnSpc>
              </a:pPr>
              <a:r>
                <a:rPr lang="en-US" sz="6800" b="true">
                  <a:solidFill>
                    <a:srgbClr val="FFFFFF"/>
                  </a:solidFill>
                  <a:latin typeface="Calibri (MS) Bold"/>
                  <a:ea typeface="Calibri (MS) Bold"/>
                  <a:cs typeface="Calibri (MS) Bold"/>
                  <a:sym typeface="Calibri (MS) Bold"/>
                </a:rPr>
                <a:t>The Bigger Picture</a:t>
              </a:r>
            </a:p>
            <a:p>
              <a:pPr algn="l">
                <a:lnSpc>
                  <a:spcPts val="8159"/>
                </a:lnSpc>
              </a:pPr>
              <a:r>
                <a:rPr lang="en-US" sz="6800" b="true">
                  <a:solidFill>
                    <a:srgbClr val="FFFFFF"/>
                  </a:solidFill>
                  <a:latin typeface="Calibri (MS) Bold"/>
                  <a:ea typeface="Calibri (MS) Bold"/>
                  <a:cs typeface="Calibri (MS) Bold"/>
                  <a:sym typeface="Calibri (MS) Bold"/>
                </a:rPr>
                <a:t>Is Already Built</a:t>
              </a:r>
            </a:p>
          </p:txBody>
        </p:sp>
      </p:grpSp>
      <p:grpSp>
        <p:nvGrpSpPr>
          <p:cNvPr name="Group 12" id="12"/>
          <p:cNvGrpSpPr/>
          <p:nvPr/>
        </p:nvGrpSpPr>
        <p:grpSpPr>
          <a:xfrm rot="0">
            <a:off x="731520" y="4572000"/>
            <a:ext cx="10424160" cy="1554480"/>
            <a:chOff x="0" y="0"/>
            <a:chExt cx="13898880" cy="2072640"/>
          </a:xfrm>
        </p:grpSpPr>
        <p:sp>
          <p:nvSpPr>
            <p:cNvPr name="Freeform 13" id="13"/>
            <p:cNvSpPr/>
            <p:nvPr/>
          </p:nvSpPr>
          <p:spPr>
            <a:xfrm flipH="false" flipV="false" rot="0">
              <a:off x="0" y="0"/>
              <a:ext cx="13898880" cy="2072640"/>
            </a:xfrm>
            <a:custGeom>
              <a:avLst/>
              <a:gdLst/>
              <a:ahLst/>
              <a:cxnLst/>
              <a:rect r="r" b="b" t="t" l="l"/>
              <a:pathLst>
                <a:path h="2072640" w="13898880">
                  <a:moveTo>
                    <a:pt x="0" y="0"/>
                  </a:moveTo>
                  <a:lnTo>
                    <a:pt x="13898880" y="0"/>
                  </a:lnTo>
                  <a:lnTo>
                    <a:pt x="13898880" y="2072640"/>
                  </a:lnTo>
                  <a:lnTo>
                    <a:pt x="0" y="2072640"/>
                  </a:lnTo>
                  <a:close/>
                </a:path>
              </a:pathLst>
            </a:custGeom>
            <a:blipFill>
              <a:blip r:embed="rId3">
                <a:alphaModFix amt="0"/>
              </a:blip>
              <a:stretch>
                <a:fillRect l="0" t="-80664" r="0" b="-80664"/>
              </a:stretch>
            </a:blipFill>
          </p:spPr>
        </p:sp>
        <p:sp>
          <p:nvSpPr>
            <p:cNvPr name="TextBox 14" id="14"/>
            <p:cNvSpPr txBox="true"/>
            <p:nvPr/>
          </p:nvSpPr>
          <p:spPr>
            <a:xfrm>
              <a:off x="0" y="-57150"/>
              <a:ext cx="13898880" cy="2129790"/>
            </a:xfrm>
            <a:prstGeom prst="rect">
              <a:avLst/>
            </a:prstGeom>
          </p:spPr>
          <p:txBody>
            <a:bodyPr anchor="ctr" rtlCol="false" tIns="0" lIns="0" bIns="0" rIns="0"/>
            <a:lstStyle/>
            <a:p>
              <a:pPr algn="l">
                <a:lnSpc>
                  <a:spcPts val="3120"/>
                </a:lnSpc>
              </a:pPr>
              <a:r>
                <a:rPr lang="en-US" sz="2600">
                  <a:solidFill>
                    <a:srgbClr val="90CAF9"/>
                  </a:solidFill>
                  <a:latin typeface="Calibri (MS)"/>
                  <a:ea typeface="Calibri (MS)"/>
                  <a:cs typeface="Calibri (MS)"/>
                  <a:sym typeface="Calibri (MS)"/>
                </a:rPr>
                <a:t>We've proven the concept on Suspension.</a:t>
              </a:r>
            </a:p>
            <a:p>
              <a:pPr algn="l">
                <a:lnSpc>
                  <a:spcPts val="3120"/>
                </a:lnSpc>
              </a:pPr>
              <a:r>
                <a:rPr lang="en-US" sz="2600">
                  <a:solidFill>
                    <a:srgbClr val="90CAF9"/>
                  </a:solidFill>
                  <a:latin typeface="Calibri (MS)"/>
                  <a:ea typeface="Calibri (MS)"/>
                  <a:cs typeface="Calibri (MS)"/>
                  <a:sym typeface="Calibri (MS)"/>
                </a:rPr>
                <a:t>Now we're inviting you to see the full architecture — and where you fit in.</a:t>
              </a:r>
            </a:p>
          </p:txBody>
        </p:sp>
      </p:grpSp>
      <p:grpSp>
        <p:nvGrpSpPr>
          <p:cNvPr name="Group 15" id="15"/>
          <p:cNvGrpSpPr/>
          <p:nvPr/>
        </p:nvGrpSpPr>
        <p:grpSpPr>
          <a:xfrm rot="0">
            <a:off x="731520" y="6400800"/>
            <a:ext cx="457200" cy="457200"/>
            <a:chOff x="0" y="0"/>
            <a:chExt cx="609600" cy="609600"/>
          </a:xfrm>
        </p:grpSpPr>
        <p:sp>
          <p:nvSpPr>
            <p:cNvPr name="Freeform 16" id="16"/>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close/>
                </a:path>
              </a:pathLst>
            </a:custGeom>
            <a:solidFill>
              <a:srgbClr val="00ACC1"/>
            </a:solidFill>
          </p:spPr>
        </p:sp>
      </p:grpSp>
      <p:grpSp>
        <p:nvGrpSpPr>
          <p:cNvPr name="Group 17" id="17"/>
          <p:cNvGrpSpPr/>
          <p:nvPr/>
        </p:nvGrpSpPr>
        <p:grpSpPr>
          <a:xfrm rot="0">
            <a:off x="1371600" y="6400800"/>
            <a:ext cx="9509760" cy="512064"/>
            <a:chOff x="0" y="0"/>
            <a:chExt cx="12679680" cy="682752"/>
          </a:xfrm>
        </p:grpSpPr>
        <p:sp>
          <p:nvSpPr>
            <p:cNvPr name="Freeform 18" id="18"/>
            <p:cNvSpPr/>
            <p:nvPr/>
          </p:nvSpPr>
          <p:spPr>
            <a:xfrm flipH="false" flipV="false" rot="0">
              <a:off x="0" y="0"/>
              <a:ext cx="12679680" cy="682752"/>
            </a:xfrm>
            <a:custGeom>
              <a:avLst/>
              <a:gdLst/>
              <a:ahLst/>
              <a:cxnLst/>
              <a:rect r="r" b="b" t="t" l="l"/>
              <a:pathLst>
                <a:path h="682752" w="12679680">
                  <a:moveTo>
                    <a:pt x="0" y="0"/>
                  </a:moveTo>
                  <a:lnTo>
                    <a:pt x="12679680" y="0"/>
                  </a:lnTo>
                  <a:lnTo>
                    <a:pt x="12679680" y="682752"/>
                  </a:lnTo>
                  <a:lnTo>
                    <a:pt x="0" y="682752"/>
                  </a:lnTo>
                  <a:close/>
                </a:path>
              </a:pathLst>
            </a:custGeom>
            <a:blipFill>
              <a:blip r:embed="rId3">
                <a:alphaModFix amt="0"/>
              </a:blip>
              <a:stretch>
                <a:fillRect l="0" t="-311865" r="0" b="-311865"/>
              </a:stretch>
            </a:blipFill>
          </p:spPr>
        </p:sp>
        <p:sp>
          <p:nvSpPr>
            <p:cNvPr name="TextBox 19" id="19"/>
            <p:cNvSpPr txBox="true"/>
            <p:nvPr/>
          </p:nvSpPr>
          <p:spPr>
            <a:xfrm>
              <a:off x="0" y="-38100"/>
              <a:ext cx="12679680" cy="720852"/>
            </a:xfrm>
            <a:prstGeom prst="rect">
              <a:avLst/>
            </a:prstGeom>
          </p:spPr>
          <p:txBody>
            <a:bodyPr anchor="ctr" rtlCol="false" tIns="0" lIns="0" bIns="0" rIns="0"/>
            <a:lstStyle/>
            <a:p>
              <a:pPr algn="l">
                <a:lnSpc>
                  <a:spcPts val="2879"/>
                </a:lnSpc>
              </a:pPr>
              <a:r>
                <a:rPr lang="en-US" sz="2400">
                  <a:solidFill>
                    <a:srgbClr val="FFFFFF"/>
                  </a:solidFill>
                  <a:latin typeface="Calibri (MS)"/>
                  <a:ea typeface="Calibri (MS)"/>
                  <a:cs typeface="Calibri (MS)"/>
                  <a:sym typeface="Calibri (MS)"/>
                </a:rPr>
                <a:t>Ride Optimisation Agent</a:t>
              </a:r>
            </a:p>
          </p:txBody>
        </p:sp>
      </p:grpSp>
      <p:grpSp>
        <p:nvGrpSpPr>
          <p:cNvPr name="Group 20" id="20"/>
          <p:cNvGrpSpPr/>
          <p:nvPr/>
        </p:nvGrpSpPr>
        <p:grpSpPr>
          <a:xfrm rot="0">
            <a:off x="731520" y="7168896"/>
            <a:ext cx="457200" cy="457200"/>
            <a:chOff x="0" y="0"/>
            <a:chExt cx="609600" cy="609600"/>
          </a:xfrm>
        </p:grpSpPr>
        <p:sp>
          <p:nvSpPr>
            <p:cNvPr name="Freeform 21" id="21"/>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close/>
                </a:path>
              </a:pathLst>
            </a:custGeom>
            <a:solidFill>
              <a:srgbClr val="00ACC1"/>
            </a:solidFill>
          </p:spPr>
        </p:sp>
      </p:grpSp>
      <p:grpSp>
        <p:nvGrpSpPr>
          <p:cNvPr name="Group 22" id="22"/>
          <p:cNvGrpSpPr/>
          <p:nvPr/>
        </p:nvGrpSpPr>
        <p:grpSpPr>
          <a:xfrm rot="0">
            <a:off x="1371600" y="7168896"/>
            <a:ext cx="9509760" cy="512064"/>
            <a:chOff x="0" y="0"/>
            <a:chExt cx="12679680" cy="682752"/>
          </a:xfrm>
        </p:grpSpPr>
        <p:sp>
          <p:nvSpPr>
            <p:cNvPr name="Freeform 23" id="23"/>
            <p:cNvSpPr/>
            <p:nvPr/>
          </p:nvSpPr>
          <p:spPr>
            <a:xfrm flipH="false" flipV="false" rot="0">
              <a:off x="0" y="0"/>
              <a:ext cx="12679680" cy="682752"/>
            </a:xfrm>
            <a:custGeom>
              <a:avLst/>
              <a:gdLst/>
              <a:ahLst/>
              <a:cxnLst/>
              <a:rect r="r" b="b" t="t" l="l"/>
              <a:pathLst>
                <a:path h="682752" w="12679680">
                  <a:moveTo>
                    <a:pt x="0" y="0"/>
                  </a:moveTo>
                  <a:lnTo>
                    <a:pt x="12679680" y="0"/>
                  </a:lnTo>
                  <a:lnTo>
                    <a:pt x="12679680" y="682752"/>
                  </a:lnTo>
                  <a:lnTo>
                    <a:pt x="0" y="682752"/>
                  </a:lnTo>
                  <a:close/>
                </a:path>
              </a:pathLst>
            </a:custGeom>
            <a:blipFill>
              <a:blip r:embed="rId3">
                <a:alphaModFix amt="0"/>
              </a:blip>
              <a:stretch>
                <a:fillRect l="0" t="-311865" r="0" b="-311865"/>
              </a:stretch>
            </a:blipFill>
          </p:spPr>
        </p:sp>
        <p:sp>
          <p:nvSpPr>
            <p:cNvPr name="TextBox 24" id="24"/>
            <p:cNvSpPr txBox="true"/>
            <p:nvPr/>
          </p:nvSpPr>
          <p:spPr>
            <a:xfrm>
              <a:off x="0" y="-38100"/>
              <a:ext cx="12679680" cy="720852"/>
            </a:xfrm>
            <a:prstGeom prst="rect">
              <a:avLst/>
            </a:prstGeom>
          </p:spPr>
          <p:txBody>
            <a:bodyPr anchor="ctr" rtlCol="false" tIns="0" lIns="0" bIns="0" rIns="0"/>
            <a:lstStyle/>
            <a:p>
              <a:pPr algn="l">
                <a:lnSpc>
                  <a:spcPts val="2879"/>
                </a:lnSpc>
              </a:pPr>
              <a:r>
                <a:rPr lang="en-US" sz="2400">
                  <a:solidFill>
                    <a:srgbClr val="FFFFFF"/>
                  </a:solidFill>
                  <a:latin typeface="Calibri (MS)"/>
                  <a:ea typeface="Calibri (MS)"/>
                  <a:cs typeface="Calibri (MS)"/>
                  <a:sym typeface="Calibri (MS)"/>
                </a:rPr>
                <a:t>RAG Agent </a:t>
              </a:r>
            </a:p>
          </p:txBody>
        </p:sp>
      </p:grpSp>
      <p:grpSp>
        <p:nvGrpSpPr>
          <p:cNvPr name="Group 25" id="25"/>
          <p:cNvGrpSpPr/>
          <p:nvPr/>
        </p:nvGrpSpPr>
        <p:grpSpPr>
          <a:xfrm rot="0">
            <a:off x="731520" y="7936992"/>
            <a:ext cx="457200" cy="457200"/>
            <a:chOff x="0" y="0"/>
            <a:chExt cx="609600" cy="609600"/>
          </a:xfrm>
        </p:grpSpPr>
        <p:sp>
          <p:nvSpPr>
            <p:cNvPr name="Freeform 26" id="26"/>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close/>
                </a:path>
              </a:pathLst>
            </a:custGeom>
            <a:solidFill>
              <a:srgbClr val="00ACC1"/>
            </a:solidFill>
          </p:spPr>
        </p:sp>
      </p:grpSp>
      <p:grpSp>
        <p:nvGrpSpPr>
          <p:cNvPr name="Group 27" id="27"/>
          <p:cNvGrpSpPr/>
          <p:nvPr/>
        </p:nvGrpSpPr>
        <p:grpSpPr>
          <a:xfrm rot="0">
            <a:off x="1371600" y="7936992"/>
            <a:ext cx="9509760" cy="512064"/>
            <a:chOff x="0" y="0"/>
            <a:chExt cx="12679680" cy="682752"/>
          </a:xfrm>
        </p:grpSpPr>
        <p:sp>
          <p:nvSpPr>
            <p:cNvPr name="Freeform 28" id="28"/>
            <p:cNvSpPr/>
            <p:nvPr/>
          </p:nvSpPr>
          <p:spPr>
            <a:xfrm flipH="false" flipV="false" rot="0">
              <a:off x="0" y="0"/>
              <a:ext cx="12679680" cy="682752"/>
            </a:xfrm>
            <a:custGeom>
              <a:avLst/>
              <a:gdLst/>
              <a:ahLst/>
              <a:cxnLst/>
              <a:rect r="r" b="b" t="t" l="l"/>
              <a:pathLst>
                <a:path h="682752" w="12679680">
                  <a:moveTo>
                    <a:pt x="0" y="0"/>
                  </a:moveTo>
                  <a:lnTo>
                    <a:pt x="12679680" y="0"/>
                  </a:lnTo>
                  <a:lnTo>
                    <a:pt x="12679680" y="682752"/>
                  </a:lnTo>
                  <a:lnTo>
                    <a:pt x="0" y="682752"/>
                  </a:lnTo>
                  <a:close/>
                </a:path>
              </a:pathLst>
            </a:custGeom>
            <a:blipFill>
              <a:blip r:embed="rId3">
                <a:alphaModFix amt="0"/>
              </a:blip>
              <a:stretch>
                <a:fillRect l="0" t="-311865" r="0" b="-311865"/>
              </a:stretch>
            </a:blipFill>
          </p:spPr>
        </p:sp>
        <p:sp>
          <p:nvSpPr>
            <p:cNvPr name="TextBox 29" id="29"/>
            <p:cNvSpPr txBox="true"/>
            <p:nvPr/>
          </p:nvSpPr>
          <p:spPr>
            <a:xfrm>
              <a:off x="0" y="-38100"/>
              <a:ext cx="12679680" cy="720852"/>
            </a:xfrm>
            <a:prstGeom prst="rect">
              <a:avLst/>
            </a:prstGeom>
          </p:spPr>
          <p:txBody>
            <a:bodyPr anchor="ctr" rtlCol="false" tIns="0" lIns="0" bIns="0" rIns="0"/>
            <a:lstStyle/>
            <a:p>
              <a:pPr algn="l">
                <a:lnSpc>
                  <a:spcPts val="2879"/>
                </a:lnSpc>
              </a:pPr>
              <a:r>
                <a:rPr lang="en-US" sz="2400">
                  <a:solidFill>
                    <a:srgbClr val="FFFFFF"/>
                  </a:solidFill>
                  <a:latin typeface="Calibri (MS)"/>
                  <a:ea typeface="Calibri (MS)"/>
                  <a:cs typeface="Calibri (MS)"/>
                  <a:sym typeface="Calibri (MS)"/>
                </a:rPr>
                <a:t>DFMEA Agent</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00ACC1"/>
            </a:solidFill>
          </p:spPr>
        </p:sp>
      </p:grpSp>
      <p:grpSp>
        <p:nvGrpSpPr>
          <p:cNvPr name="Group 4" id="4"/>
          <p:cNvGrpSpPr/>
          <p:nvPr/>
        </p:nvGrpSpPr>
        <p:grpSpPr>
          <a:xfrm rot="0">
            <a:off x="13487582" y="0"/>
            <a:ext cx="4800418" cy="10287000"/>
            <a:chOff x="0" y="0"/>
            <a:chExt cx="6400557" cy="13716000"/>
          </a:xfrm>
        </p:grpSpPr>
        <p:sp>
          <p:nvSpPr>
            <p:cNvPr name="Freeform 5" id="5"/>
            <p:cNvSpPr/>
            <p:nvPr/>
          </p:nvSpPr>
          <p:spPr>
            <a:xfrm flipH="false" flipV="false" rot="0">
              <a:off x="0" y="0"/>
              <a:ext cx="6400557" cy="13716000"/>
            </a:xfrm>
            <a:custGeom>
              <a:avLst/>
              <a:gdLst/>
              <a:ahLst/>
              <a:cxnLst/>
              <a:rect r="r" b="b" t="t" l="l"/>
              <a:pathLst>
                <a:path h="13716000" w="6400557">
                  <a:moveTo>
                    <a:pt x="0" y="0"/>
                  </a:moveTo>
                  <a:lnTo>
                    <a:pt x="6400557" y="0"/>
                  </a:lnTo>
                  <a:lnTo>
                    <a:pt x="6400557" y="13716000"/>
                  </a:lnTo>
                  <a:lnTo>
                    <a:pt x="0" y="13716000"/>
                  </a:lnTo>
                  <a:close/>
                </a:path>
              </a:pathLst>
            </a:custGeom>
            <a:solidFill>
              <a:srgbClr val="0A2540">
                <a:alpha val="48627"/>
              </a:srgbClr>
            </a:solidFill>
          </p:spPr>
        </p:sp>
      </p:grpSp>
      <p:grpSp>
        <p:nvGrpSpPr>
          <p:cNvPr name="Group 6" id="6"/>
          <p:cNvGrpSpPr/>
          <p:nvPr/>
        </p:nvGrpSpPr>
        <p:grpSpPr>
          <a:xfrm rot="0">
            <a:off x="16145767" y="0"/>
            <a:ext cx="2142233" cy="10287000"/>
            <a:chOff x="0" y="0"/>
            <a:chExt cx="2856311" cy="13716000"/>
          </a:xfrm>
        </p:grpSpPr>
        <p:sp>
          <p:nvSpPr>
            <p:cNvPr name="Freeform 7" id="7"/>
            <p:cNvSpPr/>
            <p:nvPr/>
          </p:nvSpPr>
          <p:spPr>
            <a:xfrm flipH="false" flipV="false" rot="0">
              <a:off x="0" y="0"/>
              <a:ext cx="2856311" cy="13716000"/>
            </a:xfrm>
            <a:custGeom>
              <a:avLst/>
              <a:gdLst/>
              <a:ahLst/>
              <a:cxnLst/>
              <a:rect r="r" b="b" t="t" l="l"/>
              <a:pathLst>
                <a:path h="13716000" w="2856311">
                  <a:moveTo>
                    <a:pt x="0" y="0"/>
                  </a:moveTo>
                  <a:lnTo>
                    <a:pt x="2856311" y="0"/>
                  </a:lnTo>
                  <a:lnTo>
                    <a:pt x="2856311" y="13716000"/>
                  </a:lnTo>
                  <a:lnTo>
                    <a:pt x="0" y="13716000"/>
                  </a:lnTo>
                  <a:close/>
                </a:path>
              </a:pathLst>
            </a:custGeom>
            <a:solidFill>
              <a:srgbClr val="1E88E5">
                <a:alpha val="5882"/>
              </a:srgbClr>
            </a:solidFill>
          </p:spPr>
        </p:sp>
      </p:grpSp>
      <p:grpSp>
        <p:nvGrpSpPr>
          <p:cNvPr name="Group 8" id="8"/>
          <p:cNvGrpSpPr/>
          <p:nvPr/>
        </p:nvGrpSpPr>
        <p:grpSpPr>
          <a:xfrm rot="0">
            <a:off x="566928" y="388620"/>
            <a:ext cx="10972800" cy="640080"/>
            <a:chOff x="0" y="0"/>
            <a:chExt cx="14630400" cy="853440"/>
          </a:xfrm>
        </p:grpSpPr>
        <p:sp>
          <p:nvSpPr>
            <p:cNvPr name="Freeform 9" id="9"/>
            <p:cNvSpPr/>
            <p:nvPr/>
          </p:nvSpPr>
          <p:spPr>
            <a:xfrm flipH="false" flipV="false" rot="0">
              <a:off x="0" y="0"/>
              <a:ext cx="14630400" cy="853440"/>
            </a:xfrm>
            <a:custGeom>
              <a:avLst/>
              <a:gdLst/>
              <a:ahLst/>
              <a:cxnLst/>
              <a:rect r="r" b="b" t="t" l="l"/>
              <a:pathLst>
                <a:path h="853440" w="14630400">
                  <a:moveTo>
                    <a:pt x="0" y="0"/>
                  </a:moveTo>
                  <a:lnTo>
                    <a:pt x="14630400" y="0"/>
                  </a:lnTo>
                  <a:lnTo>
                    <a:pt x="14630400" y="853440"/>
                  </a:lnTo>
                  <a:lnTo>
                    <a:pt x="0" y="853440"/>
                  </a:lnTo>
                  <a:close/>
                </a:path>
              </a:pathLst>
            </a:custGeom>
            <a:blipFill>
              <a:blip r:embed="rId3">
                <a:alphaModFix amt="0"/>
              </a:blip>
              <a:stretch>
                <a:fillRect l="0" t="-284029" r="0" b="-284029"/>
              </a:stretch>
            </a:blipFill>
          </p:spPr>
        </p:sp>
        <p:sp>
          <p:nvSpPr>
            <p:cNvPr name="TextBox 10" id="10"/>
            <p:cNvSpPr txBox="true"/>
            <p:nvPr/>
          </p:nvSpPr>
          <p:spPr>
            <a:xfrm>
              <a:off x="0" y="-38100"/>
              <a:ext cx="14630400" cy="891540"/>
            </a:xfrm>
            <a:prstGeom prst="rect">
              <a:avLst/>
            </a:prstGeom>
          </p:spPr>
          <p:txBody>
            <a:bodyPr anchor="ctr" rtlCol="false" tIns="0" lIns="0" bIns="0" rIns="0"/>
            <a:lstStyle/>
            <a:p>
              <a:pPr algn="l">
                <a:lnSpc>
                  <a:spcPts val="2160"/>
                </a:lnSpc>
              </a:pPr>
              <a:r>
                <a:rPr lang="en-US" b="true" sz="1800" spc="599">
                  <a:solidFill>
                    <a:srgbClr val="00ACC1"/>
                  </a:solidFill>
                  <a:latin typeface="Calibri (MS) Bold"/>
                  <a:ea typeface="Calibri (MS) Bold"/>
                  <a:cs typeface="Calibri (MS) Bold"/>
                  <a:sym typeface="Calibri (MS) Bold"/>
                </a:rPr>
                <a:t>PRODUCT DEVELOPMENT INTELLIGENCE</a:t>
              </a:r>
            </a:p>
          </p:txBody>
        </p:sp>
      </p:grpSp>
      <p:grpSp>
        <p:nvGrpSpPr>
          <p:cNvPr name="Group 11" id="11"/>
          <p:cNvGrpSpPr/>
          <p:nvPr/>
        </p:nvGrpSpPr>
        <p:grpSpPr>
          <a:xfrm rot="0">
            <a:off x="566928" y="1724918"/>
            <a:ext cx="15235939" cy="2813745"/>
            <a:chOff x="0" y="0"/>
            <a:chExt cx="20314585" cy="3751659"/>
          </a:xfrm>
        </p:grpSpPr>
        <p:sp>
          <p:nvSpPr>
            <p:cNvPr name="Freeform 12" id="12"/>
            <p:cNvSpPr/>
            <p:nvPr/>
          </p:nvSpPr>
          <p:spPr>
            <a:xfrm flipH="false" flipV="false" rot="0">
              <a:off x="0" y="0"/>
              <a:ext cx="20314585" cy="3751659"/>
            </a:xfrm>
            <a:custGeom>
              <a:avLst/>
              <a:gdLst/>
              <a:ahLst/>
              <a:cxnLst/>
              <a:rect r="r" b="b" t="t" l="l"/>
              <a:pathLst>
                <a:path h="3751659" w="20314585">
                  <a:moveTo>
                    <a:pt x="0" y="0"/>
                  </a:moveTo>
                  <a:lnTo>
                    <a:pt x="20314585" y="0"/>
                  </a:lnTo>
                  <a:lnTo>
                    <a:pt x="20314585" y="3751659"/>
                  </a:lnTo>
                  <a:lnTo>
                    <a:pt x="0" y="3751659"/>
                  </a:lnTo>
                  <a:close/>
                </a:path>
              </a:pathLst>
            </a:custGeom>
            <a:blipFill>
              <a:blip r:embed="rId3">
                <a:alphaModFix amt="0"/>
              </a:blip>
              <a:stretch>
                <a:fillRect l="0" t="-59235" r="9976" b="-30729"/>
              </a:stretch>
            </a:blipFill>
          </p:spPr>
        </p:sp>
        <p:sp>
          <p:nvSpPr>
            <p:cNvPr name="TextBox 13" id="13"/>
            <p:cNvSpPr txBox="true"/>
            <p:nvPr/>
          </p:nvSpPr>
          <p:spPr>
            <a:xfrm>
              <a:off x="0" y="-161925"/>
              <a:ext cx="20314585" cy="3913584"/>
            </a:xfrm>
            <a:prstGeom prst="rect">
              <a:avLst/>
            </a:prstGeom>
          </p:spPr>
          <p:txBody>
            <a:bodyPr anchor="ctr" rtlCol="false" tIns="0" lIns="0" bIns="0" rIns="0"/>
            <a:lstStyle/>
            <a:p>
              <a:pPr algn="l">
                <a:lnSpc>
                  <a:spcPts val="9600"/>
                </a:lnSpc>
              </a:pPr>
              <a:r>
                <a:rPr lang="en-US" sz="8000" b="true">
                  <a:solidFill>
                    <a:srgbClr val="FFFFFF"/>
                  </a:solidFill>
                  <a:latin typeface="Calibri (MS) Bold"/>
                  <a:ea typeface="Calibri (MS) Bold"/>
                  <a:cs typeface="Calibri (MS) Bold"/>
                  <a:sym typeface="Calibri (MS) Bold"/>
                </a:rPr>
                <a:t>Ride Optimisation</a:t>
              </a:r>
            </a:p>
          </p:txBody>
        </p:sp>
      </p:grpSp>
      <p:grpSp>
        <p:nvGrpSpPr>
          <p:cNvPr name="Group 14" id="14"/>
          <p:cNvGrpSpPr/>
          <p:nvPr/>
        </p:nvGrpSpPr>
        <p:grpSpPr>
          <a:xfrm rot="0">
            <a:off x="731520" y="7862610"/>
            <a:ext cx="13716000" cy="1645920"/>
            <a:chOff x="0" y="0"/>
            <a:chExt cx="18288000" cy="2194560"/>
          </a:xfrm>
        </p:grpSpPr>
        <p:sp>
          <p:nvSpPr>
            <p:cNvPr name="Freeform 15" id="15"/>
            <p:cNvSpPr/>
            <p:nvPr/>
          </p:nvSpPr>
          <p:spPr>
            <a:xfrm flipH="false" flipV="false" rot="0">
              <a:off x="0" y="0"/>
              <a:ext cx="18288000" cy="2194560"/>
            </a:xfrm>
            <a:custGeom>
              <a:avLst/>
              <a:gdLst/>
              <a:ahLst/>
              <a:cxnLst/>
              <a:rect r="r" b="b" t="t" l="l"/>
              <a:pathLst>
                <a:path h="2194560" w="18288000">
                  <a:moveTo>
                    <a:pt x="0" y="0"/>
                  </a:moveTo>
                  <a:lnTo>
                    <a:pt x="18288000" y="0"/>
                  </a:lnTo>
                  <a:lnTo>
                    <a:pt x="18288000" y="2194560"/>
                  </a:lnTo>
                  <a:lnTo>
                    <a:pt x="0" y="2194560"/>
                  </a:lnTo>
                  <a:close/>
                </a:path>
              </a:pathLst>
            </a:custGeom>
            <a:solidFill>
              <a:srgbClr val="00ACC1">
                <a:alpha val="0"/>
              </a:srgbClr>
            </a:solidFill>
          </p:spPr>
        </p:sp>
        <p:sp>
          <p:nvSpPr>
            <p:cNvPr name="TextBox 16" id="16"/>
            <p:cNvSpPr txBox="true"/>
            <p:nvPr/>
          </p:nvSpPr>
          <p:spPr>
            <a:xfrm>
              <a:off x="0" y="-66675"/>
              <a:ext cx="18288000" cy="2261235"/>
            </a:xfrm>
            <a:prstGeom prst="rect">
              <a:avLst/>
            </a:prstGeom>
          </p:spPr>
          <p:txBody>
            <a:bodyPr anchor="ctr" rtlCol="false" tIns="0" lIns="0" bIns="0" rIns="0"/>
            <a:lstStyle/>
            <a:p>
              <a:pPr algn="l">
                <a:lnSpc>
                  <a:spcPts val="3600"/>
                </a:lnSpc>
              </a:pPr>
              <a:r>
                <a:rPr lang="en-US" sz="3000">
                  <a:solidFill>
                    <a:srgbClr val="90CAF9"/>
                  </a:solidFill>
                  <a:latin typeface="Calibri (MS)"/>
                  <a:ea typeface="Calibri (MS)"/>
                  <a:cs typeface="Calibri (MS)"/>
                  <a:sym typeface="Calibri (MS)"/>
                </a:rPr>
                <a:t>Madhupranavi S</a:t>
              </a:r>
            </a:p>
          </p:txBody>
        </p:sp>
      </p:grpSp>
      <p:grpSp>
        <p:nvGrpSpPr>
          <p:cNvPr name="Group 17" id="17"/>
          <p:cNvGrpSpPr/>
          <p:nvPr/>
        </p:nvGrpSpPr>
        <p:grpSpPr>
          <a:xfrm rot="0">
            <a:off x="731520" y="5927598"/>
            <a:ext cx="11338560" cy="1554480"/>
            <a:chOff x="0" y="0"/>
            <a:chExt cx="15118080" cy="2072640"/>
          </a:xfrm>
        </p:grpSpPr>
        <p:sp>
          <p:nvSpPr>
            <p:cNvPr name="Freeform 18" id="18"/>
            <p:cNvSpPr/>
            <p:nvPr/>
          </p:nvSpPr>
          <p:spPr>
            <a:xfrm flipH="false" flipV="false" rot="0">
              <a:off x="0" y="0"/>
              <a:ext cx="15118080" cy="2072640"/>
            </a:xfrm>
            <a:custGeom>
              <a:avLst/>
              <a:gdLst/>
              <a:ahLst/>
              <a:cxnLst/>
              <a:rect r="r" b="b" t="t" l="l"/>
              <a:pathLst>
                <a:path h="2072640" w="15118080">
                  <a:moveTo>
                    <a:pt x="0" y="0"/>
                  </a:moveTo>
                  <a:lnTo>
                    <a:pt x="15118080" y="0"/>
                  </a:lnTo>
                  <a:lnTo>
                    <a:pt x="15118080" y="2072640"/>
                  </a:lnTo>
                  <a:lnTo>
                    <a:pt x="0" y="2072640"/>
                  </a:lnTo>
                  <a:close/>
                </a:path>
              </a:pathLst>
            </a:custGeom>
            <a:blipFill>
              <a:blip r:embed="rId3">
                <a:alphaModFix amt="0"/>
              </a:blip>
              <a:stretch>
                <a:fillRect l="0" t="-92126" r="0" b="-92126"/>
              </a:stretch>
            </a:blipFill>
          </p:spPr>
        </p:sp>
        <p:sp>
          <p:nvSpPr>
            <p:cNvPr name="TextBox 19" id="19"/>
            <p:cNvSpPr txBox="true"/>
            <p:nvPr/>
          </p:nvSpPr>
          <p:spPr>
            <a:xfrm>
              <a:off x="0" y="-57150"/>
              <a:ext cx="15118080" cy="2129790"/>
            </a:xfrm>
            <a:prstGeom prst="rect">
              <a:avLst/>
            </a:prstGeom>
          </p:spPr>
          <p:txBody>
            <a:bodyPr anchor="ctr" rtlCol="false" tIns="0" lIns="0" bIns="0" rIns="0"/>
            <a:lstStyle/>
            <a:p>
              <a:pPr algn="l">
                <a:lnSpc>
                  <a:spcPts val="3599"/>
                </a:lnSpc>
              </a:pPr>
              <a:r>
                <a:rPr lang="en-US" sz="2999">
                  <a:solidFill>
                    <a:srgbClr val="90CAF9"/>
                  </a:solidFill>
                  <a:latin typeface="Calibri (MS)"/>
                  <a:ea typeface="Calibri (MS)"/>
                  <a:cs typeface="Calibri (MS)"/>
                  <a:sym typeface="Calibri (MS)"/>
                </a:rPr>
                <a:t>Physics-based and surrogate modelling approaches for suspension stiffness and damping optimisation</a:t>
              </a:r>
            </a:p>
          </p:txBody>
        </p:sp>
      </p:grpSp>
      <p:grpSp>
        <p:nvGrpSpPr>
          <p:cNvPr name="Group 20" id="20"/>
          <p:cNvGrpSpPr/>
          <p:nvPr/>
        </p:nvGrpSpPr>
        <p:grpSpPr>
          <a:xfrm rot="0">
            <a:off x="731520" y="7454646"/>
            <a:ext cx="10058400" cy="54864"/>
            <a:chOff x="0" y="0"/>
            <a:chExt cx="13411200" cy="73152"/>
          </a:xfrm>
        </p:grpSpPr>
        <p:sp>
          <p:nvSpPr>
            <p:cNvPr name="Freeform 21" id="21"/>
            <p:cNvSpPr/>
            <p:nvPr/>
          </p:nvSpPr>
          <p:spPr>
            <a:xfrm flipH="false" flipV="false" rot="0">
              <a:off x="0" y="0"/>
              <a:ext cx="13411200" cy="73152"/>
            </a:xfrm>
            <a:custGeom>
              <a:avLst/>
              <a:gdLst/>
              <a:ahLst/>
              <a:cxnLst/>
              <a:rect r="r" b="b" t="t" l="l"/>
              <a:pathLst>
                <a:path h="73152" w="13411200">
                  <a:moveTo>
                    <a:pt x="0" y="0"/>
                  </a:moveTo>
                  <a:lnTo>
                    <a:pt x="13411200" y="0"/>
                  </a:lnTo>
                  <a:lnTo>
                    <a:pt x="13411200" y="73152"/>
                  </a:lnTo>
                  <a:lnTo>
                    <a:pt x="0" y="73152"/>
                  </a:lnTo>
                  <a:close/>
                </a:path>
              </a:pathLst>
            </a:custGeom>
            <a:solidFill>
              <a:srgbClr val="00838F"/>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4" y="903124"/>
            <a:ext cx="479752" cy="18288000"/>
            <a:chOff x="0" y="0"/>
            <a:chExt cx="359814" cy="13716000"/>
          </a:xfrm>
        </p:grpSpPr>
        <p:sp>
          <p:nvSpPr>
            <p:cNvPr name="Freeform 3" id="3"/>
            <p:cNvSpPr/>
            <p:nvPr/>
          </p:nvSpPr>
          <p:spPr>
            <a:xfrm flipH="false" flipV="false" rot="0">
              <a:off x="0" y="0"/>
              <a:ext cx="359814" cy="13716000"/>
            </a:xfrm>
            <a:custGeom>
              <a:avLst/>
              <a:gdLst/>
              <a:ahLst/>
              <a:cxnLst/>
              <a:rect r="r" b="b" t="t" l="l"/>
              <a:pathLst>
                <a:path h="13716000" w="359814">
                  <a:moveTo>
                    <a:pt x="0" y="0"/>
                  </a:moveTo>
                  <a:lnTo>
                    <a:pt x="359814" y="0"/>
                  </a:lnTo>
                  <a:lnTo>
                    <a:pt x="359814" y="13716000"/>
                  </a:lnTo>
                  <a:lnTo>
                    <a:pt x="0" y="13716000"/>
                  </a:lnTo>
                  <a:close/>
                </a:path>
              </a:pathLst>
            </a:custGeom>
            <a:solidFill>
              <a:srgbClr val="00ACC1"/>
            </a:solidFill>
          </p:spPr>
        </p:sp>
      </p:grpSp>
      <p:grpSp>
        <p:nvGrpSpPr>
          <p:cNvPr name="Group 4" id="4"/>
          <p:cNvGrpSpPr/>
          <p:nvPr/>
        </p:nvGrpSpPr>
        <p:grpSpPr>
          <a:xfrm rot="-5400000">
            <a:off x="8300606" y="-8300606"/>
            <a:ext cx="1686788" cy="18288000"/>
            <a:chOff x="0" y="0"/>
            <a:chExt cx="2249050" cy="24384000"/>
          </a:xfrm>
        </p:grpSpPr>
        <p:sp>
          <p:nvSpPr>
            <p:cNvPr name="Freeform 5" id="5"/>
            <p:cNvSpPr/>
            <p:nvPr/>
          </p:nvSpPr>
          <p:spPr>
            <a:xfrm flipH="false" flipV="false" rot="0">
              <a:off x="0" y="0"/>
              <a:ext cx="2249050" cy="24384000"/>
            </a:xfrm>
            <a:custGeom>
              <a:avLst/>
              <a:gdLst/>
              <a:ahLst/>
              <a:cxnLst/>
              <a:rect r="r" b="b" t="t" l="l"/>
              <a:pathLst>
                <a:path h="24384000" w="2249050">
                  <a:moveTo>
                    <a:pt x="0" y="0"/>
                  </a:moveTo>
                  <a:lnTo>
                    <a:pt x="2249050" y="0"/>
                  </a:lnTo>
                  <a:lnTo>
                    <a:pt x="2249050" y="24384000"/>
                  </a:lnTo>
                  <a:lnTo>
                    <a:pt x="0" y="24384000"/>
                  </a:lnTo>
                  <a:close/>
                </a:path>
              </a:pathLst>
            </a:custGeom>
            <a:solidFill>
              <a:srgbClr val="004369">
                <a:alpha val="48627"/>
              </a:srgbClr>
            </a:solidFill>
          </p:spPr>
        </p:sp>
      </p:grpSp>
      <p:grpSp>
        <p:nvGrpSpPr>
          <p:cNvPr name="Group 6" id="6"/>
          <p:cNvGrpSpPr/>
          <p:nvPr/>
        </p:nvGrpSpPr>
        <p:grpSpPr>
          <a:xfrm rot="0">
            <a:off x="412731" y="82718"/>
            <a:ext cx="15235939" cy="1604070"/>
            <a:chOff x="0" y="0"/>
            <a:chExt cx="20314585" cy="2138759"/>
          </a:xfrm>
        </p:grpSpPr>
        <p:sp>
          <p:nvSpPr>
            <p:cNvPr name="Freeform 7" id="7"/>
            <p:cNvSpPr/>
            <p:nvPr/>
          </p:nvSpPr>
          <p:spPr>
            <a:xfrm flipH="false" flipV="false" rot="0">
              <a:off x="0" y="0"/>
              <a:ext cx="20314585" cy="2138759"/>
            </a:xfrm>
            <a:custGeom>
              <a:avLst/>
              <a:gdLst/>
              <a:ahLst/>
              <a:cxnLst/>
              <a:rect r="r" b="b" t="t" l="l"/>
              <a:pathLst>
                <a:path h="2138759" w="20314585">
                  <a:moveTo>
                    <a:pt x="0" y="0"/>
                  </a:moveTo>
                  <a:lnTo>
                    <a:pt x="20314585" y="0"/>
                  </a:lnTo>
                  <a:lnTo>
                    <a:pt x="20314585" y="2138759"/>
                  </a:lnTo>
                  <a:lnTo>
                    <a:pt x="0" y="2138759"/>
                  </a:lnTo>
                  <a:close/>
                </a:path>
              </a:pathLst>
            </a:custGeom>
            <a:blipFill>
              <a:blip r:embed="rId3">
                <a:alphaModFix amt="0"/>
              </a:blip>
              <a:stretch>
                <a:fillRect l="0" t="-103906" r="9976" b="-129317"/>
              </a:stretch>
            </a:blipFill>
          </p:spPr>
        </p:sp>
        <p:sp>
          <p:nvSpPr>
            <p:cNvPr name="TextBox 8" id="8"/>
            <p:cNvSpPr txBox="true"/>
            <p:nvPr/>
          </p:nvSpPr>
          <p:spPr>
            <a:xfrm>
              <a:off x="0" y="-161925"/>
              <a:ext cx="20314585" cy="2300684"/>
            </a:xfrm>
            <a:prstGeom prst="rect">
              <a:avLst/>
            </a:prstGeom>
          </p:spPr>
          <p:txBody>
            <a:bodyPr anchor="ctr" rtlCol="false" tIns="0" lIns="0" bIns="0" rIns="0"/>
            <a:lstStyle/>
            <a:p>
              <a:pPr algn="l">
                <a:lnSpc>
                  <a:spcPts val="9600"/>
                </a:lnSpc>
              </a:pPr>
              <a:r>
                <a:rPr lang="en-US" sz="8000" b="true">
                  <a:solidFill>
                    <a:srgbClr val="FFFFFF"/>
                  </a:solidFill>
                  <a:latin typeface="Calibri (MS) Bold"/>
                  <a:ea typeface="Calibri (MS) Bold"/>
                  <a:cs typeface="Calibri (MS) Bold"/>
                  <a:sym typeface="Calibri (MS) Bold"/>
                </a:rPr>
                <a:t>Ride Optimisation</a:t>
              </a:r>
            </a:p>
          </p:txBody>
        </p:sp>
      </p:grpSp>
      <p:grpSp>
        <p:nvGrpSpPr>
          <p:cNvPr name="Group 9" id="9"/>
          <p:cNvGrpSpPr/>
          <p:nvPr/>
        </p:nvGrpSpPr>
        <p:grpSpPr>
          <a:xfrm rot="0">
            <a:off x="246282" y="2154795"/>
            <a:ext cx="16528400" cy="518703"/>
            <a:chOff x="0" y="0"/>
            <a:chExt cx="22037866" cy="691604"/>
          </a:xfrm>
        </p:grpSpPr>
        <p:sp>
          <p:nvSpPr>
            <p:cNvPr name="Freeform 10" id="10"/>
            <p:cNvSpPr/>
            <p:nvPr/>
          </p:nvSpPr>
          <p:spPr>
            <a:xfrm flipH="false" flipV="false" rot="0">
              <a:off x="0" y="0"/>
              <a:ext cx="22037866" cy="691604"/>
            </a:xfrm>
            <a:custGeom>
              <a:avLst/>
              <a:gdLst/>
              <a:ahLst/>
              <a:cxnLst/>
              <a:rect r="r" b="b" t="t" l="l"/>
              <a:pathLst>
                <a:path h="691604" w="22037866">
                  <a:moveTo>
                    <a:pt x="0" y="0"/>
                  </a:moveTo>
                  <a:lnTo>
                    <a:pt x="22037866" y="0"/>
                  </a:lnTo>
                  <a:lnTo>
                    <a:pt x="22037866" y="691604"/>
                  </a:lnTo>
                  <a:lnTo>
                    <a:pt x="0" y="691604"/>
                  </a:lnTo>
                  <a:close/>
                </a:path>
              </a:pathLst>
            </a:custGeom>
            <a:blipFill>
              <a:blip r:embed="rId3">
                <a:alphaModFix amt="0"/>
              </a:blip>
              <a:stretch>
                <a:fillRect l="-9473" t="0" r="61205" b="-499371"/>
              </a:stretch>
            </a:blipFill>
          </p:spPr>
        </p:sp>
        <p:sp>
          <p:nvSpPr>
            <p:cNvPr name="TextBox 11" id="11"/>
            <p:cNvSpPr txBox="true"/>
            <p:nvPr/>
          </p:nvSpPr>
          <p:spPr>
            <a:xfrm>
              <a:off x="0" y="-57150"/>
              <a:ext cx="22037866" cy="748754"/>
            </a:xfrm>
            <a:prstGeom prst="rect">
              <a:avLst/>
            </a:prstGeom>
          </p:spPr>
          <p:txBody>
            <a:bodyPr anchor="ctr" rtlCol="false" tIns="0" lIns="0" bIns="0" rIns="0"/>
            <a:lstStyle/>
            <a:p>
              <a:pPr algn="l">
                <a:lnSpc>
                  <a:spcPts val="3119"/>
                </a:lnSpc>
              </a:pPr>
              <a:r>
                <a:rPr lang="en-US" sz="2599">
                  <a:solidFill>
                    <a:srgbClr val="0D1B2A"/>
                  </a:solidFill>
                  <a:latin typeface="Calibri (MS)"/>
                  <a:ea typeface="Calibri (MS)"/>
                  <a:cs typeface="Calibri (MS)"/>
                  <a:sym typeface="Calibri (MS)"/>
                </a:rPr>
                <a:t> Typically, suspension system is the core component to improve ride comfort and driving performance.</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00ACC1"/>
            </a:solidFill>
          </p:spPr>
        </p:sp>
      </p:grpSp>
      <p:grpSp>
        <p:nvGrpSpPr>
          <p:cNvPr name="Group 4" id="4"/>
          <p:cNvGrpSpPr/>
          <p:nvPr/>
        </p:nvGrpSpPr>
        <p:grpSpPr>
          <a:xfrm rot="0">
            <a:off x="11887200" y="0"/>
            <a:ext cx="6400800" cy="10287000"/>
            <a:chOff x="0" y="0"/>
            <a:chExt cx="8534400" cy="13716000"/>
          </a:xfrm>
        </p:grpSpPr>
        <p:sp>
          <p:nvSpPr>
            <p:cNvPr name="Freeform 5" id="5"/>
            <p:cNvSpPr/>
            <p:nvPr/>
          </p:nvSpPr>
          <p:spPr>
            <a:xfrm flipH="false" flipV="false" rot="0">
              <a:off x="0" y="0"/>
              <a:ext cx="8534400" cy="13716000"/>
            </a:xfrm>
            <a:custGeom>
              <a:avLst/>
              <a:gdLst/>
              <a:ahLst/>
              <a:cxnLst/>
              <a:rect r="r" b="b" t="t" l="l"/>
              <a:pathLst>
                <a:path h="13716000" w="8534400">
                  <a:moveTo>
                    <a:pt x="0" y="0"/>
                  </a:moveTo>
                  <a:lnTo>
                    <a:pt x="8534400" y="0"/>
                  </a:lnTo>
                  <a:lnTo>
                    <a:pt x="8534400" y="13716000"/>
                  </a:lnTo>
                  <a:lnTo>
                    <a:pt x="0" y="13716000"/>
                  </a:lnTo>
                  <a:close/>
                </a:path>
              </a:pathLst>
            </a:custGeom>
            <a:solidFill>
              <a:srgbClr val="0A2540">
                <a:alpha val="48627"/>
              </a:srgbClr>
            </a:solidFill>
          </p:spPr>
        </p:sp>
      </p:grpSp>
      <p:grpSp>
        <p:nvGrpSpPr>
          <p:cNvPr name="Group 6" id="6"/>
          <p:cNvGrpSpPr/>
          <p:nvPr/>
        </p:nvGrpSpPr>
        <p:grpSpPr>
          <a:xfrm rot="0">
            <a:off x="731520" y="914400"/>
            <a:ext cx="10972800" cy="731520"/>
            <a:chOff x="0" y="0"/>
            <a:chExt cx="14630400" cy="975360"/>
          </a:xfrm>
        </p:grpSpPr>
        <p:sp>
          <p:nvSpPr>
            <p:cNvPr name="Freeform 7" id="7"/>
            <p:cNvSpPr/>
            <p:nvPr/>
          </p:nvSpPr>
          <p:spPr>
            <a:xfrm flipH="false" flipV="false" rot="0">
              <a:off x="0" y="0"/>
              <a:ext cx="14630400" cy="975360"/>
            </a:xfrm>
            <a:custGeom>
              <a:avLst/>
              <a:gdLst/>
              <a:ahLst/>
              <a:cxnLst/>
              <a:rect r="r" b="b" t="t" l="l"/>
              <a:pathLst>
                <a:path h="975360" w="14630400">
                  <a:moveTo>
                    <a:pt x="0" y="0"/>
                  </a:moveTo>
                  <a:lnTo>
                    <a:pt x="14630400" y="0"/>
                  </a:lnTo>
                  <a:lnTo>
                    <a:pt x="14630400" y="975360"/>
                  </a:lnTo>
                  <a:lnTo>
                    <a:pt x="0" y="975360"/>
                  </a:lnTo>
                  <a:close/>
                </a:path>
              </a:pathLst>
            </a:custGeom>
            <a:blipFill>
              <a:blip r:embed="rId3">
                <a:alphaModFix amt="0"/>
              </a:blip>
              <a:stretch>
                <a:fillRect l="0" t="-242275" r="0" b="-242275"/>
              </a:stretch>
            </a:blipFill>
          </p:spPr>
        </p:sp>
        <p:sp>
          <p:nvSpPr>
            <p:cNvPr name="TextBox 8" id="8"/>
            <p:cNvSpPr txBox="true"/>
            <p:nvPr/>
          </p:nvSpPr>
          <p:spPr>
            <a:xfrm>
              <a:off x="0" y="-38100"/>
              <a:ext cx="14630400" cy="1013460"/>
            </a:xfrm>
            <a:prstGeom prst="rect">
              <a:avLst/>
            </a:prstGeom>
          </p:spPr>
          <p:txBody>
            <a:bodyPr anchor="ctr" rtlCol="false" tIns="0" lIns="0" bIns="0" rIns="0"/>
            <a:lstStyle/>
            <a:p>
              <a:pPr algn="l">
                <a:lnSpc>
                  <a:spcPts val="2400"/>
                </a:lnSpc>
              </a:pPr>
              <a:r>
                <a:rPr lang="en-US" b="true" sz="2000" spc="800">
                  <a:solidFill>
                    <a:srgbClr val="00ACC1"/>
                  </a:solidFill>
                  <a:latin typeface="Calibri (MS) Bold"/>
                  <a:ea typeface="Calibri (MS) Bold"/>
                  <a:cs typeface="Calibri (MS) Bold"/>
                  <a:sym typeface="Calibri (MS) Bold"/>
                </a:rPr>
                <a:t>WHAT'S NEXT</a:t>
              </a:r>
            </a:p>
          </p:txBody>
        </p:sp>
      </p:grpSp>
      <p:grpSp>
        <p:nvGrpSpPr>
          <p:cNvPr name="Group 9" id="9"/>
          <p:cNvGrpSpPr/>
          <p:nvPr/>
        </p:nvGrpSpPr>
        <p:grpSpPr>
          <a:xfrm rot="0">
            <a:off x="731520" y="1737360"/>
            <a:ext cx="10972800" cy="2560320"/>
            <a:chOff x="0" y="0"/>
            <a:chExt cx="14630400" cy="3413760"/>
          </a:xfrm>
        </p:grpSpPr>
        <p:sp>
          <p:nvSpPr>
            <p:cNvPr name="Freeform 10" id="10"/>
            <p:cNvSpPr/>
            <p:nvPr/>
          </p:nvSpPr>
          <p:spPr>
            <a:xfrm flipH="false" flipV="false" rot="0">
              <a:off x="0" y="0"/>
              <a:ext cx="14630400" cy="3413760"/>
            </a:xfrm>
            <a:custGeom>
              <a:avLst/>
              <a:gdLst/>
              <a:ahLst/>
              <a:cxnLst/>
              <a:rect r="r" b="b" t="t" l="l"/>
              <a:pathLst>
                <a:path h="3413760" w="14630400">
                  <a:moveTo>
                    <a:pt x="0" y="0"/>
                  </a:moveTo>
                  <a:lnTo>
                    <a:pt x="14630400" y="0"/>
                  </a:lnTo>
                  <a:lnTo>
                    <a:pt x="14630400" y="3413760"/>
                  </a:lnTo>
                  <a:lnTo>
                    <a:pt x="0" y="3413760"/>
                  </a:lnTo>
                  <a:close/>
                </a:path>
              </a:pathLst>
            </a:custGeom>
            <a:blipFill>
              <a:blip r:embed="rId3">
                <a:alphaModFix amt="0"/>
              </a:blip>
              <a:stretch>
                <a:fillRect l="0" t="-33507" r="0" b="-33507"/>
              </a:stretch>
            </a:blipFill>
          </p:spPr>
        </p:sp>
        <p:sp>
          <p:nvSpPr>
            <p:cNvPr name="TextBox 11" id="11"/>
            <p:cNvSpPr txBox="true"/>
            <p:nvPr/>
          </p:nvSpPr>
          <p:spPr>
            <a:xfrm>
              <a:off x="0" y="-133350"/>
              <a:ext cx="14630400" cy="3547110"/>
            </a:xfrm>
            <a:prstGeom prst="rect">
              <a:avLst/>
            </a:prstGeom>
          </p:spPr>
          <p:txBody>
            <a:bodyPr anchor="ctr" rtlCol="false" tIns="0" lIns="0" bIns="0" rIns="0"/>
            <a:lstStyle/>
            <a:p>
              <a:pPr algn="l">
                <a:lnSpc>
                  <a:spcPts val="8159"/>
                </a:lnSpc>
              </a:pPr>
              <a:r>
                <a:rPr lang="en-US" sz="6800" b="true">
                  <a:solidFill>
                    <a:srgbClr val="FFFFFF"/>
                  </a:solidFill>
                  <a:latin typeface="Calibri (MS) Bold"/>
                  <a:ea typeface="Calibri (MS) Bold"/>
                  <a:cs typeface="Calibri (MS) Bold"/>
                  <a:sym typeface="Calibri (MS) Bold"/>
                </a:rPr>
                <a:t>The </a:t>
              </a:r>
            </a:p>
          </p:txBody>
        </p:sp>
      </p:grpSp>
      <p:grpSp>
        <p:nvGrpSpPr>
          <p:cNvPr name="Group 12" id="12"/>
          <p:cNvGrpSpPr/>
          <p:nvPr/>
        </p:nvGrpSpPr>
        <p:grpSpPr>
          <a:xfrm rot="0">
            <a:off x="731520" y="4572000"/>
            <a:ext cx="10424160" cy="1554480"/>
            <a:chOff x="0" y="0"/>
            <a:chExt cx="13898880" cy="2072640"/>
          </a:xfrm>
        </p:grpSpPr>
        <p:sp>
          <p:nvSpPr>
            <p:cNvPr name="Freeform 13" id="13"/>
            <p:cNvSpPr/>
            <p:nvPr/>
          </p:nvSpPr>
          <p:spPr>
            <a:xfrm flipH="false" flipV="false" rot="0">
              <a:off x="0" y="0"/>
              <a:ext cx="13898880" cy="2072640"/>
            </a:xfrm>
            <a:custGeom>
              <a:avLst/>
              <a:gdLst/>
              <a:ahLst/>
              <a:cxnLst/>
              <a:rect r="r" b="b" t="t" l="l"/>
              <a:pathLst>
                <a:path h="2072640" w="13898880">
                  <a:moveTo>
                    <a:pt x="0" y="0"/>
                  </a:moveTo>
                  <a:lnTo>
                    <a:pt x="13898880" y="0"/>
                  </a:lnTo>
                  <a:lnTo>
                    <a:pt x="13898880" y="2072640"/>
                  </a:lnTo>
                  <a:lnTo>
                    <a:pt x="0" y="2072640"/>
                  </a:lnTo>
                  <a:close/>
                </a:path>
              </a:pathLst>
            </a:custGeom>
            <a:blipFill>
              <a:blip r:embed="rId3">
                <a:alphaModFix amt="0"/>
              </a:blip>
              <a:stretch>
                <a:fillRect l="0" t="-80664" r="0" b="-80664"/>
              </a:stretch>
            </a:blipFill>
          </p:spPr>
        </p:sp>
        <p:sp>
          <p:nvSpPr>
            <p:cNvPr name="TextBox 14" id="14"/>
            <p:cNvSpPr txBox="true"/>
            <p:nvPr/>
          </p:nvSpPr>
          <p:spPr>
            <a:xfrm>
              <a:off x="0" y="-57150"/>
              <a:ext cx="13898880" cy="2129790"/>
            </a:xfrm>
            <a:prstGeom prst="rect">
              <a:avLst/>
            </a:prstGeom>
          </p:spPr>
          <p:txBody>
            <a:bodyPr anchor="ctr" rtlCol="false" tIns="0" lIns="0" bIns="0" rIns="0"/>
            <a:lstStyle/>
            <a:p>
              <a:pPr algn="l">
                <a:lnSpc>
                  <a:spcPts val="3120"/>
                </a:lnSpc>
              </a:pPr>
              <a:r>
                <a:rPr lang="en-US" sz="2600">
                  <a:solidFill>
                    <a:srgbClr val="90CAF9"/>
                  </a:solidFill>
                  <a:latin typeface="Calibri (MS)"/>
                  <a:ea typeface="Calibri (MS)"/>
                  <a:cs typeface="Calibri (MS)"/>
                  <a:sym typeface="Calibri (MS)"/>
                </a:rPr>
                <a:t>We've proven the concept on Suspension.</a:t>
              </a:r>
            </a:p>
            <a:p>
              <a:pPr algn="l">
                <a:lnSpc>
                  <a:spcPts val="3120"/>
                </a:lnSpc>
              </a:pPr>
              <a:r>
                <a:rPr lang="en-US" sz="2600">
                  <a:solidFill>
                    <a:srgbClr val="90CAF9"/>
                  </a:solidFill>
                  <a:latin typeface="Calibri (MS)"/>
                  <a:ea typeface="Calibri (MS)"/>
                  <a:cs typeface="Calibri (MS)"/>
                  <a:sym typeface="Calibri (MS)"/>
                </a:rPr>
                <a:t>Now we're inviting you to see the full architecture — and where you fit in.</a:t>
              </a:r>
            </a:p>
          </p:txBody>
        </p:sp>
      </p:grpSp>
      <p:grpSp>
        <p:nvGrpSpPr>
          <p:cNvPr name="Group 15" id="15"/>
          <p:cNvGrpSpPr/>
          <p:nvPr/>
        </p:nvGrpSpPr>
        <p:grpSpPr>
          <a:xfrm rot="0">
            <a:off x="12070080" y="4023360"/>
            <a:ext cx="5669280" cy="1005840"/>
            <a:chOff x="0" y="0"/>
            <a:chExt cx="7559040" cy="1341120"/>
          </a:xfrm>
        </p:grpSpPr>
        <p:sp>
          <p:nvSpPr>
            <p:cNvPr name="Freeform 16" id="16"/>
            <p:cNvSpPr/>
            <p:nvPr/>
          </p:nvSpPr>
          <p:spPr>
            <a:xfrm flipH="false" flipV="false" rot="0">
              <a:off x="0" y="0"/>
              <a:ext cx="7559040" cy="1341120"/>
            </a:xfrm>
            <a:custGeom>
              <a:avLst/>
              <a:gdLst/>
              <a:ahLst/>
              <a:cxnLst/>
              <a:rect r="r" b="b" t="t" l="l"/>
              <a:pathLst>
                <a:path h="1341120" w="7559040">
                  <a:moveTo>
                    <a:pt x="0" y="0"/>
                  </a:moveTo>
                  <a:lnTo>
                    <a:pt x="7559040" y="0"/>
                  </a:lnTo>
                  <a:lnTo>
                    <a:pt x="7559040" y="1341120"/>
                  </a:lnTo>
                  <a:lnTo>
                    <a:pt x="0" y="1341120"/>
                  </a:lnTo>
                  <a:close/>
                </a:path>
              </a:pathLst>
            </a:custGeom>
            <a:blipFill>
              <a:blip r:embed="rId3">
                <a:alphaModFix amt="0"/>
              </a:blip>
              <a:stretch>
                <a:fillRect l="0" t="-59824" r="0" b="-59824"/>
              </a:stretch>
            </a:blipFill>
          </p:spPr>
        </p:sp>
        <p:sp>
          <p:nvSpPr>
            <p:cNvPr name="TextBox 17" id="17"/>
            <p:cNvSpPr txBox="true"/>
            <p:nvPr/>
          </p:nvSpPr>
          <p:spPr>
            <a:xfrm>
              <a:off x="0" y="-76200"/>
              <a:ext cx="7559040" cy="1417320"/>
            </a:xfrm>
            <a:prstGeom prst="rect">
              <a:avLst/>
            </a:prstGeom>
          </p:spPr>
          <p:txBody>
            <a:bodyPr anchor="ctr" rtlCol="false" tIns="0" lIns="0" bIns="0" rIns="0"/>
            <a:lstStyle/>
            <a:p>
              <a:pPr algn="ctr">
                <a:lnSpc>
                  <a:spcPts val="5280"/>
                </a:lnSpc>
              </a:pPr>
              <a:r>
                <a:rPr lang="en-US" sz="4400" b="true">
                  <a:solidFill>
                    <a:srgbClr val="FFFFFF"/>
                  </a:solidFill>
                  <a:latin typeface="Calibri (MS) Bold"/>
                  <a:ea typeface="Calibri (MS) Bold"/>
                  <a:cs typeface="Calibri (MS) Bold"/>
                  <a:sym typeface="Calibri (MS) Bold"/>
                </a:rPr>
                <a:t>Questions?</a:t>
              </a:r>
            </a:p>
          </p:txBody>
        </p:sp>
      </p:grpSp>
      <p:grpSp>
        <p:nvGrpSpPr>
          <p:cNvPr name="Group 18" id="18"/>
          <p:cNvGrpSpPr/>
          <p:nvPr/>
        </p:nvGrpSpPr>
        <p:grpSpPr>
          <a:xfrm rot="0">
            <a:off x="12070080" y="5029200"/>
            <a:ext cx="5669280" cy="822960"/>
            <a:chOff x="0" y="0"/>
            <a:chExt cx="7559040" cy="1097280"/>
          </a:xfrm>
        </p:grpSpPr>
        <p:sp>
          <p:nvSpPr>
            <p:cNvPr name="Freeform 19" id="19"/>
            <p:cNvSpPr/>
            <p:nvPr/>
          </p:nvSpPr>
          <p:spPr>
            <a:xfrm flipH="false" flipV="false" rot="0">
              <a:off x="0" y="0"/>
              <a:ext cx="7559040" cy="1097280"/>
            </a:xfrm>
            <a:custGeom>
              <a:avLst/>
              <a:gdLst/>
              <a:ahLst/>
              <a:cxnLst/>
              <a:rect r="r" b="b" t="t" l="l"/>
              <a:pathLst>
                <a:path h="1097280" w="7559040">
                  <a:moveTo>
                    <a:pt x="0" y="0"/>
                  </a:moveTo>
                  <a:lnTo>
                    <a:pt x="7559040" y="0"/>
                  </a:lnTo>
                  <a:lnTo>
                    <a:pt x="7559040" y="1097280"/>
                  </a:lnTo>
                  <a:lnTo>
                    <a:pt x="0" y="1097280"/>
                  </a:lnTo>
                  <a:close/>
                </a:path>
              </a:pathLst>
            </a:custGeom>
            <a:blipFill>
              <a:blip r:embed="rId3">
                <a:alphaModFix amt="0"/>
              </a:blip>
              <a:stretch>
                <a:fillRect l="0" t="-84230" r="0" b="-84230"/>
              </a:stretch>
            </a:blipFill>
          </p:spPr>
        </p:sp>
        <p:sp>
          <p:nvSpPr>
            <p:cNvPr name="TextBox 20" id="20"/>
            <p:cNvSpPr txBox="true"/>
            <p:nvPr/>
          </p:nvSpPr>
          <p:spPr>
            <a:xfrm>
              <a:off x="0" y="-57150"/>
              <a:ext cx="7559040" cy="1154430"/>
            </a:xfrm>
            <a:prstGeom prst="rect">
              <a:avLst/>
            </a:prstGeom>
          </p:spPr>
          <p:txBody>
            <a:bodyPr anchor="ctr" rtlCol="false" tIns="0" lIns="0" bIns="0" rIns="0"/>
            <a:lstStyle/>
            <a:p>
              <a:pPr algn="ctr">
                <a:lnSpc>
                  <a:spcPts val="3840"/>
                </a:lnSpc>
              </a:pPr>
              <a:r>
                <a:rPr lang="en-US" sz="3200">
                  <a:solidFill>
                    <a:srgbClr val="90CAF9"/>
                  </a:solidFill>
                  <a:latin typeface="Calibri (MS)"/>
                  <a:ea typeface="Calibri (MS)"/>
                  <a:cs typeface="Calibri (MS)"/>
                  <a:sym typeface="Calibri (MS)"/>
                </a:rPr>
                <a:t>Let's dig in.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DAHJQbFcQHQ</dc:identifier>
  <dcterms:modified xsi:type="dcterms:W3CDTF">2011-08-01T06:04:30Z</dcterms:modified>
  <cp:revision>1</cp:revision>
  <dc:title>Multi_Agent_PD_Architecture.pptx</dc:title>
</cp:coreProperties>
</file>