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18288000" cy="10287000"/>
  <p:notesSz cx="6858000" cy="9144000"/>
  <p:embeddedFontLst>
    <p:embeddedFont>
      <p:font typeface="Calibri (MS) Bold" charset="1" panose="020F0702030404030204"/>
      <p:regular r:id="rId35"/>
    </p:embeddedFont>
    <p:embeddedFont>
      <p:font typeface="Calibri (MS)" charset="1" panose="020F0502020204030204"/>
      <p:regular r:id="rId36"/>
    </p:embeddedFont>
    <p:embeddedFont>
      <p:font typeface="Calibri (MS) Italics" charset="1" panose="020F05020202040A0204"/>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notesMasters/notesMaster1.xml" Type="http://schemas.openxmlformats.org/officeDocument/2006/relationships/notesMaster"/><Relationship Id="rId33" Target="theme/theme2.xml" Type="http://schemas.openxmlformats.org/officeDocument/2006/relationships/theme"/><Relationship Id="rId34" Target="notesSlides/notesSlide1.xml" Type="http://schemas.openxmlformats.org/officeDocument/2006/relationships/notesSlide"/><Relationship Id="rId35" Target="fonts/font35.fntdata" Type="http://schemas.openxmlformats.org/officeDocument/2006/relationships/font"/><Relationship Id="rId36" Target="fonts/font36.fntdata" Type="http://schemas.openxmlformats.org/officeDocument/2006/relationships/font"/><Relationship Id="rId37" Target="notesSlides/notesSlide2.xml" Type="http://schemas.openxmlformats.org/officeDocument/2006/relationships/notesSlide"/><Relationship Id="rId38" Target="notesSlides/notesSlide3.xml" Type="http://schemas.openxmlformats.org/officeDocument/2006/relationships/notesSlide"/><Relationship Id="rId39" Target="fonts/font39.fntdata" Type="http://schemas.openxmlformats.org/officeDocument/2006/relationships/font"/><Relationship Id="rId4" Target="theme/theme1.xml" Type="http://schemas.openxmlformats.org/officeDocument/2006/relationships/theme"/><Relationship Id="rId40" Target="notesSlides/notesSlide4.xml" Type="http://schemas.openxmlformats.org/officeDocument/2006/relationships/notesSlide"/><Relationship Id="rId41" Target="notesSlides/notesSlide5.xml" Type="http://schemas.openxmlformats.org/officeDocument/2006/relationships/notesSlide"/><Relationship Id="rId42" Target="notesSlides/notesSlide6.xml" Type="http://schemas.openxmlformats.org/officeDocument/2006/relationships/notesSlide"/><Relationship Id="rId43" Target="notesSlides/notesSlide7.xml" Type="http://schemas.openxmlformats.org/officeDocument/2006/relationships/notesSlide"/><Relationship Id="rId44" Target="notesSlides/notesSlide8.xml" Type="http://schemas.openxmlformats.org/officeDocument/2006/relationships/notesSlide"/><Relationship Id="rId45" Target="notesSlides/notesSlide9.xml" Type="http://schemas.openxmlformats.org/officeDocument/2006/relationships/notesSlide"/><Relationship Id="rId46" Target="notesSlides/notesSlide10.xml" Type="http://schemas.openxmlformats.org/officeDocument/2006/relationships/notesSlide"/><Relationship Id="rId47" Target="notesSlides/notesSlide11.xml" Type="http://schemas.openxmlformats.org/officeDocument/2006/relationships/notesSlide"/><Relationship Id="rId48" Target="notesSlides/notesSlide12.xml" Type="http://schemas.openxmlformats.org/officeDocument/2006/relationships/notesSlide"/><Relationship Id="rId49" Target="notesSlides/notesSlide13.xml" Type="http://schemas.openxmlformats.org/officeDocument/2006/relationships/notesSlide"/><Relationship Id="rId5" Target="tableStyles.xml" Type="http://schemas.openxmlformats.org/officeDocument/2006/relationships/tableStyles"/><Relationship Id="rId50" Target="notesSlides/notesSlide14.xml" Type="http://schemas.openxmlformats.org/officeDocument/2006/relationships/notesSlide"/><Relationship Id="rId51" Target="notesSlides/notesSlide15.xml" Type="http://schemas.openxmlformats.org/officeDocument/2006/relationships/notesSlide"/><Relationship Id="rId52" Target="notesSlides/notesSlide16.xml" Type="http://schemas.openxmlformats.org/officeDocument/2006/relationships/notesSlide"/><Relationship Id="rId53" Target="notesSlides/notesSlide17.xml" Type="http://schemas.openxmlformats.org/officeDocument/2006/relationships/notesSlide"/><Relationship Id="rId54" Target="notesSlides/notesSlide18.xml" Type="http://schemas.openxmlformats.org/officeDocument/2006/relationships/notesSlide"/><Relationship Id="rId55" Target="notesSlides/notesSlide19.xml" Type="http://schemas.openxmlformats.org/officeDocument/2006/relationships/notesSlide"/><Relationship Id="rId56" Target="notesSlides/notesSlide20.xml" Type="http://schemas.openxmlformats.org/officeDocument/2006/relationships/notesSlide"/><Relationship Id="rId57" Target="notesSlides/notesSlide21.xml" Type="http://schemas.openxmlformats.org/officeDocument/2006/relationships/notesSlide"/><Relationship Id="rId58" Target="notesSlides/notesSlide22.xml" Type="http://schemas.openxmlformats.org/officeDocument/2006/relationships/notesSlide"/><Relationship Id="rId59" Target="notesSlides/notesSlide23.xml" Type="http://schemas.openxmlformats.org/officeDocument/2006/relationships/notesSlide"/><Relationship Id="rId6" Target="slides/slide1.xml" Type="http://schemas.openxmlformats.org/officeDocument/2006/relationships/slide"/><Relationship Id="rId60" Target="notesSlides/notesSlide24.xml" Type="http://schemas.openxmlformats.org/officeDocument/2006/relationships/notesSlide"/><Relationship Id="rId61" Target="notesSlides/notesSlide25.xml" Type="http://schemas.openxmlformats.org/officeDocument/2006/relationships/notesSlide"/><Relationship Id="rId62" Target="notesSlides/notesSlide26.xml" Type="http://schemas.openxmlformats.org/officeDocument/2006/relationships/note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11" Target="../media/image9.png" Type="http://schemas.openxmlformats.org/officeDocument/2006/relationships/image"/><Relationship Id="rId12" Target="../media/image10.svg" Type="http://schemas.openxmlformats.org/officeDocument/2006/relationships/image"/><Relationship Id="rId13" Target="../media/image11.png" Type="http://schemas.openxmlformats.org/officeDocument/2006/relationships/image"/><Relationship Id="rId14" Target="../media/image12.svg" Type="http://schemas.openxmlformats.org/officeDocument/2006/relationships/image"/><Relationship Id="rId15" Target="../media/image13.png" Type="http://schemas.openxmlformats.org/officeDocument/2006/relationships/image"/><Relationship Id="rId16" Target="../media/image14.svg" Type="http://schemas.openxmlformats.org/officeDocument/2006/relationships/image"/><Relationship Id="rId17" Target="../media/image15.png" Type="http://schemas.openxmlformats.org/officeDocument/2006/relationships/image"/><Relationship Id="rId18" Target="../media/image16.svg" Type="http://schemas.openxmlformats.org/officeDocument/2006/relationships/image"/><Relationship Id="rId19" Target="../media/image17.png" Type="http://schemas.openxmlformats.org/officeDocument/2006/relationships/image"/><Relationship Id="rId2" Target="../notesSlides/notesSlide3.xml" Type="http://schemas.openxmlformats.org/officeDocument/2006/relationships/notesSlide"/><Relationship Id="rId20" Target="../media/image18.svg" Type="http://schemas.openxmlformats.org/officeDocument/2006/relationships/image"/><Relationship Id="rId21" Target="../media/image19.png" Type="http://schemas.openxmlformats.org/officeDocument/2006/relationships/image"/><Relationship Id="rId22" Target="../media/image20.svg" Type="http://schemas.openxmlformats.org/officeDocument/2006/relationships/image"/><Relationship Id="rId23" Target="../media/image21.png" Type="http://schemas.openxmlformats.org/officeDocument/2006/relationships/image"/><Relationship Id="rId24" Target="../media/image22.svg" Type="http://schemas.openxmlformats.org/officeDocument/2006/relationships/image"/><Relationship Id="rId25" Target="../media/image23.png" Type="http://schemas.openxmlformats.org/officeDocument/2006/relationships/image"/><Relationship Id="rId26" Target="../media/image24.svg" Type="http://schemas.openxmlformats.org/officeDocument/2006/relationships/image"/><Relationship Id="rId27" Target="../media/image25.png" Type="http://schemas.openxmlformats.org/officeDocument/2006/relationships/image"/><Relationship Id="rId28" Target="../media/image26.svg" Type="http://schemas.openxmlformats.org/officeDocument/2006/relationships/image"/><Relationship Id="rId29" Target="../media/image27.png" Type="http://schemas.openxmlformats.org/officeDocument/2006/relationships/image"/><Relationship Id="rId3" Target="../media/image3.png" Type="http://schemas.openxmlformats.org/officeDocument/2006/relationships/image"/><Relationship Id="rId30" Target="../media/image28.svg" Type="http://schemas.openxmlformats.org/officeDocument/2006/relationships/image"/><Relationship Id="rId4" Target="../media/image4.svg" Type="http://schemas.openxmlformats.org/officeDocument/2006/relationships/image"/><Relationship Id="rId5" Target="../media/image1.jpeg" Type="http://schemas.openxmlformats.org/officeDocument/2006/relationships/image"/><Relationship Id="rId6" Target="../media/image2.jpe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9.png" Type="http://schemas.openxmlformats.org/officeDocument/2006/relationships/image"/><Relationship Id="rId4" Target="../media/image2.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jpeg" Type="http://schemas.openxmlformats.org/officeDocument/2006/relationships/image"/><Relationship Id="rId4" Target="../media/image30.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2.jpeg" Type="http://schemas.openxmlformats.org/officeDocument/2006/relationships/image"/><Relationship Id="rId4" Target="../media/image3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8.jpeg" Type="http://schemas.openxmlformats.org/officeDocument/2006/relationships/image"/><Relationship Id="rId2" Target="../notesSlides/notesSlide10.xml" Type="http://schemas.openxmlformats.org/officeDocument/2006/relationships/notesSlide"/><Relationship Id="rId3" Target="../media/image2.jpeg" Type="http://schemas.openxmlformats.org/officeDocument/2006/relationships/image"/><Relationship Id="rId4" Target="../media/image32.png" Type="http://schemas.openxmlformats.org/officeDocument/2006/relationships/image"/><Relationship Id="rId5" Target="../media/image33.png" Type="http://schemas.openxmlformats.org/officeDocument/2006/relationships/image"/><Relationship Id="rId6" Target="../media/image34.png" Type="http://schemas.openxmlformats.org/officeDocument/2006/relationships/image"/><Relationship Id="rId7" Target="../media/image35.png" Type="http://schemas.openxmlformats.org/officeDocument/2006/relationships/image"/><Relationship Id="rId8" Target="../media/image36.png" Type="http://schemas.openxmlformats.org/officeDocument/2006/relationships/image"/><Relationship Id="rId9" Target="../media/image37.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2.jpeg" Type="http://schemas.openxmlformats.org/officeDocument/2006/relationships/image"/><Relationship Id="rId4" Target="../media/image39.png" Type="http://schemas.openxmlformats.org/officeDocument/2006/relationships/image"/><Relationship Id="rId5" Target="../media/image40.png" Type="http://schemas.openxmlformats.org/officeDocument/2006/relationships/image"/><Relationship Id="rId6" Target="../media/image41.png" Type="http://schemas.openxmlformats.org/officeDocument/2006/relationships/image"/><Relationship Id="rId7" Target="../media/image42.png" Type="http://schemas.openxmlformats.org/officeDocument/2006/relationships/image"/><Relationship Id="rId8" Target="../media/image4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2.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2.jpeg" Type="http://schemas.openxmlformats.org/officeDocument/2006/relationships/image"/><Relationship Id="rId4" Target="../media/image44.png" Type="http://schemas.openxmlformats.org/officeDocument/2006/relationships/image"/><Relationship Id="rId5" Target="../media/image45.png" Type="http://schemas.openxmlformats.org/officeDocument/2006/relationships/image"/><Relationship Id="rId6" Target="../media/image4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2.jpeg" Type="http://schemas.openxmlformats.org/officeDocument/2006/relationships/image"/><Relationship Id="rId4" Target="../media/image47.jpeg" Type="http://schemas.openxmlformats.org/officeDocument/2006/relationships/image"/><Relationship Id="rId5" Target="../media/image4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2.jpeg" Type="http://schemas.openxmlformats.org/officeDocument/2006/relationships/image"/><Relationship Id="rId4" Target="../media/image4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2.jpeg" Type="http://schemas.openxmlformats.org/officeDocument/2006/relationships/image"/><Relationship Id="rId4" Target="../media/image50.png" Type="http://schemas.openxmlformats.org/officeDocument/2006/relationships/image"/><Relationship Id="rId5" Target="../media/image51.png" Type="http://schemas.openxmlformats.org/officeDocument/2006/relationships/image"/><Relationship Id="rId6" Target="../media/image5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2.jpeg" Type="http://schemas.openxmlformats.org/officeDocument/2006/relationships/image"/><Relationship Id="rId4" Target="../media/image53.png" Type="http://schemas.openxmlformats.org/officeDocument/2006/relationships/image"/><Relationship Id="rId5" Target="../media/image5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2.jpeg" Type="http://schemas.openxmlformats.org/officeDocument/2006/relationships/image"/><Relationship Id="rId4" Target="../media/image55.png" Type="http://schemas.openxmlformats.org/officeDocument/2006/relationships/image"/><Relationship Id="rId5" Target="../media/image5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2.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2.jpeg" Type="http://schemas.openxmlformats.org/officeDocument/2006/relationships/image"/><Relationship Id="rId4" Target="../media/image57.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2.jpeg" Type="http://schemas.openxmlformats.org/officeDocument/2006/relationships/image"/><Relationship Id="rId4" Target="../media/image58.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2.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2.jpeg" Type="http://schemas.openxmlformats.org/officeDocument/2006/relationships/image"/><Relationship Id="rId4" Target="../media/image59.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2.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2.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0" y="0"/>
            <a:ext cx="219456" cy="10287000"/>
            <a:chOff x="0" y="0"/>
            <a:chExt cx="292608" cy="13716000"/>
          </a:xfrm>
        </p:grpSpPr>
        <p:sp>
          <p:nvSpPr>
            <p:cNvPr name="Freeform 3" id="3"/>
            <p:cNvSpPr/>
            <p:nvPr/>
          </p:nvSpPr>
          <p:spPr>
            <a:xfrm flipH="false" flipV="false" rot="0">
              <a:off x="0" y="0"/>
              <a:ext cx="292608" cy="13716000"/>
            </a:xfrm>
            <a:custGeom>
              <a:avLst/>
              <a:gdLst/>
              <a:ahLst/>
              <a:cxnLst/>
              <a:rect r="r" b="b" t="t" l="l"/>
              <a:pathLst>
                <a:path h="13716000" w="292608">
                  <a:moveTo>
                    <a:pt x="0" y="0"/>
                  </a:moveTo>
                  <a:lnTo>
                    <a:pt x="292608" y="0"/>
                  </a:lnTo>
                  <a:lnTo>
                    <a:pt x="292608" y="13716000"/>
                  </a:lnTo>
                  <a:lnTo>
                    <a:pt x="0" y="13716000"/>
                  </a:lnTo>
                  <a:close/>
                </a:path>
              </a:pathLst>
            </a:custGeom>
            <a:solidFill>
              <a:srgbClr val="00ACC1"/>
            </a:solidFill>
          </p:spPr>
        </p:sp>
      </p:grpSp>
      <p:grpSp>
        <p:nvGrpSpPr>
          <p:cNvPr name="Group 4" id="4"/>
          <p:cNvGrpSpPr/>
          <p:nvPr/>
        </p:nvGrpSpPr>
        <p:grpSpPr>
          <a:xfrm rot="0">
            <a:off x="13487581" y="0"/>
            <a:ext cx="4800419" cy="10287000"/>
            <a:chOff x="0" y="0"/>
            <a:chExt cx="6400559" cy="13716000"/>
          </a:xfrm>
        </p:grpSpPr>
        <p:sp>
          <p:nvSpPr>
            <p:cNvPr name="Freeform 5" id="5"/>
            <p:cNvSpPr/>
            <p:nvPr/>
          </p:nvSpPr>
          <p:spPr>
            <a:xfrm flipH="false" flipV="false" rot="0">
              <a:off x="0" y="0"/>
              <a:ext cx="6400546" cy="13716000"/>
            </a:xfrm>
            <a:custGeom>
              <a:avLst/>
              <a:gdLst/>
              <a:ahLst/>
              <a:cxnLst/>
              <a:rect r="r" b="b" t="t" l="l"/>
              <a:pathLst>
                <a:path h="13716000" w="6400546">
                  <a:moveTo>
                    <a:pt x="0" y="0"/>
                  </a:moveTo>
                  <a:lnTo>
                    <a:pt x="6400546" y="0"/>
                  </a:lnTo>
                  <a:lnTo>
                    <a:pt x="6400546" y="13716000"/>
                  </a:lnTo>
                  <a:lnTo>
                    <a:pt x="0" y="13716000"/>
                  </a:lnTo>
                  <a:close/>
                </a:path>
              </a:pathLst>
            </a:custGeom>
            <a:solidFill>
              <a:srgbClr val="0A2540">
                <a:alpha val="23529"/>
              </a:srgbClr>
            </a:solidFill>
          </p:spPr>
        </p:sp>
      </p:grpSp>
      <p:grpSp>
        <p:nvGrpSpPr>
          <p:cNvPr name="Group 6" id="6"/>
          <p:cNvGrpSpPr/>
          <p:nvPr/>
        </p:nvGrpSpPr>
        <p:grpSpPr>
          <a:xfrm rot="0">
            <a:off x="16145770" y="0"/>
            <a:ext cx="2142230" cy="10287000"/>
            <a:chOff x="0" y="0"/>
            <a:chExt cx="2856306" cy="13716000"/>
          </a:xfrm>
        </p:grpSpPr>
        <p:sp>
          <p:nvSpPr>
            <p:cNvPr name="Freeform 7" id="7"/>
            <p:cNvSpPr/>
            <p:nvPr/>
          </p:nvSpPr>
          <p:spPr>
            <a:xfrm flipH="false" flipV="false" rot="0">
              <a:off x="0" y="0"/>
              <a:ext cx="2856357" cy="13716000"/>
            </a:xfrm>
            <a:custGeom>
              <a:avLst/>
              <a:gdLst/>
              <a:ahLst/>
              <a:cxnLst/>
              <a:rect r="r" b="b" t="t" l="l"/>
              <a:pathLst>
                <a:path h="13716000" w="2856357">
                  <a:moveTo>
                    <a:pt x="0" y="0"/>
                  </a:moveTo>
                  <a:lnTo>
                    <a:pt x="2856357" y="0"/>
                  </a:lnTo>
                  <a:lnTo>
                    <a:pt x="2856357" y="13716000"/>
                  </a:lnTo>
                  <a:lnTo>
                    <a:pt x="0" y="13716000"/>
                  </a:lnTo>
                  <a:close/>
                </a:path>
              </a:pathLst>
            </a:custGeom>
            <a:solidFill>
              <a:srgbClr val="1E88E5">
                <a:alpha val="0"/>
              </a:srgbClr>
            </a:solidFill>
          </p:spPr>
        </p:sp>
      </p:grpSp>
      <p:grpSp>
        <p:nvGrpSpPr>
          <p:cNvPr name="Group 8" id="8"/>
          <p:cNvGrpSpPr/>
          <p:nvPr/>
        </p:nvGrpSpPr>
        <p:grpSpPr>
          <a:xfrm rot="0">
            <a:off x="566928" y="388620"/>
            <a:ext cx="10972800" cy="640080"/>
            <a:chOff x="0" y="0"/>
            <a:chExt cx="14630400" cy="853440"/>
          </a:xfrm>
        </p:grpSpPr>
        <p:sp>
          <p:nvSpPr>
            <p:cNvPr name="Freeform 9" id="9"/>
            <p:cNvSpPr/>
            <p:nvPr/>
          </p:nvSpPr>
          <p:spPr>
            <a:xfrm flipH="false" flipV="false" rot="0">
              <a:off x="0" y="0"/>
              <a:ext cx="14630400" cy="853440"/>
            </a:xfrm>
            <a:custGeom>
              <a:avLst/>
              <a:gdLst/>
              <a:ahLst/>
              <a:cxnLst/>
              <a:rect r="r" b="b" t="t" l="l"/>
              <a:pathLst>
                <a:path h="853440" w="14630400">
                  <a:moveTo>
                    <a:pt x="0" y="0"/>
                  </a:moveTo>
                  <a:lnTo>
                    <a:pt x="14630400" y="0"/>
                  </a:lnTo>
                  <a:lnTo>
                    <a:pt x="14630400" y="853440"/>
                  </a:lnTo>
                  <a:lnTo>
                    <a:pt x="0" y="853440"/>
                  </a:lnTo>
                  <a:close/>
                </a:path>
              </a:pathLst>
            </a:custGeom>
            <a:blipFill>
              <a:blip r:embed="rId3">
                <a:alphaModFix amt="0"/>
              </a:blip>
              <a:stretch>
                <a:fillRect l="0" t="-283797" r="0" b="-283796"/>
              </a:stretch>
            </a:blipFill>
          </p:spPr>
        </p:sp>
      </p:grpSp>
      <p:grpSp>
        <p:nvGrpSpPr>
          <p:cNvPr name="Group 10" id="10"/>
          <p:cNvGrpSpPr/>
          <p:nvPr/>
        </p:nvGrpSpPr>
        <p:grpSpPr>
          <a:xfrm rot="0">
            <a:off x="566928" y="360045"/>
            <a:ext cx="10972800" cy="668655"/>
            <a:chOff x="0" y="0"/>
            <a:chExt cx="14630400" cy="891540"/>
          </a:xfrm>
        </p:grpSpPr>
        <p:sp>
          <p:nvSpPr>
            <p:cNvPr name="Freeform 11" id="11"/>
            <p:cNvSpPr/>
            <p:nvPr/>
          </p:nvSpPr>
          <p:spPr>
            <a:xfrm flipH="false" flipV="false" rot="0">
              <a:off x="0" y="0"/>
              <a:ext cx="14630400" cy="891540"/>
            </a:xfrm>
            <a:custGeom>
              <a:avLst/>
              <a:gdLst/>
              <a:ahLst/>
              <a:cxnLst/>
              <a:rect r="r" b="b" t="t" l="l"/>
              <a:pathLst>
                <a:path h="891540" w="14630400">
                  <a:moveTo>
                    <a:pt x="0" y="0"/>
                  </a:moveTo>
                  <a:lnTo>
                    <a:pt x="14630400" y="0"/>
                  </a:lnTo>
                  <a:lnTo>
                    <a:pt x="14630400" y="891540"/>
                  </a:lnTo>
                  <a:lnTo>
                    <a:pt x="0" y="891540"/>
                  </a:lnTo>
                  <a:close/>
                </a:path>
              </a:pathLst>
            </a:custGeom>
            <a:blipFill>
              <a:blip r:embed="rId4">
                <a:alphaModFix amt="0"/>
              </a:blip>
              <a:stretch>
                <a:fillRect l="0" t="-269754" r="0" b="-269754"/>
              </a:stretch>
            </a:blipFill>
          </p:spPr>
        </p:sp>
        <p:sp>
          <p:nvSpPr>
            <p:cNvPr name="TextBox 12" id="12"/>
            <p:cNvSpPr txBox="true"/>
            <p:nvPr/>
          </p:nvSpPr>
          <p:spPr>
            <a:xfrm>
              <a:off x="0" y="-85725"/>
              <a:ext cx="14630400" cy="977265"/>
            </a:xfrm>
            <a:prstGeom prst="rect">
              <a:avLst/>
            </a:prstGeom>
          </p:spPr>
          <p:txBody>
            <a:bodyPr anchor="ctr" rtlCol="false" tIns="0" lIns="0" bIns="0" rIns="0"/>
            <a:lstStyle/>
            <a:p>
              <a:pPr algn="l">
                <a:lnSpc>
                  <a:spcPts val="2160"/>
                </a:lnSpc>
              </a:pPr>
              <a:r>
                <a:rPr lang="en-US" b="true" sz="1200" spc="598">
                  <a:solidFill>
                    <a:srgbClr val="00ACC1"/>
                  </a:solidFill>
                  <a:latin typeface="Calibri (MS) Bold"/>
                  <a:ea typeface="Calibri (MS) Bold"/>
                  <a:cs typeface="Calibri (MS) Bold"/>
                  <a:sym typeface="Calibri (MS) Bold"/>
                </a:rPr>
                <a:t>AS</a:t>
              </a:r>
            </a:p>
          </p:txBody>
        </p:sp>
      </p:grpSp>
      <p:grpSp>
        <p:nvGrpSpPr>
          <p:cNvPr name="Group 13" id="13"/>
          <p:cNvGrpSpPr/>
          <p:nvPr/>
        </p:nvGrpSpPr>
        <p:grpSpPr>
          <a:xfrm rot="0">
            <a:off x="566928" y="1724920"/>
            <a:ext cx="15235942" cy="2813742"/>
            <a:chOff x="0" y="0"/>
            <a:chExt cx="20314590" cy="3751656"/>
          </a:xfrm>
        </p:grpSpPr>
        <p:sp>
          <p:nvSpPr>
            <p:cNvPr name="Freeform 14" id="14"/>
            <p:cNvSpPr/>
            <p:nvPr/>
          </p:nvSpPr>
          <p:spPr>
            <a:xfrm flipH="false" flipV="false" rot="0">
              <a:off x="0" y="0"/>
              <a:ext cx="20314538" cy="3751707"/>
            </a:xfrm>
            <a:custGeom>
              <a:avLst/>
              <a:gdLst/>
              <a:ahLst/>
              <a:cxnLst/>
              <a:rect r="r" b="b" t="t" l="l"/>
              <a:pathLst>
                <a:path h="3751707" w="20314538">
                  <a:moveTo>
                    <a:pt x="0" y="0"/>
                  </a:moveTo>
                  <a:lnTo>
                    <a:pt x="20314538" y="0"/>
                  </a:lnTo>
                  <a:lnTo>
                    <a:pt x="20314538" y="3751707"/>
                  </a:lnTo>
                  <a:lnTo>
                    <a:pt x="0" y="3751707"/>
                  </a:lnTo>
                  <a:close/>
                </a:path>
              </a:pathLst>
            </a:custGeom>
            <a:blipFill>
              <a:blip r:embed="rId3">
                <a:alphaModFix amt="0"/>
              </a:blip>
              <a:stretch>
                <a:fillRect l="0" t="-55434" r="0" b="-55432"/>
              </a:stretch>
            </a:blipFill>
          </p:spPr>
        </p:sp>
      </p:grpSp>
      <p:grpSp>
        <p:nvGrpSpPr>
          <p:cNvPr name="Group 15" id="15"/>
          <p:cNvGrpSpPr/>
          <p:nvPr/>
        </p:nvGrpSpPr>
        <p:grpSpPr>
          <a:xfrm rot="0">
            <a:off x="368675" y="1875402"/>
            <a:ext cx="15235942" cy="4052196"/>
            <a:chOff x="0" y="0"/>
            <a:chExt cx="20314590" cy="5402928"/>
          </a:xfrm>
        </p:grpSpPr>
        <p:sp>
          <p:nvSpPr>
            <p:cNvPr name="Freeform 16" id="16"/>
            <p:cNvSpPr/>
            <p:nvPr/>
          </p:nvSpPr>
          <p:spPr>
            <a:xfrm flipH="false" flipV="false" rot="0">
              <a:off x="0" y="0"/>
              <a:ext cx="20314586" cy="5402933"/>
            </a:xfrm>
            <a:custGeom>
              <a:avLst/>
              <a:gdLst/>
              <a:ahLst/>
              <a:cxnLst/>
              <a:rect r="r" b="b" t="t" l="l"/>
              <a:pathLst>
                <a:path h="5402933" w="20314586">
                  <a:moveTo>
                    <a:pt x="0" y="0"/>
                  </a:moveTo>
                  <a:lnTo>
                    <a:pt x="20314586" y="0"/>
                  </a:lnTo>
                  <a:lnTo>
                    <a:pt x="20314586" y="5402933"/>
                  </a:lnTo>
                  <a:lnTo>
                    <a:pt x="0" y="5402933"/>
                  </a:lnTo>
                  <a:close/>
                </a:path>
              </a:pathLst>
            </a:custGeom>
            <a:blipFill>
              <a:blip r:embed="rId4">
                <a:alphaModFix amt="0"/>
              </a:blip>
              <a:stretch>
                <a:fillRect l="0" t="-37044" r="0" b="-9479"/>
              </a:stretch>
            </a:blipFill>
          </p:spPr>
        </p:sp>
        <p:sp>
          <p:nvSpPr>
            <p:cNvPr name="TextBox 17" id="17"/>
            <p:cNvSpPr txBox="true"/>
            <p:nvPr/>
          </p:nvSpPr>
          <p:spPr>
            <a:xfrm>
              <a:off x="0" y="-161925"/>
              <a:ext cx="20314590" cy="5564853"/>
            </a:xfrm>
            <a:prstGeom prst="rect">
              <a:avLst/>
            </a:prstGeom>
          </p:spPr>
          <p:txBody>
            <a:bodyPr anchor="ctr" rtlCol="false" tIns="0" lIns="0" bIns="0" rIns="0"/>
            <a:lstStyle/>
            <a:p>
              <a:pPr algn="l">
                <a:lnSpc>
                  <a:spcPts val="9600"/>
                </a:lnSpc>
              </a:pPr>
              <a:r>
                <a:rPr lang="en-US" sz="8001" b="true">
                  <a:solidFill>
                    <a:srgbClr val="FFFFFF"/>
                  </a:solidFill>
                  <a:latin typeface="Calibri (MS) Bold"/>
                  <a:ea typeface="Calibri (MS) Bold"/>
                  <a:cs typeface="Calibri (MS) Bold"/>
                  <a:sym typeface="Calibri (MS) Bold"/>
                </a:rPr>
                <a:t>Intelligent Scalable Multi-Agent Architecture for Product Development</a:t>
              </a:r>
            </a:p>
          </p:txBody>
        </p:sp>
      </p:grpSp>
      <p:grpSp>
        <p:nvGrpSpPr>
          <p:cNvPr name="Group 18" id="18"/>
          <p:cNvGrpSpPr/>
          <p:nvPr/>
        </p:nvGrpSpPr>
        <p:grpSpPr>
          <a:xfrm rot="0">
            <a:off x="731520" y="7812605"/>
            <a:ext cx="13716000" cy="1695926"/>
            <a:chOff x="0" y="0"/>
            <a:chExt cx="18288000" cy="2261235"/>
          </a:xfrm>
        </p:grpSpPr>
        <p:sp>
          <p:nvSpPr>
            <p:cNvPr name="Freeform 19" id="19"/>
            <p:cNvSpPr/>
            <p:nvPr/>
          </p:nvSpPr>
          <p:spPr>
            <a:xfrm flipH="false" flipV="false" rot="0">
              <a:off x="0" y="0"/>
              <a:ext cx="18288000" cy="2261235"/>
            </a:xfrm>
            <a:custGeom>
              <a:avLst/>
              <a:gdLst/>
              <a:ahLst/>
              <a:cxnLst/>
              <a:rect r="r" b="b" t="t" l="l"/>
              <a:pathLst>
                <a:path h="2261235" w="18288000">
                  <a:moveTo>
                    <a:pt x="0" y="0"/>
                  </a:moveTo>
                  <a:lnTo>
                    <a:pt x="18288000" y="0"/>
                  </a:lnTo>
                  <a:lnTo>
                    <a:pt x="18288000" y="2261235"/>
                  </a:lnTo>
                  <a:lnTo>
                    <a:pt x="0" y="2261235"/>
                  </a:lnTo>
                  <a:close/>
                </a:path>
              </a:pathLst>
            </a:custGeom>
            <a:blipFill>
              <a:blip r:embed="rId4">
                <a:alphaModFix amt="0"/>
              </a:blip>
              <a:stretch>
                <a:fillRect l="0" t="-107587" r="0" b="-107587"/>
              </a:stretch>
            </a:blipFill>
          </p:spPr>
        </p:sp>
        <p:sp>
          <p:nvSpPr>
            <p:cNvPr name="TextBox 20" id="20"/>
            <p:cNvSpPr txBox="true"/>
            <p:nvPr/>
          </p:nvSpPr>
          <p:spPr>
            <a:xfrm>
              <a:off x="0" y="-66675"/>
              <a:ext cx="18288000" cy="2327910"/>
            </a:xfrm>
            <a:prstGeom prst="rect">
              <a:avLst/>
            </a:prstGeom>
          </p:spPr>
          <p:txBody>
            <a:bodyPr anchor="ctr" rtlCol="false" tIns="0" lIns="0" bIns="0" rIns="0"/>
            <a:lstStyle/>
            <a:p>
              <a:pPr algn="l">
                <a:lnSpc>
                  <a:spcPts val="3600"/>
                </a:lnSpc>
              </a:pPr>
              <a:r>
                <a:rPr lang="en-US" sz="3000">
                  <a:solidFill>
                    <a:srgbClr val="90CAF9"/>
                  </a:solidFill>
                  <a:latin typeface="Calibri (MS)"/>
                  <a:ea typeface="Calibri (MS)"/>
                  <a:cs typeface="Calibri (MS)"/>
                  <a:sym typeface="Calibri (MS)"/>
                </a:rPr>
                <a:t>Madhupranavi S</a:t>
              </a:r>
            </a:p>
            <a:p>
              <a:pPr algn="l">
                <a:lnSpc>
                  <a:spcPts val="3600"/>
                </a:lnSpc>
              </a:pPr>
              <a:r>
                <a:rPr lang="en-US" sz="3000">
                  <a:solidFill>
                    <a:srgbClr val="90CAF9"/>
                  </a:solidFill>
                  <a:latin typeface="Calibri (MS)"/>
                  <a:ea typeface="Calibri (MS)"/>
                  <a:cs typeface="Calibri (MS)"/>
                  <a:sym typeface="Calibri (MS)"/>
                </a:rPr>
                <a:t>Revanth Kannan G</a:t>
              </a:r>
            </a:p>
            <a:p>
              <a:pPr algn="l">
                <a:lnSpc>
                  <a:spcPts val="3600"/>
                </a:lnSpc>
              </a:pPr>
              <a:r>
                <a:rPr lang="en-US" sz="3000">
                  <a:solidFill>
                    <a:srgbClr val="90CAF9"/>
                  </a:solidFill>
                  <a:latin typeface="Calibri (MS)"/>
                  <a:ea typeface="Calibri (MS)"/>
                  <a:cs typeface="Calibri (MS)"/>
                  <a:sym typeface="Calibri (MS)"/>
                </a:rPr>
                <a:t>Siddhant Erande</a:t>
              </a:r>
            </a:p>
          </p:txBody>
        </p:sp>
      </p:grpSp>
      <p:grpSp>
        <p:nvGrpSpPr>
          <p:cNvPr name="Group 21" id="21"/>
          <p:cNvGrpSpPr/>
          <p:nvPr/>
        </p:nvGrpSpPr>
        <p:grpSpPr>
          <a:xfrm rot="0">
            <a:off x="731520" y="5927598"/>
            <a:ext cx="11338560" cy="1554480"/>
            <a:chOff x="0" y="0"/>
            <a:chExt cx="15118080" cy="2072640"/>
          </a:xfrm>
        </p:grpSpPr>
        <p:sp>
          <p:nvSpPr>
            <p:cNvPr name="Freeform 22" id="22"/>
            <p:cNvSpPr/>
            <p:nvPr/>
          </p:nvSpPr>
          <p:spPr>
            <a:xfrm flipH="false" flipV="false" rot="0">
              <a:off x="0" y="0"/>
              <a:ext cx="15118080" cy="2072640"/>
            </a:xfrm>
            <a:custGeom>
              <a:avLst/>
              <a:gdLst/>
              <a:ahLst/>
              <a:cxnLst/>
              <a:rect r="r" b="b" t="t" l="l"/>
              <a:pathLst>
                <a:path h="2072640" w="15118080">
                  <a:moveTo>
                    <a:pt x="0" y="0"/>
                  </a:moveTo>
                  <a:lnTo>
                    <a:pt x="15118080" y="0"/>
                  </a:lnTo>
                  <a:lnTo>
                    <a:pt x="15118080" y="2072640"/>
                  </a:lnTo>
                  <a:lnTo>
                    <a:pt x="0" y="2072640"/>
                  </a:lnTo>
                  <a:close/>
                </a:path>
              </a:pathLst>
            </a:custGeom>
            <a:blipFill>
              <a:blip r:embed="rId3">
                <a:alphaModFix amt="0"/>
              </a:blip>
              <a:stretch>
                <a:fillRect l="0" t="-92027" r="0" b="-92026"/>
              </a:stretch>
            </a:blipFill>
          </p:spPr>
        </p:sp>
      </p:grpSp>
      <p:grpSp>
        <p:nvGrpSpPr>
          <p:cNvPr name="Group 23" id="23"/>
          <p:cNvGrpSpPr/>
          <p:nvPr/>
        </p:nvGrpSpPr>
        <p:grpSpPr>
          <a:xfrm rot="0">
            <a:off x="731520" y="5884736"/>
            <a:ext cx="11338560" cy="1597342"/>
            <a:chOff x="0" y="0"/>
            <a:chExt cx="15118080" cy="2129790"/>
          </a:xfrm>
        </p:grpSpPr>
        <p:sp>
          <p:nvSpPr>
            <p:cNvPr name="Freeform 24" id="24"/>
            <p:cNvSpPr/>
            <p:nvPr/>
          </p:nvSpPr>
          <p:spPr>
            <a:xfrm flipH="false" flipV="false" rot="0">
              <a:off x="0" y="0"/>
              <a:ext cx="15118080" cy="2129790"/>
            </a:xfrm>
            <a:custGeom>
              <a:avLst/>
              <a:gdLst/>
              <a:ahLst/>
              <a:cxnLst/>
              <a:rect r="r" b="b" t="t" l="l"/>
              <a:pathLst>
                <a:path h="2129790" w="15118080">
                  <a:moveTo>
                    <a:pt x="0" y="0"/>
                  </a:moveTo>
                  <a:lnTo>
                    <a:pt x="15118080" y="0"/>
                  </a:lnTo>
                  <a:lnTo>
                    <a:pt x="15118080" y="2129790"/>
                  </a:lnTo>
                  <a:lnTo>
                    <a:pt x="0" y="2129790"/>
                  </a:lnTo>
                  <a:close/>
                </a:path>
              </a:pathLst>
            </a:custGeom>
            <a:blipFill>
              <a:blip r:embed="rId4">
                <a:alphaModFix amt="0"/>
              </a:blip>
              <a:stretch>
                <a:fillRect l="0" t="-88312" r="0" b="-88312"/>
              </a:stretch>
            </a:blipFill>
          </p:spPr>
        </p:sp>
        <p:sp>
          <p:nvSpPr>
            <p:cNvPr name="TextBox 25" id="25"/>
            <p:cNvSpPr txBox="true"/>
            <p:nvPr/>
          </p:nvSpPr>
          <p:spPr>
            <a:xfrm>
              <a:off x="0" y="-57150"/>
              <a:ext cx="15118080" cy="2186940"/>
            </a:xfrm>
            <a:prstGeom prst="rect">
              <a:avLst/>
            </a:prstGeom>
          </p:spPr>
          <p:txBody>
            <a:bodyPr anchor="ctr" rtlCol="false" tIns="0" lIns="0" bIns="0" rIns="0"/>
            <a:lstStyle/>
            <a:p>
              <a:pPr algn="l">
                <a:lnSpc>
                  <a:spcPts val="3598"/>
                </a:lnSpc>
              </a:pPr>
              <a:r>
                <a:rPr lang="en-US" sz="2998">
                  <a:solidFill>
                    <a:srgbClr val="90CAF9"/>
                  </a:solidFill>
                  <a:latin typeface="Calibri (MS)"/>
                  <a:ea typeface="Calibri (MS)"/>
                  <a:cs typeface="Calibri (MS)"/>
                  <a:sym typeface="Calibri (MS)"/>
                </a:rPr>
                <a:t>A hierarchical, modular AI framework</a:t>
              </a:r>
            </a:p>
            <a:p>
              <a:pPr algn="l">
                <a:lnSpc>
                  <a:spcPts val="3598"/>
                </a:lnSpc>
              </a:pPr>
              <a:r>
                <a:rPr lang="en-US" sz="2998">
                  <a:solidFill>
                    <a:srgbClr val="90CAF9"/>
                  </a:solidFill>
                  <a:latin typeface="Calibri (MS)"/>
                  <a:ea typeface="Calibri (MS)"/>
                  <a:cs typeface="Calibri (MS)"/>
                  <a:sym typeface="Calibri (MS)"/>
                </a:rPr>
                <a:t>spanning vehicle systems from concept to validation</a:t>
              </a:r>
            </a:p>
          </p:txBody>
        </p:sp>
      </p:grpSp>
      <p:grpSp>
        <p:nvGrpSpPr>
          <p:cNvPr name="Group 26" id="26"/>
          <p:cNvGrpSpPr/>
          <p:nvPr/>
        </p:nvGrpSpPr>
        <p:grpSpPr>
          <a:xfrm rot="0">
            <a:off x="731520" y="7454646"/>
            <a:ext cx="10058400" cy="54864"/>
            <a:chOff x="0" y="0"/>
            <a:chExt cx="13411200" cy="73152"/>
          </a:xfrm>
        </p:grpSpPr>
        <p:sp>
          <p:nvSpPr>
            <p:cNvPr name="Freeform 27" id="27"/>
            <p:cNvSpPr/>
            <p:nvPr/>
          </p:nvSpPr>
          <p:spPr>
            <a:xfrm flipH="false" flipV="false" rot="0">
              <a:off x="0" y="0"/>
              <a:ext cx="13411200" cy="73152"/>
            </a:xfrm>
            <a:custGeom>
              <a:avLst/>
              <a:gdLst/>
              <a:ahLst/>
              <a:cxnLst/>
              <a:rect r="r" b="b" t="t" l="l"/>
              <a:pathLst>
                <a:path h="73152" w="13411200">
                  <a:moveTo>
                    <a:pt x="0" y="0"/>
                  </a:moveTo>
                  <a:lnTo>
                    <a:pt x="13411200" y="0"/>
                  </a:lnTo>
                  <a:lnTo>
                    <a:pt x="13411200" y="73152"/>
                  </a:lnTo>
                  <a:lnTo>
                    <a:pt x="0" y="73152"/>
                  </a:lnTo>
                  <a:close/>
                </a:path>
              </a:pathLst>
            </a:custGeom>
            <a:solidFill>
              <a:srgbClr val="00838F"/>
            </a:solid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5011" y="451066"/>
            <a:ext cx="16459200" cy="1123798"/>
            <a:chOff x="0" y="0"/>
            <a:chExt cx="21945600" cy="1498397"/>
          </a:xfrm>
        </p:grpSpPr>
        <p:sp>
          <p:nvSpPr>
            <p:cNvPr name="Freeform 3" id="3"/>
            <p:cNvSpPr/>
            <p:nvPr/>
          </p:nvSpPr>
          <p:spPr>
            <a:xfrm flipH="false" flipV="false" rot="0">
              <a:off x="0" y="0"/>
              <a:ext cx="21945600" cy="1498346"/>
            </a:xfrm>
            <a:custGeom>
              <a:avLst/>
              <a:gdLst/>
              <a:ahLst/>
              <a:cxnLst/>
              <a:rect r="r" b="b" t="t" l="l"/>
              <a:pathLst>
                <a:path h="1498346" w="21945600">
                  <a:moveTo>
                    <a:pt x="0" y="0"/>
                  </a:moveTo>
                  <a:lnTo>
                    <a:pt x="21945600" y="0"/>
                  </a:lnTo>
                  <a:lnTo>
                    <a:pt x="21945600" y="1498346"/>
                  </a:lnTo>
                  <a:lnTo>
                    <a:pt x="0" y="1498346"/>
                  </a:lnTo>
                  <a:close/>
                </a:path>
              </a:pathLst>
            </a:custGeom>
            <a:blipFill>
              <a:blip r:embed="rId3">
                <a:alphaModFix amt="0"/>
              </a:blip>
              <a:stretch>
                <a:fillRect l="0" t="-235188" r="0" b="-235192"/>
              </a:stretch>
            </a:blipFill>
          </p:spPr>
        </p:sp>
      </p:grpSp>
      <p:grpSp>
        <p:nvGrpSpPr>
          <p:cNvPr name="Group 4" id="4"/>
          <p:cNvGrpSpPr/>
          <p:nvPr/>
        </p:nvGrpSpPr>
        <p:grpSpPr>
          <a:xfrm rot="0">
            <a:off x="775011" y="365341"/>
            <a:ext cx="16459200" cy="1209523"/>
            <a:chOff x="0" y="0"/>
            <a:chExt cx="21945600" cy="1612697"/>
          </a:xfrm>
        </p:grpSpPr>
        <p:sp>
          <p:nvSpPr>
            <p:cNvPr name="Freeform 5" id="5"/>
            <p:cNvSpPr/>
            <p:nvPr/>
          </p:nvSpPr>
          <p:spPr>
            <a:xfrm flipH="false" flipV="false" rot="0">
              <a:off x="0" y="0"/>
              <a:ext cx="21945600" cy="1612702"/>
            </a:xfrm>
            <a:custGeom>
              <a:avLst/>
              <a:gdLst/>
              <a:ahLst/>
              <a:cxnLst/>
              <a:rect r="r" b="b" t="t" l="l"/>
              <a:pathLst>
                <a:path h="1612702" w="21945600">
                  <a:moveTo>
                    <a:pt x="0" y="0"/>
                  </a:moveTo>
                  <a:lnTo>
                    <a:pt x="21945600" y="0"/>
                  </a:lnTo>
                  <a:lnTo>
                    <a:pt x="21945600" y="1612702"/>
                  </a:lnTo>
                  <a:lnTo>
                    <a:pt x="0" y="1612702"/>
                  </a:lnTo>
                  <a:close/>
                </a:path>
              </a:pathLst>
            </a:custGeom>
            <a:blipFill>
              <a:blip r:embed="rId4">
                <a:alphaModFix amt="0"/>
              </a:blip>
              <a:stretch>
                <a:fillRect l="0" t="-215151" r="0" b="-215151"/>
              </a:stretch>
            </a:blipFill>
          </p:spPr>
        </p:sp>
        <p:sp>
          <p:nvSpPr>
            <p:cNvPr name="TextBox 6" id="6"/>
            <p:cNvSpPr txBox="true"/>
            <p:nvPr/>
          </p:nvSpPr>
          <p:spPr>
            <a:xfrm>
              <a:off x="0" y="-133350"/>
              <a:ext cx="21945600" cy="1746047"/>
            </a:xfrm>
            <a:prstGeom prst="rect">
              <a:avLst/>
            </a:prstGeom>
          </p:spPr>
          <p:txBody>
            <a:bodyPr anchor="ctr" rtlCol="false" tIns="0" lIns="0" bIns="0" rIns="0"/>
            <a:lstStyle/>
            <a:p>
              <a:pPr algn="l">
                <a:lnSpc>
                  <a:spcPts val="6720"/>
                </a:lnSpc>
              </a:pPr>
              <a:r>
                <a:rPr lang="en-US" sz="5599" b="true">
                  <a:solidFill>
                    <a:srgbClr val="0D1B2A"/>
                  </a:solidFill>
                  <a:latin typeface="Calibri (MS) Bold"/>
                  <a:ea typeface="Calibri (MS) Bold"/>
                  <a:cs typeface="Calibri (MS) Bold"/>
                  <a:sym typeface="Calibri (MS) Bold"/>
                </a:rPr>
                <a:t>The Problem We're Solving</a:t>
              </a:r>
            </a:p>
          </p:txBody>
        </p:sp>
      </p:grpSp>
      <p:grpSp>
        <p:nvGrpSpPr>
          <p:cNvPr name="Group 7" id="7"/>
          <p:cNvGrpSpPr/>
          <p:nvPr/>
        </p:nvGrpSpPr>
        <p:grpSpPr>
          <a:xfrm rot="0">
            <a:off x="640080" y="1526591"/>
            <a:ext cx="16733520" cy="55778"/>
            <a:chOff x="0" y="0"/>
            <a:chExt cx="22311360" cy="74371"/>
          </a:xfrm>
        </p:grpSpPr>
        <p:sp>
          <p:nvSpPr>
            <p:cNvPr name="Freeform 8" id="8"/>
            <p:cNvSpPr/>
            <p:nvPr/>
          </p:nvSpPr>
          <p:spPr>
            <a:xfrm flipH="false" flipV="false" rot="0">
              <a:off x="0" y="0"/>
              <a:ext cx="22311361" cy="74422"/>
            </a:xfrm>
            <a:custGeom>
              <a:avLst/>
              <a:gdLst/>
              <a:ahLst/>
              <a:cxnLst/>
              <a:rect r="r" b="b" t="t" l="l"/>
              <a:pathLst>
                <a:path h="74422" w="22311361">
                  <a:moveTo>
                    <a:pt x="0" y="0"/>
                  </a:moveTo>
                  <a:lnTo>
                    <a:pt x="22311361" y="0"/>
                  </a:lnTo>
                  <a:lnTo>
                    <a:pt x="22311361" y="74422"/>
                  </a:lnTo>
                  <a:lnTo>
                    <a:pt x="0" y="74422"/>
                  </a:lnTo>
                  <a:close/>
                </a:path>
              </a:pathLst>
            </a:custGeom>
            <a:solidFill>
              <a:srgbClr val="F0F4F8"/>
            </a:solidFill>
          </p:spPr>
        </p:sp>
      </p:grpSp>
      <p:grpSp>
        <p:nvGrpSpPr>
          <p:cNvPr name="Group 9" id="9"/>
          <p:cNvGrpSpPr/>
          <p:nvPr/>
        </p:nvGrpSpPr>
        <p:grpSpPr>
          <a:xfrm rot="0">
            <a:off x="640080" y="2011680"/>
            <a:ext cx="16733520" cy="8002200"/>
            <a:chOff x="0" y="0"/>
            <a:chExt cx="22311360" cy="10669600"/>
          </a:xfrm>
        </p:grpSpPr>
        <p:sp>
          <p:nvSpPr>
            <p:cNvPr name="Freeform 10" id="10"/>
            <p:cNvSpPr/>
            <p:nvPr/>
          </p:nvSpPr>
          <p:spPr>
            <a:xfrm flipH="false" flipV="false" rot="0">
              <a:off x="0" y="0"/>
              <a:ext cx="22311361" cy="10669651"/>
            </a:xfrm>
            <a:custGeom>
              <a:avLst/>
              <a:gdLst/>
              <a:ahLst/>
              <a:cxnLst/>
              <a:rect r="r" b="b" t="t" l="l"/>
              <a:pathLst>
                <a:path h="10669651" w="22311361">
                  <a:moveTo>
                    <a:pt x="0" y="0"/>
                  </a:moveTo>
                  <a:lnTo>
                    <a:pt x="22311361" y="0"/>
                  </a:lnTo>
                  <a:lnTo>
                    <a:pt x="22311361" y="10669651"/>
                  </a:lnTo>
                  <a:lnTo>
                    <a:pt x="0" y="10669651"/>
                  </a:lnTo>
                  <a:close/>
                </a:path>
              </a:pathLst>
            </a:custGeom>
            <a:solidFill>
              <a:srgbClr val="F7FAFF"/>
            </a:solidFill>
          </p:spPr>
        </p:sp>
      </p:grpSp>
      <p:grpSp>
        <p:nvGrpSpPr>
          <p:cNvPr name="Group 11" id="11"/>
          <p:cNvGrpSpPr/>
          <p:nvPr/>
        </p:nvGrpSpPr>
        <p:grpSpPr>
          <a:xfrm rot="0">
            <a:off x="640080" y="1781070"/>
            <a:ext cx="16733520" cy="340338"/>
            <a:chOff x="0" y="0"/>
            <a:chExt cx="22311360" cy="453784"/>
          </a:xfrm>
        </p:grpSpPr>
        <p:sp>
          <p:nvSpPr>
            <p:cNvPr name="Freeform 12" id="12"/>
            <p:cNvSpPr/>
            <p:nvPr/>
          </p:nvSpPr>
          <p:spPr>
            <a:xfrm flipH="false" flipV="false" rot="0">
              <a:off x="0" y="0"/>
              <a:ext cx="22311361" cy="453771"/>
            </a:xfrm>
            <a:custGeom>
              <a:avLst/>
              <a:gdLst/>
              <a:ahLst/>
              <a:cxnLst/>
              <a:rect r="r" b="b" t="t" l="l"/>
              <a:pathLst>
                <a:path h="453771" w="22311361">
                  <a:moveTo>
                    <a:pt x="0" y="0"/>
                  </a:moveTo>
                  <a:lnTo>
                    <a:pt x="22311361" y="0"/>
                  </a:lnTo>
                  <a:lnTo>
                    <a:pt x="22311361" y="453771"/>
                  </a:lnTo>
                  <a:lnTo>
                    <a:pt x="0" y="453771"/>
                  </a:lnTo>
                  <a:close/>
                </a:path>
              </a:pathLst>
            </a:custGeom>
            <a:solidFill>
              <a:srgbClr val="1565C0"/>
            </a:solidFill>
          </p:spPr>
        </p:sp>
      </p:grpSp>
      <p:grpSp>
        <p:nvGrpSpPr>
          <p:cNvPr name="Group 13" id="13"/>
          <p:cNvGrpSpPr/>
          <p:nvPr/>
        </p:nvGrpSpPr>
        <p:grpSpPr>
          <a:xfrm rot="0">
            <a:off x="914400" y="2321433"/>
            <a:ext cx="4846320" cy="1188720"/>
            <a:chOff x="0" y="0"/>
            <a:chExt cx="6461760" cy="1584960"/>
          </a:xfrm>
        </p:grpSpPr>
        <p:sp>
          <p:nvSpPr>
            <p:cNvPr name="Freeform 14" id="14"/>
            <p:cNvSpPr/>
            <p:nvPr/>
          </p:nvSpPr>
          <p:spPr>
            <a:xfrm flipH="false" flipV="false" rot="0">
              <a:off x="0" y="0"/>
              <a:ext cx="6461760" cy="1584960"/>
            </a:xfrm>
            <a:custGeom>
              <a:avLst/>
              <a:gdLst/>
              <a:ahLst/>
              <a:cxnLst/>
              <a:rect r="r" b="b" t="t" l="l"/>
              <a:pathLst>
                <a:path h="1584960" w="6461760">
                  <a:moveTo>
                    <a:pt x="0" y="0"/>
                  </a:moveTo>
                  <a:lnTo>
                    <a:pt x="6461760" y="0"/>
                  </a:lnTo>
                  <a:lnTo>
                    <a:pt x="6461760" y="1584960"/>
                  </a:lnTo>
                  <a:lnTo>
                    <a:pt x="0" y="1584960"/>
                  </a:lnTo>
                  <a:close/>
                </a:path>
              </a:pathLst>
            </a:custGeom>
            <a:blipFill>
              <a:blip r:embed="rId3">
                <a:alphaModFix amt="0"/>
              </a:blip>
              <a:stretch>
                <a:fillRect l="0" t="-29383" r="0" b="-29383"/>
              </a:stretch>
            </a:blipFill>
          </p:spPr>
        </p:sp>
      </p:grpSp>
      <p:grpSp>
        <p:nvGrpSpPr>
          <p:cNvPr name="Group 15" id="15"/>
          <p:cNvGrpSpPr/>
          <p:nvPr/>
        </p:nvGrpSpPr>
        <p:grpSpPr>
          <a:xfrm rot="0">
            <a:off x="914400" y="2271427"/>
            <a:ext cx="4846320" cy="1238726"/>
            <a:chOff x="0" y="0"/>
            <a:chExt cx="6461760" cy="1651635"/>
          </a:xfrm>
        </p:grpSpPr>
        <p:sp>
          <p:nvSpPr>
            <p:cNvPr name="Freeform 16" id="16"/>
            <p:cNvSpPr/>
            <p:nvPr/>
          </p:nvSpPr>
          <p:spPr>
            <a:xfrm flipH="false" flipV="false" rot="0">
              <a:off x="0" y="0"/>
              <a:ext cx="6461760" cy="1651635"/>
            </a:xfrm>
            <a:custGeom>
              <a:avLst/>
              <a:gdLst/>
              <a:ahLst/>
              <a:cxnLst/>
              <a:rect r="r" b="b" t="t" l="l"/>
              <a:pathLst>
                <a:path h="1651635" w="6461760">
                  <a:moveTo>
                    <a:pt x="0" y="0"/>
                  </a:moveTo>
                  <a:lnTo>
                    <a:pt x="6461760" y="0"/>
                  </a:lnTo>
                  <a:lnTo>
                    <a:pt x="6461760" y="1651635"/>
                  </a:lnTo>
                  <a:lnTo>
                    <a:pt x="0" y="1651635"/>
                  </a:lnTo>
                  <a:close/>
                </a:path>
              </a:pathLst>
            </a:custGeom>
            <a:blipFill>
              <a:blip r:embed="rId4">
                <a:alphaModFix amt="0"/>
              </a:blip>
              <a:stretch>
                <a:fillRect l="0" t="-26232" r="0" b="-26232"/>
              </a:stretch>
            </a:blipFill>
          </p:spPr>
        </p:sp>
        <p:sp>
          <p:nvSpPr>
            <p:cNvPr name="TextBox 17" id="17"/>
            <p:cNvSpPr txBox="true"/>
            <p:nvPr/>
          </p:nvSpPr>
          <p:spPr>
            <a:xfrm>
              <a:off x="0" y="-66675"/>
              <a:ext cx="6461760" cy="1718310"/>
            </a:xfrm>
            <a:prstGeom prst="rect">
              <a:avLst/>
            </a:prstGeom>
          </p:spPr>
          <p:txBody>
            <a:bodyPr anchor="ctr" rtlCol="false" tIns="0" lIns="0" bIns="0" rIns="0"/>
            <a:lstStyle/>
            <a:p>
              <a:pPr algn="l">
                <a:lnSpc>
                  <a:spcPts val="3600"/>
                </a:lnSpc>
              </a:pPr>
              <a:r>
                <a:rPr lang="en-US" sz="3000" b="true">
                  <a:solidFill>
                    <a:srgbClr val="0D1B2A"/>
                  </a:solidFill>
                  <a:latin typeface="Calibri (MS) Bold"/>
                  <a:ea typeface="Calibri (MS) Bold"/>
                  <a:cs typeface="Calibri (MS) Bold"/>
                  <a:sym typeface="Calibri (MS) Bold"/>
                </a:rPr>
                <a:t>Scope:</a:t>
              </a:r>
            </a:p>
          </p:txBody>
        </p:sp>
      </p:grpSp>
      <p:grpSp>
        <p:nvGrpSpPr>
          <p:cNvPr name="Group 18" id="18"/>
          <p:cNvGrpSpPr/>
          <p:nvPr/>
        </p:nvGrpSpPr>
        <p:grpSpPr>
          <a:xfrm rot="0">
            <a:off x="914400" y="3277362"/>
            <a:ext cx="15948479" cy="3252378"/>
            <a:chOff x="0" y="0"/>
            <a:chExt cx="21264639" cy="4336504"/>
          </a:xfrm>
        </p:grpSpPr>
        <p:sp>
          <p:nvSpPr>
            <p:cNvPr name="Freeform 19" id="19"/>
            <p:cNvSpPr/>
            <p:nvPr/>
          </p:nvSpPr>
          <p:spPr>
            <a:xfrm flipH="false" flipV="false" rot="0">
              <a:off x="0" y="0"/>
              <a:ext cx="21264626" cy="4336542"/>
            </a:xfrm>
            <a:custGeom>
              <a:avLst/>
              <a:gdLst/>
              <a:ahLst/>
              <a:cxnLst/>
              <a:rect r="r" b="b" t="t" l="l"/>
              <a:pathLst>
                <a:path h="4336542" w="21264626">
                  <a:moveTo>
                    <a:pt x="0" y="0"/>
                  </a:moveTo>
                  <a:lnTo>
                    <a:pt x="21264626" y="0"/>
                  </a:lnTo>
                  <a:lnTo>
                    <a:pt x="21264626" y="4336542"/>
                  </a:lnTo>
                  <a:lnTo>
                    <a:pt x="0" y="4336542"/>
                  </a:lnTo>
                  <a:close/>
                </a:path>
              </a:pathLst>
            </a:custGeom>
            <a:blipFill>
              <a:blip r:embed="rId3">
                <a:alphaModFix amt="0"/>
              </a:blip>
              <a:stretch>
                <a:fillRect l="0" t="-45480" r="0" b="-45480"/>
              </a:stretch>
            </a:blipFill>
          </p:spPr>
        </p:sp>
      </p:grpSp>
      <p:grpSp>
        <p:nvGrpSpPr>
          <p:cNvPr name="Group 20" id="20"/>
          <p:cNvGrpSpPr/>
          <p:nvPr/>
        </p:nvGrpSpPr>
        <p:grpSpPr>
          <a:xfrm rot="0">
            <a:off x="914400" y="3234500"/>
            <a:ext cx="15948479" cy="3295240"/>
            <a:chOff x="0" y="0"/>
            <a:chExt cx="21264639" cy="4393654"/>
          </a:xfrm>
        </p:grpSpPr>
        <p:sp>
          <p:nvSpPr>
            <p:cNvPr name="Freeform 21" id="21"/>
            <p:cNvSpPr/>
            <p:nvPr/>
          </p:nvSpPr>
          <p:spPr>
            <a:xfrm flipH="false" flipV="false" rot="0">
              <a:off x="0" y="0"/>
              <a:ext cx="21264640" cy="4393654"/>
            </a:xfrm>
            <a:custGeom>
              <a:avLst/>
              <a:gdLst/>
              <a:ahLst/>
              <a:cxnLst/>
              <a:rect r="r" b="b" t="t" l="l"/>
              <a:pathLst>
                <a:path h="4393654" w="21264640">
                  <a:moveTo>
                    <a:pt x="0" y="0"/>
                  </a:moveTo>
                  <a:lnTo>
                    <a:pt x="21264640" y="0"/>
                  </a:lnTo>
                  <a:lnTo>
                    <a:pt x="21264640" y="4393654"/>
                  </a:lnTo>
                  <a:lnTo>
                    <a:pt x="0" y="4393654"/>
                  </a:lnTo>
                  <a:close/>
                </a:path>
              </a:pathLst>
            </a:custGeom>
            <a:blipFill>
              <a:blip r:embed="rId4">
                <a:alphaModFix amt="0"/>
              </a:blip>
              <a:stretch>
                <a:fillRect l="0" t="-44304" r="0" b="-44304"/>
              </a:stretch>
            </a:blipFill>
          </p:spPr>
        </p:sp>
        <p:sp>
          <p:nvSpPr>
            <p:cNvPr name="TextBox 22" id="22"/>
            <p:cNvSpPr txBox="true"/>
            <p:nvPr/>
          </p:nvSpPr>
          <p:spPr>
            <a:xfrm>
              <a:off x="0" y="-57150"/>
              <a:ext cx="21264639" cy="4450804"/>
            </a:xfrm>
            <a:prstGeom prst="rect">
              <a:avLst/>
            </a:prstGeom>
          </p:spPr>
          <p:txBody>
            <a:bodyPr anchor="ctr" rtlCol="false" tIns="0" lIns="0" bIns="0" rIns="0"/>
            <a:lstStyle/>
            <a:p>
              <a:pPr algn="l" marL="751126" indent="-250375" lvl="2">
                <a:lnSpc>
                  <a:spcPts val="3118"/>
                </a:lnSpc>
                <a:buFont typeface="Arial"/>
                <a:buChar char="⚬"/>
              </a:pPr>
              <a:r>
                <a:rPr lang="en-US" sz="2599">
                  <a:solidFill>
                    <a:srgbClr val="546E7A"/>
                  </a:solidFill>
                  <a:latin typeface="Calibri (MS)"/>
                  <a:ea typeface="Calibri (MS)"/>
                  <a:cs typeface="Calibri (MS)"/>
                  <a:sym typeface="Calibri (MS)"/>
                </a:rPr>
                <a:t>Multi-domain Product Development — The framework spans all major engineering systems in a vehicle program — Integration, Vehicle System, CAB, E&amp;E, Drivetrain, and Engine — each with their own subsystems and design complexity</a:t>
              </a:r>
            </a:p>
            <a:p>
              <a:pPr algn="l" marL="751126" indent="-250375" lvl="2">
                <a:lnSpc>
                  <a:spcPts val="3118"/>
                </a:lnSpc>
                <a:buFont typeface="Arial"/>
                <a:buChar char="⚬"/>
              </a:pPr>
              <a:r>
                <a:rPr lang="en-US" sz="2599">
                  <a:solidFill>
                    <a:srgbClr val="546E7A"/>
                  </a:solidFill>
                  <a:latin typeface="Calibri (MS)"/>
                  <a:ea typeface="Calibri (MS)"/>
                  <a:cs typeface="Calibri (MS)"/>
                  <a:sym typeface="Calibri (MS)"/>
                </a:rPr>
                <a:t>Subsystem-level intelligence — Within each domain, individual subsystems such as Frames, Suspension, Steering, and Fuel System are addressed independently with their own dedicated agent layer</a:t>
              </a:r>
            </a:p>
            <a:p>
              <a:pPr algn="l" marL="751126" indent="-250375" lvl="2">
                <a:lnSpc>
                  <a:spcPts val="3118"/>
                </a:lnSpc>
                <a:buFont typeface="Arial"/>
                <a:buChar char="⚬"/>
              </a:pPr>
              <a:r>
                <a:rPr lang="en-US" sz="2599">
                  <a:solidFill>
                    <a:srgbClr val="546E7A"/>
                  </a:solidFill>
                  <a:latin typeface="Calibri (MS)"/>
                  <a:ea typeface="Calibri (MS)"/>
                  <a:cs typeface="Calibri (MS)"/>
                  <a:sym typeface="Calibri (MS)"/>
                </a:rPr>
                <a:t>End-to-end engineering tasks — Each subsystem covers the full engineering workflow — from expert advisory and design calculations through to verification, validation, and failure mode analysis</a:t>
              </a:r>
            </a:p>
            <a:p>
              <a:pPr algn="l" marL="751126" indent="-250375" lvl="2">
                <a:lnSpc>
                  <a:spcPts val="3118"/>
                </a:lnSpc>
              </a:pPr>
            </a:p>
          </p:txBody>
        </p:sp>
      </p:grpSp>
      <p:grpSp>
        <p:nvGrpSpPr>
          <p:cNvPr name="Group 23" id="23"/>
          <p:cNvGrpSpPr/>
          <p:nvPr/>
        </p:nvGrpSpPr>
        <p:grpSpPr>
          <a:xfrm rot="0">
            <a:off x="914400" y="6294244"/>
            <a:ext cx="4846320" cy="1188720"/>
            <a:chOff x="0" y="0"/>
            <a:chExt cx="6461760" cy="1584960"/>
          </a:xfrm>
        </p:grpSpPr>
        <p:sp>
          <p:nvSpPr>
            <p:cNvPr name="Freeform 24" id="24"/>
            <p:cNvSpPr/>
            <p:nvPr/>
          </p:nvSpPr>
          <p:spPr>
            <a:xfrm flipH="false" flipV="false" rot="0">
              <a:off x="0" y="0"/>
              <a:ext cx="6461760" cy="1584960"/>
            </a:xfrm>
            <a:custGeom>
              <a:avLst/>
              <a:gdLst/>
              <a:ahLst/>
              <a:cxnLst/>
              <a:rect r="r" b="b" t="t" l="l"/>
              <a:pathLst>
                <a:path h="1584960" w="6461760">
                  <a:moveTo>
                    <a:pt x="0" y="0"/>
                  </a:moveTo>
                  <a:lnTo>
                    <a:pt x="6461760" y="0"/>
                  </a:lnTo>
                  <a:lnTo>
                    <a:pt x="6461760" y="1584960"/>
                  </a:lnTo>
                  <a:lnTo>
                    <a:pt x="0" y="1584960"/>
                  </a:lnTo>
                  <a:close/>
                </a:path>
              </a:pathLst>
            </a:custGeom>
            <a:blipFill>
              <a:blip r:embed="rId3">
                <a:alphaModFix amt="0"/>
              </a:blip>
              <a:stretch>
                <a:fillRect l="0" t="-29383" r="0" b="-29383"/>
              </a:stretch>
            </a:blipFill>
          </p:spPr>
        </p:sp>
      </p:grpSp>
      <p:grpSp>
        <p:nvGrpSpPr>
          <p:cNvPr name="Group 25" id="25"/>
          <p:cNvGrpSpPr/>
          <p:nvPr/>
        </p:nvGrpSpPr>
        <p:grpSpPr>
          <a:xfrm rot="0">
            <a:off x="914400" y="6244238"/>
            <a:ext cx="4846320" cy="1238726"/>
            <a:chOff x="0" y="0"/>
            <a:chExt cx="6461760" cy="1651635"/>
          </a:xfrm>
        </p:grpSpPr>
        <p:sp>
          <p:nvSpPr>
            <p:cNvPr name="Freeform 26" id="26"/>
            <p:cNvSpPr/>
            <p:nvPr/>
          </p:nvSpPr>
          <p:spPr>
            <a:xfrm flipH="false" flipV="false" rot="0">
              <a:off x="0" y="0"/>
              <a:ext cx="6461760" cy="1651635"/>
            </a:xfrm>
            <a:custGeom>
              <a:avLst/>
              <a:gdLst/>
              <a:ahLst/>
              <a:cxnLst/>
              <a:rect r="r" b="b" t="t" l="l"/>
              <a:pathLst>
                <a:path h="1651635" w="6461760">
                  <a:moveTo>
                    <a:pt x="0" y="0"/>
                  </a:moveTo>
                  <a:lnTo>
                    <a:pt x="6461760" y="0"/>
                  </a:lnTo>
                  <a:lnTo>
                    <a:pt x="6461760" y="1651635"/>
                  </a:lnTo>
                  <a:lnTo>
                    <a:pt x="0" y="1651635"/>
                  </a:lnTo>
                  <a:close/>
                </a:path>
              </a:pathLst>
            </a:custGeom>
            <a:blipFill>
              <a:blip r:embed="rId4">
                <a:alphaModFix amt="0"/>
              </a:blip>
              <a:stretch>
                <a:fillRect l="0" t="-26232" r="0" b="-26232"/>
              </a:stretch>
            </a:blipFill>
          </p:spPr>
        </p:sp>
        <p:sp>
          <p:nvSpPr>
            <p:cNvPr name="TextBox 27" id="27"/>
            <p:cNvSpPr txBox="true"/>
            <p:nvPr/>
          </p:nvSpPr>
          <p:spPr>
            <a:xfrm>
              <a:off x="0" y="-66675"/>
              <a:ext cx="6461760" cy="1718310"/>
            </a:xfrm>
            <a:prstGeom prst="rect">
              <a:avLst/>
            </a:prstGeom>
          </p:spPr>
          <p:txBody>
            <a:bodyPr anchor="ctr" rtlCol="false" tIns="0" lIns="0" bIns="0" rIns="0"/>
            <a:lstStyle/>
            <a:p>
              <a:pPr algn="l">
                <a:lnSpc>
                  <a:spcPts val="3600"/>
                </a:lnSpc>
              </a:pPr>
              <a:r>
                <a:rPr lang="en-US" sz="3000" b="true">
                  <a:solidFill>
                    <a:srgbClr val="0D1B2A"/>
                  </a:solidFill>
                  <a:latin typeface="Calibri (MS) Bold"/>
                  <a:ea typeface="Calibri (MS) Bold"/>
                  <a:cs typeface="Calibri (MS) Bold"/>
                  <a:sym typeface="Calibri (MS) Bold"/>
                </a:rPr>
                <a:t>Vision:</a:t>
              </a:r>
            </a:p>
          </p:txBody>
        </p:sp>
      </p:grpSp>
      <p:grpSp>
        <p:nvGrpSpPr>
          <p:cNvPr name="Group 28" id="28"/>
          <p:cNvGrpSpPr/>
          <p:nvPr/>
        </p:nvGrpSpPr>
        <p:grpSpPr>
          <a:xfrm rot="0">
            <a:off x="1028700" y="7482964"/>
            <a:ext cx="15948479" cy="2080803"/>
            <a:chOff x="0" y="0"/>
            <a:chExt cx="21264639" cy="2774404"/>
          </a:xfrm>
        </p:grpSpPr>
        <p:sp>
          <p:nvSpPr>
            <p:cNvPr name="Freeform 29" id="29"/>
            <p:cNvSpPr/>
            <p:nvPr/>
          </p:nvSpPr>
          <p:spPr>
            <a:xfrm flipH="false" flipV="false" rot="0">
              <a:off x="0" y="0"/>
              <a:ext cx="21264626" cy="2774442"/>
            </a:xfrm>
            <a:custGeom>
              <a:avLst/>
              <a:gdLst/>
              <a:ahLst/>
              <a:cxnLst/>
              <a:rect r="r" b="b" t="t" l="l"/>
              <a:pathLst>
                <a:path h="2774442" w="21264626">
                  <a:moveTo>
                    <a:pt x="0" y="0"/>
                  </a:moveTo>
                  <a:lnTo>
                    <a:pt x="21264626" y="0"/>
                  </a:lnTo>
                  <a:lnTo>
                    <a:pt x="21264626" y="2774442"/>
                  </a:lnTo>
                  <a:lnTo>
                    <a:pt x="0" y="2774442"/>
                  </a:lnTo>
                  <a:close/>
                </a:path>
              </a:pathLst>
            </a:custGeom>
            <a:blipFill>
              <a:blip r:embed="rId3">
                <a:alphaModFix amt="0"/>
              </a:blip>
              <a:stretch>
                <a:fillRect l="0" t="-99239" r="0" b="-99238"/>
              </a:stretch>
            </a:blipFill>
          </p:spPr>
        </p:sp>
      </p:grpSp>
      <p:grpSp>
        <p:nvGrpSpPr>
          <p:cNvPr name="Group 30" id="30"/>
          <p:cNvGrpSpPr/>
          <p:nvPr/>
        </p:nvGrpSpPr>
        <p:grpSpPr>
          <a:xfrm rot="0">
            <a:off x="1028700" y="7440101"/>
            <a:ext cx="15948479" cy="2123665"/>
            <a:chOff x="0" y="0"/>
            <a:chExt cx="21264639" cy="2831554"/>
          </a:xfrm>
        </p:grpSpPr>
        <p:sp>
          <p:nvSpPr>
            <p:cNvPr name="Freeform 31" id="31"/>
            <p:cNvSpPr/>
            <p:nvPr/>
          </p:nvSpPr>
          <p:spPr>
            <a:xfrm flipH="false" flipV="false" rot="0">
              <a:off x="0" y="0"/>
              <a:ext cx="21264640" cy="2831554"/>
            </a:xfrm>
            <a:custGeom>
              <a:avLst/>
              <a:gdLst/>
              <a:ahLst/>
              <a:cxnLst/>
              <a:rect r="r" b="b" t="t" l="l"/>
              <a:pathLst>
                <a:path h="2831554" w="21264640">
                  <a:moveTo>
                    <a:pt x="0" y="0"/>
                  </a:moveTo>
                  <a:lnTo>
                    <a:pt x="21264640" y="0"/>
                  </a:lnTo>
                  <a:lnTo>
                    <a:pt x="21264640" y="2831554"/>
                  </a:lnTo>
                  <a:lnTo>
                    <a:pt x="0" y="2831554"/>
                  </a:lnTo>
                  <a:close/>
                </a:path>
              </a:pathLst>
            </a:custGeom>
            <a:blipFill>
              <a:blip r:embed="rId4">
                <a:alphaModFix amt="0"/>
              </a:blip>
              <a:stretch>
                <a:fillRect l="0" t="-96330" r="0" b="-96330"/>
              </a:stretch>
            </a:blipFill>
          </p:spPr>
        </p:sp>
        <p:sp>
          <p:nvSpPr>
            <p:cNvPr name="TextBox 32" id="32"/>
            <p:cNvSpPr txBox="true"/>
            <p:nvPr/>
          </p:nvSpPr>
          <p:spPr>
            <a:xfrm>
              <a:off x="0" y="-57150"/>
              <a:ext cx="21264639" cy="2888704"/>
            </a:xfrm>
            <a:prstGeom prst="rect">
              <a:avLst/>
            </a:prstGeom>
          </p:spPr>
          <p:txBody>
            <a:bodyPr anchor="ctr" rtlCol="false" tIns="0" lIns="0" bIns="0" rIns="0"/>
            <a:lstStyle/>
            <a:p>
              <a:pPr algn="l">
                <a:lnSpc>
                  <a:spcPts val="3120"/>
                </a:lnSpc>
              </a:pPr>
              <a:r>
                <a:rPr lang="en-US" sz="2599">
                  <a:solidFill>
                    <a:srgbClr val="546E7A"/>
                  </a:solidFill>
                  <a:latin typeface="Calibri (MS)"/>
                  <a:ea typeface="Calibri (MS)"/>
                  <a:cs typeface="Calibri (MS)"/>
                  <a:sym typeface="Calibri (MS)"/>
                </a:rPr>
                <a:t>A connected, automated, intelligent layer across all PD systems</a:t>
              </a:r>
            </a:p>
            <a:p>
              <a:pPr algn="l" marL="751129" indent="-250376" lvl="2">
                <a:lnSpc>
                  <a:spcPts val="3120"/>
                </a:lnSpc>
                <a:buFont typeface="Arial"/>
                <a:buChar char="⚬"/>
              </a:pPr>
              <a:r>
                <a:rPr lang="en-US" sz="2599">
                  <a:solidFill>
                    <a:srgbClr val="546E7A"/>
                  </a:solidFill>
                  <a:latin typeface="Calibri (MS)"/>
                  <a:ea typeface="Calibri (MS)"/>
                  <a:cs typeface="Calibri (MS)"/>
                  <a:sym typeface="Calibri (MS)"/>
                </a:rPr>
                <a:t>Automated — Agents handle repetitive engineering tasks end-to-end</a:t>
              </a:r>
            </a:p>
            <a:p>
              <a:pPr algn="l" marL="751129" indent="-250376" lvl="2">
                <a:lnSpc>
                  <a:spcPts val="3120"/>
                </a:lnSpc>
                <a:buFont typeface="Arial"/>
                <a:buChar char="⚬"/>
              </a:pPr>
              <a:r>
                <a:rPr lang="en-US" sz="2599">
                  <a:solidFill>
                    <a:srgbClr val="546E7A"/>
                  </a:solidFill>
                  <a:latin typeface="Calibri (MS)"/>
                  <a:ea typeface="Calibri (MS)"/>
                  <a:cs typeface="Calibri (MS)"/>
                  <a:sym typeface="Calibri (MS)"/>
                </a:rPr>
                <a:t>Expert-Augmented — Domain knowledge and engineering rules embedded in every agent</a:t>
              </a:r>
            </a:p>
            <a:p>
              <a:pPr algn="l" marL="751129" indent="-250376" lvl="2">
                <a:lnSpc>
                  <a:spcPts val="3120"/>
                </a:lnSpc>
                <a:buFont typeface="Arial"/>
                <a:buChar char="⚬"/>
              </a:pPr>
              <a:r>
                <a:rPr lang="en-US" sz="2599">
                  <a:solidFill>
                    <a:srgbClr val="546E7A"/>
                  </a:solidFill>
                  <a:latin typeface="Calibri (MS)"/>
                  <a:ea typeface="Calibri (MS)"/>
                  <a:cs typeface="Calibri (MS)"/>
                  <a:sym typeface="Calibri (MS)"/>
                </a:rPr>
                <a:t>Connected — All systems communicate through a central orchestrator</a:t>
              </a:r>
            </a:p>
            <a:p>
              <a:pPr algn="l" marL="751129" indent="-250376" lvl="2">
                <a:lnSpc>
                  <a:spcPts val="3120"/>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4F8FC"/>
        </a:solidFill>
      </p:bgPr>
    </p:bg>
    <p:spTree>
      <p:nvGrpSpPr>
        <p:cNvPr id="1" name=""/>
        <p:cNvGrpSpPr/>
        <p:nvPr/>
      </p:nvGrpSpPr>
      <p:grpSpPr>
        <a:xfrm>
          <a:off x="0" y="0"/>
          <a:ext cx="0" cy="0"/>
          <a:chOff x="0" y="0"/>
          <a:chExt cx="0" cy="0"/>
        </a:xfrm>
      </p:grpSpPr>
      <p:sp>
        <p:nvSpPr>
          <p:cNvPr name="Freeform 2" id="2"/>
          <p:cNvSpPr/>
          <p:nvPr/>
        </p:nvSpPr>
        <p:spPr>
          <a:xfrm flipH="false" flipV="false" rot="0">
            <a:off x="-12697" y="-12697"/>
            <a:ext cx="18313336" cy="1305496"/>
          </a:xfrm>
          <a:custGeom>
            <a:avLst/>
            <a:gdLst/>
            <a:ahLst/>
            <a:cxnLst/>
            <a:rect r="r" b="b" t="t" l="l"/>
            <a:pathLst>
              <a:path h="1305496" w="18313336">
                <a:moveTo>
                  <a:pt x="0" y="0"/>
                </a:moveTo>
                <a:lnTo>
                  <a:pt x="18313337" y="0"/>
                </a:lnTo>
                <a:lnTo>
                  <a:pt x="18313337" y="1305497"/>
                </a:lnTo>
                <a:lnTo>
                  <a:pt x="0" y="130549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731520" y="0"/>
            <a:ext cx="12801600" cy="1280160"/>
            <a:chOff x="0" y="0"/>
            <a:chExt cx="17068800" cy="1706880"/>
          </a:xfrm>
        </p:grpSpPr>
        <p:sp>
          <p:nvSpPr>
            <p:cNvPr name="Freeform 4" id="4"/>
            <p:cNvSpPr/>
            <p:nvPr/>
          </p:nvSpPr>
          <p:spPr>
            <a:xfrm flipH="false" flipV="false" rot="0">
              <a:off x="0" y="0"/>
              <a:ext cx="17068800" cy="1706880"/>
            </a:xfrm>
            <a:custGeom>
              <a:avLst/>
              <a:gdLst/>
              <a:ahLst/>
              <a:cxnLst/>
              <a:rect r="r" b="b" t="t" l="l"/>
              <a:pathLst>
                <a:path h="1706880" w="17068800">
                  <a:moveTo>
                    <a:pt x="0" y="0"/>
                  </a:moveTo>
                  <a:lnTo>
                    <a:pt x="17068800" y="0"/>
                  </a:lnTo>
                  <a:lnTo>
                    <a:pt x="17068800" y="1706880"/>
                  </a:lnTo>
                  <a:lnTo>
                    <a:pt x="0" y="1706880"/>
                  </a:lnTo>
                  <a:close/>
                </a:path>
              </a:pathLst>
            </a:custGeom>
            <a:blipFill>
              <a:blip r:embed="rId5">
                <a:alphaModFix amt="0"/>
              </a:blip>
              <a:stretch>
                <a:fillRect l="0" t="-144715" r="0" b="-144715"/>
              </a:stretch>
            </a:blipFill>
          </p:spPr>
        </p:sp>
      </p:grpSp>
      <p:grpSp>
        <p:nvGrpSpPr>
          <p:cNvPr name="Group 5" id="5"/>
          <p:cNvGrpSpPr/>
          <p:nvPr/>
        </p:nvGrpSpPr>
        <p:grpSpPr>
          <a:xfrm rot="0">
            <a:off x="731520" y="-64294"/>
            <a:ext cx="12801600" cy="1344454"/>
            <a:chOff x="0" y="0"/>
            <a:chExt cx="17068800" cy="1792605"/>
          </a:xfrm>
        </p:grpSpPr>
        <p:sp>
          <p:nvSpPr>
            <p:cNvPr name="Freeform 6" id="6"/>
            <p:cNvSpPr/>
            <p:nvPr/>
          </p:nvSpPr>
          <p:spPr>
            <a:xfrm flipH="false" flipV="false" rot="0">
              <a:off x="0" y="0"/>
              <a:ext cx="17068800" cy="1792605"/>
            </a:xfrm>
            <a:custGeom>
              <a:avLst/>
              <a:gdLst/>
              <a:ahLst/>
              <a:cxnLst/>
              <a:rect r="r" b="b" t="t" l="l"/>
              <a:pathLst>
                <a:path h="1792605" w="17068800">
                  <a:moveTo>
                    <a:pt x="0" y="0"/>
                  </a:moveTo>
                  <a:lnTo>
                    <a:pt x="17068800" y="0"/>
                  </a:lnTo>
                  <a:lnTo>
                    <a:pt x="17068800" y="1792605"/>
                  </a:lnTo>
                  <a:lnTo>
                    <a:pt x="0" y="1792605"/>
                  </a:lnTo>
                  <a:close/>
                </a:path>
              </a:pathLst>
            </a:custGeom>
            <a:blipFill>
              <a:blip r:embed="rId6">
                <a:alphaModFix amt="0"/>
              </a:blip>
              <a:stretch>
                <a:fillRect l="0" t="-135532" r="0" b="-135532"/>
              </a:stretch>
            </a:blipFill>
          </p:spPr>
        </p:sp>
        <p:sp>
          <p:nvSpPr>
            <p:cNvPr name="TextBox 7" id="7"/>
            <p:cNvSpPr txBox="true"/>
            <p:nvPr/>
          </p:nvSpPr>
          <p:spPr>
            <a:xfrm>
              <a:off x="0" y="-85725"/>
              <a:ext cx="17068800" cy="1878330"/>
            </a:xfrm>
            <a:prstGeom prst="rect">
              <a:avLst/>
            </a:prstGeom>
          </p:spPr>
          <p:txBody>
            <a:bodyPr anchor="ctr" rtlCol="false" tIns="0" lIns="0" bIns="0" rIns="0"/>
            <a:lstStyle/>
            <a:p>
              <a:pPr algn="l">
                <a:lnSpc>
                  <a:spcPts val="4798"/>
                </a:lnSpc>
              </a:pPr>
              <a:r>
                <a:rPr lang="en-US" b="true" sz="3999" spc="499">
                  <a:solidFill>
                    <a:srgbClr val="FFFFFF"/>
                  </a:solidFill>
                  <a:latin typeface="Calibri (MS) Bold"/>
                  <a:ea typeface="Calibri (MS) Bold"/>
                  <a:cs typeface="Calibri (MS) Bold"/>
                  <a:sym typeface="Calibri (MS) Bold"/>
                </a:rPr>
                <a:t>ARCHITECTURE OVERVIEW</a:t>
              </a:r>
            </a:p>
          </p:txBody>
        </p:sp>
      </p:grpSp>
      <p:grpSp>
        <p:nvGrpSpPr>
          <p:cNvPr name="Group 8" id="8"/>
          <p:cNvGrpSpPr/>
          <p:nvPr/>
        </p:nvGrpSpPr>
        <p:grpSpPr>
          <a:xfrm rot="0">
            <a:off x="12801600" y="0"/>
            <a:ext cx="5120640" cy="1280160"/>
            <a:chOff x="0" y="0"/>
            <a:chExt cx="6827520" cy="1706880"/>
          </a:xfrm>
        </p:grpSpPr>
        <p:sp>
          <p:nvSpPr>
            <p:cNvPr name="Freeform 9" id="9"/>
            <p:cNvSpPr/>
            <p:nvPr/>
          </p:nvSpPr>
          <p:spPr>
            <a:xfrm flipH="false" flipV="false" rot="0">
              <a:off x="0" y="0"/>
              <a:ext cx="6827520" cy="1706880"/>
            </a:xfrm>
            <a:custGeom>
              <a:avLst/>
              <a:gdLst/>
              <a:ahLst/>
              <a:cxnLst/>
              <a:rect r="r" b="b" t="t" l="l"/>
              <a:pathLst>
                <a:path h="1706880" w="6827520">
                  <a:moveTo>
                    <a:pt x="0" y="0"/>
                  </a:moveTo>
                  <a:lnTo>
                    <a:pt x="6827520" y="0"/>
                  </a:lnTo>
                  <a:lnTo>
                    <a:pt x="6827520" y="1706880"/>
                  </a:lnTo>
                  <a:lnTo>
                    <a:pt x="0" y="1706880"/>
                  </a:lnTo>
                  <a:close/>
                </a:path>
              </a:pathLst>
            </a:custGeom>
            <a:blipFill>
              <a:blip r:embed="rId5">
                <a:alphaModFix amt="0"/>
              </a:blip>
              <a:stretch>
                <a:fillRect l="0" t="-27886" r="0" b="-27885"/>
              </a:stretch>
            </a:blipFill>
          </p:spPr>
        </p:sp>
      </p:grpSp>
      <p:grpSp>
        <p:nvGrpSpPr>
          <p:cNvPr name="Group 10" id="10"/>
          <p:cNvGrpSpPr/>
          <p:nvPr/>
        </p:nvGrpSpPr>
        <p:grpSpPr>
          <a:xfrm rot="0">
            <a:off x="12801600" y="-28575"/>
            <a:ext cx="5120640" cy="1308735"/>
            <a:chOff x="0" y="0"/>
            <a:chExt cx="6827520" cy="1744980"/>
          </a:xfrm>
        </p:grpSpPr>
        <p:sp>
          <p:nvSpPr>
            <p:cNvPr name="Freeform 11" id="11"/>
            <p:cNvSpPr/>
            <p:nvPr/>
          </p:nvSpPr>
          <p:spPr>
            <a:xfrm flipH="false" flipV="false" rot="0">
              <a:off x="0" y="0"/>
              <a:ext cx="6827520" cy="1744980"/>
            </a:xfrm>
            <a:custGeom>
              <a:avLst/>
              <a:gdLst/>
              <a:ahLst/>
              <a:cxnLst/>
              <a:rect r="r" b="b" t="t" l="l"/>
              <a:pathLst>
                <a:path h="1744980" w="6827520">
                  <a:moveTo>
                    <a:pt x="0" y="0"/>
                  </a:moveTo>
                  <a:lnTo>
                    <a:pt x="6827520" y="0"/>
                  </a:lnTo>
                  <a:lnTo>
                    <a:pt x="6827520" y="1744980"/>
                  </a:lnTo>
                  <a:lnTo>
                    <a:pt x="0" y="1744980"/>
                  </a:lnTo>
                  <a:close/>
                </a:path>
              </a:pathLst>
            </a:custGeom>
            <a:blipFill>
              <a:blip r:embed="rId6">
                <a:alphaModFix amt="0"/>
              </a:blip>
              <a:stretch>
                <a:fillRect l="0" t="-26238" r="0" b="-26238"/>
              </a:stretch>
            </a:blipFill>
          </p:spPr>
        </p:sp>
        <p:sp>
          <p:nvSpPr>
            <p:cNvPr name="TextBox 12" id="12"/>
            <p:cNvSpPr txBox="true"/>
            <p:nvPr/>
          </p:nvSpPr>
          <p:spPr>
            <a:xfrm>
              <a:off x="0" y="-38100"/>
              <a:ext cx="6827520" cy="1783080"/>
            </a:xfrm>
            <a:prstGeom prst="rect">
              <a:avLst/>
            </a:prstGeom>
          </p:spPr>
          <p:txBody>
            <a:bodyPr anchor="ctr" rtlCol="false" tIns="0" lIns="0" bIns="0" rIns="0"/>
            <a:lstStyle/>
            <a:p>
              <a:pPr algn="r">
                <a:lnSpc>
                  <a:spcPts val="2160"/>
                </a:lnSpc>
              </a:pPr>
              <a:r>
                <a:rPr lang="en-US" sz="1800">
                  <a:solidFill>
                    <a:srgbClr val="B8D4E0"/>
                  </a:solidFill>
                  <a:latin typeface="Calibri (MS)"/>
                  <a:ea typeface="Calibri (MS)"/>
                  <a:cs typeface="Calibri (MS)"/>
                  <a:sym typeface="Calibri (MS)"/>
                </a:rPr>
                <a:t>N  ·  N-1  ·  N-2  ·  Agent Layer</a:t>
              </a:r>
            </a:p>
          </p:txBody>
        </p:sp>
      </p:grpSp>
      <p:sp>
        <p:nvSpPr>
          <p:cNvPr name="Freeform 13" id="13"/>
          <p:cNvSpPr/>
          <p:nvPr/>
        </p:nvSpPr>
        <p:spPr>
          <a:xfrm flipH="false" flipV="false" rot="0">
            <a:off x="340424" y="1795312"/>
            <a:ext cx="1159192" cy="1159192"/>
          </a:xfrm>
          <a:custGeom>
            <a:avLst/>
            <a:gdLst/>
            <a:ahLst/>
            <a:cxnLst/>
            <a:rect r="r" b="b" t="t" l="l"/>
            <a:pathLst>
              <a:path h="1159192" w="1159192">
                <a:moveTo>
                  <a:pt x="0" y="0"/>
                </a:moveTo>
                <a:lnTo>
                  <a:pt x="1159192" y="0"/>
                </a:lnTo>
                <a:lnTo>
                  <a:pt x="1159192" y="1159193"/>
                </a:lnTo>
                <a:lnTo>
                  <a:pt x="0" y="115919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4" id="14"/>
          <p:cNvGrpSpPr/>
          <p:nvPr/>
        </p:nvGrpSpPr>
        <p:grpSpPr>
          <a:xfrm rot="0">
            <a:off x="365827" y="1951522"/>
            <a:ext cx="1133856" cy="640080"/>
            <a:chOff x="0" y="0"/>
            <a:chExt cx="1511808" cy="853440"/>
          </a:xfrm>
        </p:grpSpPr>
        <p:sp>
          <p:nvSpPr>
            <p:cNvPr name="Freeform 15" id="15"/>
            <p:cNvSpPr/>
            <p:nvPr/>
          </p:nvSpPr>
          <p:spPr>
            <a:xfrm flipH="false" flipV="false" rot="0">
              <a:off x="0" y="0"/>
              <a:ext cx="1511808" cy="853440"/>
            </a:xfrm>
            <a:custGeom>
              <a:avLst/>
              <a:gdLst/>
              <a:ahLst/>
              <a:cxnLst/>
              <a:rect r="r" b="b" t="t" l="l"/>
              <a:pathLst>
                <a:path h="853440" w="1511808">
                  <a:moveTo>
                    <a:pt x="0" y="0"/>
                  </a:moveTo>
                  <a:lnTo>
                    <a:pt x="1511808" y="0"/>
                  </a:lnTo>
                  <a:lnTo>
                    <a:pt x="1511808" y="853440"/>
                  </a:lnTo>
                  <a:lnTo>
                    <a:pt x="0" y="853440"/>
                  </a:lnTo>
                  <a:close/>
                </a:path>
              </a:pathLst>
            </a:custGeom>
            <a:blipFill>
              <a:blip r:embed="rId5">
                <a:alphaModFix amt="0"/>
              </a:blip>
              <a:stretch>
                <a:fillRect l="-22479" t="0" r="-22479" b="0"/>
              </a:stretch>
            </a:blipFill>
          </p:spPr>
        </p:sp>
      </p:grpSp>
      <p:grpSp>
        <p:nvGrpSpPr>
          <p:cNvPr name="Group 16" id="16"/>
          <p:cNvGrpSpPr/>
          <p:nvPr/>
        </p:nvGrpSpPr>
        <p:grpSpPr>
          <a:xfrm rot="0">
            <a:off x="365827" y="1901516"/>
            <a:ext cx="1133856" cy="690086"/>
            <a:chOff x="0" y="0"/>
            <a:chExt cx="1511808" cy="920115"/>
          </a:xfrm>
        </p:grpSpPr>
        <p:sp>
          <p:nvSpPr>
            <p:cNvPr name="Freeform 17" id="17"/>
            <p:cNvSpPr/>
            <p:nvPr/>
          </p:nvSpPr>
          <p:spPr>
            <a:xfrm flipH="false" flipV="false" rot="0">
              <a:off x="0" y="0"/>
              <a:ext cx="1511808" cy="920115"/>
            </a:xfrm>
            <a:custGeom>
              <a:avLst/>
              <a:gdLst/>
              <a:ahLst/>
              <a:cxnLst/>
              <a:rect r="r" b="b" t="t" l="l"/>
              <a:pathLst>
                <a:path h="920115" w="1511808">
                  <a:moveTo>
                    <a:pt x="0" y="0"/>
                  </a:moveTo>
                  <a:lnTo>
                    <a:pt x="1511808" y="0"/>
                  </a:lnTo>
                  <a:lnTo>
                    <a:pt x="1511808" y="920115"/>
                  </a:lnTo>
                  <a:lnTo>
                    <a:pt x="0" y="920115"/>
                  </a:lnTo>
                  <a:close/>
                </a:path>
              </a:pathLst>
            </a:custGeom>
            <a:blipFill>
              <a:blip r:embed="rId6">
                <a:alphaModFix amt="0"/>
              </a:blip>
              <a:stretch>
                <a:fillRect l="-28087" t="0" r="-28087" b="0"/>
              </a:stretch>
            </a:blipFill>
          </p:spPr>
        </p:sp>
        <p:sp>
          <p:nvSpPr>
            <p:cNvPr name="TextBox 18" id="18"/>
            <p:cNvSpPr txBox="true"/>
            <p:nvPr/>
          </p:nvSpPr>
          <p:spPr>
            <a:xfrm>
              <a:off x="0" y="-66675"/>
              <a:ext cx="1511808" cy="986790"/>
            </a:xfrm>
            <a:prstGeom prst="rect">
              <a:avLst/>
            </a:prstGeom>
          </p:spPr>
          <p:txBody>
            <a:bodyPr anchor="ctr" rtlCol="false" tIns="0" lIns="0" bIns="0" rIns="0"/>
            <a:lstStyle/>
            <a:p>
              <a:pPr algn="ctr">
                <a:lnSpc>
                  <a:spcPts val="3718"/>
                </a:lnSpc>
              </a:pPr>
              <a:r>
                <a:rPr lang="en-US" sz="3099" b="true">
                  <a:solidFill>
                    <a:srgbClr val="FFFFFF"/>
                  </a:solidFill>
                  <a:latin typeface="Calibri (MS) Bold"/>
                  <a:ea typeface="Calibri (MS) Bold"/>
                  <a:cs typeface="Calibri (MS) Bold"/>
                  <a:sym typeface="Calibri (MS) Bold"/>
                </a:rPr>
                <a:t>N</a:t>
              </a:r>
            </a:p>
          </p:txBody>
        </p:sp>
      </p:grpSp>
      <p:grpSp>
        <p:nvGrpSpPr>
          <p:cNvPr name="Group 19" id="19"/>
          <p:cNvGrpSpPr/>
          <p:nvPr/>
        </p:nvGrpSpPr>
        <p:grpSpPr>
          <a:xfrm rot="0">
            <a:off x="316544" y="2941865"/>
            <a:ext cx="1207008" cy="1005840"/>
            <a:chOff x="0" y="0"/>
            <a:chExt cx="1609344" cy="1341120"/>
          </a:xfrm>
        </p:grpSpPr>
        <p:sp>
          <p:nvSpPr>
            <p:cNvPr name="Freeform 20" id="20"/>
            <p:cNvSpPr/>
            <p:nvPr/>
          </p:nvSpPr>
          <p:spPr>
            <a:xfrm flipH="false" flipV="false" rot="0">
              <a:off x="0" y="0"/>
              <a:ext cx="1609344" cy="1341120"/>
            </a:xfrm>
            <a:custGeom>
              <a:avLst/>
              <a:gdLst/>
              <a:ahLst/>
              <a:cxnLst/>
              <a:rect r="r" b="b" t="t" l="l"/>
              <a:pathLst>
                <a:path h="1341120" w="1609344">
                  <a:moveTo>
                    <a:pt x="0" y="0"/>
                  </a:moveTo>
                  <a:lnTo>
                    <a:pt x="1609344" y="0"/>
                  </a:lnTo>
                  <a:lnTo>
                    <a:pt x="1609344" y="1341120"/>
                  </a:lnTo>
                  <a:lnTo>
                    <a:pt x="0" y="1341120"/>
                  </a:lnTo>
                  <a:close/>
                </a:path>
              </a:pathLst>
            </a:custGeom>
            <a:blipFill>
              <a:blip r:embed="rId5">
                <a:alphaModFix amt="0"/>
              </a:blip>
              <a:stretch>
                <a:fillRect l="-56994" t="0" r="-56994" b="0"/>
              </a:stretch>
            </a:blipFill>
          </p:spPr>
        </p:sp>
      </p:grpSp>
      <p:grpSp>
        <p:nvGrpSpPr>
          <p:cNvPr name="Group 21" id="21"/>
          <p:cNvGrpSpPr/>
          <p:nvPr/>
        </p:nvGrpSpPr>
        <p:grpSpPr>
          <a:xfrm rot="0">
            <a:off x="316544" y="2920434"/>
            <a:ext cx="1207008" cy="1027271"/>
            <a:chOff x="0" y="0"/>
            <a:chExt cx="1609344" cy="1369695"/>
          </a:xfrm>
        </p:grpSpPr>
        <p:sp>
          <p:nvSpPr>
            <p:cNvPr name="Freeform 22" id="22"/>
            <p:cNvSpPr/>
            <p:nvPr/>
          </p:nvSpPr>
          <p:spPr>
            <a:xfrm flipH="false" flipV="false" rot="0">
              <a:off x="0" y="0"/>
              <a:ext cx="1609344" cy="1369695"/>
            </a:xfrm>
            <a:custGeom>
              <a:avLst/>
              <a:gdLst/>
              <a:ahLst/>
              <a:cxnLst/>
              <a:rect r="r" b="b" t="t" l="l"/>
              <a:pathLst>
                <a:path h="1369695" w="1609344">
                  <a:moveTo>
                    <a:pt x="0" y="0"/>
                  </a:moveTo>
                  <a:lnTo>
                    <a:pt x="1609344" y="0"/>
                  </a:lnTo>
                  <a:lnTo>
                    <a:pt x="1609344" y="1369695"/>
                  </a:lnTo>
                  <a:lnTo>
                    <a:pt x="0" y="1369695"/>
                  </a:lnTo>
                  <a:close/>
                </a:path>
              </a:pathLst>
            </a:custGeom>
            <a:blipFill>
              <a:blip r:embed="rId6">
                <a:alphaModFix amt="0"/>
              </a:blip>
              <a:stretch>
                <a:fillRect l="-59197" t="0" r="-59197" b="0"/>
              </a:stretch>
            </a:blipFill>
          </p:spPr>
        </p:sp>
        <p:sp>
          <p:nvSpPr>
            <p:cNvPr name="TextBox 23" id="23"/>
            <p:cNvSpPr txBox="true"/>
            <p:nvPr/>
          </p:nvSpPr>
          <p:spPr>
            <a:xfrm>
              <a:off x="0" y="-28575"/>
              <a:ext cx="1609344" cy="1398270"/>
            </a:xfrm>
            <a:prstGeom prst="rect">
              <a:avLst/>
            </a:prstGeom>
          </p:spPr>
          <p:txBody>
            <a:bodyPr anchor="ctr" rtlCol="false" tIns="0" lIns="0" bIns="0" rIns="0"/>
            <a:lstStyle/>
            <a:p>
              <a:pPr algn="ctr">
                <a:lnSpc>
                  <a:spcPts val="1560"/>
                </a:lnSpc>
              </a:pPr>
              <a:r>
                <a:rPr lang="en-US" sz="1300">
                  <a:solidFill>
                    <a:srgbClr val="0D1B2A"/>
                  </a:solidFill>
                  <a:latin typeface="Calibri (MS)"/>
                  <a:ea typeface="Calibri (MS)"/>
                  <a:cs typeface="Calibri (MS)"/>
                  <a:sym typeface="Calibri (MS)"/>
                </a:rPr>
                <a:t>Central</a:t>
              </a:r>
            </a:p>
            <a:p>
              <a:pPr algn="ctr">
                <a:lnSpc>
                  <a:spcPts val="1560"/>
                </a:lnSpc>
              </a:pPr>
              <a:r>
                <a:rPr lang="en-US" sz="1300">
                  <a:solidFill>
                    <a:srgbClr val="0D1B2A"/>
                  </a:solidFill>
                  <a:latin typeface="Calibri (MS)"/>
                  <a:ea typeface="Calibri (MS)"/>
                  <a:cs typeface="Calibri (MS)"/>
                  <a:sym typeface="Calibri (MS)"/>
                </a:rPr>
                <a:t>Orchestrator</a:t>
              </a:r>
            </a:p>
          </p:txBody>
        </p:sp>
      </p:grpSp>
      <p:sp>
        <p:nvSpPr>
          <p:cNvPr name="Freeform 24" id="24"/>
          <p:cNvSpPr/>
          <p:nvPr/>
        </p:nvSpPr>
        <p:spPr>
          <a:xfrm flipH="false" flipV="false" rot="0">
            <a:off x="340424" y="3441232"/>
            <a:ext cx="1159192" cy="1159193"/>
          </a:xfrm>
          <a:custGeom>
            <a:avLst/>
            <a:gdLst/>
            <a:ahLst/>
            <a:cxnLst/>
            <a:rect r="r" b="b" t="t" l="l"/>
            <a:pathLst>
              <a:path h="1159193" w="1159192">
                <a:moveTo>
                  <a:pt x="0" y="0"/>
                </a:moveTo>
                <a:lnTo>
                  <a:pt x="1159192" y="0"/>
                </a:lnTo>
                <a:lnTo>
                  <a:pt x="1159192" y="1159193"/>
                </a:lnTo>
                <a:lnTo>
                  <a:pt x="0" y="115919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5" id="25"/>
          <p:cNvGrpSpPr/>
          <p:nvPr/>
        </p:nvGrpSpPr>
        <p:grpSpPr>
          <a:xfrm rot="0">
            <a:off x="353120" y="3453929"/>
            <a:ext cx="1133856" cy="640080"/>
            <a:chOff x="0" y="0"/>
            <a:chExt cx="1511808" cy="853440"/>
          </a:xfrm>
        </p:grpSpPr>
        <p:sp>
          <p:nvSpPr>
            <p:cNvPr name="Freeform 26" id="26"/>
            <p:cNvSpPr/>
            <p:nvPr/>
          </p:nvSpPr>
          <p:spPr>
            <a:xfrm flipH="false" flipV="false" rot="0">
              <a:off x="0" y="0"/>
              <a:ext cx="1511808" cy="853440"/>
            </a:xfrm>
            <a:custGeom>
              <a:avLst/>
              <a:gdLst/>
              <a:ahLst/>
              <a:cxnLst/>
              <a:rect r="r" b="b" t="t" l="l"/>
              <a:pathLst>
                <a:path h="853440" w="1511808">
                  <a:moveTo>
                    <a:pt x="0" y="0"/>
                  </a:moveTo>
                  <a:lnTo>
                    <a:pt x="1511808" y="0"/>
                  </a:lnTo>
                  <a:lnTo>
                    <a:pt x="1511808" y="853440"/>
                  </a:lnTo>
                  <a:lnTo>
                    <a:pt x="0" y="853440"/>
                  </a:lnTo>
                  <a:close/>
                </a:path>
              </a:pathLst>
            </a:custGeom>
            <a:blipFill>
              <a:blip r:embed="rId5">
                <a:alphaModFix amt="0"/>
              </a:blip>
              <a:stretch>
                <a:fillRect l="-22479" t="0" r="-22479" b="0"/>
              </a:stretch>
            </a:blipFill>
          </p:spPr>
        </p:sp>
      </p:grpSp>
      <p:grpSp>
        <p:nvGrpSpPr>
          <p:cNvPr name="Group 27" id="27"/>
          <p:cNvGrpSpPr/>
          <p:nvPr/>
        </p:nvGrpSpPr>
        <p:grpSpPr>
          <a:xfrm rot="0">
            <a:off x="353120" y="3425354"/>
            <a:ext cx="1133856" cy="668655"/>
            <a:chOff x="0" y="0"/>
            <a:chExt cx="1511808" cy="891540"/>
          </a:xfrm>
        </p:grpSpPr>
        <p:sp>
          <p:nvSpPr>
            <p:cNvPr name="Freeform 28" id="28"/>
            <p:cNvSpPr/>
            <p:nvPr/>
          </p:nvSpPr>
          <p:spPr>
            <a:xfrm flipH="false" flipV="false" rot="0">
              <a:off x="0" y="0"/>
              <a:ext cx="1511808" cy="891540"/>
            </a:xfrm>
            <a:custGeom>
              <a:avLst/>
              <a:gdLst/>
              <a:ahLst/>
              <a:cxnLst/>
              <a:rect r="r" b="b" t="t" l="l"/>
              <a:pathLst>
                <a:path h="891540" w="1511808">
                  <a:moveTo>
                    <a:pt x="0" y="0"/>
                  </a:moveTo>
                  <a:lnTo>
                    <a:pt x="1511808" y="0"/>
                  </a:lnTo>
                  <a:lnTo>
                    <a:pt x="1511808" y="891540"/>
                  </a:lnTo>
                  <a:lnTo>
                    <a:pt x="0" y="891540"/>
                  </a:lnTo>
                  <a:close/>
                </a:path>
              </a:pathLst>
            </a:custGeom>
            <a:blipFill>
              <a:blip r:embed="rId6">
                <a:alphaModFix amt="0"/>
              </a:blip>
              <a:stretch>
                <a:fillRect l="-25662" t="0" r="-25662" b="0"/>
              </a:stretch>
            </a:blipFill>
          </p:spPr>
        </p:sp>
        <p:sp>
          <p:nvSpPr>
            <p:cNvPr name="TextBox 29" id="29"/>
            <p:cNvSpPr txBox="true"/>
            <p:nvPr/>
          </p:nvSpPr>
          <p:spPr>
            <a:xfrm>
              <a:off x="0" y="-38100"/>
              <a:ext cx="1511808" cy="92964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N-1</a:t>
              </a:r>
            </a:p>
          </p:txBody>
        </p:sp>
      </p:grpSp>
      <p:grpSp>
        <p:nvGrpSpPr>
          <p:cNvPr name="Group 30" id="30"/>
          <p:cNvGrpSpPr/>
          <p:nvPr/>
        </p:nvGrpSpPr>
        <p:grpSpPr>
          <a:xfrm rot="0">
            <a:off x="316544" y="4587785"/>
            <a:ext cx="1207008" cy="1005840"/>
            <a:chOff x="0" y="0"/>
            <a:chExt cx="1609344" cy="1341120"/>
          </a:xfrm>
        </p:grpSpPr>
        <p:sp>
          <p:nvSpPr>
            <p:cNvPr name="Freeform 31" id="31"/>
            <p:cNvSpPr/>
            <p:nvPr/>
          </p:nvSpPr>
          <p:spPr>
            <a:xfrm flipH="false" flipV="false" rot="0">
              <a:off x="0" y="0"/>
              <a:ext cx="1609344" cy="1341120"/>
            </a:xfrm>
            <a:custGeom>
              <a:avLst/>
              <a:gdLst/>
              <a:ahLst/>
              <a:cxnLst/>
              <a:rect r="r" b="b" t="t" l="l"/>
              <a:pathLst>
                <a:path h="1341120" w="1609344">
                  <a:moveTo>
                    <a:pt x="0" y="0"/>
                  </a:moveTo>
                  <a:lnTo>
                    <a:pt x="1609344" y="0"/>
                  </a:lnTo>
                  <a:lnTo>
                    <a:pt x="1609344" y="1341120"/>
                  </a:lnTo>
                  <a:lnTo>
                    <a:pt x="0" y="1341120"/>
                  </a:lnTo>
                  <a:close/>
                </a:path>
              </a:pathLst>
            </a:custGeom>
            <a:blipFill>
              <a:blip r:embed="rId5">
                <a:alphaModFix amt="0"/>
              </a:blip>
              <a:stretch>
                <a:fillRect l="-56994" t="0" r="-56994" b="0"/>
              </a:stretch>
            </a:blipFill>
          </p:spPr>
        </p:sp>
      </p:grpSp>
      <p:grpSp>
        <p:nvGrpSpPr>
          <p:cNvPr name="Group 32" id="32"/>
          <p:cNvGrpSpPr/>
          <p:nvPr/>
        </p:nvGrpSpPr>
        <p:grpSpPr>
          <a:xfrm rot="0">
            <a:off x="316544" y="4566354"/>
            <a:ext cx="1207008" cy="1027271"/>
            <a:chOff x="0" y="0"/>
            <a:chExt cx="1609344" cy="1369695"/>
          </a:xfrm>
        </p:grpSpPr>
        <p:sp>
          <p:nvSpPr>
            <p:cNvPr name="Freeform 33" id="33"/>
            <p:cNvSpPr/>
            <p:nvPr/>
          </p:nvSpPr>
          <p:spPr>
            <a:xfrm flipH="false" flipV="false" rot="0">
              <a:off x="0" y="0"/>
              <a:ext cx="1609344" cy="1369695"/>
            </a:xfrm>
            <a:custGeom>
              <a:avLst/>
              <a:gdLst/>
              <a:ahLst/>
              <a:cxnLst/>
              <a:rect r="r" b="b" t="t" l="l"/>
              <a:pathLst>
                <a:path h="1369695" w="1609344">
                  <a:moveTo>
                    <a:pt x="0" y="0"/>
                  </a:moveTo>
                  <a:lnTo>
                    <a:pt x="1609344" y="0"/>
                  </a:lnTo>
                  <a:lnTo>
                    <a:pt x="1609344" y="1369695"/>
                  </a:lnTo>
                  <a:lnTo>
                    <a:pt x="0" y="1369695"/>
                  </a:lnTo>
                  <a:close/>
                </a:path>
              </a:pathLst>
            </a:custGeom>
            <a:blipFill>
              <a:blip r:embed="rId6">
                <a:alphaModFix amt="0"/>
              </a:blip>
              <a:stretch>
                <a:fillRect l="-59197" t="0" r="-59197" b="0"/>
              </a:stretch>
            </a:blipFill>
          </p:spPr>
        </p:sp>
        <p:sp>
          <p:nvSpPr>
            <p:cNvPr name="TextBox 34" id="34"/>
            <p:cNvSpPr txBox="true"/>
            <p:nvPr/>
          </p:nvSpPr>
          <p:spPr>
            <a:xfrm>
              <a:off x="0" y="-28575"/>
              <a:ext cx="1609344" cy="1398270"/>
            </a:xfrm>
            <a:prstGeom prst="rect">
              <a:avLst/>
            </a:prstGeom>
          </p:spPr>
          <p:txBody>
            <a:bodyPr anchor="ctr" rtlCol="false" tIns="0" lIns="0" bIns="0" rIns="0"/>
            <a:lstStyle/>
            <a:p>
              <a:pPr algn="ctr">
                <a:lnSpc>
                  <a:spcPts val="1560"/>
                </a:lnSpc>
              </a:pPr>
              <a:r>
                <a:rPr lang="en-US" sz="1300">
                  <a:solidFill>
                    <a:srgbClr val="0A7EA4"/>
                  </a:solidFill>
                  <a:latin typeface="Calibri (MS)"/>
                  <a:ea typeface="Calibri (MS)"/>
                  <a:cs typeface="Calibri (MS)"/>
                  <a:sym typeface="Calibri (MS)"/>
                </a:rPr>
                <a:t>Domain</a:t>
              </a:r>
            </a:p>
            <a:p>
              <a:pPr algn="ctr">
                <a:lnSpc>
                  <a:spcPts val="1560"/>
                </a:lnSpc>
              </a:pPr>
              <a:r>
                <a:rPr lang="en-US" sz="1300">
                  <a:solidFill>
                    <a:srgbClr val="0A7EA4"/>
                  </a:solidFill>
                  <a:latin typeface="Calibri (MS)"/>
                  <a:ea typeface="Calibri (MS)"/>
                  <a:cs typeface="Calibri (MS)"/>
                  <a:sym typeface="Calibri (MS)"/>
                </a:rPr>
                <a:t>Systems</a:t>
              </a:r>
            </a:p>
          </p:txBody>
        </p:sp>
      </p:grpSp>
      <p:sp>
        <p:nvSpPr>
          <p:cNvPr name="Freeform 35" id="35"/>
          <p:cNvSpPr/>
          <p:nvPr/>
        </p:nvSpPr>
        <p:spPr>
          <a:xfrm flipH="false" flipV="false" rot="0">
            <a:off x="340424" y="5635792"/>
            <a:ext cx="1159192" cy="1159192"/>
          </a:xfrm>
          <a:custGeom>
            <a:avLst/>
            <a:gdLst/>
            <a:ahLst/>
            <a:cxnLst/>
            <a:rect r="r" b="b" t="t" l="l"/>
            <a:pathLst>
              <a:path h="1159192" w="1159192">
                <a:moveTo>
                  <a:pt x="0" y="0"/>
                </a:moveTo>
                <a:lnTo>
                  <a:pt x="1159192" y="0"/>
                </a:lnTo>
                <a:lnTo>
                  <a:pt x="1159192" y="1159193"/>
                </a:lnTo>
                <a:lnTo>
                  <a:pt x="0" y="115919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36" id="36"/>
          <p:cNvGrpSpPr/>
          <p:nvPr/>
        </p:nvGrpSpPr>
        <p:grpSpPr>
          <a:xfrm rot="0">
            <a:off x="353120" y="5648489"/>
            <a:ext cx="1133856" cy="640080"/>
            <a:chOff x="0" y="0"/>
            <a:chExt cx="1511808" cy="853440"/>
          </a:xfrm>
        </p:grpSpPr>
        <p:sp>
          <p:nvSpPr>
            <p:cNvPr name="Freeform 37" id="37"/>
            <p:cNvSpPr/>
            <p:nvPr/>
          </p:nvSpPr>
          <p:spPr>
            <a:xfrm flipH="false" flipV="false" rot="0">
              <a:off x="0" y="0"/>
              <a:ext cx="1511808" cy="853440"/>
            </a:xfrm>
            <a:custGeom>
              <a:avLst/>
              <a:gdLst/>
              <a:ahLst/>
              <a:cxnLst/>
              <a:rect r="r" b="b" t="t" l="l"/>
              <a:pathLst>
                <a:path h="853440" w="1511808">
                  <a:moveTo>
                    <a:pt x="0" y="0"/>
                  </a:moveTo>
                  <a:lnTo>
                    <a:pt x="1511808" y="0"/>
                  </a:lnTo>
                  <a:lnTo>
                    <a:pt x="1511808" y="853440"/>
                  </a:lnTo>
                  <a:lnTo>
                    <a:pt x="0" y="853440"/>
                  </a:lnTo>
                  <a:close/>
                </a:path>
              </a:pathLst>
            </a:custGeom>
            <a:blipFill>
              <a:blip r:embed="rId5">
                <a:alphaModFix amt="0"/>
              </a:blip>
              <a:stretch>
                <a:fillRect l="-22479" t="0" r="-22479" b="0"/>
              </a:stretch>
            </a:blipFill>
          </p:spPr>
        </p:sp>
      </p:grpSp>
      <p:grpSp>
        <p:nvGrpSpPr>
          <p:cNvPr name="Group 38" id="38"/>
          <p:cNvGrpSpPr/>
          <p:nvPr/>
        </p:nvGrpSpPr>
        <p:grpSpPr>
          <a:xfrm rot="0">
            <a:off x="353120" y="5619914"/>
            <a:ext cx="1133856" cy="668655"/>
            <a:chOff x="0" y="0"/>
            <a:chExt cx="1511808" cy="891540"/>
          </a:xfrm>
        </p:grpSpPr>
        <p:sp>
          <p:nvSpPr>
            <p:cNvPr name="Freeform 39" id="39"/>
            <p:cNvSpPr/>
            <p:nvPr/>
          </p:nvSpPr>
          <p:spPr>
            <a:xfrm flipH="false" flipV="false" rot="0">
              <a:off x="0" y="0"/>
              <a:ext cx="1511808" cy="891540"/>
            </a:xfrm>
            <a:custGeom>
              <a:avLst/>
              <a:gdLst/>
              <a:ahLst/>
              <a:cxnLst/>
              <a:rect r="r" b="b" t="t" l="l"/>
              <a:pathLst>
                <a:path h="891540" w="1511808">
                  <a:moveTo>
                    <a:pt x="0" y="0"/>
                  </a:moveTo>
                  <a:lnTo>
                    <a:pt x="1511808" y="0"/>
                  </a:lnTo>
                  <a:lnTo>
                    <a:pt x="1511808" y="891540"/>
                  </a:lnTo>
                  <a:lnTo>
                    <a:pt x="0" y="891540"/>
                  </a:lnTo>
                  <a:close/>
                </a:path>
              </a:pathLst>
            </a:custGeom>
            <a:blipFill>
              <a:blip r:embed="rId6">
                <a:alphaModFix amt="0"/>
              </a:blip>
              <a:stretch>
                <a:fillRect l="-25662" t="0" r="-25662" b="0"/>
              </a:stretch>
            </a:blipFill>
          </p:spPr>
        </p:sp>
        <p:sp>
          <p:nvSpPr>
            <p:cNvPr name="TextBox 40" id="40"/>
            <p:cNvSpPr txBox="true"/>
            <p:nvPr/>
          </p:nvSpPr>
          <p:spPr>
            <a:xfrm>
              <a:off x="0" y="-38100"/>
              <a:ext cx="1511808" cy="92964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N-2</a:t>
              </a:r>
            </a:p>
          </p:txBody>
        </p:sp>
      </p:grpSp>
      <p:grpSp>
        <p:nvGrpSpPr>
          <p:cNvPr name="Group 41" id="41"/>
          <p:cNvGrpSpPr/>
          <p:nvPr/>
        </p:nvGrpSpPr>
        <p:grpSpPr>
          <a:xfrm rot="0">
            <a:off x="316544" y="6782345"/>
            <a:ext cx="1207008" cy="1005840"/>
            <a:chOff x="0" y="0"/>
            <a:chExt cx="1609344" cy="1341120"/>
          </a:xfrm>
        </p:grpSpPr>
        <p:sp>
          <p:nvSpPr>
            <p:cNvPr name="Freeform 42" id="42"/>
            <p:cNvSpPr/>
            <p:nvPr/>
          </p:nvSpPr>
          <p:spPr>
            <a:xfrm flipH="false" flipV="false" rot="0">
              <a:off x="0" y="0"/>
              <a:ext cx="1609344" cy="1341120"/>
            </a:xfrm>
            <a:custGeom>
              <a:avLst/>
              <a:gdLst/>
              <a:ahLst/>
              <a:cxnLst/>
              <a:rect r="r" b="b" t="t" l="l"/>
              <a:pathLst>
                <a:path h="1341120" w="1609344">
                  <a:moveTo>
                    <a:pt x="0" y="0"/>
                  </a:moveTo>
                  <a:lnTo>
                    <a:pt x="1609344" y="0"/>
                  </a:lnTo>
                  <a:lnTo>
                    <a:pt x="1609344" y="1341120"/>
                  </a:lnTo>
                  <a:lnTo>
                    <a:pt x="0" y="1341120"/>
                  </a:lnTo>
                  <a:close/>
                </a:path>
              </a:pathLst>
            </a:custGeom>
            <a:blipFill>
              <a:blip r:embed="rId5">
                <a:alphaModFix amt="0"/>
              </a:blip>
              <a:stretch>
                <a:fillRect l="-56994" t="0" r="-56994" b="0"/>
              </a:stretch>
            </a:blipFill>
          </p:spPr>
        </p:sp>
      </p:grpSp>
      <p:grpSp>
        <p:nvGrpSpPr>
          <p:cNvPr name="Group 43" id="43"/>
          <p:cNvGrpSpPr/>
          <p:nvPr/>
        </p:nvGrpSpPr>
        <p:grpSpPr>
          <a:xfrm rot="0">
            <a:off x="316544" y="6760914"/>
            <a:ext cx="1207008" cy="1027271"/>
            <a:chOff x="0" y="0"/>
            <a:chExt cx="1609344" cy="1369695"/>
          </a:xfrm>
        </p:grpSpPr>
        <p:sp>
          <p:nvSpPr>
            <p:cNvPr name="Freeform 44" id="44"/>
            <p:cNvSpPr/>
            <p:nvPr/>
          </p:nvSpPr>
          <p:spPr>
            <a:xfrm flipH="false" flipV="false" rot="0">
              <a:off x="0" y="0"/>
              <a:ext cx="1609344" cy="1369695"/>
            </a:xfrm>
            <a:custGeom>
              <a:avLst/>
              <a:gdLst/>
              <a:ahLst/>
              <a:cxnLst/>
              <a:rect r="r" b="b" t="t" l="l"/>
              <a:pathLst>
                <a:path h="1369695" w="1609344">
                  <a:moveTo>
                    <a:pt x="0" y="0"/>
                  </a:moveTo>
                  <a:lnTo>
                    <a:pt x="1609344" y="0"/>
                  </a:lnTo>
                  <a:lnTo>
                    <a:pt x="1609344" y="1369695"/>
                  </a:lnTo>
                  <a:lnTo>
                    <a:pt x="0" y="1369695"/>
                  </a:lnTo>
                  <a:close/>
                </a:path>
              </a:pathLst>
            </a:custGeom>
            <a:blipFill>
              <a:blip r:embed="rId6">
                <a:alphaModFix amt="0"/>
              </a:blip>
              <a:stretch>
                <a:fillRect l="-59197" t="0" r="-59197" b="0"/>
              </a:stretch>
            </a:blipFill>
          </p:spPr>
        </p:sp>
        <p:sp>
          <p:nvSpPr>
            <p:cNvPr name="TextBox 45" id="45"/>
            <p:cNvSpPr txBox="true"/>
            <p:nvPr/>
          </p:nvSpPr>
          <p:spPr>
            <a:xfrm>
              <a:off x="0" y="-28575"/>
              <a:ext cx="1609344" cy="1398270"/>
            </a:xfrm>
            <a:prstGeom prst="rect">
              <a:avLst/>
            </a:prstGeom>
          </p:spPr>
          <p:txBody>
            <a:bodyPr anchor="ctr" rtlCol="false" tIns="0" lIns="0" bIns="0" rIns="0"/>
            <a:lstStyle/>
            <a:p>
              <a:pPr algn="ctr">
                <a:lnSpc>
                  <a:spcPts val="1560"/>
                </a:lnSpc>
              </a:pPr>
              <a:r>
                <a:rPr lang="en-US" sz="1300">
                  <a:solidFill>
                    <a:srgbClr val="2E86AB"/>
                  </a:solidFill>
                  <a:latin typeface="Calibri (MS)"/>
                  <a:ea typeface="Calibri (MS)"/>
                  <a:cs typeface="Calibri (MS)"/>
                  <a:sym typeface="Calibri (MS)"/>
                </a:rPr>
                <a:t>Sub</a:t>
              </a:r>
            </a:p>
            <a:p>
              <a:pPr algn="ctr">
                <a:lnSpc>
                  <a:spcPts val="1560"/>
                </a:lnSpc>
              </a:pPr>
              <a:r>
                <a:rPr lang="en-US" sz="1300">
                  <a:solidFill>
                    <a:srgbClr val="2E86AB"/>
                  </a:solidFill>
                  <a:latin typeface="Calibri (MS)"/>
                  <a:ea typeface="Calibri (MS)"/>
                  <a:cs typeface="Calibri (MS)"/>
                  <a:sym typeface="Calibri (MS)"/>
                </a:rPr>
                <a:t>Systems</a:t>
              </a:r>
            </a:p>
          </p:txBody>
        </p:sp>
      </p:grpSp>
      <p:sp>
        <p:nvSpPr>
          <p:cNvPr name="Freeform 46" id="46"/>
          <p:cNvSpPr/>
          <p:nvPr/>
        </p:nvSpPr>
        <p:spPr>
          <a:xfrm flipH="false" flipV="false" rot="0">
            <a:off x="340424" y="7610896"/>
            <a:ext cx="1159192" cy="1159192"/>
          </a:xfrm>
          <a:custGeom>
            <a:avLst/>
            <a:gdLst/>
            <a:ahLst/>
            <a:cxnLst/>
            <a:rect r="r" b="b" t="t" l="l"/>
            <a:pathLst>
              <a:path h="1159192" w="1159192">
                <a:moveTo>
                  <a:pt x="0" y="0"/>
                </a:moveTo>
                <a:lnTo>
                  <a:pt x="1159192" y="0"/>
                </a:lnTo>
                <a:lnTo>
                  <a:pt x="1159192" y="1159193"/>
                </a:lnTo>
                <a:lnTo>
                  <a:pt x="0" y="115919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47" id="47"/>
          <p:cNvGrpSpPr/>
          <p:nvPr/>
        </p:nvGrpSpPr>
        <p:grpSpPr>
          <a:xfrm rot="0">
            <a:off x="365827" y="7870481"/>
            <a:ext cx="1133856" cy="640080"/>
            <a:chOff x="0" y="0"/>
            <a:chExt cx="1511808" cy="853440"/>
          </a:xfrm>
        </p:grpSpPr>
        <p:sp>
          <p:nvSpPr>
            <p:cNvPr name="Freeform 48" id="48"/>
            <p:cNvSpPr/>
            <p:nvPr/>
          </p:nvSpPr>
          <p:spPr>
            <a:xfrm flipH="false" flipV="false" rot="0">
              <a:off x="0" y="0"/>
              <a:ext cx="1511808" cy="853440"/>
            </a:xfrm>
            <a:custGeom>
              <a:avLst/>
              <a:gdLst/>
              <a:ahLst/>
              <a:cxnLst/>
              <a:rect r="r" b="b" t="t" l="l"/>
              <a:pathLst>
                <a:path h="853440" w="1511808">
                  <a:moveTo>
                    <a:pt x="0" y="0"/>
                  </a:moveTo>
                  <a:lnTo>
                    <a:pt x="1511808" y="0"/>
                  </a:lnTo>
                  <a:lnTo>
                    <a:pt x="1511808" y="853440"/>
                  </a:lnTo>
                  <a:lnTo>
                    <a:pt x="0" y="853440"/>
                  </a:lnTo>
                  <a:close/>
                </a:path>
              </a:pathLst>
            </a:custGeom>
            <a:blipFill>
              <a:blip r:embed="rId5">
                <a:alphaModFix amt="0"/>
              </a:blip>
              <a:stretch>
                <a:fillRect l="-22479" t="0" r="-22479" b="0"/>
              </a:stretch>
            </a:blipFill>
          </p:spPr>
        </p:sp>
      </p:grpSp>
      <p:grpSp>
        <p:nvGrpSpPr>
          <p:cNvPr name="Group 49" id="49"/>
          <p:cNvGrpSpPr/>
          <p:nvPr/>
        </p:nvGrpSpPr>
        <p:grpSpPr>
          <a:xfrm rot="0">
            <a:off x="365827" y="7841906"/>
            <a:ext cx="1133856" cy="668655"/>
            <a:chOff x="0" y="0"/>
            <a:chExt cx="1511808" cy="891540"/>
          </a:xfrm>
        </p:grpSpPr>
        <p:sp>
          <p:nvSpPr>
            <p:cNvPr name="Freeform 50" id="50"/>
            <p:cNvSpPr/>
            <p:nvPr/>
          </p:nvSpPr>
          <p:spPr>
            <a:xfrm flipH="false" flipV="false" rot="0">
              <a:off x="0" y="0"/>
              <a:ext cx="1511808" cy="891540"/>
            </a:xfrm>
            <a:custGeom>
              <a:avLst/>
              <a:gdLst/>
              <a:ahLst/>
              <a:cxnLst/>
              <a:rect r="r" b="b" t="t" l="l"/>
              <a:pathLst>
                <a:path h="891540" w="1511808">
                  <a:moveTo>
                    <a:pt x="0" y="0"/>
                  </a:moveTo>
                  <a:lnTo>
                    <a:pt x="1511808" y="0"/>
                  </a:lnTo>
                  <a:lnTo>
                    <a:pt x="1511808" y="891540"/>
                  </a:lnTo>
                  <a:lnTo>
                    <a:pt x="0" y="891540"/>
                  </a:lnTo>
                  <a:close/>
                </a:path>
              </a:pathLst>
            </a:custGeom>
            <a:blipFill>
              <a:blip r:embed="rId6">
                <a:alphaModFix amt="0"/>
              </a:blip>
              <a:stretch>
                <a:fillRect l="-25662" t="0" r="-25662" b="0"/>
              </a:stretch>
            </a:blipFill>
          </p:spPr>
        </p:sp>
        <p:sp>
          <p:nvSpPr>
            <p:cNvPr name="TextBox 51" id="51"/>
            <p:cNvSpPr txBox="true"/>
            <p:nvPr/>
          </p:nvSpPr>
          <p:spPr>
            <a:xfrm>
              <a:off x="0" y="-38100"/>
              <a:ext cx="1511808" cy="92964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Agents</a:t>
              </a:r>
            </a:p>
          </p:txBody>
        </p:sp>
      </p:grpSp>
      <p:grpSp>
        <p:nvGrpSpPr>
          <p:cNvPr name="Group 52" id="52"/>
          <p:cNvGrpSpPr/>
          <p:nvPr/>
        </p:nvGrpSpPr>
        <p:grpSpPr>
          <a:xfrm rot="0">
            <a:off x="316544" y="8736018"/>
            <a:ext cx="1207008" cy="1027271"/>
            <a:chOff x="0" y="0"/>
            <a:chExt cx="1609344" cy="1369695"/>
          </a:xfrm>
        </p:grpSpPr>
        <p:sp>
          <p:nvSpPr>
            <p:cNvPr name="Freeform 53" id="53"/>
            <p:cNvSpPr/>
            <p:nvPr/>
          </p:nvSpPr>
          <p:spPr>
            <a:xfrm flipH="false" flipV="false" rot="0">
              <a:off x="0" y="0"/>
              <a:ext cx="1609344" cy="1369695"/>
            </a:xfrm>
            <a:custGeom>
              <a:avLst/>
              <a:gdLst/>
              <a:ahLst/>
              <a:cxnLst/>
              <a:rect r="r" b="b" t="t" l="l"/>
              <a:pathLst>
                <a:path h="1369695" w="1609344">
                  <a:moveTo>
                    <a:pt x="0" y="0"/>
                  </a:moveTo>
                  <a:lnTo>
                    <a:pt x="1609344" y="0"/>
                  </a:lnTo>
                  <a:lnTo>
                    <a:pt x="1609344" y="1369695"/>
                  </a:lnTo>
                  <a:lnTo>
                    <a:pt x="0" y="1369695"/>
                  </a:lnTo>
                  <a:close/>
                </a:path>
              </a:pathLst>
            </a:custGeom>
            <a:blipFill>
              <a:blip r:embed="rId6">
                <a:alphaModFix amt="0"/>
              </a:blip>
              <a:stretch>
                <a:fillRect l="-59197" t="0" r="-59197" b="0"/>
              </a:stretch>
            </a:blipFill>
          </p:spPr>
        </p:sp>
        <p:sp>
          <p:nvSpPr>
            <p:cNvPr name="TextBox 54" id="54"/>
            <p:cNvSpPr txBox="true"/>
            <p:nvPr/>
          </p:nvSpPr>
          <p:spPr>
            <a:xfrm>
              <a:off x="0" y="-28575"/>
              <a:ext cx="1609344" cy="1398270"/>
            </a:xfrm>
            <a:prstGeom prst="rect">
              <a:avLst/>
            </a:prstGeom>
          </p:spPr>
          <p:txBody>
            <a:bodyPr anchor="ctr" rtlCol="false" tIns="0" lIns="0" bIns="0" rIns="0"/>
            <a:lstStyle/>
            <a:p>
              <a:pPr algn="ctr">
                <a:lnSpc>
                  <a:spcPts val="1560"/>
                </a:lnSpc>
              </a:pPr>
              <a:r>
                <a:rPr lang="en-US" sz="1300">
                  <a:solidFill>
                    <a:srgbClr val="1E88E5"/>
                  </a:solidFill>
                  <a:latin typeface="Calibri (MS)"/>
                  <a:ea typeface="Calibri (MS)"/>
                  <a:cs typeface="Calibri (MS)"/>
                  <a:sym typeface="Calibri (MS)"/>
                </a:rPr>
                <a:t>Per Sub-</a:t>
              </a:r>
            </a:p>
            <a:p>
              <a:pPr algn="ctr">
                <a:lnSpc>
                  <a:spcPts val="1560"/>
                </a:lnSpc>
              </a:pPr>
              <a:r>
                <a:rPr lang="en-US" sz="1300">
                  <a:solidFill>
                    <a:srgbClr val="1E88E5"/>
                  </a:solidFill>
                  <a:latin typeface="Calibri (MS)"/>
                  <a:ea typeface="Calibri (MS)"/>
                  <a:cs typeface="Calibri (MS)"/>
                  <a:sym typeface="Calibri (MS)"/>
                </a:rPr>
                <a:t>System</a:t>
              </a:r>
            </a:p>
          </p:txBody>
        </p:sp>
      </p:grpSp>
      <p:sp>
        <p:nvSpPr>
          <p:cNvPr name="Freeform 55" id="55"/>
          <p:cNvSpPr/>
          <p:nvPr/>
        </p:nvSpPr>
        <p:spPr>
          <a:xfrm flipH="false" flipV="false" rot="0">
            <a:off x="1712024" y="1758736"/>
            <a:ext cx="16210216" cy="1268920"/>
          </a:xfrm>
          <a:custGeom>
            <a:avLst/>
            <a:gdLst/>
            <a:ahLst/>
            <a:cxnLst/>
            <a:rect r="r" b="b" t="t" l="l"/>
            <a:pathLst>
              <a:path h="1268920" w="16210216">
                <a:moveTo>
                  <a:pt x="0" y="0"/>
                </a:moveTo>
                <a:lnTo>
                  <a:pt x="16210216" y="0"/>
                </a:lnTo>
                <a:lnTo>
                  <a:pt x="16210216" y="1268921"/>
                </a:lnTo>
                <a:lnTo>
                  <a:pt x="0" y="126892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56" id="56"/>
          <p:cNvGrpSpPr/>
          <p:nvPr/>
        </p:nvGrpSpPr>
        <p:grpSpPr>
          <a:xfrm rot="0">
            <a:off x="1724720" y="1771433"/>
            <a:ext cx="16184880" cy="1243584"/>
            <a:chOff x="0" y="0"/>
            <a:chExt cx="21579840" cy="1658112"/>
          </a:xfrm>
        </p:grpSpPr>
        <p:sp>
          <p:nvSpPr>
            <p:cNvPr name="Freeform 57" id="57"/>
            <p:cNvSpPr/>
            <p:nvPr/>
          </p:nvSpPr>
          <p:spPr>
            <a:xfrm flipH="false" flipV="false" rot="0">
              <a:off x="0" y="0"/>
              <a:ext cx="21579839" cy="1658112"/>
            </a:xfrm>
            <a:custGeom>
              <a:avLst/>
              <a:gdLst/>
              <a:ahLst/>
              <a:cxnLst/>
              <a:rect r="r" b="b" t="t" l="l"/>
              <a:pathLst>
                <a:path h="1658112" w="21579839">
                  <a:moveTo>
                    <a:pt x="0" y="0"/>
                  </a:moveTo>
                  <a:lnTo>
                    <a:pt x="21579839" y="0"/>
                  </a:lnTo>
                  <a:lnTo>
                    <a:pt x="21579839" y="1658112"/>
                  </a:lnTo>
                  <a:lnTo>
                    <a:pt x="0" y="1658112"/>
                  </a:lnTo>
                  <a:close/>
                </a:path>
              </a:pathLst>
            </a:custGeom>
            <a:blipFill>
              <a:blip r:embed="rId5">
                <a:alphaModFix amt="0"/>
              </a:blip>
              <a:stretch>
                <a:fillRect l="0" t="-203416" r="0" b="-203415"/>
              </a:stretch>
            </a:blipFill>
          </p:spPr>
        </p:sp>
      </p:grpSp>
      <p:grpSp>
        <p:nvGrpSpPr>
          <p:cNvPr name="Group 58" id="58"/>
          <p:cNvGrpSpPr/>
          <p:nvPr/>
        </p:nvGrpSpPr>
        <p:grpSpPr>
          <a:xfrm rot="0">
            <a:off x="1724720" y="1714283"/>
            <a:ext cx="16184880" cy="1300734"/>
            <a:chOff x="0" y="0"/>
            <a:chExt cx="21579840" cy="1734312"/>
          </a:xfrm>
        </p:grpSpPr>
        <p:sp>
          <p:nvSpPr>
            <p:cNvPr name="Freeform 59" id="59"/>
            <p:cNvSpPr/>
            <p:nvPr/>
          </p:nvSpPr>
          <p:spPr>
            <a:xfrm flipH="false" flipV="false" rot="0">
              <a:off x="0" y="0"/>
              <a:ext cx="21579839" cy="1734312"/>
            </a:xfrm>
            <a:custGeom>
              <a:avLst/>
              <a:gdLst/>
              <a:ahLst/>
              <a:cxnLst/>
              <a:rect r="r" b="b" t="t" l="l"/>
              <a:pathLst>
                <a:path h="1734312" w="21579839">
                  <a:moveTo>
                    <a:pt x="0" y="0"/>
                  </a:moveTo>
                  <a:lnTo>
                    <a:pt x="21579839" y="0"/>
                  </a:lnTo>
                  <a:lnTo>
                    <a:pt x="21579839" y="1734312"/>
                  </a:lnTo>
                  <a:lnTo>
                    <a:pt x="0" y="1734312"/>
                  </a:lnTo>
                  <a:close/>
                </a:path>
              </a:pathLst>
            </a:custGeom>
            <a:blipFill>
              <a:blip r:embed="rId6">
                <a:alphaModFix amt="0"/>
              </a:blip>
              <a:stretch>
                <a:fillRect l="0" t="-192450" r="0" b="-192450"/>
              </a:stretch>
            </a:blipFill>
          </p:spPr>
        </p:sp>
        <p:sp>
          <p:nvSpPr>
            <p:cNvPr name="TextBox 60" id="60"/>
            <p:cNvSpPr txBox="true"/>
            <p:nvPr/>
          </p:nvSpPr>
          <p:spPr>
            <a:xfrm>
              <a:off x="0" y="-76200"/>
              <a:ext cx="21579840" cy="1810512"/>
            </a:xfrm>
            <a:prstGeom prst="rect">
              <a:avLst/>
            </a:prstGeom>
          </p:spPr>
          <p:txBody>
            <a:bodyPr anchor="ctr" rtlCol="false" tIns="0" lIns="0" bIns="0" rIns="0"/>
            <a:lstStyle/>
            <a:p>
              <a:pPr algn="ctr">
                <a:lnSpc>
                  <a:spcPts val="3838"/>
                </a:lnSpc>
              </a:pPr>
              <a:r>
                <a:rPr lang="en-US" b="true" sz="3199" spc="685">
                  <a:solidFill>
                    <a:srgbClr val="FFFFFF"/>
                  </a:solidFill>
                  <a:latin typeface="Calibri (MS) Bold"/>
                  <a:ea typeface="Calibri (MS) Bold"/>
                  <a:cs typeface="Calibri (MS) Bold"/>
                  <a:sym typeface="Calibri (MS) Bold"/>
                </a:rPr>
                <a:t>CENTRAL ORCHESTRATOR</a:t>
              </a:r>
            </a:p>
          </p:txBody>
        </p:sp>
      </p:grpSp>
      <p:grpSp>
        <p:nvGrpSpPr>
          <p:cNvPr name="Group 61" id="61"/>
          <p:cNvGrpSpPr/>
          <p:nvPr/>
        </p:nvGrpSpPr>
        <p:grpSpPr>
          <a:xfrm rot="0">
            <a:off x="9800901" y="3015046"/>
            <a:ext cx="50768" cy="457200"/>
            <a:chOff x="0" y="0"/>
            <a:chExt cx="67691" cy="609600"/>
          </a:xfrm>
        </p:grpSpPr>
        <p:sp>
          <p:nvSpPr>
            <p:cNvPr name="Freeform 62" id="62"/>
            <p:cNvSpPr/>
            <p:nvPr/>
          </p:nvSpPr>
          <p:spPr>
            <a:xfrm flipH="false" flipV="false" rot="0">
              <a:off x="0" y="0"/>
              <a:ext cx="67691" cy="609600"/>
            </a:xfrm>
            <a:custGeom>
              <a:avLst/>
              <a:gdLst/>
              <a:ahLst/>
              <a:cxnLst/>
              <a:rect r="r" b="b" t="t" l="l"/>
              <a:pathLst>
                <a:path h="609600" w="67691">
                  <a:moveTo>
                    <a:pt x="67691" y="0"/>
                  </a:moveTo>
                  <a:lnTo>
                    <a:pt x="67691" y="609600"/>
                  </a:lnTo>
                  <a:lnTo>
                    <a:pt x="0" y="609600"/>
                  </a:lnTo>
                  <a:lnTo>
                    <a:pt x="0" y="0"/>
                  </a:lnTo>
                  <a:close/>
                </a:path>
              </a:pathLst>
            </a:custGeom>
            <a:solidFill>
              <a:srgbClr val="0A7EA4"/>
            </a:solidFill>
          </p:spPr>
        </p:sp>
      </p:grpSp>
      <p:sp>
        <p:nvSpPr>
          <p:cNvPr name="Freeform 63" id="63"/>
          <p:cNvSpPr/>
          <p:nvPr/>
        </p:nvSpPr>
        <p:spPr>
          <a:xfrm flipH="false" flipV="false" rot="0">
            <a:off x="1712024" y="3459520"/>
            <a:ext cx="2494216" cy="1159192"/>
          </a:xfrm>
          <a:custGeom>
            <a:avLst/>
            <a:gdLst/>
            <a:ahLst/>
            <a:cxnLst/>
            <a:rect r="r" b="b" t="t" l="l"/>
            <a:pathLst>
              <a:path h="1159192" w="2494216">
                <a:moveTo>
                  <a:pt x="0" y="0"/>
                </a:moveTo>
                <a:lnTo>
                  <a:pt x="2494216" y="0"/>
                </a:lnTo>
                <a:lnTo>
                  <a:pt x="2494216" y="1159193"/>
                </a:lnTo>
                <a:lnTo>
                  <a:pt x="0" y="1159193"/>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64" id="64"/>
          <p:cNvGrpSpPr/>
          <p:nvPr/>
        </p:nvGrpSpPr>
        <p:grpSpPr>
          <a:xfrm rot="0">
            <a:off x="1724720" y="3472217"/>
            <a:ext cx="2468880" cy="1133856"/>
            <a:chOff x="0" y="0"/>
            <a:chExt cx="3291840" cy="1511808"/>
          </a:xfrm>
        </p:grpSpPr>
        <p:sp>
          <p:nvSpPr>
            <p:cNvPr name="Freeform 65" id="65"/>
            <p:cNvSpPr/>
            <p:nvPr/>
          </p:nvSpPr>
          <p:spPr>
            <a:xfrm flipH="false" flipV="false" rot="0">
              <a:off x="0" y="0"/>
              <a:ext cx="3291840" cy="1511808"/>
            </a:xfrm>
            <a:custGeom>
              <a:avLst/>
              <a:gdLst/>
              <a:ahLst/>
              <a:cxnLst/>
              <a:rect r="r" b="b" t="t" l="l"/>
              <a:pathLst>
                <a:path h="1511808" w="3291840">
                  <a:moveTo>
                    <a:pt x="0" y="0"/>
                  </a:moveTo>
                  <a:lnTo>
                    <a:pt x="3291840" y="0"/>
                  </a:lnTo>
                  <a:lnTo>
                    <a:pt x="3291840" y="1511808"/>
                  </a:lnTo>
                  <a:lnTo>
                    <a:pt x="0" y="1511808"/>
                  </a:lnTo>
                  <a:close/>
                </a:path>
              </a:pathLst>
            </a:custGeom>
            <a:blipFill>
              <a:blip r:embed="rId5">
                <a:alphaModFix amt="0"/>
              </a:blip>
              <a:stretch>
                <a:fillRect l="-8965" t="0" r="-8965" b="0"/>
              </a:stretch>
            </a:blipFill>
          </p:spPr>
        </p:sp>
      </p:grpSp>
      <p:grpSp>
        <p:nvGrpSpPr>
          <p:cNvPr name="Group 66" id="66"/>
          <p:cNvGrpSpPr/>
          <p:nvPr/>
        </p:nvGrpSpPr>
        <p:grpSpPr>
          <a:xfrm rot="0">
            <a:off x="1724720" y="3443642"/>
            <a:ext cx="2468880" cy="1162431"/>
            <a:chOff x="0" y="0"/>
            <a:chExt cx="3291840" cy="1549908"/>
          </a:xfrm>
        </p:grpSpPr>
        <p:sp>
          <p:nvSpPr>
            <p:cNvPr name="Freeform 67" id="67"/>
            <p:cNvSpPr/>
            <p:nvPr/>
          </p:nvSpPr>
          <p:spPr>
            <a:xfrm flipH="false" flipV="false" rot="0">
              <a:off x="0" y="0"/>
              <a:ext cx="3291840" cy="1549908"/>
            </a:xfrm>
            <a:custGeom>
              <a:avLst/>
              <a:gdLst/>
              <a:ahLst/>
              <a:cxnLst/>
              <a:rect r="r" b="b" t="t" l="l"/>
              <a:pathLst>
                <a:path h="1549908" w="3291840">
                  <a:moveTo>
                    <a:pt x="0" y="0"/>
                  </a:moveTo>
                  <a:lnTo>
                    <a:pt x="3291840" y="0"/>
                  </a:lnTo>
                  <a:lnTo>
                    <a:pt x="3291840" y="1549908"/>
                  </a:lnTo>
                  <a:lnTo>
                    <a:pt x="0" y="1549908"/>
                  </a:lnTo>
                  <a:close/>
                </a:path>
              </a:pathLst>
            </a:custGeom>
            <a:blipFill>
              <a:blip r:embed="rId6">
                <a:alphaModFix amt="0"/>
              </a:blip>
              <a:stretch>
                <a:fillRect l="-10409" t="0" r="-10409" b="0"/>
              </a:stretch>
            </a:blipFill>
          </p:spPr>
        </p:sp>
        <p:sp>
          <p:nvSpPr>
            <p:cNvPr name="TextBox 68" id="68"/>
            <p:cNvSpPr txBox="true"/>
            <p:nvPr/>
          </p:nvSpPr>
          <p:spPr>
            <a:xfrm>
              <a:off x="0" y="-38100"/>
              <a:ext cx="3291840" cy="1588008"/>
            </a:xfrm>
            <a:prstGeom prst="rect">
              <a:avLst/>
            </a:prstGeom>
          </p:spPr>
          <p:txBody>
            <a:bodyPr anchor="ctr" rtlCol="false" tIns="0" lIns="0" bIns="0" rIns="0"/>
            <a:lstStyle/>
            <a:p>
              <a:pPr algn="ctr">
                <a:lnSpc>
                  <a:spcPts val="2038"/>
                </a:lnSpc>
              </a:pPr>
              <a:r>
                <a:rPr lang="en-US" sz="1699" b="true">
                  <a:solidFill>
                    <a:srgbClr val="FFFFFF"/>
                  </a:solidFill>
                  <a:latin typeface="Calibri (MS) Bold"/>
                  <a:ea typeface="Calibri (MS) Bold"/>
                  <a:cs typeface="Calibri (MS) Bold"/>
                  <a:sym typeface="Calibri (MS) Bold"/>
                </a:rPr>
                <a:t>Integration</a:t>
              </a:r>
            </a:p>
          </p:txBody>
        </p:sp>
      </p:grpSp>
      <p:grpSp>
        <p:nvGrpSpPr>
          <p:cNvPr name="Group 69" id="69"/>
          <p:cNvGrpSpPr/>
          <p:nvPr/>
        </p:nvGrpSpPr>
        <p:grpSpPr>
          <a:xfrm rot="0">
            <a:off x="2946464" y="3014989"/>
            <a:ext cx="25432" cy="457200"/>
            <a:chOff x="0" y="0"/>
            <a:chExt cx="33909" cy="609600"/>
          </a:xfrm>
        </p:grpSpPr>
        <p:sp>
          <p:nvSpPr>
            <p:cNvPr name="Freeform 70" id="70"/>
            <p:cNvSpPr/>
            <p:nvPr/>
          </p:nvSpPr>
          <p:spPr>
            <a:xfrm flipH="false" flipV="false" rot="0">
              <a:off x="0" y="0"/>
              <a:ext cx="33909" cy="609600"/>
            </a:xfrm>
            <a:custGeom>
              <a:avLst/>
              <a:gdLst/>
              <a:ahLst/>
              <a:cxnLst/>
              <a:rect r="r" b="b" t="t" l="l"/>
              <a:pathLst>
                <a:path h="609600" w="33909">
                  <a:moveTo>
                    <a:pt x="33909" y="0"/>
                  </a:moveTo>
                  <a:lnTo>
                    <a:pt x="33909" y="609600"/>
                  </a:lnTo>
                  <a:lnTo>
                    <a:pt x="0" y="609600"/>
                  </a:lnTo>
                  <a:lnTo>
                    <a:pt x="0" y="0"/>
                  </a:lnTo>
                  <a:close/>
                </a:path>
              </a:pathLst>
            </a:custGeom>
            <a:solidFill>
              <a:srgbClr val="B8D4E0"/>
            </a:solidFill>
          </p:spPr>
        </p:sp>
      </p:grpSp>
      <p:sp>
        <p:nvSpPr>
          <p:cNvPr name="Freeform 71" id="71"/>
          <p:cNvSpPr/>
          <p:nvPr/>
        </p:nvSpPr>
        <p:spPr>
          <a:xfrm flipH="false" flipV="false" rot="0">
            <a:off x="4455224" y="3459520"/>
            <a:ext cx="2494216" cy="1159192"/>
          </a:xfrm>
          <a:custGeom>
            <a:avLst/>
            <a:gdLst/>
            <a:ahLst/>
            <a:cxnLst/>
            <a:rect r="r" b="b" t="t" l="l"/>
            <a:pathLst>
              <a:path h="1159192" w="2494216">
                <a:moveTo>
                  <a:pt x="0" y="0"/>
                </a:moveTo>
                <a:lnTo>
                  <a:pt x="2494216" y="0"/>
                </a:lnTo>
                <a:lnTo>
                  <a:pt x="2494216" y="1159193"/>
                </a:lnTo>
                <a:lnTo>
                  <a:pt x="0" y="1159193"/>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72" id="72"/>
          <p:cNvGrpSpPr/>
          <p:nvPr/>
        </p:nvGrpSpPr>
        <p:grpSpPr>
          <a:xfrm rot="0">
            <a:off x="4467920" y="3472217"/>
            <a:ext cx="2468880" cy="1133856"/>
            <a:chOff x="0" y="0"/>
            <a:chExt cx="3291840" cy="1511808"/>
          </a:xfrm>
        </p:grpSpPr>
        <p:sp>
          <p:nvSpPr>
            <p:cNvPr name="Freeform 73" id="73"/>
            <p:cNvSpPr/>
            <p:nvPr/>
          </p:nvSpPr>
          <p:spPr>
            <a:xfrm flipH="false" flipV="false" rot="0">
              <a:off x="0" y="0"/>
              <a:ext cx="3291840" cy="1511808"/>
            </a:xfrm>
            <a:custGeom>
              <a:avLst/>
              <a:gdLst/>
              <a:ahLst/>
              <a:cxnLst/>
              <a:rect r="r" b="b" t="t" l="l"/>
              <a:pathLst>
                <a:path h="1511808" w="3291840">
                  <a:moveTo>
                    <a:pt x="0" y="0"/>
                  </a:moveTo>
                  <a:lnTo>
                    <a:pt x="3291840" y="0"/>
                  </a:lnTo>
                  <a:lnTo>
                    <a:pt x="3291840" y="1511808"/>
                  </a:lnTo>
                  <a:lnTo>
                    <a:pt x="0" y="1511808"/>
                  </a:lnTo>
                  <a:close/>
                </a:path>
              </a:pathLst>
            </a:custGeom>
            <a:blipFill>
              <a:blip r:embed="rId5">
                <a:alphaModFix amt="0"/>
              </a:blip>
              <a:stretch>
                <a:fillRect l="-8965" t="0" r="-8965" b="0"/>
              </a:stretch>
            </a:blipFill>
          </p:spPr>
        </p:sp>
      </p:grpSp>
      <p:grpSp>
        <p:nvGrpSpPr>
          <p:cNvPr name="Group 74" id="74"/>
          <p:cNvGrpSpPr/>
          <p:nvPr/>
        </p:nvGrpSpPr>
        <p:grpSpPr>
          <a:xfrm rot="0">
            <a:off x="4467920" y="3443642"/>
            <a:ext cx="2468880" cy="1162431"/>
            <a:chOff x="0" y="0"/>
            <a:chExt cx="3291840" cy="1549908"/>
          </a:xfrm>
        </p:grpSpPr>
        <p:sp>
          <p:nvSpPr>
            <p:cNvPr name="Freeform 75" id="75"/>
            <p:cNvSpPr/>
            <p:nvPr/>
          </p:nvSpPr>
          <p:spPr>
            <a:xfrm flipH="false" flipV="false" rot="0">
              <a:off x="0" y="0"/>
              <a:ext cx="3291840" cy="1549908"/>
            </a:xfrm>
            <a:custGeom>
              <a:avLst/>
              <a:gdLst/>
              <a:ahLst/>
              <a:cxnLst/>
              <a:rect r="r" b="b" t="t" l="l"/>
              <a:pathLst>
                <a:path h="1549908" w="3291840">
                  <a:moveTo>
                    <a:pt x="0" y="0"/>
                  </a:moveTo>
                  <a:lnTo>
                    <a:pt x="3291840" y="0"/>
                  </a:lnTo>
                  <a:lnTo>
                    <a:pt x="3291840" y="1549908"/>
                  </a:lnTo>
                  <a:lnTo>
                    <a:pt x="0" y="1549908"/>
                  </a:lnTo>
                  <a:close/>
                </a:path>
              </a:pathLst>
            </a:custGeom>
            <a:blipFill>
              <a:blip r:embed="rId6">
                <a:alphaModFix amt="0"/>
              </a:blip>
              <a:stretch>
                <a:fillRect l="-10409" t="0" r="-10409" b="0"/>
              </a:stretch>
            </a:blipFill>
          </p:spPr>
        </p:sp>
        <p:sp>
          <p:nvSpPr>
            <p:cNvPr name="TextBox 76" id="76"/>
            <p:cNvSpPr txBox="true"/>
            <p:nvPr/>
          </p:nvSpPr>
          <p:spPr>
            <a:xfrm>
              <a:off x="0" y="-38100"/>
              <a:ext cx="3291840" cy="1588008"/>
            </a:xfrm>
            <a:prstGeom prst="rect">
              <a:avLst/>
            </a:prstGeom>
          </p:spPr>
          <p:txBody>
            <a:bodyPr anchor="ctr" rtlCol="false" tIns="0" lIns="0" bIns="0" rIns="0"/>
            <a:lstStyle/>
            <a:p>
              <a:pPr algn="ctr">
                <a:lnSpc>
                  <a:spcPts val="2038"/>
                </a:lnSpc>
              </a:pPr>
              <a:r>
                <a:rPr lang="en-US" sz="1699" b="true">
                  <a:solidFill>
                    <a:srgbClr val="FFFFFF"/>
                  </a:solidFill>
                  <a:latin typeface="Calibri (MS) Bold"/>
                  <a:ea typeface="Calibri (MS) Bold"/>
                  <a:cs typeface="Calibri (MS) Bold"/>
                  <a:sym typeface="Calibri (MS) Bold"/>
                </a:rPr>
                <a:t>Vehicle</a:t>
              </a:r>
            </a:p>
            <a:p>
              <a:pPr algn="ctr">
                <a:lnSpc>
                  <a:spcPts val="2038"/>
                </a:lnSpc>
              </a:pPr>
              <a:r>
                <a:rPr lang="en-US" sz="1699" b="true">
                  <a:solidFill>
                    <a:srgbClr val="FFFFFF"/>
                  </a:solidFill>
                  <a:latin typeface="Calibri (MS) Bold"/>
                  <a:ea typeface="Calibri (MS) Bold"/>
                  <a:cs typeface="Calibri (MS) Bold"/>
                  <a:sym typeface="Calibri (MS) Bold"/>
                </a:rPr>
                <a:t>System</a:t>
              </a:r>
            </a:p>
          </p:txBody>
        </p:sp>
      </p:grpSp>
      <p:grpSp>
        <p:nvGrpSpPr>
          <p:cNvPr name="Group 77" id="77"/>
          <p:cNvGrpSpPr/>
          <p:nvPr/>
        </p:nvGrpSpPr>
        <p:grpSpPr>
          <a:xfrm rot="0">
            <a:off x="5689664" y="3014989"/>
            <a:ext cx="25432" cy="457200"/>
            <a:chOff x="0" y="0"/>
            <a:chExt cx="33909" cy="609600"/>
          </a:xfrm>
        </p:grpSpPr>
        <p:sp>
          <p:nvSpPr>
            <p:cNvPr name="Freeform 78" id="78"/>
            <p:cNvSpPr/>
            <p:nvPr/>
          </p:nvSpPr>
          <p:spPr>
            <a:xfrm flipH="false" flipV="false" rot="0">
              <a:off x="0" y="0"/>
              <a:ext cx="33909" cy="609600"/>
            </a:xfrm>
            <a:custGeom>
              <a:avLst/>
              <a:gdLst/>
              <a:ahLst/>
              <a:cxnLst/>
              <a:rect r="r" b="b" t="t" l="l"/>
              <a:pathLst>
                <a:path h="609600" w="33909">
                  <a:moveTo>
                    <a:pt x="33909" y="0"/>
                  </a:moveTo>
                  <a:lnTo>
                    <a:pt x="33909" y="609600"/>
                  </a:lnTo>
                  <a:lnTo>
                    <a:pt x="0" y="609600"/>
                  </a:lnTo>
                  <a:lnTo>
                    <a:pt x="0" y="0"/>
                  </a:lnTo>
                  <a:close/>
                </a:path>
              </a:pathLst>
            </a:custGeom>
            <a:solidFill>
              <a:srgbClr val="B8D4E0"/>
            </a:solidFill>
          </p:spPr>
        </p:sp>
      </p:grpSp>
      <p:sp>
        <p:nvSpPr>
          <p:cNvPr name="Freeform 79" id="79"/>
          <p:cNvSpPr/>
          <p:nvPr/>
        </p:nvSpPr>
        <p:spPr>
          <a:xfrm flipH="false" flipV="false" rot="0">
            <a:off x="7198424" y="3459520"/>
            <a:ext cx="2494216" cy="1159192"/>
          </a:xfrm>
          <a:custGeom>
            <a:avLst/>
            <a:gdLst/>
            <a:ahLst/>
            <a:cxnLst/>
            <a:rect r="r" b="b" t="t" l="l"/>
            <a:pathLst>
              <a:path h="1159192" w="2494216">
                <a:moveTo>
                  <a:pt x="0" y="0"/>
                </a:moveTo>
                <a:lnTo>
                  <a:pt x="2494216" y="0"/>
                </a:lnTo>
                <a:lnTo>
                  <a:pt x="2494216" y="1159193"/>
                </a:lnTo>
                <a:lnTo>
                  <a:pt x="0" y="1159193"/>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80" id="80"/>
          <p:cNvGrpSpPr/>
          <p:nvPr/>
        </p:nvGrpSpPr>
        <p:grpSpPr>
          <a:xfrm rot="0">
            <a:off x="7211120" y="3472217"/>
            <a:ext cx="2468880" cy="1133856"/>
            <a:chOff x="0" y="0"/>
            <a:chExt cx="3291840" cy="1511808"/>
          </a:xfrm>
        </p:grpSpPr>
        <p:sp>
          <p:nvSpPr>
            <p:cNvPr name="Freeform 81" id="81"/>
            <p:cNvSpPr/>
            <p:nvPr/>
          </p:nvSpPr>
          <p:spPr>
            <a:xfrm flipH="false" flipV="false" rot="0">
              <a:off x="0" y="0"/>
              <a:ext cx="3291840" cy="1511808"/>
            </a:xfrm>
            <a:custGeom>
              <a:avLst/>
              <a:gdLst/>
              <a:ahLst/>
              <a:cxnLst/>
              <a:rect r="r" b="b" t="t" l="l"/>
              <a:pathLst>
                <a:path h="1511808" w="3291840">
                  <a:moveTo>
                    <a:pt x="0" y="0"/>
                  </a:moveTo>
                  <a:lnTo>
                    <a:pt x="3291840" y="0"/>
                  </a:lnTo>
                  <a:lnTo>
                    <a:pt x="3291840" y="1511808"/>
                  </a:lnTo>
                  <a:lnTo>
                    <a:pt x="0" y="1511808"/>
                  </a:lnTo>
                  <a:close/>
                </a:path>
              </a:pathLst>
            </a:custGeom>
            <a:blipFill>
              <a:blip r:embed="rId5">
                <a:alphaModFix amt="0"/>
              </a:blip>
              <a:stretch>
                <a:fillRect l="-8965" t="0" r="-8965" b="0"/>
              </a:stretch>
            </a:blipFill>
          </p:spPr>
        </p:sp>
      </p:grpSp>
      <p:grpSp>
        <p:nvGrpSpPr>
          <p:cNvPr name="Group 82" id="82"/>
          <p:cNvGrpSpPr/>
          <p:nvPr/>
        </p:nvGrpSpPr>
        <p:grpSpPr>
          <a:xfrm rot="0">
            <a:off x="7211120" y="3443642"/>
            <a:ext cx="2468880" cy="1162431"/>
            <a:chOff x="0" y="0"/>
            <a:chExt cx="3291840" cy="1549908"/>
          </a:xfrm>
        </p:grpSpPr>
        <p:sp>
          <p:nvSpPr>
            <p:cNvPr name="Freeform 83" id="83"/>
            <p:cNvSpPr/>
            <p:nvPr/>
          </p:nvSpPr>
          <p:spPr>
            <a:xfrm flipH="false" flipV="false" rot="0">
              <a:off x="0" y="0"/>
              <a:ext cx="3291840" cy="1549908"/>
            </a:xfrm>
            <a:custGeom>
              <a:avLst/>
              <a:gdLst/>
              <a:ahLst/>
              <a:cxnLst/>
              <a:rect r="r" b="b" t="t" l="l"/>
              <a:pathLst>
                <a:path h="1549908" w="3291840">
                  <a:moveTo>
                    <a:pt x="0" y="0"/>
                  </a:moveTo>
                  <a:lnTo>
                    <a:pt x="3291840" y="0"/>
                  </a:lnTo>
                  <a:lnTo>
                    <a:pt x="3291840" y="1549908"/>
                  </a:lnTo>
                  <a:lnTo>
                    <a:pt x="0" y="1549908"/>
                  </a:lnTo>
                  <a:close/>
                </a:path>
              </a:pathLst>
            </a:custGeom>
            <a:blipFill>
              <a:blip r:embed="rId6">
                <a:alphaModFix amt="0"/>
              </a:blip>
              <a:stretch>
                <a:fillRect l="-10409" t="0" r="-10409" b="0"/>
              </a:stretch>
            </a:blipFill>
          </p:spPr>
        </p:sp>
        <p:sp>
          <p:nvSpPr>
            <p:cNvPr name="TextBox 84" id="84"/>
            <p:cNvSpPr txBox="true"/>
            <p:nvPr/>
          </p:nvSpPr>
          <p:spPr>
            <a:xfrm>
              <a:off x="0" y="-38100"/>
              <a:ext cx="3291840" cy="1588008"/>
            </a:xfrm>
            <a:prstGeom prst="rect">
              <a:avLst/>
            </a:prstGeom>
          </p:spPr>
          <p:txBody>
            <a:bodyPr anchor="ctr" rtlCol="false" tIns="0" lIns="0" bIns="0" rIns="0"/>
            <a:lstStyle/>
            <a:p>
              <a:pPr algn="ctr">
                <a:lnSpc>
                  <a:spcPts val="2038"/>
                </a:lnSpc>
              </a:pPr>
              <a:r>
                <a:rPr lang="en-US" sz="1699" b="true">
                  <a:solidFill>
                    <a:srgbClr val="FFFFFF"/>
                  </a:solidFill>
                  <a:latin typeface="Calibri (MS) Bold"/>
                  <a:ea typeface="Calibri (MS) Bold"/>
                  <a:cs typeface="Calibri (MS) Bold"/>
                  <a:sym typeface="Calibri (MS) Bold"/>
                </a:rPr>
                <a:t>CAB</a:t>
              </a:r>
            </a:p>
          </p:txBody>
        </p:sp>
      </p:grpSp>
      <p:grpSp>
        <p:nvGrpSpPr>
          <p:cNvPr name="Group 85" id="85"/>
          <p:cNvGrpSpPr/>
          <p:nvPr/>
        </p:nvGrpSpPr>
        <p:grpSpPr>
          <a:xfrm rot="0">
            <a:off x="8432864" y="3014989"/>
            <a:ext cx="25432" cy="457200"/>
            <a:chOff x="0" y="0"/>
            <a:chExt cx="33909" cy="609600"/>
          </a:xfrm>
        </p:grpSpPr>
        <p:sp>
          <p:nvSpPr>
            <p:cNvPr name="Freeform 86" id="86"/>
            <p:cNvSpPr/>
            <p:nvPr/>
          </p:nvSpPr>
          <p:spPr>
            <a:xfrm flipH="false" flipV="false" rot="0">
              <a:off x="0" y="0"/>
              <a:ext cx="33909" cy="609600"/>
            </a:xfrm>
            <a:custGeom>
              <a:avLst/>
              <a:gdLst/>
              <a:ahLst/>
              <a:cxnLst/>
              <a:rect r="r" b="b" t="t" l="l"/>
              <a:pathLst>
                <a:path h="609600" w="33909">
                  <a:moveTo>
                    <a:pt x="33909" y="0"/>
                  </a:moveTo>
                  <a:lnTo>
                    <a:pt x="33909" y="609600"/>
                  </a:lnTo>
                  <a:lnTo>
                    <a:pt x="0" y="609600"/>
                  </a:lnTo>
                  <a:lnTo>
                    <a:pt x="0" y="0"/>
                  </a:lnTo>
                  <a:close/>
                </a:path>
              </a:pathLst>
            </a:custGeom>
            <a:solidFill>
              <a:srgbClr val="B8D4E0"/>
            </a:solidFill>
          </p:spPr>
        </p:sp>
      </p:grpSp>
      <p:sp>
        <p:nvSpPr>
          <p:cNvPr name="Freeform 87" id="87"/>
          <p:cNvSpPr/>
          <p:nvPr/>
        </p:nvSpPr>
        <p:spPr>
          <a:xfrm flipH="false" flipV="false" rot="0">
            <a:off x="9941624" y="3459520"/>
            <a:ext cx="2494216" cy="1159192"/>
          </a:xfrm>
          <a:custGeom>
            <a:avLst/>
            <a:gdLst/>
            <a:ahLst/>
            <a:cxnLst/>
            <a:rect r="r" b="b" t="t" l="l"/>
            <a:pathLst>
              <a:path h="1159192" w="2494216">
                <a:moveTo>
                  <a:pt x="0" y="0"/>
                </a:moveTo>
                <a:lnTo>
                  <a:pt x="2494216" y="0"/>
                </a:lnTo>
                <a:lnTo>
                  <a:pt x="2494216" y="1159193"/>
                </a:lnTo>
                <a:lnTo>
                  <a:pt x="0" y="1159193"/>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88" id="88"/>
          <p:cNvGrpSpPr/>
          <p:nvPr/>
        </p:nvGrpSpPr>
        <p:grpSpPr>
          <a:xfrm rot="0">
            <a:off x="9954320" y="3472217"/>
            <a:ext cx="2468880" cy="1133856"/>
            <a:chOff x="0" y="0"/>
            <a:chExt cx="3291840" cy="1511808"/>
          </a:xfrm>
        </p:grpSpPr>
        <p:sp>
          <p:nvSpPr>
            <p:cNvPr name="Freeform 89" id="89"/>
            <p:cNvSpPr/>
            <p:nvPr/>
          </p:nvSpPr>
          <p:spPr>
            <a:xfrm flipH="false" flipV="false" rot="0">
              <a:off x="0" y="0"/>
              <a:ext cx="3291840" cy="1511808"/>
            </a:xfrm>
            <a:custGeom>
              <a:avLst/>
              <a:gdLst/>
              <a:ahLst/>
              <a:cxnLst/>
              <a:rect r="r" b="b" t="t" l="l"/>
              <a:pathLst>
                <a:path h="1511808" w="3291840">
                  <a:moveTo>
                    <a:pt x="0" y="0"/>
                  </a:moveTo>
                  <a:lnTo>
                    <a:pt x="3291840" y="0"/>
                  </a:lnTo>
                  <a:lnTo>
                    <a:pt x="3291840" y="1511808"/>
                  </a:lnTo>
                  <a:lnTo>
                    <a:pt x="0" y="1511808"/>
                  </a:lnTo>
                  <a:close/>
                </a:path>
              </a:pathLst>
            </a:custGeom>
            <a:blipFill>
              <a:blip r:embed="rId5">
                <a:alphaModFix amt="0"/>
              </a:blip>
              <a:stretch>
                <a:fillRect l="-8965" t="0" r="-8965" b="0"/>
              </a:stretch>
            </a:blipFill>
          </p:spPr>
        </p:sp>
      </p:grpSp>
      <p:grpSp>
        <p:nvGrpSpPr>
          <p:cNvPr name="Group 90" id="90"/>
          <p:cNvGrpSpPr/>
          <p:nvPr/>
        </p:nvGrpSpPr>
        <p:grpSpPr>
          <a:xfrm rot="0">
            <a:off x="9954320" y="3443642"/>
            <a:ext cx="2468880" cy="1162431"/>
            <a:chOff x="0" y="0"/>
            <a:chExt cx="3291840" cy="1549908"/>
          </a:xfrm>
        </p:grpSpPr>
        <p:sp>
          <p:nvSpPr>
            <p:cNvPr name="Freeform 91" id="91"/>
            <p:cNvSpPr/>
            <p:nvPr/>
          </p:nvSpPr>
          <p:spPr>
            <a:xfrm flipH="false" flipV="false" rot="0">
              <a:off x="0" y="0"/>
              <a:ext cx="3291840" cy="1549908"/>
            </a:xfrm>
            <a:custGeom>
              <a:avLst/>
              <a:gdLst/>
              <a:ahLst/>
              <a:cxnLst/>
              <a:rect r="r" b="b" t="t" l="l"/>
              <a:pathLst>
                <a:path h="1549908" w="3291840">
                  <a:moveTo>
                    <a:pt x="0" y="0"/>
                  </a:moveTo>
                  <a:lnTo>
                    <a:pt x="3291840" y="0"/>
                  </a:lnTo>
                  <a:lnTo>
                    <a:pt x="3291840" y="1549908"/>
                  </a:lnTo>
                  <a:lnTo>
                    <a:pt x="0" y="1549908"/>
                  </a:lnTo>
                  <a:close/>
                </a:path>
              </a:pathLst>
            </a:custGeom>
            <a:blipFill>
              <a:blip r:embed="rId6">
                <a:alphaModFix amt="0"/>
              </a:blip>
              <a:stretch>
                <a:fillRect l="-10409" t="0" r="-10409" b="0"/>
              </a:stretch>
            </a:blipFill>
          </p:spPr>
        </p:sp>
        <p:sp>
          <p:nvSpPr>
            <p:cNvPr name="TextBox 92" id="92"/>
            <p:cNvSpPr txBox="true"/>
            <p:nvPr/>
          </p:nvSpPr>
          <p:spPr>
            <a:xfrm>
              <a:off x="0" y="-38100"/>
              <a:ext cx="3291840" cy="1588008"/>
            </a:xfrm>
            <a:prstGeom prst="rect">
              <a:avLst/>
            </a:prstGeom>
          </p:spPr>
          <p:txBody>
            <a:bodyPr anchor="ctr" rtlCol="false" tIns="0" lIns="0" bIns="0" rIns="0"/>
            <a:lstStyle/>
            <a:p>
              <a:pPr algn="ctr">
                <a:lnSpc>
                  <a:spcPts val="2038"/>
                </a:lnSpc>
              </a:pPr>
              <a:r>
                <a:rPr lang="en-US" sz="1699" b="true">
                  <a:solidFill>
                    <a:srgbClr val="FFFFFF"/>
                  </a:solidFill>
                  <a:latin typeface="Calibri (MS) Bold"/>
                  <a:ea typeface="Calibri (MS) Bold"/>
                  <a:cs typeface="Calibri (MS) Bold"/>
                  <a:sym typeface="Calibri (MS) Bold"/>
                </a:rPr>
                <a:t>E&amp;E</a:t>
              </a:r>
            </a:p>
          </p:txBody>
        </p:sp>
      </p:grpSp>
      <p:grpSp>
        <p:nvGrpSpPr>
          <p:cNvPr name="Group 93" id="93"/>
          <p:cNvGrpSpPr/>
          <p:nvPr/>
        </p:nvGrpSpPr>
        <p:grpSpPr>
          <a:xfrm rot="0">
            <a:off x="11176064" y="3014989"/>
            <a:ext cx="25432" cy="457200"/>
            <a:chOff x="0" y="0"/>
            <a:chExt cx="33909" cy="609600"/>
          </a:xfrm>
        </p:grpSpPr>
        <p:sp>
          <p:nvSpPr>
            <p:cNvPr name="Freeform 94" id="94"/>
            <p:cNvSpPr/>
            <p:nvPr/>
          </p:nvSpPr>
          <p:spPr>
            <a:xfrm flipH="false" flipV="false" rot="0">
              <a:off x="0" y="0"/>
              <a:ext cx="33909" cy="609600"/>
            </a:xfrm>
            <a:custGeom>
              <a:avLst/>
              <a:gdLst/>
              <a:ahLst/>
              <a:cxnLst/>
              <a:rect r="r" b="b" t="t" l="l"/>
              <a:pathLst>
                <a:path h="609600" w="33909">
                  <a:moveTo>
                    <a:pt x="33909" y="0"/>
                  </a:moveTo>
                  <a:lnTo>
                    <a:pt x="33909" y="609600"/>
                  </a:lnTo>
                  <a:lnTo>
                    <a:pt x="0" y="609600"/>
                  </a:lnTo>
                  <a:lnTo>
                    <a:pt x="0" y="0"/>
                  </a:lnTo>
                  <a:close/>
                </a:path>
              </a:pathLst>
            </a:custGeom>
            <a:solidFill>
              <a:srgbClr val="B8D4E0"/>
            </a:solidFill>
          </p:spPr>
        </p:sp>
      </p:grpSp>
      <p:sp>
        <p:nvSpPr>
          <p:cNvPr name="Freeform 95" id="95"/>
          <p:cNvSpPr/>
          <p:nvPr/>
        </p:nvSpPr>
        <p:spPr>
          <a:xfrm flipH="false" flipV="false" rot="0">
            <a:off x="12684824" y="3459520"/>
            <a:ext cx="2494216" cy="1159192"/>
          </a:xfrm>
          <a:custGeom>
            <a:avLst/>
            <a:gdLst/>
            <a:ahLst/>
            <a:cxnLst/>
            <a:rect r="r" b="b" t="t" l="l"/>
            <a:pathLst>
              <a:path h="1159192" w="2494216">
                <a:moveTo>
                  <a:pt x="0" y="0"/>
                </a:moveTo>
                <a:lnTo>
                  <a:pt x="2494216" y="0"/>
                </a:lnTo>
                <a:lnTo>
                  <a:pt x="2494216" y="1159193"/>
                </a:lnTo>
                <a:lnTo>
                  <a:pt x="0" y="1159193"/>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96" id="96"/>
          <p:cNvGrpSpPr/>
          <p:nvPr/>
        </p:nvGrpSpPr>
        <p:grpSpPr>
          <a:xfrm rot="0">
            <a:off x="12697520" y="3472217"/>
            <a:ext cx="2468880" cy="1133856"/>
            <a:chOff x="0" y="0"/>
            <a:chExt cx="3291840" cy="1511808"/>
          </a:xfrm>
        </p:grpSpPr>
        <p:sp>
          <p:nvSpPr>
            <p:cNvPr name="Freeform 97" id="97"/>
            <p:cNvSpPr/>
            <p:nvPr/>
          </p:nvSpPr>
          <p:spPr>
            <a:xfrm flipH="false" flipV="false" rot="0">
              <a:off x="0" y="0"/>
              <a:ext cx="3291840" cy="1511808"/>
            </a:xfrm>
            <a:custGeom>
              <a:avLst/>
              <a:gdLst/>
              <a:ahLst/>
              <a:cxnLst/>
              <a:rect r="r" b="b" t="t" l="l"/>
              <a:pathLst>
                <a:path h="1511808" w="3291840">
                  <a:moveTo>
                    <a:pt x="0" y="0"/>
                  </a:moveTo>
                  <a:lnTo>
                    <a:pt x="3291840" y="0"/>
                  </a:lnTo>
                  <a:lnTo>
                    <a:pt x="3291840" y="1511808"/>
                  </a:lnTo>
                  <a:lnTo>
                    <a:pt x="0" y="1511808"/>
                  </a:lnTo>
                  <a:close/>
                </a:path>
              </a:pathLst>
            </a:custGeom>
            <a:blipFill>
              <a:blip r:embed="rId5">
                <a:alphaModFix amt="0"/>
              </a:blip>
              <a:stretch>
                <a:fillRect l="-8965" t="0" r="-8965" b="0"/>
              </a:stretch>
            </a:blipFill>
          </p:spPr>
        </p:sp>
      </p:grpSp>
      <p:grpSp>
        <p:nvGrpSpPr>
          <p:cNvPr name="Group 98" id="98"/>
          <p:cNvGrpSpPr/>
          <p:nvPr/>
        </p:nvGrpSpPr>
        <p:grpSpPr>
          <a:xfrm rot="0">
            <a:off x="12697520" y="3443642"/>
            <a:ext cx="2468880" cy="1162431"/>
            <a:chOff x="0" y="0"/>
            <a:chExt cx="3291840" cy="1549908"/>
          </a:xfrm>
        </p:grpSpPr>
        <p:sp>
          <p:nvSpPr>
            <p:cNvPr name="Freeform 99" id="99"/>
            <p:cNvSpPr/>
            <p:nvPr/>
          </p:nvSpPr>
          <p:spPr>
            <a:xfrm flipH="false" flipV="false" rot="0">
              <a:off x="0" y="0"/>
              <a:ext cx="3291840" cy="1549908"/>
            </a:xfrm>
            <a:custGeom>
              <a:avLst/>
              <a:gdLst/>
              <a:ahLst/>
              <a:cxnLst/>
              <a:rect r="r" b="b" t="t" l="l"/>
              <a:pathLst>
                <a:path h="1549908" w="3291840">
                  <a:moveTo>
                    <a:pt x="0" y="0"/>
                  </a:moveTo>
                  <a:lnTo>
                    <a:pt x="3291840" y="0"/>
                  </a:lnTo>
                  <a:lnTo>
                    <a:pt x="3291840" y="1549908"/>
                  </a:lnTo>
                  <a:lnTo>
                    <a:pt x="0" y="1549908"/>
                  </a:lnTo>
                  <a:close/>
                </a:path>
              </a:pathLst>
            </a:custGeom>
            <a:blipFill>
              <a:blip r:embed="rId6">
                <a:alphaModFix amt="0"/>
              </a:blip>
              <a:stretch>
                <a:fillRect l="-10409" t="0" r="-10409" b="0"/>
              </a:stretch>
            </a:blipFill>
          </p:spPr>
        </p:sp>
        <p:sp>
          <p:nvSpPr>
            <p:cNvPr name="TextBox 100" id="100"/>
            <p:cNvSpPr txBox="true"/>
            <p:nvPr/>
          </p:nvSpPr>
          <p:spPr>
            <a:xfrm>
              <a:off x="0" y="-38100"/>
              <a:ext cx="3291840" cy="1588008"/>
            </a:xfrm>
            <a:prstGeom prst="rect">
              <a:avLst/>
            </a:prstGeom>
          </p:spPr>
          <p:txBody>
            <a:bodyPr anchor="ctr" rtlCol="false" tIns="0" lIns="0" bIns="0" rIns="0"/>
            <a:lstStyle/>
            <a:p>
              <a:pPr algn="ctr">
                <a:lnSpc>
                  <a:spcPts val="2038"/>
                </a:lnSpc>
              </a:pPr>
              <a:r>
                <a:rPr lang="en-US" sz="1699" b="true">
                  <a:solidFill>
                    <a:srgbClr val="FFFFFF"/>
                  </a:solidFill>
                  <a:latin typeface="Calibri (MS) Bold"/>
                  <a:ea typeface="Calibri (MS) Bold"/>
                  <a:cs typeface="Calibri (MS) Bold"/>
                  <a:sym typeface="Calibri (MS) Bold"/>
                </a:rPr>
                <a:t>Drivetrain</a:t>
              </a:r>
            </a:p>
          </p:txBody>
        </p:sp>
      </p:grpSp>
      <p:grpSp>
        <p:nvGrpSpPr>
          <p:cNvPr name="Group 101" id="101"/>
          <p:cNvGrpSpPr/>
          <p:nvPr/>
        </p:nvGrpSpPr>
        <p:grpSpPr>
          <a:xfrm rot="0">
            <a:off x="13919264" y="3014989"/>
            <a:ext cx="25432" cy="457200"/>
            <a:chOff x="0" y="0"/>
            <a:chExt cx="33909" cy="609600"/>
          </a:xfrm>
        </p:grpSpPr>
        <p:sp>
          <p:nvSpPr>
            <p:cNvPr name="Freeform 102" id="102"/>
            <p:cNvSpPr/>
            <p:nvPr/>
          </p:nvSpPr>
          <p:spPr>
            <a:xfrm flipH="false" flipV="false" rot="0">
              <a:off x="0" y="0"/>
              <a:ext cx="33909" cy="609600"/>
            </a:xfrm>
            <a:custGeom>
              <a:avLst/>
              <a:gdLst/>
              <a:ahLst/>
              <a:cxnLst/>
              <a:rect r="r" b="b" t="t" l="l"/>
              <a:pathLst>
                <a:path h="609600" w="33909">
                  <a:moveTo>
                    <a:pt x="33909" y="0"/>
                  </a:moveTo>
                  <a:lnTo>
                    <a:pt x="33909" y="609600"/>
                  </a:lnTo>
                  <a:lnTo>
                    <a:pt x="0" y="609600"/>
                  </a:lnTo>
                  <a:lnTo>
                    <a:pt x="0" y="0"/>
                  </a:lnTo>
                  <a:close/>
                </a:path>
              </a:pathLst>
            </a:custGeom>
            <a:solidFill>
              <a:srgbClr val="B8D4E0"/>
            </a:solidFill>
          </p:spPr>
        </p:sp>
      </p:grpSp>
      <p:sp>
        <p:nvSpPr>
          <p:cNvPr name="Freeform 103" id="103"/>
          <p:cNvSpPr/>
          <p:nvPr/>
        </p:nvSpPr>
        <p:spPr>
          <a:xfrm flipH="false" flipV="false" rot="0">
            <a:off x="15428024" y="3459520"/>
            <a:ext cx="2494216" cy="1159192"/>
          </a:xfrm>
          <a:custGeom>
            <a:avLst/>
            <a:gdLst/>
            <a:ahLst/>
            <a:cxnLst/>
            <a:rect r="r" b="b" t="t" l="l"/>
            <a:pathLst>
              <a:path h="1159192" w="2494216">
                <a:moveTo>
                  <a:pt x="0" y="0"/>
                </a:moveTo>
                <a:lnTo>
                  <a:pt x="2494216" y="0"/>
                </a:lnTo>
                <a:lnTo>
                  <a:pt x="2494216" y="1159193"/>
                </a:lnTo>
                <a:lnTo>
                  <a:pt x="0" y="1159193"/>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104" id="104"/>
          <p:cNvGrpSpPr/>
          <p:nvPr/>
        </p:nvGrpSpPr>
        <p:grpSpPr>
          <a:xfrm rot="0">
            <a:off x="15440720" y="3472217"/>
            <a:ext cx="2468880" cy="1133856"/>
            <a:chOff x="0" y="0"/>
            <a:chExt cx="3291840" cy="1511808"/>
          </a:xfrm>
        </p:grpSpPr>
        <p:sp>
          <p:nvSpPr>
            <p:cNvPr name="Freeform 105" id="105"/>
            <p:cNvSpPr/>
            <p:nvPr/>
          </p:nvSpPr>
          <p:spPr>
            <a:xfrm flipH="false" flipV="false" rot="0">
              <a:off x="0" y="0"/>
              <a:ext cx="3291840" cy="1511808"/>
            </a:xfrm>
            <a:custGeom>
              <a:avLst/>
              <a:gdLst/>
              <a:ahLst/>
              <a:cxnLst/>
              <a:rect r="r" b="b" t="t" l="l"/>
              <a:pathLst>
                <a:path h="1511808" w="3291840">
                  <a:moveTo>
                    <a:pt x="0" y="0"/>
                  </a:moveTo>
                  <a:lnTo>
                    <a:pt x="3291840" y="0"/>
                  </a:lnTo>
                  <a:lnTo>
                    <a:pt x="3291840" y="1511808"/>
                  </a:lnTo>
                  <a:lnTo>
                    <a:pt x="0" y="1511808"/>
                  </a:lnTo>
                  <a:close/>
                </a:path>
              </a:pathLst>
            </a:custGeom>
            <a:blipFill>
              <a:blip r:embed="rId5">
                <a:alphaModFix amt="0"/>
              </a:blip>
              <a:stretch>
                <a:fillRect l="-8965" t="0" r="-8965" b="0"/>
              </a:stretch>
            </a:blipFill>
          </p:spPr>
        </p:sp>
      </p:grpSp>
      <p:grpSp>
        <p:nvGrpSpPr>
          <p:cNvPr name="Group 106" id="106"/>
          <p:cNvGrpSpPr/>
          <p:nvPr/>
        </p:nvGrpSpPr>
        <p:grpSpPr>
          <a:xfrm rot="0">
            <a:off x="15440720" y="3443642"/>
            <a:ext cx="2468880" cy="1162431"/>
            <a:chOff x="0" y="0"/>
            <a:chExt cx="3291840" cy="1549908"/>
          </a:xfrm>
        </p:grpSpPr>
        <p:sp>
          <p:nvSpPr>
            <p:cNvPr name="Freeform 107" id="107"/>
            <p:cNvSpPr/>
            <p:nvPr/>
          </p:nvSpPr>
          <p:spPr>
            <a:xfrm flipH="false" flipV="false" rot="0">
              <a:off x="0" y="0"/>
              <a:ext cx="3291840" cy="1549908"/>
            </a:xfrm>
            <a:custGeom>
              <a:avLst/>
              <a:gdLst/>
              <a:ahLst/>
              <a:cxnLst/>
              <a:rect r="r" b="b" t="t" l="l"/>
              <a:pathLst>
                <a:path h="1549908" w="3291840">
                  <a:moveTo>
                    <a:pt x="0" y="0"/>
                  </a:moveTo>
                  <a:lnTo>
                    <a:pt x="3291840" y="0"/>
                  </a:lnTo>
                  <a:lnTo>
                    <a:pt x="3291840" y="1549908"/>
                  </a:lnTo>
                  <a:lnTo>
                    <a:pt x="0" y="1549908"/>
                  </a:lnTo>
                  <a:close/>
                </a:path>
              </a:pathLst>
            </a:custGeom>
            <a:blipFill>
              <a:blip r:embed="rId6">
                <a:alphaModFix amt="0"/>
              </a:blip>
              <a:stretch>
                <a:fillRect l="-10409" t="0" r="-10409" b="0"/>
              </a:stretch>
            </a:blipFill>
          </p:spPr>
        </p:sp>
        <p:sp>
          <p:nvSpPr>
            <p:cNvPr name="TextBox 108" id="108"/>
            <p:cNvSpPr txBox="true"/>
            <p:nvPr/>
          </p:nvSpPr>
          <p:spPr>
            <a:xfrm>
              <a:off x="0" y="-38100"/>
              <a:ext cx="3291840" cy="1588008"/>
            </a:xfrm>
            <a:prstGeom prst="rect">
              <a:avLst/>
            </a:prstGeom>
          </p:spPr>
          <p:txBody>
            <a:bodyPr anchor="ctr" rtlCol="false" tIns="0" lIns="0" bIns="0" rIns="0"/>
            <a:lstStyle/>
            <a:p>
              <a:pPr algn="ctr">
                <a:lnSpc>
                  <a:spcPts val="2038"/>
                </a:lnSpc>
              </a:pPr>
              <a:r>
                <a:rPr lang="en-US" sz="1699" b="true">
                  <a:solidFill>
                    <a:srgbClr val="FFFFFF"/>
                  </a:solidFill>
                  <a:latin typeface="Calibri (MS) Bold"/>
                  <a:ea typeface="Calibri (MS) Bold"/>
                  <a:cs typeface="Calibri (MS) Bold"/>
                  <a:sym typeface="Calibri (MS) Bold"/>
                </a:rPr>
                <a:t>Engine</a:t>
              </a:r>
            </a:p>
          </p:txBody>
        </p:sp>
      </p:grpSp>
      <p:grpSp>
        <p:nvGrpSpPr>
          <p:cNvPr name="Group 109" id="109"/>
          <p:cNvGrpSpPr/>
          <p:nvPr/>
        </p:nvGrpSpPr>
        <p:grpSpPr>
          <a:xfrm rot="0">
            <a:off x="16662464" y="3014989"/>
            <a:ext cx="25432" cy="457200"/>
            <a:chOff x="0" y="0"/>
            <a:chExt cx="33909" cy="609600"/>
          </a:xfrm>
        </p:grpSpPr>
        <p:sp>
          <p:nvSpPr>
            <p:cNvPr name="Freeform 110" id="110"/>
            <p:cNvSpPr/>
            <p:nvPr/>
          </p:nvSpPr>
          <p:spPr>
            <a:xfrm flipH="false" flipV="false" rot="0">
              <a:off x="0" y="0"/>
              <a:ext cx="33909" cy="609600"/>
            </a:xfrm>
            <a:custGeom>
              <a:avLst/>
              <a:gdLst/>
              <a:ahLst/>
              <a:cxnLst/>
              <a:rect r="r" b="b" t="t" l="l"/>
              <a:pathLst>
                <a:path h="609600" w="33909">
                  <a:moveTo>
                    <a:pt x="33909" y="0"/>
                  </a:moveTo>
                  <a:lnTo>
                    <a:pt x="33909" y="609600"/>
                  </a:lnTo>
                  <a:lnTo>
                    <a:pt x="0" y="609600"/>
                  </a:lnTo>
                  <a:lnTo>
                    <a:pt x="0" y="0"/>
                  </a:lnTo>
                  <a:close/>
                </a:path>
              </a:pathLst>
            </a:custGeom>
            <a:solidFill>
              <a:srgbClr val="B8D4E0"/>
            </a:solidFill>
          </p:spPr>
        </p:sp>
      </p:grpSp>
      <p:grpSp>
        <p:nvGrpSpPr>
          <p:cNvPr name="Group 111" id="111"/>
          <p:cNvGrpSpPr/>
          <p:nvPr/>
        </p:nvGrpSpPr>
        <p:grpSpPr>
          <a:xfrm rot="0">
            <a:off x="2959132" y="3441232"/>
            <a:ext cx="13716000" cy="25432"/>
            <a:chOff x="0" y="0"/>
            <a:chExt cx="18288000" cy="33909"/>
          </a:xfrm>
        </p:grpSpPr>
        <p:sp>
          <p:nvSpPr>
            <p:cNvPr name="Freeform 112" id="112"/>
            <p:cNvSpPr/>
            <p:nvPr/>
          </p:nvSpPr>
          <p:spPr>
            <a:xfrm flipH="false" flipV="false" rot="0">
              <a:off x="0" y="0"/>
              <a:ext cx="18288000" cy="33909"/>
            </a:xfrm>
            <a:custGeom>
              <a:avLst/>
              <a:gdLst/>
              <a:ahLst/>
              <a:cxnLst/>
              <a:rect r="r" b="b" t="t" l="l"/>
              <a:pathLst>
                <a:path h="33909" w="18288000">
                  <a:moveTo>
                    <a:pt x="0" y="0"/>
                  </a:moveTo>
                  <a:lnTo>
                    <a:pt x="18288000" y="0"/>
                  </a:lnTo>
                  <a:lnTo>
                    <a:pt x="18288000" y="33909"/>
                  </a:lnTo>
                  <a:lnTo>
                    <a:pt x="0" y="33909"/>
                  </a:lnTo>
                  <a:close/>
                </a:path>
              </a:pathLst>
            </a:custGeom>
            <a:solidFill>
              <a:srgbClr val="B8D4E0"/>
            </a:solidFill>
          </p:spPr>
        </p:sp>
      </p:grpSp>
      <p:grpSp>
        <p:nvGrpSpPr>
          <p:cNvPr name="Group 113" id="113"/>
          <p:cNvGrpSpPr/>
          <p:nvPr/>
        </p:nvGrpSpPr>
        <p:grpSpPr>
          <a:xfrm rot="0">
            <a:off x="4351077" y="3391950"/>
            <a:ext cx="2702624" cy="1294448"/>
            <a:chOff x="0" y="0"/>
            <a:chExt cx="3603498" cy="1725930"/>
          </a:xfrm>
        </p:grpSpPr>
        <p:sp>
          <p:nvSpPr>
            <p:cNvPr name="Freeform 114" id="114"/>
            <p:cNvSpPr/>
            <p:nvPr/>
          </p:nvSpPr>
          <p:spPr>
            <a:xfrm flipH="false" flipV="false" rot="0">
              <a:off x="0" y="0"/>
              <a:ext cx="3603498" cy="1725930"/>
            </a:xfrm>
            <a:custGeom>
              <a:avLst/>
              <a:gdLst/>
              <a:ahLst/>
              <a:cxnLst/>
              <a:rect r="r" b="b" t="t" l="l"/>
              <a:pathLst>
                <a:path h="1725930" w="3603498">
                  <a:moveTo>
                    <a:pt x="33909" y="0"/>
                  </a:moveTo>
                  <a:lnTo>
                    <a:pt x="3569589" y="0"/>
                  </a:lnTo>
                  <a:cubicBezTo>
                    <a:pt x="3588258" y="0"/>
                    <a:pt x="3603498" y="15113"/>
                    <a:pt x="3603498" y="33909"/>
                  </a:cubicBezTo>
                  <a:lnTo>
                    <a:pt x="3603498" y="1692021"/>
                  </a:lnTo>
                  <a:cubicBezTo>
                    <a:pt x="3603498" y="1710690"/>
                    <a:pt x="3588385" y="1725930"/>
                    <a:pt x="3569589" y="1725930"/>
                  </a:cubicBezTo>
                  <a:lnTo>
                    <a:pt x="33909" y="1725930"/>
                  </a:lnTo>
                  <a:cubicBezTo>
                    <a:pt x="15240" y="1725930"/>
                    <a:pt x="0" y="1710817"/>
                    <a:pt x="0" y="1692021"/>
                  </a:cubicBezTo>
                  <a:lnTo>
                    <a:pt x="0" y="33909"/>
                  </a:lnTo>
                  <a:cubicBezTo>
                    <a:pt x="0" y="15113"/>
                    <a:pt x="15113" y="0"/>
                    <a:pt x="33909" y="0"/>
                  </a:cubicBezTo>
                  <a:moveTo>
                    <a:pt x="33909" y="67691"/>
                  </a:moveTo>
                  <a:lnTo>
                    <a:pt x="33909" y="33909"/>
                  </a:lnTo>
                  <a:lnTo>
                    <a:pt x="67691" y="33909"/>
                  </a:lnTo>
                  <a:lnTo>
                    <a:pt x="67691" y="1692021"/>
                  </a:lnTo>
                  <a:lnTo>
                    <a:pt x="33909" y="1692021"/>
                  </a:lnTo>
                  <a:lnTo>
                    <a:pt x="33909" y="1658112"/>
                  </a:lnTo>
                  <a:lnTo>
                    <a:pt x="3569589" y="1658112"/>
                  </a:lnTo>
                  <a:lnTo>
                    <a:pt x="3569589" y="1692021"/>
                  </a:lnTo>
                  <a:lnTo>
                    <a:pt x="3535680" y="1692021"/>
                  </a:lnTo>
                  <a:lnTo>
                    <a:pt x="3535680" y="33909"/>
                  </a:lnTo>
                  <a:lnTo>
                    <a:pt x="3569589" y="33909"/>
                  </a:lnTo>
                  <a:lnTo>
                    <a:pt x="3569589" y="67691"/>
                  </a:lnTo>
                  <a:lnTo>
                    <a:pt x="33909" y="67691"/>
                  </a:lnTo>
                  <a:close/>
                </a:path>
              </a:pathLst>
            </a:custGeom>
            <a:solidFill>
              <a:srgbClr val="F4845F"/>
            </a:solidFill>
          </p:spPr>
        </p:sp>
      </p:grpSp>
      <p:grpSp>
        <p:nvGrpSpPr>
          <p:cNvPr name="Group 115" id="115"/>
          <p:cNvGrpSpPr/>
          <p:nvPr/>
        </p:nvGrpSpPr>
        <p:grpSpPr>
          <a:xfrm rot="0">
            <a:off x="5988768" y="4772370"/>
            <a:ext cx="757723" cy="313087"/>
            <a:chOff x="0" y="0"/>
            <a:chExt cx="1010298" cy="417449"/>
          </a:xfrm>
        </p:grpSpPr>
        <p:sp>
          <p:nvSpPr>
            <p:cNvPr name="Freeform 116" id="116"/>
            <p:cNvSpPr/>
            <p:nvPr/>
          </p:nvSpPr>
          <p:spPr>
            <a:xfrm flipH="false" flipV="false" rot="0">
              <a:off x="0" y="0"/>
              <a:ext cx="1010285" cy="417449"/>
            </a:xfrm>
            <a:custGeom>
              <a:avLst/>
              <a:gdLst/>
              <a:ahLst/>
              <a:cxnLst/>
              <a:rect r="r" b="b" t="t" l="l"/>
              <a:pathLst>
                <a:path h="417449" w="1010285">
                  <a:moveTo>
                    <a:pt x="0" y="0"/>
                  </a:moveTo>
                  <a:lnTo>
                    <a:pt x="1010285" y="0"/>
                  </a:lnTo>
                  <a:lnTo>
                    <a:pt x="1010285" y="417449"/>
                  </a:lnTo>
                  <a:lnTo>
                    <a:pt x="0" y="417449"/>
                  </a:lnTo>
                  <a:close/>
                </a:path>
              </a:pathLst>
            </a:custGeom>
            <a:blipFill>
              <a:blip r:embed="rId5">
                <a:alphaModFix amt="0"/>
              </a:blip>
              <a:stretch>
                <a:fillRect l="-3052" t="0" r="-3052" b="0"/>
              </a:stretch>
            </a:blipFill>
          </p:spPr>
        </p:sp>
      </p:grpSp>
      <p:sp>
        <p:nvSpPr>
          <p:cNvPr name="Freeform 117" id="117"/>
          <p:cNvSpPr/>
          <p:nvPr/>
        </p:nvSpPr>
        <p:spPr>
          <a:xfrm flipH="false" flipV="false" rot="0">
            <a:off x="3619805" y="5738405"/>
            <a:ext cx="2371344" cy="1036320"/>
          </a:xfrm>
          <a:custGeom>
            <a:avLst/>
            <a:gdLst/>
            <a:ahLst/>
            <a:cxnLst/>
            <a:rect r="r" b="b" t="t" l="l"/>
            <a:pathLst>
              <a:path h="1036320" w="2371344">
                <a:moveTo>
                  <a:pt x="0" y="0"/>
                </a:moveTo>
                <a:lnTo>
                  <a:pt x="2371344" y="0"/>
                </a:lnTo>
                <a:lnTo>
                  <a:pt x="2371344" y="1036320"/>
                </a:lnTo>
                <a:lnTo>
                  <a:pt x="0" y="103632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118" id="118"/>
          <p:cNvGrpSpPr/>
          <p:nvPr/>
        </p:nvGrpSpPr>
        <p:grpSpPr>
          <a:xfrm rot="0">
            <a:off x="3635045" y="5753645"/>
            <a:ext cx="2340864" cy="1005840"/>
            <a:chOff x="0" y="0"/>
            <a:chExt cx="3121152" cy="1341120"/>
          </a:xfrm>
        </p:grpSpPr>
        <p:sp>
          <p:nvSpPr>
            <p:cNvPr name="Freeform 119" id="119"/>
            <p:cNvSpPr/>
            <p:nvPr/>
          </p:nvSpPr>
          <p:spPr>
            <a:xfrm flipH="false" flipV="false" rot="0">
              <a:off x="0" y="0"/>
              <a:ext cx="3121152" cy="1341120"/>
            </a:xfrm>
            <a:custGeom>
              <a:avLst/>
              <a:gdLst/>
              <a:ahLst/>
              <a:cxnLst/>
              <a:rect r="r" b="b" t="t" l="l"/>
              <a:pathLst>
                <a:path h="1341120" w="3121152">
                  <a:moveTo>
                    <a:pt x="0" y="0"/>
                  </a:moveTo>
                  <a:lnTo>
                    <a:pt x="3121152" y="0"/>
                  </a:lnTo>
                  <a:lnTo>
                    <a:pt x="3121152" y="1341120"/>
                  </a:lnTo>
                  <a:lnTo>
                    <a:pt x="0" y="1341120"/>
                  </a:lnTo>
                  <a:close/>
                </a:path>
              </a:pathLst>
            </a:custGeom>
            <a:blipFill>
              <a:blip r:embed="rId5">
                <a:alphaModFix amt="0"/>
              </a:blip>
              <a:stretch>
                <a:fillRect l="-5168" t="0" r="-5168" b="0"/>
              </a:stretch>
            </a:blipFill>
          </p:spPr>
        </p:sp>
      </p:grpSp>
      <p:grpSp>
        <p:nvGrpSpPr>
          <p:cNvPr name="Group 120" id="120"/>
          <p:cNvGrpSpPr/>
          <p:nvPr/>
        </p:nvGrpSpPr>
        <p:grpSpPr>
          <a:xfrm rot="0">
            <a:off x="3635045" y="5732214"/>
            <a:ext cx="2340864" cy="1027271"/>
            <a:chOff x="0" y="0"/>
            <a:chExt cx="3121152" cy="1369695"/>
          </a:xfrm>
        </p:grpSpPr>
        <p:sp>
          <p:nvSpPr>
            <p:cNvPr name="Freeform 121" id="121"/>
            <p:cNvSpPr/>
            <p:nvPr/>
          </p:nvSpPr>
          <p:spPr>
            <a:xfrm flipH="false" flipV="false" rot="0">
              <a:off x="0" y="0"/>
              <a:ext cx="3121152" cy="1369695"/>
            </a:xfrm>
            <a:custGeom>
              <a:avLst/>
              <a:gdLst/>
              <a:ahLst/>
              <a:cxnLst/>
              <a:rect r="r" b="b" t="t" l="l"/>
              <a:pathLst>
                <a:path h="1369695" w="3121152">
                  <a:moveTo>
                    <a:pt x="0" y="0"/>
                  </a:moveTo>
                  <a:lnTo>
                    <a:pt x="3121152" y="0"/>
                  </a:lnTo>
                  <a:lnTo>
                    <a:pt x="3121152" y="1369695"/>
                  </a:lnTo>
                  <a:lnTo>
                    <a:pt x="0" y="1369695"/>
                  </a:lnTo>
                  <a:close/>
                </a:path>
              </a:pathLst>
            </a:custGeom>
            <a:blipFill>
              <a:blip r:embed="rId6">
                <a:alphaModFix amt="0"/>
              </a:blip>
              <a:stretch>
                <a:fillRect l="-6305" t="0" r="-6305" b="0"/>
              </a:stretch>
            </a:blipFill>
          </p:spPr>
        </p:sp>
        <p:sp>
          <p:nvSpPr>
            <p:cNvPr name="TextBox 122" id="122"/>
            <p:cNvSpPr txBox="true"/>
            <p:nvPr/>
          </p:nvSpPr>
          <p:spPr>
            <a:xfrm>
              <a:off x="0" y="-28575"/>
              <a:ext cx="3121152" cy="1398270"/>
            </a:xfrm>
            <a:prstGeom prst="rect">
              <a:avLst/>
            </a:prstGeom>
          </p:spPr>
          <p:txBody>
            <a:bodyPr anchor="ctr" rtlCol="false" tIns="0" lIns="0" bIns="0" rIns="0"/>
            <a:lstStyle/>
            <a:p>
              <a:pPr algn="ctr">
                <a:lnSpc>
                  <a:spcPts val="1920"/>
                </a:lnSpc>
              </a:pPr>
              <a:r>
                <a:rPr lang="en-US" sz="1600" b="true">
                  <a:solidFill>
                    <a:srgbClr val="0D1B2A"/>
                  </a:solidFill>
                  <a:latin typeface="Calibri (MS) Bold"/>
                  <a:ea typeface="Calibri (MS) Bold"/>
                  <a:cs typeface="Calibri (MS) Bold"/>
                  <a:sym typeface="Calibri (MS) Bold"/>
                </a:rPr>
                <a:t>Frames</a:t>
              </a:r>
            </a:p>
          </p:txBody>
        </p:sp>
      </p:grpSp>
      <p:sp>
        <p:nvSpPr>
          <p:cNvPr name="Freeform 123" id="123"/>
          <p:cNvSpPr/>
          <p:nvPr/>
        </p:nvSpPr>
        <p:spPr>
          <a:xfrm flipH="false" flipV="false" rot="0">
            <a:off x="6143549" y="5738405"/>
            <a:ext cx="2371344" cy="1036320"/>
          </a:xfrm>
          <a:custGeom>
            <a:avLst/>
            <a:gdLst/>
            <a:ahLst/>
            <a:cxnLst/>
            <a:rect r="r" b="b" t="t" l="l"/>
            <a:pathLst>
              <a:path h="1036320" w="2371344">
                <a:moveTo>
                  <a:pt x="0" y="0"/>
                </a:moveTo>
                <a:lnTo>
                  <a:pt x="2371344" y="0"/>
                </a:lnTo>
                <a:lnTo>
                  <a:pt x="2371344" y="1036320"/>
                </a:lnTo>
                <a:lnTo>
                  <a:pt x="0" y="103632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124" id="124"/>
          <p:cNvGrpSpPr/>
          <p:nvPr/>
        </p:nvGrpSpPr>
        <p:grpSpPr>
          <a:xfrm rot="0">
            <a:off x="6158789" y="5753645"/>
            <a:ext cx="2340864" cy="1005840"/>
            <a:chOff x="0" y="0"/>
            <a:chExt cx="3121152" cy="1341120"/>
          </a:xfrm>
        </p:grpSpPr>
        <p:sp>
          <p:nvSpPr>
            <p:cNvPr name="Freeform 125" id="125"/>
            <p:cNvSpPr/>
            <p:nvPr/>
          </p:nvSpPr>
          <p:spPr>
            <a:xfrm flipH="false" flipV="false" rot="0">
              <a:off x="0" y="0"/>
              <a:ext cx="3121152" cy="1341120"/>
            </a:xfrm>
            <a:custGeom>
              <a:avLst/>
              <a:gdLst/>
              <a:ahLst/>
              <a:cxnLst/>
              <a:rect r="r" b="b" t="t" l="l"/>
              <a:pathLst>
                <a:path h="1341120" w="3121152">
                  <a:moveTo>
                    <a:pt x="0" y="0"/>
                  </a:moveTo>
                  <a:lnTo>
                    <a:pt x="3121152" y="0"/>
                  </a:lnTo>
                  <a:lnTo>
                    <a:pt x="3121152" y="1341120"/>
                  </a:lnTo>
                  <a:lnTo>
                    <a:pt x="0" y="1341120"/>
                  </a:lnTo>
                  <a:close/>
                </a:path>
              </a:pathLst>
            </a:custGeom>
            <a:blipFill>
              <a:blip r:embed="rId5">
                <a:alphaModFix amt="0"/>
              </a:blip>
              <a:stretch>
                <a:fillRect l="-5168" t="0" r="-5168" b="0"/>
              </a:stretch>
            </a:blipFill>
          </p:spPr>
        </p:sp>
      </p:grpSp>
      <p:grpSp>
        <p:nvGrpSpPr>
          <p:cNvPr name="Group 126" id="126"/>
          <p:cNvGrpSpPr/>
          <p:nvPr/>
        </p:nvGrpSpPr>
        <p:grpSpPr>
          <a:xfrm rot="0">
            <a:off x="6158789" y="5732214"/>
            <a:ext cx="2340864" cy="1027271"/>
            <a:chOff x="0" y="0"/>
            <a:chExt cx="3121152" cy="1369695"/>
          </a:xfrm>
        </p:grpSpPr>
        <p:sp>
          <p:nvSpPr>
            <p:cNvPr name="Freeform 127" id="127"/>
            <p:cNvSpPr/>
            <p:nvPr/>
          </p:nvSpPr>
          <p:spPr>
            <a:xfrm flipH="false" flipV="false" rot="0">
              <a:off x="0" y="0"/>
              <a:ext cx="3121152" cy="1369695"/>
            </a:xfrm>
            <a:custGeom>
              <a:avLst/>
              <a:gdLst/>
              <a:ahLst/>
              <a:cxnLst/>
              <a:rect r="r" b="b" t="t" l="l"/>
              <a:pathLst>
                <a:path h="1369695" w="3121152">
                  <a:moveTo>
                    <a:pt x="0" y="0"/>
                  </a:moveTo>
                  <a:lnTo>
                    <a:pt x="3121152" y="0"/>
                  </a:lnTo>
                  <a:lnTo>
                    <a:pt x="3121152" y="1369695"/>
                  </a:lnTo>
                  <a:lnTo>
                    <a:pt x="0" y="1369695"/>
                  </a:lnTo>
                  <a:close/>
                </a:path>
              </a:pathLst>
            </a:custGeom>
            <a:blipFill>
              <a:blip r:embed="rId6">
                <a:alphaModFix amt="0"/>
              </a:blip>
              <a:stretch>
                <a:fillRect l="-6305" t="0" r="-6305" b="0"/>
              </a:stretch>
            </a:blipFill>
          </p:spPr>
        </p:sp>
        <p:sp>
          <p:nvSpPr>
            <p:cNvPr name="TextBox 128" id="128"/>
            <p:cNvSpPr txBox="true"/>
            <p:nvPr/>
          </p:nvSpPr>
          <p:spPr>
            <a:xfrm>
              <a:off x="0" y="-28575"/>
              <a:ext cx="3121152" cy="1398270"/>
            </a:xfrm>
            <a:prstGeom prst="rect">
              <a:avLst/>
            </a:prstGeom>
          </p:spPr>
          <p:txBody>
            <a:bodyPr anchor="ctr" rtlCol="false" tIns="0" lIns="0" bIns="0" rIns="0"/>
            <a:lstStyle/>
            <a:p>
              <a:pPr algn="ctr">
                <a:lnSpc>
                  <a:spcPts val="1920"/>
                </a:lnSpc>
              </a:pPr>
              <a:r>
                <a:rPr lang="en-US" sz="1600" b="true">
                  <a:solidFill>
                    <a:srgbClr val="0D1B2A"/>
                  </a:solidFill>
                  <a:latin typeface="Calibri (MS) Bold"/>
                  <a:ea typeface="Calibri (MS) Bold"/>
                  <a:cs typeface="Calibri (MS) Bold"/>
                  <a:sym typeface="Calibri (MS) Bold"/>
                </a:rPr>
                <a:t>Suspension</a:t>
              </a:r>
            </a:p>
          </p:txBody>
        </p:sp>
      </p:grpSp>
      <p:sp>
        <p:nvSpPr>
          <p:cNvPr name="Freeform 129" id="129"/>
          <p:cNvSpPr/>
          <p:nvPr/>
        </p:nvSpPr>
        <p:spPr>
          <a:xfrm flipH="false" flipV="false" rot="0">
            <a:off x="8667293" y="5738405"/>
            <a:ext cx="2371344" cy="1036320"/>
          </a:xfrm>
          <a:custGeom>
            <a:avLst/>
            <a:gdLst/>
            <a:ahLst/>
            <a:cxnLst/>
            <a:rect r="r" b="b" t="t" l="l"/>
            <a:pathLst>
              <a:path h="1036320" w="2371344">
                <a:moveTo>
                  <a:pt x="0" y="0"/>
                </a:moveTo>
                <a:lnTo>
                  <a:pt x="2371344" y="0"/>
                </a:lnTo>
                <a:lnTo>
                  <a:pt x="2371344" y="1036320"/>
                </a:lnTo>
                <a:lnTo>
                  <a:pt x="0" y="103632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130" id="130"/>
          <p:cNvGrpSpPr/>
          <p:nvPr/>
        </p:nvGrpSpPr>
        <p:grpSpPr>
          <a:xfrm rot="0">
            <a:off x="8682533" y="5753645"/>
            <a:ext cx="2340864" cy="1005840"/>
            <a:chOff x="0" y="0"/>
            <a:chExt cx="3121152" cy="1341120"/>
          </a:xfrm>
        </p:grpSpPr>
        <p:sp>
          <p:nvSpPr>
            <p:cNvPr name="Freeform 131" id="131"/>
            <p:cNvSpPr/>
            <p:nvPr/>
          </p:nvSpPr>
          <p:spPr>
            <a:xfrm flipH="false" flipV="false" rot="0">
              <a:off x="0" y="0"/>
              <a:ext cx="3121152" cy="1341120"/>
            </a:xfrm>
            <a:custGeom>
              <a:avLst/>
              <a:gdLst/>
              <a:ahLst/>
              <a:cxnLst/>
              <a:rect r="r" b="b" t="t" l="l"/>
              <a:pathLst>
                <a:path h="1341120" w="3121152">
                  <a:moveTo>
                    <a:pt x="0" y="0"/>
                  </a:moveTo>
                  <a:lnTo>
                    <a:pt x="3121152" y="0"/>
                  </a:lnTo>
                  <a:lnTo>
                    <a:pt x="3121152" y="1341120"/>
                  </a:lnTo>
                  <a:lnTo>
                    <a:pt x="0" y="1341120"/>
                  </a:lnTo>
                  <a:close/>
                </a:path>
              </a:pathLst>
            </a:custGeom>
            <a:blipFill>
              <a:blip r:embed="rId5">
                <a:alphaModFix amt="0"/>
              </a:blip>
              <a:stretch>
                <a:fillRect l="-5168" t="0" r="-5168" b="0"/>
              </a:stretch>
            </a:blipFill>
          </p:spPr>
        </p:sp>
      </p:grpSp>
      <p:grpSp>
        <p:nvGrpSpPr>
          <p:cNvPr name="Group 132" id="132"/>
          <p:cNvGrpSpPr/>
          <p:nvPr/>
        </p:nvGrpSpPr>
        <p:grpSpPr>
          <a:xfrm rot="0">
            <a:off x="8682533" y="5732214"/>
            <a:ext cx="2340864" cy="1027271"/>
            <a:chOff x="0" y="0"/>
            <a:chExt cx="3121152" cy="1369695"/>
          </a:xfrm>
        </p:grpSpPr>
        <p:sp>
          <p:nvSpPr>
            <p:cNvPr name="Freeform 133" id="133"/>
            <p:cNvSpPr/>
            <p:nvPr/>
          </p:nvSpPr>
          <p:spPr>
            <a:xfrm flipH="false" flipV="false" rot="0">
              <a:off x="0" y="0"/>
              <a:ext cx="3121152" cy="1369695"/>
            </a:xfrm>
            <a:custGeom>
              <a:avLst/>
              <a:gdLst/>
              <a:ahLst/>
              <a:cxnLst/>
              <a:rect r="r" b="b" t="t" l="l"/>
              <a:pathLst>
                <a:path h="1369695" w="3121152">
                  <a:moveTo>
                    <a:pt x="0" y="0"/>
                  </a:moveTo>
                  <a:lnTo>
                    <a:pt x="3121152" y="0"/>
                  </a:lnTo>
                  <a:lnTo>
                    <a:pt x="3121152" y="1369695"/>
                  </a:lnTo>
                  <a:lnTo>
                    <a:pt x="0" y="1369695"/>
                  </a:lnTo>
                  <a:close/>
                </a:path>
              </a:pathLst>
            </a:custGeom>
            <a:blipFill>
              <a:blip r:embed="rId6">
                <a:alphaModFix amt="0"/>
              </a:blip>
              <a:stretch>
                <a:fillRect l="-6305" t="0" r="-6305" b="0"/>
              </a:stretch>
            </a:blipFill>
          </p:spPr>
        </p:sp>
        <p:sp>
          <p:nvSpPr>
            <p:cNvPr name="TextBox 134" id="134"/>
            <p:cNvSpPr txBox="true"/>
            <p:nvPr/>
          </p:nvSpPr>
          <p:spPr>
            <a:xfrm>
              <a:off x="0" y="-28575"/>
              <a:ext cx="3121152" cy="1398270"/>
            </a:xfrm>
            <a:prstGeom prst="rect">
              <a:avLst/>
            </a:prstGeom>
          </p:spPr>
          <p:txBody>
            <a:bodyPr anchor="ctr" rtlCol="false" tIns="0" lIns="0" bIns="0" rIns="0"/>
            <a:lstStyle/>
            <a:p>
              <a:pPr algn="ctr">
                <a:lnSpc>
                  <a:spcPts val="1920"/>
                </a:lnSpc>
              </a:pPr>
              <a:r>
                <a:rPr lang="en-US" sz="1600" b="true">
                  <a:solidFill>
                    <a:srgbClr val="0D1B2A"/>
                  </a:solidFill>
                  <a:latin typeface="Calibri (MS) Bold"/>
                  <a:ea typeface="Calibri (MS) Bold"/>
                  <a:cs typeface="Calibri (MS) Bold"/>
                  <a:sym typeface="Calibri (MS) Bold"/>
                </a:rPr>
                <a:t>Steering</a:t>
              </a:r>
            </a:p>
          </p:txBody>
        </p:sp>
      </p:grpSp>
      <p:sp>
        <p:nvSpPr>
          <p:cNvPr name="Freeform 135" id="135"/>
          <p:cNvSpPr/>
          <p:nvPr/>
        </p:nvSpPr>
        <p:spPr>
          <a:xfrm flipH="false" flipV="false" rot="0">
            <a:off x="11191037" y="5738405"/>
            <a:ext cx="2371344" cy="1036320"/>
          </a:xfrm>
          <a:custGeom>
            <a:avLst/>
            <a:gdLst/>
            <a:ahLst/>
            <a:cxnLst/>
            <a:rect r="r" b="b" t="t" l="l"/>
            <a:pathLst>
              <a:path h="1036320" w="2371344">
                <a:moveTo>
                  <a:pt x="0" y="0"/>
                </a:moveTo>
                <a:lnTo>
                  <a:pt x="2371344" y="0"/>
                </a:lnTo>
                <a:lnTo>
                  <a:pt x="2371344" y="1036320"/>
                </a:lnTo>
                <a:lnTo>
                  <a:pt x="0" y="103632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136" id="136"/>
          <p:cNvGrpSpPr/>
          <p:nvPr/>
        </p:nvGrpSpPr>
        <p:grpSpPr>
          <a:xfrm rot="0">
            <a:off x="11206277" y="5753645"/>
            <a:ext cx="2340864" cy="1005840"/>
            <a:chOff x="0" y="0"/>
            <a:chExt cx="3121152" cy="1341120"/>
          </a:xfrm>
        </p:grpSpPr>
        <p:sp>
          <p:nvSpPr>
            <p:cNvPr name="Freeform 137" id="137"/>
            <p:cNvSpPr/>
            <p:nvPr/>
          </p:nvSpPr>
          <p:spPr>
            <a:xfrm flipH="false" flipV="false" rot="0">
              <a:off x="0" y="0"/>
              <a:ext cx="3121152" cy="1341120"/>
            </a:xfrm>
            <a:custGeom>
              <a:avLst/>
              <a:gdLst/>
              <a:ahLst/>
              <a:cxnLst/>
              <a:rect r="r" b="b" t="t" l="l"/>
              <a:pathLst>
                <a:path h="1341120" w="3121152">
                  <a:moveTo>
                    <a:pt x="0" y="0"/>
                  </a:moveTo>
                  <a:lnTo>
                    <a:pt x="3121152" y="0"/>
                  </a:lnTo>
                  <a:lnTo>
                    <a:pt x="3121152" y="1341120"/>
                  </a:lnTo>
                  <a:lnTo>
                    <a:pt x="0" y="1341120"/>
                  </a:lnTo>
                  <a:close/>
                </a:path>
              </a:pathLst>
            </a:custGeom>
            <a:blipFill>
              <a:blip r:embed="rId5">
                <a:alphaModFix amt="0"/>
              </a:blip>
              <a:stretch>
                <a:fillRect l="-5168" t="0" r="-5168" b="0"/>
              </a:stretch>
            </a:blipFill>
          </p:spPr>
        </p:sp>
      </p:grpSp>
      <p:grpSp>
        <p:nvGrpSpPr>
          <p:cNvPr name="Group 138" id="138"/>
          <p:cNvGrpSpPr/>
          <p:nvPr/>
        </p:nvGrpSpPr>
        <p:grpSpPr>
          <a:xfrm rot="0">
            <a:off x="11206277" y="5732214"/>
            <a:ext cx="2340864" cy="1027271"/>
            <a:chOff x="0" y="0"/>
            <a:chExt cx="3121152" cy="1369695"/>
          </a:xfrm>
        </p:grpSpPr>
        <p:sp>
          <p:nvSpPr>
            <p:cNvPr name="Freeform 139" id="139"/>
            <p:cNvSpPr/>
            <p:nvPr/>
          </p:nvSpPr>
          <p:spPr>
            <a:xfrm flipH="false" flipV="false" rot="0">
              <a:off x="0" y="0"/>
              <a:ext cx="3121152" cy="1369695"/>
            </a:xfrm>
            <a:custGeom>
              <a:avLst/>
              <a:gdLst/>
              <a:ahLst/>
              <a:cxnLst/>
              <a:rect r="r" b="b" t="t" l="l"/>
              <a:pathLst>
                <a:path h="1369695" w="3121152">
                  <a:moveTo>
                    <a:pt x="0" y="0"/>
                  </a:moveTo>
                  <a:lnTo>
                    <a:pt x="3121152" y="0"/>
                  </a:lnTo>
                  <a:lnTo>
                    <a:pt x="3121152" y="1369695"/>
                  </a:lnTo>
                  <a:lnTo>
                    <a:pt x="0" y="1369695"/>
                  </a:lnTo>
                  <a:close/>
                </a:path>
              </a:pathLst>
            </a:custGeom>
            <a:blipFill>
              <a:blip r:embed="rId6">
                <a:alphaModFix amt="0"/>
              </a:blip>
              <a:stretch>
                <a:fillRect l="-6305" t="0" r="-6305" b="0"/>
              </a:stretch>
            </a:blipFill>
          </p:spPr>
        </p:sp>
        <p:sp>
          <p:nvSpPr>
            <p:cNvPr name="TextBox 140" id="140"/>
            <p:cNvSpPr txBox="true"/>
            <p:nvPr/>
          </p:nvSpPr>
          <p:spPr>
            <a:xfrm>
              <a:off x="0" y="-28575"/>
              <a:ext cx="3121152" cy="1398270"/>
            </a:xfrm>
            <a:prstGeom prst="rect">
              <a:avLst/>
            </a:prstGeom>
          </p:spPr>
          <p:txBody>
            <a:bodyPr anchor="ctr" rtlCol="false" tIns="0" lIns="0" bIns="0" rIns="0"/>
            <a:lstStyle/>
            <a:p>
              <a:pPr algn="ctr">
                <a:lnSpc>
                  <a:spcPts val="1920"/>
                </a:lnSpc>
              </a:pPr>
              <a:r>
                <a:rPr lang="en-US" sz="1600" b="true">
                  <a:solidFill>
                    <a:srgbClr val="0D1B2A"/>
                  </a:solidFill>
                  <a:latin typeface="Calibri (MS) Bold"/>
                  <a:ea typeface="Calibri (MS) Bold"/>
                  <a:cs typeface="Calibri (MS) Bold"/>
                  <a:sym typeface="Calibri (MS) Bold"/>
                </a:rPr>
                <a:t>Fuel</a:t>
              </a:r>
            </a:p>
            <a:p>
              <a:pPr algn="ctr">
                <a:lnSpc>
                  <a:spcPts val="1920"/>
                </a:lnSpc>
              </a:pPr>
              <a:r>
                <a:rPr lang="en-US" sz="1600" b="true">
                  <a:solidFill>
                    <a:srgbClr val="0D1B2A"/>
                  </a:solidFill>
                  <a:latin typeface="Calibri (MS) Bold"/>
                  <a:ea typeface="Calibri (MS) Bold"/>
                  <a:cs typeface="Calibri (MS) Bold"/>
                  <a:sym typeface="Calibri (MS) Bold"/>
                </a:rPr>
                <a:t>System</a:t>
              </a:r>
            </a:p>
          </p:txBody>
        </p:sp>
      </p:grpSp>
      <p:grpSp>
        <p:nvGrpSpPr>
          <p:cNvPr name="Group 141" id="141"/>
          <p:cNvGrpSpPr/>
          <p:nvPr/>
        </p:nvGrpSpPr>
        <p:grpSpPr>
          <a:xfrm rot="0">
            <a:off x="13576687" y="7983886"/>
            <a:ext cx="2661456" cy="1033720"/>
            <a:chOff x="0" y="0"/>
            <a:chExt cx="3548609" cy="1378293"/>
          </a:xfrm>
        </p:grpSpPr>
        <p:sp>
          <p:nvSpPr>
            <p:cNvPr name="Freeform 142" id="142"/>
            <p:cNvSpPr/>
            <p:nvPr/>
          </p:nvSpPr>
          <p:spPr>
            <a:xfrm flipH="false" flipV="false" rot="0">
              <a:off x="0" y="0"/>
              <a:ext cx="3548634" cy="1378331"/>
            </a:xfrm>
            <a:custGeom>
              <a:avLst/>
              <a:gdLst/>
              <a:ahLst/>
              <a:cxnLst/>
              <a:rect r="r" b="b" t="t" l="l"/>
              <a:pathLst>
                <a:path h="1378331" w="3548634">
                  <a:moveTo>
                    <a:pt x="0" y="0"/>
                  </a:moveTo>
                  <a:lnTo>
                    <a:pt x="3548634" y="0"/>
                  </a:lnTo>
                  <a:lnTo>
                    <a:pt x="3548634" y="1378331"/>
                  </a:lnTo>
                  <a:lnTo>
                    <a:pt x="0" y="1378331"/>
                  </a:lnTo>
                  <a:close/>
                </a:path>
              </a:pathLst>
            </a:custGeom>
            <a:blipFill>
              <a:blip r:embed="rId5">
                <a:alphaModFix amt="0"/>
              </a:blip>
              <a:stretch>
                <a:fillRect l="0" t="-132" r="0" b="-128"/>
              </a:stretch>
            </a:blipFill>
          </p:spPr>
        </p:sp>
      </p:grpSp>
      <p:grpSp>
        <p:nvGrpSpPr>
          <p:cNvPr name="Group 143" id="143"/>
          <p:cNvGrpSpPr/>
          <p:nvPr/>
        </p:nvGrpSpPr>
        <p:grpSpPr>
          <a:xfrm rot="0">
            <a:off x="13576687" y="7961864"/>
            <a:ext cx="2661456" cy="1055741"/>
            <a:chOff x="0" y="0"/>
            <a:chExt cx="3548609" cy="1407655"/>
          </a:xfrm>
        </p:grpSpPr>
        <p:sp>
          <p:nvSpPr>
            <p:cNvPr name="Freeform 144" id="144"/>
            <p:cNvSpPr/>
            <p:nvPr/>
          </p:nvSpPr>
          <p:spPr>
            <a:xfrm flipH="false" flipV="false" rot="0">
              <a:off x="0" y="0"/>
              <a:ext cx="3548614" cy="1407657"/>
            </a:xfrm>
            <a:custGeom>
              <a:avLst/>
              <a:gdLst/>
              <a:ahLst/>
              <a:cxnLst/>
              <a:rect r="r" b="b" t="t" l="l"/>
              <a:pathLst>
                <a:path h="1407657" w="3548614">
                  <a:moveTo>
                    <a:pt x="0" y="0"/>
                  </a:moveTo>
                  <a:lnTo>
                    <a:pt x="3548614" y="0"/>
                  </a:lnTo>
                  <a:lnTo>
                    <a:pt x="3548614" y="1407657"/>
                  </a:lnTo>
                  <a:lnTo>
                    <a:pt x="0" y="1407657"/>
                  </a:lnTo>
                  <a:close/>
                </a:path>
              </a:pathLst>
            </a:custGeom>
            <a:blipFill>
              <a:blip r:embed="rId6">
                <a:alphaModFix amt="0"/>
              </a:blip>
              <a:stretch>
                <a:fillRect l="-895" t="0" r="-895" b="0"/>
              </a:stretch>
            </a:blipFill>
          </p:spPr>
        </p:sp>
        <p:sp>
          <p:nvSpPr>
            <p:cNvPr name="TextBox 145" id="145"/>
            <p:cNvSpPr txBox="true"/>
            <p:nvPr/>
          </p:nvSpPr>
          <p:spPr>
            <a:xfrm>
              <a:off x="0" y="-28575"/>
              <a:ext cx="3548609" cy="1436230"/>
            </a:xfrm>
            <a:prstGeom prst="rect">
              <a:avLst/>
            </a:prstGeom>
          </p:spPr>
          <p:txBody>
            <a:bodyPr anchor="ctr" rtlCol="false" tIns="0" lIns="0" bIns="0" rIns="0"/>
            <a:lstStyle/>
            <a:p>
              <a:pPr algn="ctr">
                <a:lnSpc>
                  <a:spcPts val="1920"/>
                </a:lnSpc>
              </a:pPr>
              <a:r>
                <a:rPr lang="en-US" sz="1600" i="true">
                  <a:solidFill>
                    <a:srgbClr val="6B7A8D"/>
                  </a:solidFill>
                  <a:latin typeface="Calibri (MS) Italics"/>
                  <a:ea typeface="Calibri (MS) Italics"/>
                  <a:cs typeface="Calibri (MS) Italics"/>
                  <a:sym typeface="Calibri (MS) Italics"/>
                </a:rPr>
                <a:t>Others...</a:t>
              </a:r>
            </a:p>
          </p:txBody>
        </p:sp>
      </p:grpSp>
      <p:grpSp>
        <p:nvGrpSpPr>
          <p:cNvPr name="Group 146" id="146"/>
          <p:cNvGrpSpPr/>
          <p:nvPr/>
        </p:nvGrpSpPr>
        <p:grpSpPr>
          <a:xfrm rot="0">
            <a:off x="3647751" y="9164357"/>
            <a:ext cx="12435840" cy="402336"/>
            <a:chOff x="0" y="0"/>
            <a:chExt cx="16581120" cy="536448"/>
          </a:xfrm>
        </p:grpSpPr>
        <p:sp>
          <p:nvSpPr>
            <p:cNvPr name="Freeform 147" id="147"/>
            <p:cNvSpPr/>
            <p:nvPr/>
          </p:nvSpPr>
          <p:spPr>
            <a:xfrm flipH="false" flipV="false" rot="0">
              <a:off x="0" y="0"/>
              <a:ext cx="16581120" cy="536448"/>
            </a:xfrm>
            <a:custGeom>
              <a:avLst/>
              <a:gdLst/>
              <a:ahLst/>
              <a:cxnLst/>
              <a:rect r="r" b="b" t="t" l="l"/>
              <a:pathLst>
                <a:path h="536448" w="16581120">
                  <a:moveTo>
                    <a:pt x="0" y="0"/>
                  </a:moveTo>
                  <a:lnTo>
                    <a:pt x="16581120" y="0"/>
                  </a:lnTo>
                  <a:lnTo>
                    <a:pt x="16581120" y="536448"/>
                  </a:lnTo>
                  <a:lnTo>
                    <a:pt x="0" y="536448"/>
                  </a:lnTo>
                  <a:close/>
                </a:path>
              </a:pathLst>
            </a:custGeom>
            <a:blipFill>
              <a:blip r:embed="rId5">
                <a:alphaModFix amt="0"/>
              </a:blip>
              <a:stretch>
                <a:fillRect l="0" t="-551846" r="0" b="-551844"/>
              </a:stretch>
            </a:blipFill>
          </p:spPr>
        </p:sp>
      </p:grpSp>
      <p:grpSp>
        <p:nvGrpSpPr>
          <p:cNvPr name="Group 148" id="148"/>
          <p:cNvGrpSpPr/>
          <p:nvPr/>
        </p:nvGrpSpPr>
        <p:grpSpPr>
          <a:xfrm rot="0">
            <a:off x="3647751" y="9135782"/>
            <a:ext cx="12435840" cy="430911"/>
            <a:chOff x="0" y="0"/>
            <a:chExt cx="16581120" cy="574548"/>
          </a:xfrm>
        </p:grpSpPr>
        <p:sp>
          <p:nvSpPr>
            <p:cNvPr name="Freeform 149" id="149"/>
            <p:cNvSpPr/>
            <p:nvPr/>
          </p:nvSpPr>
          <p:spPr>
            <a:xfrm flipH="false" flipV="false" rot="0">
              <a:off x="0" y="0"/>
              <a:ext cx="16581120" cy="574548"/>
            </a:xfrm>
            <a:custGeom>
              <a:avLst/>
              <a:gdLst/>
              <a:ahLst/>
              <a:cxnLst/>
              <a:rect r="r" b="b" t="t" l="l"/>
              <a:pathLst>
                <a:path h="574548" w="16581120">
                  <a:moveTo>
                    <a:pt x="0" y="0"/>
                  </a:moveTo>
                  <a:lnTo>
                    <a:pt x="16581120" y="0"/>
                  </a:lnTo>
                  <a:lnTo>
                    <a:pt x="16581120" y="574548"/>
                  </a:lnTo>
                  <a:lnTo>
                    <a:pt x="0" y="574548"/>
                  </a:lnTo>
                  <a:close/>
                </a:path>
              </a:pathLst>
            </a:custGeom>
            <a:blipFill>
              <a:blip r:embed="rId6">
                <a:alphaModFix amt="0"/>
              </a:blip>
              <a:stretch>
                <a:fillRect l="0" t="-512326" r="0" b="-512326"/>
              </a:stretch>
            </a:blipFill>
          </p:spPr>
        </p:sp>
        <p:sp>
          <p:nvSpPr>
            <p:cNvPr name="TextBox 150" id="150"/>
            <p:cNvSpPr txBox="true"/>
            <p:nvPr/>
          </p:nvSpPr>
          <p:spPr>
            <a:xfrm>
              <a:off x="0" y="-38100"/>
              <a:ext cx="16581120" cy="612648"/>
            </a:xfrm>
            <a:prstGeom prst="rect">
              <a:avLst/>
            </a:prstGeom>
          </p:spPr>
          <p:txBody>
            <a:bodyPr anchor="ctr" rtlCol="false" tIns="0" lIns="0" bIns="0" rIns="0"/>
            <a:lstStyle/>
            <a:p>
              <a:pPr algn="ctr">
                <a:lnSpc>
                  <a:spcPts val="1800"/>
                </a:lnSpc>
              </a:pPr>
              <a:r>
                <a:rPr lang="en-US" sz="1500" i="true">
                  <a:solidFill>
                    <a:srgbClr val="6B7A8D"/>
                  </a:solidFill>
                  <a:latin typeface="Calibri (MS) Italics"/>
                  <a:ea typeface="Calibri (MS) Italics"/>
                  <a:cs typeface="Calibri (MS) Italics"/>
                  <a:sym typeface="Calibri (MS) Italics"/>
                </a:rPr>
                <a:t>Same agent set for every subsystem — infinitely extensible</a:t>
              </a:r>
            </a:p>
          </p:txBody>
        </p:sp>
      </p:grpSp>
      <p:sp>
        <p:nvSpPr>
          <p:cNvPr name="Freeform 151" id="151"/>
          <p:cNvSpPr/>
          <p:nvPr/>
        </p:nvSpPr>
        <p:spPr>
          <a:xfrm flipH="false" flipV="false" rot="0">
            <a:off x="3622348" y="7807492"/>
            <a:ext cx="2366200" cy="1159192"/>
          </a:xfrm>
          <a:custGeom>
            <a:avLst/>
            <a:gdLst/>
            <a:ahLst/>
            <a:cxnLst/>
            <a:rect r="r" b="b" t="t" l="l"/>
            <a:pathLst>
              <a:path h="1159192" w="2366200">
                <a:moveTo>
                  <a:pt x="0" y="0"/>
                </a:moveTo>
                <a:lnTo>
                  <a:pt x="2366200" y="0"/>
                </a:lnTo>
                <a:lnTo>
                  <a:pt x="2366200" y="1159193"/>
                </a:lnTo>
                <a:lnTo>
                  <a:pt x="0" y="1159193"/>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152" id="152"/>
          <p:cNvGrpSpPr/>
          <p:nvPr/>
        </p:nvGrpSpPr>
        <p:grpSpPr>
          <a:xfrm rot="0">
            <a:off x="3650285" y="7807492"/>
            <a:ext cx="2340864" cy="1133856"/>
            <a:chOff x="0" y="0"/>
            <a:chExt cx="3121152" cy="1511808"/>
          </a:xfrm>
        </p:grpSpPr>
        <p:sp>
          <p:nvSpPr>
            <p:cNvPr name="Freeform 153" id="153"/>
            <p:cNvSpPr/>
            <p:nvPr/>
          </p:nvSpPr>
          <p:spPr>
            <a:xfrm flipH="false" flipV="false" rot="0">
              <a:off x="0" y="0"/>
              <a:ext cx="3121152" cy="1511808"/>
            </a:xfrm>
            <a:custGeom>
              <a:avLst/>
              <a:gdLst/>
              <a:ahLst/>
              <a:cxnLst/>
              <a:rect r="r" b="b" t="t" l="l"/>
              <a:pathLst>
                <a:path h="1511808" w="3121152">
                  <a:moveTo>
                    <a:pt x="0" y="0"/>
                  </a:moveTo>
                  <a:lnTo>
                    <a:pt x="3121152" y="0"/>
                  </a:lnTo>
                  <a:lnTo>
                    <a:pt x="3121152" y="1511808"/>
                  </a:lnTo>
                  <a:lnTo>
                    <a:pt x="0" y="1511808"/>
                  </a:lnTo>
                  <a:close/>
                </a:path>
              </a:pathLst>
            </a:custGeom>
            <a:blipFill>
              <a:blip r:embed="rId5">
                <a:alphaModFix amt="0"/>
              </a:blip>
              <a:stretch>
                <a:fillRect l="-12190" t="0" r="-12190" b="0"/>
              </a:stretch>
            </a:blipFill>
          </p:spPr>
        </p:sp>
      </p:grpSp>
      <p:grpSp>
        <p:nvGrpSpPr>
          <p:cNvPr name="Group 154" id="154"/>
          <p:cNvGrpSpPr/>
          <p:nvPr/>
        </p:nvGrpSpPr>
        <p:grpSpPr>
          <a:xfrm rot="0">
            <a:off x="3650285" y="7778917"/>
            <a:ext cx="2340864" cy="1162431"/>
            <a:chOff x="0" y="0"/>
            <a:chExt cx="3121152" cy="1549908"/>
          </a:xfrm>
        </p:grpSpPr>
        <p:sp>
          <p:nvSpPr>
            <p:cNvPr name="Freeform 155" id="155"/>
            <p:cNvSpPr/>
            <p:nvPr/>
          </p:nvSpPr>
          <p:spPr>
            <a:xfrm flipH="false" flipV="false" rot="0">
              <a:off x="0" y="0"/>
              <a:ext cx="3121152" cy="1549908"/>
            </a:xfrm>
            <a:custGeom>
              <a:avLst/>
              <a:gdLst/>
              <a:ahLst/>
              <a:cxnLst/>
              <a:rect r="r" b="b" t="t" l="l"/>
              <a:pathLst>
                <a:path h="1549908" w="3121152">
                  <a:moveTo>
                    <a:pt x="0" y="0"/>
                  </a:moveTo>
                  <a:lnTo>
                    <a:pt x="3121152" y="0"/>
                  </a:lnTo>
                  <a:lnTo>
                    <a:pt x="3121152" y="1549908"/>
                  </a:lnTo>
                  <a:lnTo>
                    <a:pt x="0" y="1549908"/>
                  </a:lnTo>
                  <a:close/>
                </a:path>
              </a:pathLst>
            </a:custGeom>
            <a:blipFill>
              <a:blip r:embed="rId6">
                <a:alphaModFix amt="0"/>
              </a:blip>
              <a:stretch>
                <a:fillRect l="-13713" t="0" r="-13713" b="0"/>
              </a:stretch>
            </a:blipFill>
          </p:spPr>
        </p:sp>
        <p:sp>
          <p:nvSpPr>
            <p:cNvPr name="TextBox 156" id="156"/>
            <p:cNvSpPr txBox="true"/>
            <p:nvPr/>
          </p:nvSpPr>
          <p:spPr>
            <a:xfrm>
              <a:off x="0" y="-38100"/>
              <a:ext cx="3121152" cy="1588008"/>
            </a:xfrm>
            <a:prstGeom prst="rect">
              <a:avLst/>
            </a:prstGeom>
          </p:spPr>
          <p:txBody>
            <a:bodyPr anchor="ctr" rtlCol="false" tIns="0" lIns="0" bIns="0" rIns="0"/>
            <a:lstStyle/>
            <a:p>
              <a:pPr algn="ctr">
                <a:lnSpc>
                  <a:spcPts val="2038"/>
                </a:lnSpc>
              </a:pPr>
              <a:r>
                <a:rPr lang="en-US" sz="1699" b="true">
                  <a:solidFill>
                    <a:srgbClr val="FFFFFF"/>
                  </a:solidFill>
                  <a:latin typeface="Calibri (MS) Bold"/>
                  <a:ea typeface="Calibri (MS) Bold"/>
                  <a:cs typeface="Calibri (MS) Bold"/>
                  <a:sym typeface="Calibri (MS) Bold"/>
                </a:rPr>
                <a:t>Expert</a:t>
              </a:r>
            </a:p>
            <a:p>
              <a:pPr algn="ctr">
                <a:lnSpc>
                  <a:spcPts val="2038"/>
                </a:lnSpc>
              </a:pPr>
              <a:r>
                <a:rPr lang="en-US" sz="1699" b="true">
                  <a:solidFill>
                    <a:srgbClr val="FFFFFF"/>
                  </a:solidFill>
                  <a:latin typeface="Calibri (MS) Bold"/>
                  <a:ea typeface="Calibri (MS) Bold"/>
                  <a:cs typeface="Calibri (MS) Bold"/>
                  <a:sym typeface="Calibri (MS) Bold"/>
                </a:rPr>
                <a:t>Advisor</a:t>
              </a:r>
            </a:p>
          </p:txBody>
        </p:sp>
      </p:grpSp>
      <p:sp>
        <p:nvSpPr>
          <p:cNvPr name="Freeform 157" id="157"/>
          <p:cNvSpPr/>
          <p:nvPr/>
        </p:nvSpPr>
        <p:spPr>
          <a:xfrm flipH="false" flipV="false" rot="0">
            <a:off x="6146092" y="7807492"/>
            <a:ext cx="2366201" cy="1159192"/>
          </a:xfrm>
          <a:custGeom>
            <a:avLst/>
            <a:gdLst/>
            <a:ahLst/>
            <a:cxnLst/>
            <a:rect r="r" b="b" t="t" l="l"/>
            <a:pathLst>
              <a:path h="1159192" w="2366201">
                <a:moveTo>
                  <a:pt x="0" y="0"/>
                </a:moveTo>
                <a:lnTo>
                  <a:pt x="2366200" y="0"/>
                </a:lnTo>
                <a:lnTo>
                  <a:pt x="2366200" y="1159193"/>
                </a:lnTo>
                <a:lnTo>
                  <a:pt x="0" y="1159193"/>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158" id="158"/>
          <p:cNvGrpSpPr/>
          <p:nvPr/>
        </p:nvGrpSpPr>
        <p:grpSpPr>
          <a:xfrm rot="0">
            <a:off x="6158789" y="7820189"/>
            <a:ext cx="2340864" cy="1133856"/>
            <a:chOff x="0" y="0"/>
            <a:chExt cx="3121152" cy="1511808"/>
          </a:xfrm>
        </p:grpSpPr>
        <p:sp>
          <p:nvSpPr>
            <p:cNvPr name="Freeform 159" id="159"/>
            <p:cNvSpPr/>
            <p:nvPr/>
          </p:nvSpPr>
          <p:spPr>
            <a:xfrm flipH="false" flipV="false" rot="0">
              <a:off x="0" y="0"/>
              <a:ext cx="3121152" cy="1511808"/>
            </a:xfrm>
            <a:custGeom>
              <a:avLst/>
              <a:gdLst/>
              <a:ahLst/>
              <a:cxnLst/>
              <a:rect r="r" b="b" t="t" l="l"/>
              <a:pathLst>
                <a:path h="1511808" w="3121152">
                  <a:moveTo>
                    <a:pt x="0" y="0"/>
                  </a:moveTo>
                  <a:lnTo>
                    <a:pt x="3121152" y="0"/>
                  </a:lnTo>
                  <a:lnTo>
                    <a:pt x="3121152" y="1511808"/>
                  </a:lnTo>
                  <a:lnTo>
                    <a:pt x="0" y="1511808"/>
                  </a:lnTo>
                  <a:close/>
                </a:path>
              </a:pathLst>
            </a:custGeom>
            <a:blipFill>
              <a:blip r:embed="rId5">
                <a:alphaModFix amt="0"/>
              </a:blip>
              <a:stretch>
                <a:fillRect l="-12190" t="0" r="-12190" b="0"/>
              </a:stretch>
            </a:blipFill>
          </p:spPr>
        </p:sp>
      </p:grpSp>
      <p:grpSp>
        <p:nvGrpSpPr>
          <p:cNvPr name="Group 160" id="160"/>
          <p:cNvGrpSpPr/>
          <p:nvPr/>
        </p:nvGrpSpPr>
        <p:grpSpPr>
          <a:xfrm rot="0">
            <a:off x="6158789" y="7791614"/>
            <a:ext cx="2340864" cy="1162431"/>
            <a:chOff x="0" y="0"/>
            <a:chExt cx="3121152" cy="1549908"/>
          </a:xfrm>
        </p:grpSpPr>
        <p:sp>
          <p:nvSpPr>
            <p:cNvPr name="Freeform 161" id="161"/>
            <p:cNvSpPr/>
            <p:nvPr/>
          </p:nvSpPr>
          <p:spPr>
            <a:xfrm flipH="false" flipV="false" rot="0">
              <a:off x="0" y="0"/>
              <a:ext cx="3121152" cy="1549908"/>
            </a:xfrm>
            <a:custGeom>
              <a:avLst/>
              <a:gdLst/>
              <a:ahLst/>
              <a:cxnLst/>
              <a:rect r="r" b="b" t="t" l="l"/>
              <a:pathLst>
                <a:path h="1549908" w="3121152">
                  <a:moveTo>
                    <a:pt x="0" y="0"/>
                  </a:moveTo>
                  <a:lnTo>
                    <a:pt x="3121152" y="0"/>
                  </a:lnTo>
                  <a:lnTo>
                    <a:pt x="3121152" y="1549908"/>
                  </a:lnTo>
                  <a:lnTo>
                    <a:pt x="0" y="1549908"/>
                  </a:lnTo>
                  <a:close/>
                </a:path>
              </a:pathLst>
            </a:custGeom>
            <a:blipFill>
              <a:blip r:embed="rId6">
                <a:alphaModFix amt="0"/>
              </a:blip>
              <a:stretch>
                <a:fillRect l="-13713" t="0" r="-13713" b="0"/>
              </a:stretch>
            </a:blipFill>
          </p:spPr>
        </p:sp>
        <p:sp>
          <p:nvSpPr>
            <p:cNvPr name="TextBox 162" id="162"/>
            <p:cNvSpPr txBox="true"/>
            <p:nvPr/>
          </p:nvSpPr>
          <p:spPr>
            <a:xfrm>
              <a:off x="0" y="-38100"/>
              <a:ext cx="3121152" cy="1588008"/>
            </a:xfrm>
            <a:prstGeom prst="rect">
              <a:avLst/>
            </a:prstGeom>
          </p:spPr>
          <p:txBody>
            <a:bodyPr anchor="ctr" rtlCol="false" tIns="0" lIns="0" bIns="0" rIns="0"/>
            <a:lstStyle/>
            <a:p>
              <a:pPr algn="ctr">
                <a:lnSpc>
                  <a:spcPts val="2038"/>
                </a:lnSpc>
              </a:pPr>
              <a:r>
                <a:rPr lang="en-US" sz="1699" b="true">
                  <a:solidFill>
                    <a:srgbClr val="FFFFFF"/>
                  </a:solidFill>
                  <a:latin typeface="Calibri (MS) Bold"/>
                  <a:ea typeface="Calibri (MS) Bold"/>
                  <a:cs typeface="Calibri (MS) Bold"/>
                  <a:sym typeface="Calibri (MS) Bold"/>
                </a:rPr>
                <a:t>Design</a:t>
              </a:r>
            </a:p>
            <a:p>
              <a:pPr algn="ctr">
                <a:lnSpc>
                  <a:spcPts val="2038"/>
                </a:lnSpc>
              </a:pPr>
              <a:r>
                <a:rPr lang="en-US" sz="1699" b="true">
                  <a:solidFill>
                    <a:srgbClr val="FFFFFF"/>
                  </a:solidFill>
                  <a:latin typeface="Calibri (MS) Bold"/>
                  <a:ea typeface="Calibri (MS) Bold"/>
                  <a:cs typeface="Calibri (MS) Bold"/>
                  <a:sym typeface="Calibri (MS) Bold"/>
                </a:rPr>
                <a:t>Calculation</a:t>
              </a:r>
            </a:p>
          </p:txBody>
        </p:sp>
      </p:grpSp>
      <p:sp>
        <p:nvSpPr>
          <p:cNvPr name="Freeform 163" id="163"/>
          <p:cNvSpPr/>
          <p:nvPr/>
        </p:nvSpPr>
        <p:spPr>
          <a:xfrm flipH="false" flipV="false" rot="0">
            <a:off x="8669836" y="7807492"/>
            <a:ext cx="2366201" cy="1159192"/>
          </a:xfrm>
          <a:custGeom>
            <a:avLst/>
            <a:gdLst/>
            <a:ahLst/>
            <a:cxnLst/>
            <a:rect r="r" b="b" t="t" l="l"/>
            <a:pathLst>
              <a:path h="1159192" w="2366201">
                <a:moveTo>
                  <a:pt x="0" y="0"/>
                </a:moveTo>
                <a:lnTo>
                  <a:pt x="2366200" y="0"/>
                </a:lnTo>
                <a:lnTo>
                  <a:pt x="2366200" y="1159193"/>
                </a:lnTo>
                <a:lnTo>
                  <a:pt x="0" y="1159193"/>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grpSp>
        <p:nvGrpSpPr>
          <p:cNvPr name="Group 164" id="164"/>
          <p:cNvGrpSpPr/>
          <p:nvPr/>
        </p:nvGrpSpPr>
        <p:grpSpPr>
          <a:xfrm rot="0">
            <a:off x="8682533" y="7820189"/>
            <a:ext cx="2340864" cy="1133856"/>
            <a:chOff x="0" y="0"/>
            <a:chExt cx="3121152" cy="1511808"/>
          </a:xfrm>
        </p:grpSpPr>
        <p:sp>
          <p:nvSpPr>
            <p:cNvPr name="Freeform 165" id="165"/>
            <p:cNvSpPr/>
            <p:nvPr/>
          </p:nvSpPr>
          <p:spPr>
            <a:xfrm flipH="false" flipV="false" rot="0">
              <a:off x="0" y="0"/>
              <a:ext cx="3121152" cy="1511808"/>
            </a:xfrm>
            <a:custGeom>
              <a:avLst/>
              <a:gdLst/>
              <a:ahLst/>
              <a:cxnLst/>
              <a:rect r="r" b="b" t="t" l="l"/>
              <a:pathLst>
                <a:path h="1511808" w="3121152">
                  <a:moveTo>
                    <a:pt x="0" y="0"/>
                  </a:moveTo>
                  <a:lnTo>
                    <a:pt x="3121152" y="0"/>
                  </a:lnTo>
                  <a:lnTo>
                    <a:pt x="3121152" y="1511808"/>
                  </a:lnTo>
                  <a:lnTo>
                    <a:pt x="0" y="1511808"/>
                  </a:lnTo>
                  <a:close/>
                </a:path>
              </a:pathLst>
            </a:custGeom>
            <a:blipFill>
              <a:blip r:embed="rId5">
                <a:alphaModFix amt="0"/>
              </a:blip>
              <a:stretch>
                <a:fillRect l="-12190" t="0" r="-12190" b="0"/>
              </a:stretch>
            </a:blipFill>
          </p:spPr>
        </p:sp>
      </p:grpSp>
      <p:grpSp>
        <p:nvGrpSpPr>
          <p:cNvPr name="Group 166" id="166"/>
          <p:cNvGrpSpPr/>
          <p:nvPr/>
        </p:nvGrpSpPr>
        <p:grpSpPr>
          <a:xfrm rot="0">
            <a:off x="8891616" y="7805549"/>
            <a:ext cx="1866938" cy="1134551"/>
            <a:chOff x="0" y="0"/>
            <a:chExt cx="2489251" cy="1512735"/>
          </a:xfrm>
        </p:grpSpPr>
        <p:sp>
          <p:nvSpPr>
            <p:cNvPr name="Freeform 167" id="167"/>
            <p:cNvSpPr/>
            <p:nvPr/>
          </p:nvSpPr>
          <p:spPr>
            <a:xfrm flipH="false" flipV="false" rot="0">
              <a:off x="0" y="0"/>
              <a:ext cx="2489250" cy="1512737"/>
            </a:xfrm>
            <a:custGeom>
              <a:avLst/>
              <a:gdLst/>
              <a:ahLst/>
              <a:cxnLst/>
              <a:rect r="r" b="b" t="t" l="l"/>
              <a:pathLst>
                <a:path h="1512737" w="2489250">
                  <a:moveTo>
                    <a:pt x="0" y="0"/>
                  </a:moveTo>
                  <a:lnTo>
                    <a:pt x="2489250" y="0"/>
                  </a:lnTo>
                  <a:lnTo>
                    <a:pt x="2489250" y="1512737"/>
                  </a:lnTo>
                  <a:lnTo>
                    <a:pt x="0" y="1512737"/>
                  </a:lnTo>
                  <a:close/>
                </a:path>
              </a:pathLst>
            </a:custGeom>
            <a:blipFill>
              <a:blip r:embed="rId6">
                <a:alphaModFix amt="0"/>
              </a:blip>
              <a:stretch>
                <a:fillRect l="-27970" t="0" r="-27971" b="0"/>
              </a:stretch>
            </a:blipFill>
          </p:spPr>
        </p:sp>
        <p:sp>
          <p:nvSpPr>
            <p:cNvPr name="TextBox 168" id="168"/>
            <p:cNvSpPr txBox="true"/>
            <p:nvPr/>
          </p:nvSpPr>
          <p:spPr>
            <a:xfrm>
              <a:off x="0" y="-38100"/>
              <a:ext cx="2489251" cy="1550835"/>
            </a:xfrm>
            <a:prstGeom prst="rect">
              <a:avLst/>
            </a:prstGeom>
          </p:spPr>
          <p:txBody>
            <a:bodyPr anchor="ctr" rtlCol="false" tIns="0" lIns="0" bIns="0" rIns="0"/>
            <a:lstStyle/>
            <a:p>
              <a:pPr algn="ctr">
                <a:lnSpc>
                  <a:spcPts val="2038"/>
                </a:lnSpc>
              </a:pPr>
              <a:r>
                <a:rPr lang="en-US" sz="1699" b="true">
                  <a:solidFill>
                    <a:srgbClr val="FFFFFF"/>
                  </a:solidFill>
                  <a:latin typeface="Calibri (MS) Bold"/>
                  <a:ea typeface="Calibri (MS) Bold"/>
                  <a:cs typeface="Calibri (MS) Bold"/>
                  <a:sym typeface="Calibri (MS) Bold"/>
                </a:rPr>
                <a:t>Verification &amp; Validation</a:t>
              </a:r>
            </a:p>
          </p:txBody>
        </p:sp>
      </p:grpSp>
      <p:sp>
        <p:nvSpPr>
          <p:cNvPr name="Freeform 169" id="169"/>
          <p:cNvSpPr/>
          <p:nvPr/>
        </p:nvSpPr>
        <p:spPr>
          <a:xfrm flipH="false" flipV="false" rot="0">
            <a:off x="11193580" y="7807492"/>
            <a:ext cx="2366201" cy="1159192"/>
          </a:xfrm>
          <a:custGeom>
            <a:avLst/>
            <a:gdLst/>
            <a:ahLst/>
            <a:cxnLst/>
            <a:rect r="r" b="b" t="t" l="l"/>
            <a:pathLst>
              <a:path h="1159192" w="2366201">
                <a:moveTo>
                  <a:pt x="0" y="0"/>
                </a:moveTo>
                <a:lnTo>
                  <a:pt x="2366200" y="0"/>
                </a:lnTo>
                <a:lnTo>
                  <a:pt x="2366200" y="1159193"/>
                </a:lnTo>
                <a:lnTo>
                  <a:pt x="0" y="1159193"/>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grpSp>
        <p:nvGrpSpPr>
          <p:cNvPr name="Group 170" id="170"/>
          <p:cNvGrpSpPr/>
          <p:nvPr/>
        </p:nvGrpSpPr>
        <p:grpSpPr>
          <a:xfrm rot="0">
            <a:off x="11206277" y="7820189"/>
            <a:ext cx="2340864" cy="1133856"/>
            <a:chOff x="0" y="0"/>
            <a:chExt cx="3121152" cy="1511808"/>
          </a:xfrm>
        </p:grpSpPr>
        <p:sp>
          <p:nvSpPr>
            <p:cNvPr name="Freeform 171" id="171"/>
            <p:cNvSpPr/>
            <p:nvPr/>
          </p:nvSpPr>
          <p:spPr>
            <a:xfrm flipH="false" flipV="false" rot="0">
              <a:off x="0" y="0"/>
              <a:ext cx="3121152" cy="1511808"/>
            </a:xfrm>
            <a:custGeom>
              <a:avLst/>
              <a:gdLst/>
              <a:ahLst/>
              <a:cxnLst/>
              <a:rect r="r" b="b" t="t" l="l"/>
              <a:pathLst>
                <a:path h="1511808" w="3121152">
                  <a:moveTo>
                    <a:pt x="0" y="0"/>
                  </a:moveTo>
                  <a:lnTo>
                    <a:pt x="3121152" y="0"/>
                  </a:lnTo>
                  <a:lnTo>
                    <a:pt x="3121152" y="1511808"/>
                  </a:lnTo>
                  <a:lnTo>
                    <a:pt x="0" y="1511808"/>
                  </a:lnTo>
                  <a:close/>
                </a:path>
              </a:pathLst>
            </a:custGeom>
            <a:blipFill>
              <a:blip r:embed="rId5">
                <a:alphaModFix amt="0"/>
              </a:blip>
              <a:stretch>
                <a:fillRect l="-12190" t="0" r="-12190" b="0"/>
              </a:stretch>
            </a:blipFill>
          </p:spPr>
        </p:sp>
      </p:grpSp>
      <p:grpSp>
        <p:nvGrpSpPr>
          <p:cNvPr name="Group 172" id="172"/>
          <p:cNvGrpSpPr/>
          <p:nvPr/>
        </p:nvGrpSpPr>
        <p:grpSpPr>
          <a:xfrm rot="0">
            <a:off x="11206277" y="7791614"/>
            <a:ext cx="2340864" cy="1162431"/>
            <a:chOff x="0" y="0"/>
            <a:chExt cx="3121152" cy="1549908"/>
          </a:xfrm>
        </p:grpSpPr>
        <p:sp>
          <p:nvSpPr>
            <p:cNvPr name="Freeform 173" id="173"/>
            <p:cNvSpPr/>
            <p:nvPr/>
          </p:nvSpPr>
          <p:spPr>
            <a:xfrm flipH="false" flipV="false" rot="0">
              <a:off x="0" y="0"/>
              <a:ext cx="3121152" cy="1549908"/>
            </a:xfrm>
            <a:custGeom>
              <a:avLst/>
              <a:gdLst/>
              <a:ahLst/>
              <a:cxnLst/>
              <a:rect r="r" b="b" t="t" l="l"/>
              <a:pathLst>
                <a:path h="1549908" w="3121152">
                  <a:moveTo>
                    <a:pt x="0" y="0"/>
                  </a:moveTo>
                  <a:lnTo>
                    <a:pt x="3121152" y="0"/>
                  </a:lnTo>
                  <a:lnTo>
                    <a:pt x="3121152" y="1549908"/>
                  </a:lnTo>
                  <a:lnTo>
                    <a:pt x="0" y="1549908"/>
                  </a:lnTo>
                  <a:close/>
                </a:path>
              </a:pathLst>
            </a:custGeom>
            <a:blipFill>
              <a:blip r:embed="rId6">
                <a:alphaModFix amt="0"/>
              </a:blip>
              <a:stretch>
                <a:fillRect l="-13713" t="0" r="-13713" b="0"/>
              </a:stretch>
            </a:blipFill>
          </p:spPr>
        </p:sp>
        <p:sp>
          <p:nvSpPr>
            <p:cNvPr name="TextBox 174" id="174"/>
            <p:cNvSpPr txBox="true"/>
            <p:nvPr/>
          </p:nvSpPr>
          <p:spPr>
            <a:xfrm>
              <a:off x="0" y="-38100"/>
              <a:ext cx="3121152" cy="1588008"/>
            </a:xfrm>
            <a:prstGeom prst="rect">
              <a:avLst/>
            </a:prstGeom>
          </p:spPr>
          <p:txBody>
            <a:bodyPr anchor="ctr" rtlCol="false" tIns="0" lIns="0" bIns="0" rIns="0"/>
            <a:lstStyle/>
            <a:p>
              <a:pPr algn="ctr">
                <a:lnSpc>
                  <a:spcPts val="2038"/>
                </a:lnSpc>
              </a:pPr>
              <a:r>
                <a:rPr lang="en-US" sz="1699" b="true">
                  <a:solidFill>
                    <a:srgbClr val="FFFFFF"/>
                  </a:solidFill>
                  <a:latin typeface="Calibri (MS) Bold"/>
                  <a:ea typeface="Calibri (MS) Bold"/>
                  <a:cs typeface="Calibri (MS) Bold"/>
                  <a:sym typeface="Calibri (MS) Bold"/>
                </a:rPr>
                <a:t>DFMEA</a:t>
              </a:r>
            </a:p>
          </p:txBody>
        </p:sp>
      </p:grpSp>
      <p:grpSp>
        <p:nvGrpSpPr>
          <p:cNvPr name="Group 175" id="175"/>
          <p:cNvGrpSpPr/>
          <p:nvPr/>
        </p:nvGrpSpPr>
        <p:grpSpPr>
          <a:xfrm rot="0">
            <a:off x="14081352" y="5828512"/>
            <a:ext cx="1795487" cy="891607"/>
            <a:chOff x="0" y="0"/>
            <a:chExt cx="3121152" cy="1549908"/>
          </a:xfrm>
        </p:grpSpPr>
        <p:sp>
          <p:nvSpPr>
            <p:cNvPr name="Freeform 176" id="176"/>
            <p:cNvSpPr/>
            <p:nvPr/>
          </p:nvSpPr>
          <p:spPr>
            <a:xfrm flipH="false" flipV="false" rot="0">
              <a:off x="0" y="0"/>
              <a:ext cx="3121152" cy="1549908"/>
            </a:xfrm>
            <a:custGeom>
              <a:avLst/>
              <a:gdLst/>
              <a:ahLst/>
              <a:cxnLst/>
              <a:rect r="r" b="b" t="t" l="l"/>
              <a:pathLst>
                <a:path h="1549908" w="3121152">
                  <a:moveTo>
                    <a:pt x="0" y="0"/>
                  </a:moveTo>
                  <a:lnTo>
                    <a:pt x="3121152" y="0"/>
                  </a:lnTo>
                  <a:lnTo>
                    <a:pt x="3121152" y="1549908"/>
                  </a:lnTo>
                  <a:lnTo>
                    <a:pt x="0" y="1549908"/>
                  </a:lnTo>
                  <a:close/>
                </a:path>
              </a:pathLst>
            </a:custGeom>
            <a:blipFill>
              <a:blip r:embed="rId6">
                <a:alphaModFix amt="0"/>
              </a:blip>
              <a:stretch>
                <a:fillRect l="-13713" t="0" r="-13713" b="0"/>
              </a:stretch>
            </a:blipFill>
          </p:spPr>
        </p:sp>
        <p:sp>
          <p:nvSpPr>
            <p:cNvPr name="TextBox 177" id="177"/>
            <p:cNvSpPr txBox="true"/>
            <p:nvPr/>
          </p:nvSpPr>
          <p:spPr>
            <a:xfrm>
              <a:off x="0" y="-38100"/>
              <a:ext cx="3121152" cy="1588008"/>
            </a:xfrm>
            <a:prstGeom prst="rect">
              <a:avLst/>
            </a:prstGeom>
          </p:spPr>
          <p:txBody>
            <a:bodyPr anchor="ctr" rtlCol="false" tIns="0" lIns="0" bIns="0" rIns="0"/>
            <a:lstStyle/>
            <a:p>
              <a:pPr algn="ctr">
                <a:lnSpc>
                  <a:spcPts val="2038"/>
                </a:lnSpc>
              </a:pPr>
              <a:r>
                <a:rPr lang="en-US" sz="1699" i="true">
                  <a:solidFill>
                    <a:srgbClr val="6B7A8D"/>
                  </a:solidFill>
                  <a:latin typeface="Calibri (MS) Italics"/>
                  <a:ea typeface="Calibri (MS) Italics"/>
                  <a:cs typeface="Calibri (MS) Italics"/>
                  <a:sym typeface="Calibri (MS) Italics"/>
                </a:rPr>
                <a:t>+ More</a:t>
              </a:r>
            </a:p>
            <a:p>
              <a:pPr algn="ctr">
                <a:lnSpc>
                  <a:spcPts val="2038"/>
                </a:lnSpc>
              </a:pPr>
              <a:r>
                <a:rPr lang="en-US" sz="1699" i="true">
                  <a:solidFill>
                    <a:srgbClr val="6B7A8D"/>
                  </a:solidFill>
                  <a:latin typeface="Calibri (MS) Italics"/>
                  <a:ea typeface="Calibri (MS) Italics"/>
                  <a:cs typeface="Calibri (MS) Italics"/>
                  <a:sym typeface="Calibri (MS) Italics"/>
                </a:rPr>
                <a:t>Agents</a:t>
              </a:r>
            </a:p>
          </p:txBody>
        </p:sp>
      </p:grpSp>
      <p:sp>
        <p:nvSpPr>
          <p:cNvPr name="AutoShape 178" id="178"/>
          <p:cNvSpPr/>
          <p:nvPr/>
        </p:nvSpPr>
        <p:spPr>
          <a:xfrm flipH="true">
            <a:off x="4805477" y="4686398"/>
            <a:ext cx="896912" cy="1045816"/>
          </a:xfrm>
          <a:prstGeom prst="line">
            <a:avLst/>
          </a:prstGeom>
          <a:ln cap="flat" w="38100">
            <a:solidFill>
              <a:srgbClr val="00838F"/>
            </a:solidFill>
            <a:prstDash val="sysDot"/>
            <a:headEnd type="none" len="sm" w="sm"/>
            <a:tailEnd type="none" len="sm" w="sm"/>
          </a:ln>
        </p:spPr>
      </p:sp>
      <p:sp>
        <p:nvSpPr>
          <p:cNvPr name="AutoShape 179" id="179"/>
          <p:cNvSpPr/>
          <p:nvPr/>
        </p:nvSpPr>
        <p:spPr>
          <a:xfrm>
            <a:off x="5702389" y="4686398"/>
            <a:ext cx="1626832" cy="1045816"/>
          </a:xfrm>
          <a:prstGeom prst="line">
            <a:avLst/>
          </a:prstGeom>
          <a:ln cap="flat" w="38100">
            <a:solidFill>
              <a:srgbClr val="00838F"/>
            </a:solidFill>
            <a:prstDash val="sysDot"/>
            <a:headEnd type="none" len="sm" w="sm"/>
            <a:tailEnd type="none" len="sm" w="sm"/>
          </a:ln>
        </p:spPr>
      </p:sp>
      <p:sp>
        <p:nvSpPr>
          <p:cNvPr name="AutoShape 180" id="180"/>
          <p:cNvSpPr/>
          <p:nvPr/>
        </p:nvSpPr>
        <p:spPr>
          <a:xfrm>
            <a:off x="5724911" y="4694418"/>
            <a:ext cx="4128053" cy="1037796"/>
          </a:xfrm>
          <a:prstGeom prst="line">
            <a:avLst/>
          </a:prstGeom>
          <a:ln cap="flat" w="38100">
            <a:solidFill>
              <a:srgbClr val="00838F"/>
            </a:solidFill>
            <a:prstDash val="sysDot"/>
            <a:headEnd type="none" len="sm" w="sm"/>
            <a:tailEnd type="none" len="sm" w="sm"/>
          </a:ln>
        </p:spPr>
      </p:sp>
      <p:sp>
        <p:nvSpPr>
          <p:cNvPr name="AutoShape 181" id="181"/>
          <p:cNvSpPr/>
          <p:nvPr/>
        </p:nvSpPr>
        <p:spPr>
          <a:xfrm>
            <a:off x="5702389" y="4686398"/>
            <a:ext cx="6674320" cy="1045816"/>
          </a:xfrm>
          <a:prstGeom prst="line">
            <a:avLst/>
          </a:prstGeom>
          <a:ln cap="flat" w="38100">
            <a:solidFill>
              <a:srgbClr val="00838F"/>
            </a:solidFill>
            <a:prstDash val="sysDot"/>
            <a:headEnd type="none" len="sm" w="sm"/>
            <a:tailEnd type="none" len="sm" w="sm"/>
          </a:ln>
        </p:spPr>
      </p:sp>
      <p:sp>
        <p:nvSpPr>
          <p:cNvPr name="AutoShape 182" id="182"/>
          <p:cNvSpPr/>
          <p:nvPr/>
        </p:nvSpPr>
        <p:spPr>
          <a:xfrm flipH="true">
            <a:off x="4820717" y="6759457"/>
            <a:ext cx="2508523" cy="1019461"/>
          </a:xfrm>
          <a:prstGeom prst="line">
            <a:avLst/>
          </a:prstGeom>
          <a:ln cap="flat" w="38100">
            <a:solidFill>
              <a:srgbClr val="00838F"/>
            </a:solidFill>
            <a:prstDash val="solid"/>
            <a:headEnd type="none" len="sm" w="sm"/>
            <a:tailEnd type="none" len="sm" w="sm"/>
          </a:ln>
        </p:spPr>
      </p:sp>
      <p:sp>
        <p:nvSpPr>
          <p:cNvPr name="AutoShape 183" id="183"/>
          <p:cNvSpPr/>
          <p:nvPr/>
        </p:nvSpPr>
        <p:spPr>
          <a:xfrm>
            <a:off x="7329221" y="6774725"/>
            <a:ext cx="0" cy="1045464"/>
          </a:xfrm>
          <a:prstGeom prst="line">
            <a:avLst/>
          </a:prstGeom>
          <a:ln cap="flat" w="38100">
            <a:solidFill>
              <a:srgbClr val="00838F"/>
            </a:solidFill>
            <a:prstDash val="solid"/>
            <a:headEnd type="none" len="sm" w="sm"/>
            <a:tailEnd type="none" len="sm" w="sm"/>
          </a:ln>
        </p:spPr>
      </p:sp>
      <p:sp>
        <p:nvSpPr>
          <p:cNvPr name="AutoShape 184" id="184"/>
          <p:cNvSpPr/>
          <p:nvPr/>
        </p:nvSpPr>
        <p:spPr>
          <a:xfrm>
            <a:off x="7329221" y="6774725"/>
            <a:ext cx="2523744" cy="1045464"/>
          </a:xfrm>
          <a:prstGeom prst="line">
            <a:avLst/>
          </a:prstGeom>
          <a:ln cap="flat" w="38100">
            <a:solidFill>
              <a:srgbClr val="00838F"/>
            </a:solidFill>
            <a:prstDash val="solid"/>
            <a:headEnd type="none" len="sm" w="sm"/>
            <a:tailEnd type="none" len="sm" w="sm"/>
          </a:ln>
        </p:spPr>
      </p:sp>
      <p:sp>
        <p:nvSpPr>
          <p:cNvPr name="AutoShape 185" id="185"/>
          <p:cNvSpPr/>
          <p:nvPr/>
        </p:nvSpPr>
        <p:spPr>
          <a:xfrm>
            <a:off x="7329221" y="6774725"/>
            <a:ext cx="5047488" cy="1016889"/>
          </a:xfrm>
          <a:prstGeom prst="line">
            <a:avLst/>
          </a:prstGeom>
          <a:ln cap="flat" w="38100">
            <a:solidFill>
              <a:srgbClr val="00838F"/>
            </a:solidFill>
            <a:prstDash val="solid"/>
            <a:headEnd type="none" len="sm" w="sm"/>
            <a:tailEnd type="none" len="sm" w="sm"/>
          </a:ln>
        </p:spPr>
      </p:sp>
      <p:sp>
        <p:nvSpPr>
          <p:cNvPr name="Freeform 186" id="186"/>
          <p:cNvSpPr/>
          <p:nvPr/>
        </p:nvSpPr>
        <p:spPr>
          <a:xfrm flipH="false" flipV="false" rot="0">
            <a:off x="13980922" y="5753645"/>
            <a:ext cx="1895917" cy="1041340"/>
          </a:xfrm>
          <a:custGeom>
            <a:avLst/>
            <a:gdLst/>
            <a:ahLst/>
            <a:cxnLst/>
            <a:rect r="r" b="b" t="t" l="l"/>
            <a:pathLst>
              <a:path h="1041340" w="1895917">
                <a:moveTo>
                  <a:pt x="0" y="0"/>
                </a:moveTo>
                <a:lnTo>
                  <a:pt x="1895917" y="0"/>
                </a:lnTo>
                <a:lnTo>
                  <a:pt x="1895917" y="1041340"/>
                </a:lnTo>
                <a:lnTo>
                  <a:pt x="0" y="1041340"/>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sp>
        <p:nvSpPr>
          <p:cNvPr name="Freeform 187" id="187"/>
          <p:cNvSpPr/>
          <p:nvPr/>
        </p:nvSpPr>
        <p:spPr>
          <a:xfrm flipH="false" flipV="false" rot="0">
            <a:off x="13959457" y="7820189"/>
            <a:ext cx="2064357" cy="1133856"/>
          </a:xfrm>
          <a:custGeom>
            <a:avLst/>
            <a:gdLst/>
            <a:ahLst/>
            <a:cxnLst/>
            <a:rect r="r" b="b" t="t" l="l"/>
            <a:pathLst>
              <a:path h="1133856" w="2064357">
                <a:moveTo>
                  <a:pt x="0" y="0"/>
                </a:moveTo>
                <a:lnTo>
                  <a:pt x="2064357" y="0"/>
                </a:lnTo>
                <a:lnTo>
                  <a:pt x="2064357" y="1133856"/>
                </a:lnTo>
                <a:lnTo>
                  <a:pt x="0" y="1133856"/>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sp>
        <p:nvSpPr>
          <p:cNvPr name="AutoShape 188" id="188"/>
          <p:cNvSpPr/>
          <p:nvPr/>
        </p:nvSpPr>
        <p:spPr>
          <a:xfrm>
            <a:off x="7329221" y="6774725"/>
            <a:ext cx="7662415" cy="1045464"/>
          </a:xfrm>
          <a:prstGeom prst="line">
            <a:avLst/>
          </a:prstGeom>
          <a:ln cap="flat" w="38100">
            <a:solidFill>
              <a:srgbClr val="4A6FA5"/>
            </a:solidFill>
            <a:prstDash val="sysDot"/>
            <a:headEnd type="none" len="sm" w="sm"/>
            <a:tailEnd type="none" len="sm" w="sm"/>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 y="548640"/>
            <a:ext cx="16459200" cy="1971523"/>
            <a:chOff x="0" y="0"/>
            <a:chExt cx="21945600" cy="2628697"/>
          </a:xfrm>
        </p:grpSpPr>
        <p:sp>
          <p:nvSpPr>
            <p:cNvPr name="Freeform 3" id="3"/>
            <p:cNvSpPr/>
            <p:nvPr/>
          </p:nvSpPr>
          <p:spPr>
            <a:xfrm flipH="false" flipV="false" rot="0">
              <a:off x="0" y="0"/>
              <a:ext cx="21945600" cy="2628646"/>
            </a:xfrm>
            <a:custGeom>
              <a:avLst/>
              <a:gdLst/>
              <a:ahLst/>
              <a:cxnLst/>
              <a:rect r="r" b="b" t="t" l="l"/>
              <a:pathLst>
                <a:path h="2628646" w="21945600">
                  <a:moveTo>
                    <a:pt x="0" y="0"/>
                  </a:moveTo>
                  <a:lnTo>
                    <a:pt x="21945600" y="0"/>
                  </a:lnTo>
                  <a:lnTo>
                    <a:pt x="21945600" y="2628646"/>
                  </a:lnTo>
                  <a:lnTo>
                    <a:pt x="0" y="2628646"/>
                  </a:lnTo>
                  <a:close/>
                </a:path>
              </a:pathLst>
            </a:custGeom>
            <a:blipFill>
              <a:blip r:embed="rId3">
                <a:alphaModFix amt="0"/>
              </a:blip>
              <a:stretch>
                <a:fillRect l="0" t="-112559" r="0" b="-112561"/>
              </a:stretch>
            </a:blipFill>
          </p:spPr>
        </p:sp>
      </p:grpSp>
      <p:grpSp>
        <p:nvGrpSpPr>
          <p:cNvPr name="Group 4" id="4"/>
          <p:cNvGrpSpPr/>
          <p:nvPr/>
        </p:nvGrpSpPr>
        <p:grpSpPr>
          <a:xfrm rot="0">
            <a:off x="914400" y="462915"/>
            <a:ext cx="16459200" cy="2057248"/>
            <a:chOff x="0" y="0"/>
            <a:chExt cx="21945600" cy="2742997"/>
          </a:xfrm>
        </p:grpSpPr>
        <p:sp>
          <p:nvSpPr>
            <p:cNvPr name="Freeform 5" id="5"/>
            <p:cNvSpPr/>
            <p:nvPr/>
          </p:nvSpPr>
          <p:spPr>
            <a:xfrm flipH="false" flipV="false" rot="0">
              <a:off x="0" y="0"/>
              <a:ext cx="21945600" cy="2743002"/>
            </a:xfrm>
            <a:custGeom>
              <a:avLst/>
              <a:gdLst/>
              <a:ahLst/>
              <a:cxnLst/>
              <a:rect r="r" b="b" t="t" l="l"/>
              <a:pathLst>
                <a:path h="2743002" w="21945600">
                  <a:moveTo>
                    <a:pt x="0" y="0"/>
                  </a:moveTo>
                  <a:lnTo>
                    <a:pt x="21945600" y="0"/>
                  </a:lnTo>
                  <a:lnTo>
                    <a:pt x="21945600" y="2743002"/>
                  </a:lnTo>
                  <a:lnTo>
                    <a:pt x="0" y="2743002"/>
                  </a:lnTo>
                  <a:close/>
                </a:path>
              </a:pathLst>
            </a:custGeom>
            <a:blipFill>
              <a:blip r:embed="rId4">
                <a:alphaModFix amt="0"/>
              </a:blip>
              <a:stretch>
                <a:fillRect l="0" t="-105891" r="0" b="-105891"/>
              </a:stretch>
            </a:blipFill>
          </p:spPr>
        </p:sp>
        <p:sp>
          <p:nvSpPr>
            <p:cNvPr name="TextBox 6" id="6"/>
            <p:cNvSpPr txBox="true"/>
            <p:nvPr/>
          </p:nvSpPr>
          <p:spPr>
            <a:xfrm>
              <a:off x="0" y="-114300"/>
              <a:ext cx="21945600" cy="2857297"/>
            </a:xfrm>
            <a:prstGeom prst="rect">
              <a:avLst/>
            </a:prstGeom>
          </p:spPr>
          <p:txBody>
            <a:bodyPr anchor="ctr" rtlCol="false" tIns="0" lIns="0" bIns="0" rIns="0"/>
            <a:lstStyle/>
            <a:p>
              <a:pPr algn="l">
                <a:lnSpc>
                  <a:spcPts val="6720"/>
                </a:lnSpc>
              </a:pPr>
              <a:r>
                <a:rPr lang="en-US" sz="5601" b="true">
                  <a:solidFill>
                    <a:srgbClr val="0D1B2A"/>
                  </a:solidFill>
                  <a:latin typeface="Calibri (MS) Bold"/>
                  <a:ea typeface="Calibri (MS) Bold"/>
                  <a:cs typeface="Calibri (MS) Bold"/>
                  <a:sym typeface="Calibri (MS) Bold"/>
                </a:rPr>
                <a:t>WHY THIS APPROACH</a:t>
              </a:r>
            </a:p>
            <a:p>
              <a:pPr algn="l">
                <a:lnSpc>
                  <a:spcPts val="6720"/>
                </a:lnSpc>
              </a:pPr>
            </a:p>
          </p:txBody>
        </p:sp>
      </p:grpSp>
      <p:grpSp>
        <p:nvGrpSpPr>
          <p:cNvPr name="Group 7" id="7"/>
          <p:cNvGrpSpPr/>
          <p:nvPr/>
        </p:nvGrpSpPr>
        <p:grpSpPr>
          <a:xfrm rot="0">
            <a:off x="640080" y="1526591"/>
            <a:ext cx="16733520" cy="55778"/>
            <a:chOff x="0" y="0"/>
            <a:chExt cx="22311360" cy="74371"/>
          </a:xfrm>
        </p:grpSpPr>
        <p:sp>
          <p:nvSpPr>
            <p:cNvPr name="Freeform 8" id="8"/>
            <p:cNvSpPr/>
            <p:nvPr/>
          </p:nvSpPr>
          <p:spPr>
            <a:xfrm flipH="false" flipV="false" rot="0">
              <a:off x="0" y="0"/>
              <a:ext cx="22311361" cy="74422"/>
            </a:xfrm>
            <a:custGeom>
              <a:avLst/>
              <a:gdLst/>
              <a:ahLst/>
              <a:cxnLst/>
              <a:rect r="r" b="b" t="t" l="l"/>
              <a:pathLst>
                <a:path h="74422" w="22311361">
                  <a:moveTo>
                    <a:pt x="0" y="0"/>
                  </a:moveTo>
                  <a:lnTo>
                    <a:pt x="22311361" y="0"/>
                  </a:lnTo>
                  <a:lnTo>
                    <a:pt x="22311361" y="74422"/>
                  </a:lnTo>
                  <a:lnTo>
                    <a:pt x="0" y="74422"/>
                  </a:lnTo>
                  <a:close/>
                </a:path>
              </a:pathLst>
            </a:custGeom>
            <a:solidFill>
              <a:srgbClr val="F0F4F8"/>
            </a:solidFill>
          </p:spPr>
        </p:sp>
      </p:grpSp>
      <p:grpSp>
        <p:nvGrpSpPr>
          <p:cNvPr name="Group 9" id="9"/>
          <p:cNvGrpSpPr/>
          <p:nvPr/>
        </p:nvGrpSpPr>
        <p:grpSpPr>
          <a:xfrm rot="0">
            <a:off x="640080" y="2011680"/>
            <a:ext cx="16733520" cy="8002200"/>
            <a:chOff x="0" y="0"/>
            <a:chExt cx="22311360" cy="10669600"/>
          </a:xfrm>
        </p:grpSpPr>
        <p:sp>
          <p:nvSpPr>
            <p:cNvPr name="Freeform 10" id="10"/>
            <p:cNvSpPr/>
            <p:nvPr/>
          </p:nvSpPr>
          <p:spPr>
            <a:xfrm flipH="false" flipV="false" rot="0">
              <a:off x="0" y="0"/>
              <a:ext cx="22311361" cy="10669651"/>
            </a:xfrm>
            <a:custGeom>
              <a:avLst/>
              <a:gdLst/>
              <a:ahLst/>
              <a:cxnLst/>
              <a:rect r="r" b="b" t="t" l="l"/>
              <a:pathLst>
                <a:path h="10669651" w="22311361">
                  <a:moveTo>
                    <a:pt x="0" y="0"/>
                  </a:moveTo>
                  <a:lnTo>
                    <a:pt x="22311361" y="0"/>
                  </a:lnTo>
                  <a:lnTo>
                    <a:pt x="22311361" y="10669651"/>
                  </a:lnTo>
                  <a:lnTo>
                    <a:pt x="0" y="10669651"/>
                  </a:lnTo>
                  <a:close/>
                </a:path>
              </a:pathLst>
            </a:custGeom>
            <a:solidFill>
              <a:srgbClr val="F7FAFF"/>
            </a:solidFill>
          </p:spPr>
        </p:sp>
      </p:grpSp>
      <p:grpSp>
        <p:nvGrpSpPr>
          <p:cNvPr name="Group 11" id="11"/>
          <p:cNvGrpSpPr/>
          <p:nvPr/>
        </p:nvGrpSpPr>
        <p:grpSpPr>
          <a:xfrm rot="0">
            <a:off x="640080" y="1781070"/>
            <a:ext cx="16733520" cy="340338"/>
            <a:chOff x="0" y="0"/>
            <a:chExt cx="22311360" cy="453784"/>
          </a:xfrm>
        </p:grpSpPr>
        <p:sp>
          <p:nvSpPr>
            <p:cNvPr name="Freeform 12" id="12"/>
            <p:cNvSpPr/>
            <p:nvPr/>
          </p:nvSpPr>
          <p:spPr>
            <a:xfrm flipH="false" flipV="false" rot="0">
              <a:off x="0" y="0"/>
              <a:ext cx="22311361" cy="453771"/>
            </a:xfrm>
            <a:custGeom>
              <a:avLst/>
              <a:gdLst/>
              <a:ahLst/>
              <a:cxnLst/>
              <a:rect r="r" b="b" t="t" l="l"/>
              <a:pathLst>
                <a:path h="453771" w="22311361">
                  <a:moveTo>
                    <a:pt x="0" y="0"/>
                  </a:moveTo>
                  <a:lnTo>
                    <a:pt x="22311361" y="0"/>
                  </a:lnTo>
                  <a:lnTo>
                    <a:pt x="22311361" y="453771"/>
                  </a:lnTo>
                  <a:lnTo>
                    <a:pt x="0" y="453771"/>
                  </a:lnTo>
                  <a:close/>
                </a:path>
              </a:pathLst>
            </a:custGeom>
            <a:solidFill>
              <a:srgbClr val="1565C0"/>
            </a:solidFill>
          </p:spPr>
        </p:sp>
      </p:grpSp>
      <p:grpSp>
        <p:nvGrpSpPr>
          <p:cNvPr name="Group 13" id="13"/>
          <p:cNvGrpSpPr/>
          <p:nvPr/>
        </p:nvGrpSpPr>
        <p:grpSpPr>
          <a:xfrm rot="0">
            <a:off x="640080" y="2881722"/>
            <a:ext cx="16528399" cy="6376578"/>
            <a:chOff x="0" y="0"/>
            <a:chExt cx="22037866" cy="8502104"/>
          </a:xfrm>
        </p:grpSpPr>
        <p:sp>
          <p:nvSpPr>
            <p:cNvPr name="Freeform 14" id="14"/>
            <p:cNvSpPr/>
            <p:nvPr/>
          </p:nvSpPr>
          <p:spPr>
            <a:xfrm flipH="false" flipV="false" rot="0">
              <a:off x="0" y="0"/>
              <a:ext cx="22037929" cy="8502142"/>
            </a:xfrm>
            <a:custGeom>
              <a:avLst/>
              <a:gdLst/>
              <a:ahLst/>
              <a:cxnLst/>
              <a:rect r="r" b="b" t="t" l="l"/>
              <a:pathLst>
                <a:path h="8502142" w="22037929">
                  <a:moveTo>
                    <a:pt x="0" y="0"/>
                  </a:moveTo>
                  <a:lnTo>
                    <a:pt x="22037929" y="0"/>
                  </a:lnTo>
                  <a:lnTo>
                    <a:pt x="22037929" y="8502142"/>
                  </a:lnTo>
                  <a:lnTo>
                    <a:pt x="0" y="8502142"/>
                  </a:lnTo>
                  <a:close/>
                </a:path>
              </a:pathLst>
            </a:custGeom>
            <a:blipFill>
              <a:blip r:embed="rId3">
                <a:alphaModFix amt="0"/>
              </a:blip>
              <a:stretch>
                <a:fillRect l="0" t="-470" r="0" b="-470"/>
              </a:stretch>
            </a:blipFill>
          </p:spPr>
        </p:sp>
      </p:grpSp>
      <p:grpSp>
        <p:nvGrpSpPr>
          <p:cNvPr name="Group 15" id="15"/>
          <p:cNvGrpSpPr/>
          <p:nvPr/>
        </p:nvGrpSpPr>
        <p:grpSpPr>
          <a:xfrm rot="0">
            <a:off x="640080" y="2838860"/>
            <a:ext cx="16528399" cy="6419440"/>
            <a:chOff x="0" y="0"/>
            <a:chExt cx="22037866" cy="8559254"/>
          </a:xfrm>
        </p:grpSpPr>
        <p:sp>
          <p:nvSpPr>
            <p:cNvPr name="Freeform 16" id="16"/>
            <p:cNvSpPr/>
            <p:nvPr/>
          </p:nvSpPr>
          <p:spPr>
            <a:xfrm flipH="false" flipV="false" rot="0">
              <a:off x="0" y="0"/>
              <a:ext cx="22037866" cy="8559254"/>
            </a:xfrm>
            <a:custGeom>
              <a:avLst/>
              <a:gdLst/>
              <a:ahLst/>
              <a:cxnLst/>
              <a:rect r="r" b="b" t="t" l="l"/>
              <a:pathLst>
                <a:path h="8559254" w="22037866">
                  <a:moveTo>
                    <a:pt x="0" y="0"/>
                  </a:moveTo>
                  <a:lnTo>
                    <a:pt x="22037866" y="0"/>
                  </a:lnTo>
                  <a:lnTo>
                    <a:pt x="22037866" y="8559254"/>
                  </a:lnTo>
                  <a:lnTo>
                    <a:pt x="0" y="8559254"/>
                  </a:lnTo>
                  <a:close/>
                </a:path>
              </a:pathLst>
            </a:custGeom>
            <a:blipFill>
              <a:blip r:embed="rId4">
                <a:alphaModFix amt="0"/>
              </a:blip>
              <a:stretch>
                <a:fillRect l="0" t="-168" r="0" b="-168"/>
              </a:stretch>
            </a:blipFill>
          </p:spPr>
        </p:sp>
        <p:sp>
          <p:nvSpPr>
            <p:cNvPr name="TextBox 17" id="17"/>
            <p:cNvSpPr txBox="true"/>
            <p:nvPr/>
          </p:nvSpPr>
          <p:spPr>
            <a:xfrm>
              <a:off x="0" y="-57150"/>
              <a:ext cx="22037866" cy="8616404"/>
            </a:xfrm>
            <a:prstGeom prst="rect">
              <a:avLst/>
            </a:prstGeom>
          </p:spPr>
          <p:txBody>
            <a:bodyPr anchor="ctr" rtlCol="false" tIns="0" lIns="0" bIns="0" rIns="0"/>
            <a:lstStyle/>
            <a:p>
              <a:pPr algn="l" marL="751126" indent="-250375" lvl="2">
                <a:lnSpc>
                  <a:spcPts val="3118"/>
                </a:lnSpc>
                <a:buFont typeface="Arial"/>
                <a:buChar char="⚬"/>
              </a:pPr>
              <a:r>
                <a:rPr lang="en-US" sz="2599">
                  <a:solidFill>
                    <a:srgbClr val="546E7A"/>
                  </a:solidFill>
                  <a:latin typeface="Calibri (MS)"/>
                  <a:ea typeface="Calibri (MS)"/>
                  <a:cs typeface="Calibri (MS)"/>
                  <a:sym typeface="Calibri (MS)"/>
                </a:rPr>
                <a:t>Modular — Each subsystem agent follows the exact same pattern. Once the framework is built for one subsystem like Suspension, the same blueprint applies directly to Steering, Frames, Fuel System, and every other subsystem without redesigning or rebuilding from scratch. This means parallel development across teams is possible from day one.</a:t>
              </a:r>
            </a:p>
            <a:p>
              <a:pPr algn="l" marL="751126" indent="-250375" lvl="2">
                <a:lnSpc>
                  <a:spcPts val="3118"/>
                </a:lnSpc>
                <a:buFont typeface="Arial"/>
                <a:buChar char="⚬"/>
              </a:pPr>
              <a:r>
                <a:rPr lang="en-US" sz="2599">
                  <a:solidFill>
                    <a:srgbClr val="546E7A"/>
                  </a:solidFill>
                  <a:latin typeface="Calibri (MS)"/>
                  <a:ea typeface="Calibri (MS)"/>
                  <a:cs typeface="Calibri (MS)"/>
                  <a:sym typeface="Calibri (MS)"/>
                </a:rPr>
                <a:t>Scalable — The N → N-1 → N-2 hierarchy is designed to grow. New domains, new subsystems, and new agent types can be plugged in at any level without touching the rest of the architecture. As the program expands, the system expands with it — not against it.</a:t>
              </a:r>
            </a:p>
            <a:p>
              <a:pPr algn="l" marL="751126" indent="-250375" lvl="2">
                <a:lnSpc>
                  <a:spcPts val="3118"/>
                </a:lnSpc>
                <a:buFont typeface="Arial"/>
                <a:buChar char="⚬"/>
              </a:pPr>
              <a:r>
                <a:rPr lang="en-US" sz="2599">
                  <a:solidFill>
                    <a:srgbClr val="546E7A"/>
                  </a:solidFill>
                  <a:latin typeface="Calibri (MS)"/>
                  <a:ea typeface="Calibri (MS)"/>
                  <a:cs typeface="Calibri (MS)"/>
                  <a:sym typeface="Calibri (MS)"/>
                </a:rPr>
                <a:t>Human-in-the-Loop — This is augmentation, not replacement. Engineers remain fully in control. Agents surface recommendations, automate calculations, flag risks, and generate reports — but every critical design decision is reviewed, validated, and owned by the engineer. The system supports judgment, it does not replace it.</a:t>
              </a:r>
            </a:p>
            <a:p>
              <a:pPr algn="l" marL="751126" indent="-250375" lvl="2">
                <a:lnSpc>
                  <a:spcPts val="3118"/>
                </a:lnSpc>
                <a:buFont typeface="Arial"/>
                <a:buChar char="⚬"/>
              </a:pPr>
              <a:r>
                <a:rPr lang="en-US" sz="2599">
                  <a:solidFill>
                    <a:srgbClr val="546E7A"/>
                  </a:solidFill>
                  <a:latin typeface="Calibri (MS)"/>
                  <a:ea typeface="Calibri (MS)"/>
                  <a:cs typeface="Calibri (MS)"/>
                  <a:sym typeface="Calibri (MS)"/>
                </a:rPr>
                <a:t>Domain-Aware — Generic AI is not sufficient for engineering work. Each agent is grounded in domain-specific knowledge — suspension dynamics, DFMEA methodology, V&amp;V standards, load cases — not just language understanding. The intelligence is engineering-first, not generic-first.</a:t>
              </a:r>
            </a:p>
            <a:p>
              <a:pPr algn="l" marL="751126" indent="-250375" lvl="2">
                <a:lnSpc>
                  <a:spcPts val="3118"/>
                </a:lnSpc>
                <a:buFont typeface="Arial"/>
                <a:buChar char="⚬"/>
              </a:pPr>
              <a:r>
                <a:rPr lang="en-US" sz="2599">
                  <a:solidFill>
                    <a:srgbClr val="546E7A"/>
                  </a:solidFill>
                  <a:latin typeface="Calibri (MS)"/>
                  <a:ea typeface="Calibri (MS)"/>
                  <a:cs typeface="Calibri (MS)"/>
                  <a:sym typeface="Calibri (MS)"/>
                </a:rPr>
                <a:t>Extensible — The agent layer is not fixed. As needs evolve, new agents can be added to any subsystem — cost estimation, supplier selection, regulatory compliance, weight optimization. The architecture is built to accommodate this without structural change.</a:t>
              </a:r>
            </a:p>
            <a:p>
              <a:pPr algn="l" marL="751126" indent="-250375" lvl="2">
                <a:lnSpc>
                  <a:spcPts val="3118"/>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0" y="0"/>
            <a:ext cx="219456" cy="10287000"/>
            <a:chOff x="0" y="0"/>
            <a:chExt cx="292608" cy="13716000"/>
          </a:xfrm>
        </p:grpSpPr>
        <p:sp>
          <p:nvSpPr>
            <p:cNvPr name="Freeform 3" id="3"/>
            <p:cNvSpPr/>
            <p:nvPr/>
          </p:nvSpPr>
          <p:spPr>
            <a:xfrm flipH="false" flipV="false" rot="0">
              <a:off x="0" y="0"/>
              <a:ext cx="292608" cy="13716000"/>
            </a:xfrm>
            <a:custGeom>
              <a:avLst/>
              <a:gdLst/>
              <a:ahLst/>
              <a:cxnLst/>
              <a:rect r="r" b="b" t="t" l="l"/>
              <a:pathLst>
                <a:path h="13716000" w="292608">
                  <a:moveTo>
                    <a:pt x="0" y="0"/>
                  </a:moveTo>
                  <a:lnTo>
                    <a:pt x="292608" y="0"/>
                  </a:lnTo>
                  <a:lnTo>
                    <a:pt x="292608" y="13716000"/>
                  </a:lnTo>
                  <a:lnTo>
                    <a:pt x="0" y="13716000"/>
                  </a:lnTo>
                  <a:close/>
                </a:path>
              </a:pathLst>
            </a:custGeom>
            <a:solidFill>
              <a:srgbClr val="00ACC1"/>
            </a:solidFill>
          </p:spPr>
        </p:sp>
      </p:grpSp>
      <p:grpSp>
        <p:nvGrpSpPr>
          <p:cNvPr name="Group 4" id="4"/>
          <p:cNvGrpSpPr/>
          <p:nvPr/>
        </p:nvGrpSpPr>
        <p:grpSpPr>
          <a:xfrm rot="0">
            <a:off x="13487581" y="0"/>
            <a:ext cx="4800419" cy="10287000"/>
            <a:chOff x="0" y="0"/>
            <a:chExt cx="6400559" cy="13716000"/>
          </a:xfrm>
        </p:grpSpPr>
        <p:sp>
          <p:nvSpPr>
            <p:cNvPr name="Freeform 5" id="5"/>
            <p:cNvSpPr/>
            <p:nvPr/>
          </p:nvSpPr>
          <p:spPr>
            <a:xfrm flipH="false" flipV="false" rot="0">
              <a:off x="0" y="0"/>
              <a:ext cx="6400546" cy="13716000"/>
            </a:xfrm>
            <a:custGeom>
              <a:avLst/>
              <a:gdLst/>
              <a:ahLst/>
              <a:cxnLst/>
              <a:rect r="r" b="b" t="t" l="l"/>
              <a:pathLst>
                <a:path h="13716000" w="6400546">
                  <a:moveTo>
                    <a:pt x="0" y="0"/>
                  </a:moveTo>
                  <a:lnTo>
                    <a:pt x="6400546" y="0"/>
                  </a:lnTo>
                  <a:lnTo>
                    <a:pt x="6400546" y="13716000"/>
                  </a:lnTo>
                  <a:lnTo>
                    <a:pt x="0" y="13716000"/>
                  </a:lnTo>
                  <a:close/>
                </a:path>
              </a:pathLst>
            </a:custGeom>
            <a:solidFill>
              <a:srgbClr val="0A2540">
                <a:alpha val="23529"/>
              </a:srgbClr>
            </a:solidFill>
          </p:spPr>
        </p:sp>
      </p:grpSp>
      <p:grpSp>
        <p:nvGrpSpPr>
          <p:cNvPr name="Group 6" id="6"/>
          <p:cNvGrpSpPr/>
          <p:nvPr/>
        </p:nvGrpSpPr>
        <p:grpSpPr>
          <a:xfrm rot="0">
            <a:off x="16145770" y="0"/>
            <a:ext cx="2142230" cy="10287000"/>
            <a:chOff x="0" y="0"/>
            <a:chExt cx="2856306" cy="13716000"/>
          </a:xfrm>
        </p:grpSpPr>
        <p:sp>
          <p:nvSpPr>
            <p:cNvPr name="Freeform 7" id="7"/>
            <p:cNvSpPr/>
            <p:nvPr/>
          </p:nvSpPr>
          <p:spPr>
            <a:xfrm flipH="false" flipV="false" rot="0">
              <a:off x="0" y="0"/>
              <a:ext cx="2856357" cy="13716000"/>
            </a:xfrm>
            <a:custGeom>
              <a:avLst/>
              <a:gdLst/>
              <a:ahLst/>
              <a:cxnLst/>
              <a:rect r="r" b="b" t="t" l="l"/>
              <a:pathLst>
                <a:path h="13716000" w="2856357">
                  <a:moveTo>
                    <a:pt x="0" y="0"/>
                  </a:moveTo>
                  <a:lnTo>
                    <a:pt x="2856357" y="0"/>
                  </a:lnTo>
                  <a:lnTo>
                    <a:pt x="2856357" y="13716000"/>
                  </a:lnTo>
                  <a:lnTo>
                    <a:pt x="0" y="13716000"/>
                  </a:lnTo>
                  <a:close/>
                </a:path>
              </a:pathLst>
            </a:custGeom>
            <a:solidFill>
              <a:srgbClr val="1E88E5">
                <a:alpha val="0"/>
              </a:srgbClr>
            </a:solidFill>
          </p:spPr>
        </p:sp>
      </p:grpSp>
      <p:grpSp>
        <p:nvGrpSpPr>
          <p:cNvPr name="Group 8" id="8"/>
          <p:cNvGrpSpPr/>
          <p:nvPr/>
        </p:nvGrpSpPr>
        <p:grpSpPr>
          <a:xfrm rot="0">
            <a:off x="566928" y="388620"/>
            <a:ext cx="10972800" cy="640080"/>
            <a:chOff x="0" y="0"/>
            <a:chExt cx="14630400" cy="853440"/>
          </a:xfrm>
        </p:grpSpPr>
        <p:sp>
          <p:nvSpPr>
            <p:cNvPr name="Freeform 9" id="9"/>
            <p:cNvSpPr/>
            <p:nvPr/>
          </p:nvSpPr>
          <p:spPr>
            <a:xfrm flipH="false" flipV="false" rot="0">
              <a:off x="0" y="0"/>
              <a:ext cx="14630400" cy="853440"/>
            </a:xfrm>
            <a:custGeom>
              <a:avLst/>
              <a:gdLst/>
              <a:ahLst/>
              <a:cxnLst/>
              <a:rect r="r" b="b" t="t" l="l"/>
              <a:pathLst>
                <a:path h="853440" w="14630400">
                  <a:moveTo>
                    <a:pt x="0" y="0"/>
                  </a:moveTo>
                  <a:lnTo>
                    <a:pt x="14630400" y="0"/>
                  </a:lnTo>
                  <a:lnTo>
                    <a:pt x="14630400" y="853440"/>
                  </a:lnTo>
                  <a:lnTo>
                    <a:pt x="0" y="853440"/>
                  </a:lnTo>
                  <a:close/>
                </a:path>
              </a:pathLst>
            </a:custGeom>
            <a:blipFill>
              <a:blip r:embed="rId3">
                <a:alphaModFix amt="0"/>
              </a:blip>
              <a:stretch>
                <a:fillRect l="0" t="-283797" r="0" b="-283796"/>
              </a:stretch>
            </a:blipFill>
          </p:spPr>
        </p:sp>
      </p:grpSp>
      <p:grpSp>
        <p:nvGrpSpPr>
          <p:cNvPr name="Group 10" id="10"/>
          <p:cNvGrpSpPr/>
          <p:nvPr/>
        </p:nvGrpSpPr>
        <p:grpSpPr>
          <a:xfrm rot="0">
            <a:off x="566928" y="360045"/>
            <a:ext cx="10972800" cy="668655"/>
            <a:chOff x="0" y="0"/>
            <a:chExt cx="14630400" cy="891540"/>
          </a:xfrm>
        </p:grpSpPr>
        <p:sp>
          <p:nvSpPr>
            <p:cNvPr name="Freeform 11" id="11"/>
            <p:cNvSpPr/>
            <p:nvPr/>
          </p:nvSpPr>
          <p:spPr>
            <a:xfrm flipH="false" flipV="false" rot="0">
              <a:off x="0" y="0"/>
              <a:ext cx="14630400" cy="891540"/>
            </a:xfrm>
            <a:custGeom>
              <a:avLst/>
              <a:gdLst/>
              <a:ahLst/>
              <a:cxnLst/>
              <a:rect r="r" b="b" t="t" l="l"/>
              <a:pathLst>
                <a:path h="891540" w="14630400">
                  <a:moveTo>
                    <a:pt x="0" y="0"/>
                  </a:moveTo>
                  <a:lnTo>
                    <a:pt x="14630400" y="0"/>
                  </a:lnTo>
                  <a:lnTo>
                    <a:pt x="14630400" y="891540"/>
                  </a:lnTo>
                  <a:lnTo>
                    <a:pt x="0" y="891540"/>
                  </a:lnTo>
                  <a:close/>
                </a:path>
              </a:pathLst>
            </a:custGeom>
            <a:blipFill>
              <a:blip r:embed="rId4">
                <a:alphaModFix amt="0"/>
              </a:blip>
              <a:stretch>
                <a:fillRect l="0" t="-269754" r="0" b="-269754"/>
              </a:stretch>
            </a:blipFill>
          </p:spPr>
        </p:sp>
        <p:sp>
          <p:nvSpPr>
            <p:cNvPr name="TextBox 12" id="12"/>
            <p:cNvSpPr txBox="true"/>
            <p:nvPr/>
          </p:nvSpPr>
          <p:spPr>
            <a:xfrm>
              <a:off x="0" y="-85725"/>
              <a:ext cx="14630400" cy="977265"/>
            </a:xfrm>
            <a:prstGeom prst="rect">
              <a:avLst/>
            </a:prstGeom>
          </p:spPr>
          <p:txBody>
            <a:bodyPr anchor="ctr" rtlCol="false" tIns="0" lIns="0" bIns="0" rIns="0"/>
            <a:lstStyle/>
            <a:p>
              <a:pPr algn="l">
                <a:lnSpc>
                  <a:spcPts val="2160"/>
                </a:lnSpc>
              </a:pPr>
              <a:r>
                <a:rPr lang="en-US" b="true" sz="1200" spc="598">
                  <a:solidFill>
                    <a:srgbClr val="00ACC1"/>
                  </a:solidFill>
                  <a:latin typeface="Calibri (MS) Bold"/>
                  <a:ea typeface="Calibri (MS) Bold"/>
                  <a:cs typeface="Calibri (MS) Bold"/>
                  <a:sym typeface="Calibri (MS) Bold"/>
                </a:rPr>
                <a:t>PR</a:t>
              </a:r>
            </a:p>
          </p:txBody>
        </p:sp>
      </p:grpSp>
      <p:grpSp>
        <p:nvGrpSpPr>
          <p:cNvPr name="Group 13" id="13"/>
          <p:cNvGrpSpPr/>
          <p:nvPr/>
        </p:nvGrpSpPr>
        <p:grpSpPr>
          <a:xfrm rot="0">
            <a:off x="566928" y="1724920"/>
            <a:ext cx="15235942" cy="2813742"/>
            <a:chOff x="0" y="0"/>
            <a:chExt cx="20314590" cy="3751656"/>
          </a:xfrm>
        </p:grpSpPr>
        <p:sp>
          <p:nvSpPr>
            <p:cNvPr name="Freeform 14" id="14"/>
            <p:cNvSpPr/>
            <p:nvPr/>
          </p:nvSpPr>
          <p:spPr>
            <a:xfrm flipH="false" flipV="false" rot="0">
              <a:off x="0" y="0"/>
              <a:ext cx="20314538" cy="3751707"/>
            </a:xfrm>
            <a:custGeom>
              <a:avLst/>
              <a:gdLst/>
              <a:ahLst/>
              <a:cxnLst/>
              <a:rect r="r" b="b" t="t" l="l"/>
              <a:pathLst>
                <a:path h="3751707" w="20314538">
                  <a:moveTo>
                    <a:pt x="0" y="0"/>
                  </a:moveTo>
                  <a:lnTo>
                    <a:pt x="20314538" y="0"/>
                  </a:lnTo>
                  <a:lnTo>
                    <a:pt x="20314538" y="3751707"/>
                  </a:lnTo>
                  <a:lnTo>
                    <a:pt x="0" y="3751707"/>
                  </a:lnTo>
                  <a:close/>
                </a:path>
              </a:pathLst>
            </a:custGeom>
            <a:blipFill>
              <a:blip r:embed="rId3">
                <a:alphaModFix amt="0"/>
              </a:blip>
              <a:stretch>
                <a:fillRect l="0" t="-55434" r="0" b="-55432"/>
              </a:stretch>
            </a:blipFill>
          </p:spPr>
        </p:sp>
      </p:grpSp>
      <p:grpSp>
        <p:nvGrpSpPr>
          <p:cNvPr name="Group 15" id="15"/>
          <p:cNvGrpSpPr/>
          <p:nvPr/>
        </p:nvGrpSpPr>
        <p:grpSpPr>
          <a:xfrm rot="0">
            <a:off x="566928" y="1603477"/>
            <a:ext cx="15235942" cy="2935186"/>
            <a:chOff x="0" y="0"/>
            <a:chExt cx="20314590" cy="3913581"/>
          </a:xfrm>
        </p:grpSpPr>
        <p:sp>
          <p:nvSpPr>
            <p:cNvPr name="Freeform 16" id="16"/>
            <p:cNvSpPr/>
            <p:nvPr/>
          </p:nvSpPr>
          <p:spPr>
            <a:xfrm flipH="false" flipV="false" rot="0">
              <a:off x="0" y="0"/>
              <a:ext cx="20314586" cy="3913586"/>
            </a:xfrm>
            <a:custGeom>
              <a:avLst/>
              <a:gdLst/>
              <a:ahLst/>
              <a:cxnLst/>
              <a:rect r="r" b="b" t="t" l="l"/>
              <a:pathLst>
                <a:path h="3913586" w="20314586">
                  <a:moveTo>
                    <a:pt x="0" y="0"/>
                  </a:moveTo>
                  <a:lnTo>
                    <a:pt x="20314586" y="0"/>
                  </a:lnTo>
                  <a:lnTo>
                    <a:pt x="20314586" y="3913586"/>
                  </a:lnTo>
                  <a:lnTo>
                    <a:pt x="0" y="3913586"/>
                  </a:lnTo>
                  <a:close/>
                </a:path>
              </a:pathLst>
            </a:custGeom>
            <a:blipFill>
              <a:blip r:embed="rId4">
                <a:alphaModFix amt="0"/>
              </a:blip>
              <a:stretch>
                <a:fillRect l="0" t="-51142" r="0" b="-51142"/>
              </a:stretch>
            </a:blipFill>
          </p:spPr>
        </p:sp>
        <p:sp>
          <p:nvSpPr>
            <p:cNvPr name="TextBox 17" id="17"/>
            <p:cNvSpPr txBox="true"/>
            <p:nvPr/>
          </p:nvSpPr>
          <p:spPr>
            <a:xfrm>
              <a:off x="0" y="-161925"/>
              <a:ext cx="20314590" cy="4075506"/>
            </a:xfrm>
            <a:prstGeom prst="rect">
              <a:avLst/>
            </a:prstGeom>
          </p:spPr>
          <p:txBody>
            <a:bodyPr anchor="ctr" rtlCol="false" tIns="0" lIns="0" bIns="0" rIns="0"/>
            <a:lstStyle/>
            <a:p>
              <a:pPr algn="l">
                <a:lnSpc>
                  <a:spcPts val="9600"/>
                </a:lnSpc>
              </a:pPr>
              <a:r>
                <a:rPr lang="en-US" sz="8001" b="true">
                  <a:solidFill>
                    <a:srgbClr val="FFFFFF"/>
                  </a:solidFill>
                  <a:latin typeface="Calibri (MS) Bold"/>
                  <a:ea typeface="Calibri (MS) Bold"/>
                  <a:cs typeface="Calibri (MS) Bold"/>
                  <a:sym typeface="Calibri (MS) Bold"/>
                </a:rPr>
                <a:t>Ride Optimization</a:t>
              </a:r>
            </a:p>
          </p:txBody>
        </p:sp>
      </p:grpSp>
      <p:grpSp>
        <p:nvGrpSpPr>
          <p:cNvPr name="Group 18" id="18"/>
          <p:cNvGrpSpPr/>
          <p:nvPr/>
        </p:nvGrpSpPr>
        <p:grpSpPr>
          <a:xfrm rot="0">
            <a:off x="731520" y="7812605"/>
            <a:ext cx="13716000" cy="1695926"/>
            <a:chOff x="0" y="0"/>
            <a:chExt cx="18288000" cy="2261235"/>
          </a:xfrm>
        </p:grpSpPr>
        <p:sp>
          <p:nvSpPr>
            <p:cNvPr name="Freeform 19" id="19"/>
            <p:cNvSpPr/>
            <p:nvPr/>
          </p:nvSpPr>
          <p:spPr>
            <a:xfrm flipH="false" flipV="false" rot="0">
              <a:off x="0" y="0"/>
              <a:ext cx="18288000" cy="2261235"/>
            </a:xfrm>
            <a:custGeom>
              <a:avLst/>
              <a:gdLst/>
              <a:ahLst/>
              <a:cxnLst/>
              <a:rect r="r" b="b" t="t" l="l"/>
              <a:pathLst>
                <a:path h="2261235" w="18288000">
                  <a:moveTo>
                    <a:pt x="0" y="0"/>
                  </a:moveTo>
                  <a:lnTo>
                    <a:pt x="18288000" y="0"/>
                  </a:lnTo>
                  <a:lnTo>
                    <a:pt x="18288000" y="2261235"/>
                  </a:lnTo>
                  <a:lnTo>
                    <a:pt x="0" y="2261235"/>
                  </a:lnTo>
                  <a:close/>
                </a:path>
              </a:pathLst>
            </a:custGeom>
            <a:blipFill>
              <a:blip r:embed="rId4">
                <a:alphaModFix amt="0"/>
              </a:blip>
              <a:stretch>
                <a:fillRect l="0" t="-107587" r="0" b="-107587"/>
              </a:stretch>
            </a:blipFill>
          </p:spPr>
        </p:sp>
        <p:sp>
          <p:nvSpPr>
            <p:cNvPr name="TextBox 20" id="20"/>
            <p:cNvSpPr txBox="true"/>
            <p:nvPr/>
          </p:nvSpPr>
          <p:spPr>
            <a:xfrm>
              <a:off x="0" y="-66675"/>
              <a:ext cx="18288000" cy="2327910"/>
            </a:xfrm>
            <a:prstGeom prst="rect">
              <a:avLst/>
            </a:prstGeom>
          </p:spPr>
          <p:txBody>
            <a:bodyPr anchor="ctr" rtlCol="false" tIns="0" lIns="0" bIns="0" rIns="0"/>
            <a:lstStyle/>
            <a:p>
              <a:pPr algn="l">
                <a:lnSpc>
                  <a:spcPts val="3600"/>
                </a:lnSpc>
              </a:pPr>
              <a:r>
                <a:rPr lang="en-US" sz="3000">
                  <a:solidFill>
                    <a:srgbClr val="90CAF9"/>
                  </a:solidFill>
                  <a:latin typeface="Calibri (MS)"/>
                  <a:ea typeface="Calibri (MS)"/>
                  <a:cs typeface="Calibri (MS)"/>
                  <a:sym typeface="Calibri (MS)"/>
                </a:rPr>
                <a:t>Madhupranavi S</a:t>
              </a:r>
            </a:p>
          </p:txBody>
        </p:sp>
      </p:grpSp>
      <p:grpSp>
        <p:nvGrpSpPr>
          <p:cNvPr name="Group 21" id="21"/>
          <p:cNvGrpSpPr/>
          <p:nvPr/>
        </p:nvGrpSpPr>
        <p:grpSpPr>
          <a:xfrm rot="0">
            <a:off x="731520" y="5927598"/>
            <a:ext cx="11338560" cy="1554480"/>
            <a:chOff x="0" y="0"/>
            <a:chExt cx="15118080" cy="2072640"/>
          </a:xfrm>
        </p:grpSpPr>
        <p:sp>
          <p:nvSpPr>
            <p:cNvPr name="Freeform 22" id="22"/>
            <p:cNvSpPr/>
            <p:nvPr/>
          </p:nvSpPr>
          <p:spPr>
            <a:xfrm flipH="false" flipV="false" rot="0">
              <a:off x="0" y="0"/>
              <a:ext cx="15118080" cy="2072640"/>
            </a:xfrm>
            <a:custGeom>
              <a:avLst/>
              <a:gdLst/>
              <a:ahLst/>
              <a:cxnLst/>
              <a:rect r="r" b="b" t="t" l="l"/>
              <a:pathLst>
                <a:path h="2072640" w="15118080">
                  <a:moveTo>
                    <a:pt x="0" y="0"/>
                  </a:moveTo>
                  <a:lnTo>
                    <a:pt x="15118080" y="0"/>
                  </a:lnTo>
                  <a:lnTo>
                    <a:pt x="15118080" y="2072640"/>
                  </a:lnTo>
                  <a:lnTo>
                    <a:pt x="0" y="2072640"/>
                  </a:lnTo>
                  <a:close/>
                </a:path>
              </a:pathLst>
            </a:custGeom>
            <a:blipFill>
              <a:blip r:embed="rId3">
                <a:alphaModFix amt="0"/>
              </a:blip>
              <a:stretch>
                <a:fillRect l="0" t="-92027" r="0" b="-92026"/>
              </a:stretch>
            </a:blipFill>
          </p:spPr>
        </p:sp>
      </p:grpSp>
      <p:grpSp>
        <p:nvGrpSpPr>
          <p:cNvPr name="Group 23" id="23"/>
          <p:cNvGrpSpPr/>
          <p:nvPr/>
        </p:nvGrpSpPr>
        <p:grpSpPr>
          <a:xfrm rot="0">
            <a:off x="731520" y="5884736"/>
            <a:ext cx="11338560" cy="1597342"/>
            <a:chOff x="0" y="0"/>
            <a:chExt cx="15118080" cy="2129790"/>
          </a:xfrm>
        </p:grpSpPr>
        <p:sp>
          <p:nvSpPr>
            <p:cNvPr name="Freeform 24" id="24"/>
            <p:cNvSpPr/>
            <p:nvPr/>
          </p:nvSpPr>
          <p:spPr>
            <a:xfrm flipH="false" flipV="false" rot="0">
              <a:off x="0" y="0"/>
              <a:ext cx="15118080" cy="2129790"/>
            </a:xfrm>
            <a:custGeom>
              <a:avLst/>
              <a:gdLst/>
              <a:ahLst/>
              <a:cxnLst/>
              <a:rect r="r" b="b" t="t" l="l"/>
              <a:pathLst>
                <a:path h="2129790" w="15118080">
                  <a:moveTo>
                    <a:pt x="0" y="0"/>
                  </a:moveTo>
                  <a:lnTo>
                    <a:pt x="15118080" y="0"/>
                  </a:lnTo>
                  <a:lnTo>
                    <a:pt x="15118080" y="2129790"/>
                  </a:lnTo>
                  <a:lnTo>
                    <a:pt x="0" y="2129790"/>
                  </a:lnTo>
                  <a:close/>
                </a:path>
              </a:pathLst>
            </a:custGeom>
            <a:blipFill>
              <a:blip r:embed="rId4">
                <a:alphaModFix amt="0"/>
              </a:blip>
              <a:stretch>
                <a:fillRect l="0" t="-88312" r="0" b="-88312"/>
              </a:stretch>
            </a:blipFill>
          </p:spPr>
        </p:sp>
        <p:sp>
          <p:nvSpPr>
            <p:cNvPr name="TextBox 25" id="25"/>
            <p:cNvSpPr txBox="true"/>
            <p:nvPr/>
          </p:nvSpPr>
          <p:spPr>
            <a:xfrm>
              <a:off x="0" y="-57150"/>
              <a:ext cx="15118080" cy="2186940"/>
            </a:xfrm>
            <a:prstGeom prst="rect">
              <a:avLst/>
            </a:prstGeom>
          </p:spPr>
          <p:txBody>
            <a:bodyPr anchor="ctr" rtlCol="false" tIns="0" lIns="0" bIns="0" rIns="0"/>
            <a:lstStyle/>
            <a:p>
              <a:pPr algn="l">
                <a:lnSpc>
                  <a:spcPts val="3598"/>
                </a:lnSpc>
              </a:pPr>
              <a:r>
                <a:rPr lang="en-US" sz="2950">
                  <a:solidFill>
                    <a:srgbClr val="90CAF9"/>
                  </a:solidFill>
                  <a:latin typeface="Calibri (MS)"/>
                  <a:ea typeface="Calibri (MS)"/>
                  <a:cs typeface="Calibri (MS)"/>
                  <a:sym typeface="Calibri (MS)"/>
                </a:rPr>
                <a:t>Physics-based and surrogate modelling approaches for suspension stiffness and damping optimisation</a:t>
              </a:r>
            </a:p>
          </p:txBody>
        </p:sp>
      </p:grpSp>
      <p:grpSp>
        <p:nvGrpSpPr>
          <p:cNvPr name="Group 26" id="26"/>
          <p:cNvGrpSpPr/>
          <p:nvPr/>
        </p:nvGrpSpPr>
        <p:grpSpPr>
          <a:xfrm rot="0">
            <a:off x="731520" y="7454646"/>
            <a:ext cx="10058400" cy="54864"/>
            <a:chOff x="0" y="0"/>
            <a:chExt cx="13411200" cy="73152"/>
          </a:xfrm>
        </p:grpSpPr>
        <p:sp>
          <p:nvSpPr>
            <p:cNvPr name="Freeform 27" id="27"/>
            <p:cNvSpPr/>
            <p:nvPr/>
          </p:nvSpPr>
          <p:spPr>
            <a:xfrm flipH="false" flipV="false" rot="0">
              <a:off x="0" y="0"/>
              <a:ext cx="13411200" cy="73152"/>
            </a:xfrm>
            <a:custGeom>
              <a:avLst/>
              <a:gdLst/>
              <a:ahLst/>
              <a:cxnLst/>
              <a:rect r="r" b="b" t="t" l="l"/>
              <a:pathLst>
                <a:path h="73152" w="13411200">
                  <a:moveTo>
                    <a:pt x="0" y="0"/>
                  </a:moveTo>
                  <a:lnTo>
                    <a:pt x="13411200" y="0"/>
                  </a:lnTo>
                  <a:lnTo>
                    <a:pt x="13411200" y="73152"/>
                  </a:lnTo>
                  <a:lnTo>
                    <a:pt x="0" y="73152"/>
                  </a:lnTo>
                  <a:close/>
                </a:path>
              </a:pathLst>
            </a:custGeom>
            <a:solidFill>
              <a:srgbClr val="00838F"/>
            </a:solid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8904122" y="903122"/>
            <a:ext cx="479755" cy="18288000"/>
            <a:chOff x="0" y="0"/>
            <a:chExt cx="639674" cy="24384000"/>
          </a:xfrm>
        </p:grpSpPr>
        <p:sp>
          <p:nvSpPr>
            <p:cNvPr name="Freeform 3" id="3"/>
            <p:cNvSpPr/>
            <p:nvPr/>
          </p:nvSpPr>
          <p:spPr>
            <a:xfrm flipH="false" flipV="false" rot="0">
              <a:off x="0" y="0"/>
              <a:ext cx="639699" cy="24384000"/>
            </a:xfrm>
            <a:custGeom>
              <a:avLst/>
              <a:gdLst/>
              <a:ahLst/>
              <a:cxnLst/>
              <a:rect r="r" b="b" t="t" l="l"/>
              <a:pathLst>
                <a:path h="24384000" w="639699">
                  <a:moveTo>
                    <a:pt x="0" y="0"/>
                  </a:moveTo>
                  <a:lnTo>
                    <a:pt x="639699" y="0"/>
                  </a:lnTo>
                  <a:lnTo>
                    <a:pt x="639699" y="24384000"/>
                  </a:lnTo>
                  <a:lnTo>
                    <a:pt x="0" y="24384000"/>
                  </a:lnTo>
                  <a:close/>
                </a:path>
              </a:pathLst>
            </a:custGeom>
            <a:solidFill>
              <a:srgbClr val="00ACC1"/>
            </a:solidFill>
          </p:spPr>
        </p:sp>
      </p:grpSp>
      <p:grpSp>
        <p:nvGrpSpPr>
          <p:cNvPr name="Group 4" id="4"/>
          <p:cNvGrpSpPr/>
          <p:nvPr/>
        </p:nvGrpSpPr>
        <p:grpSpPr>
          <a:xfrm rot="0">
            <a:off x="10814133" y="1585331"/>
            <a:ext cx="7476449" cy="4705102"/>
            <a:chOff x="0" y="0"/>
            <a:chExt cx="9968598" cy="6273470"/>
          </a:xfrm>
        </p:grpSpPr>
        <p:sp>
          <p:nvSpPr>
            <p:cNvPr name="Freeform 5" id="5" descr="A close-up of a machine  AI-generated content may be incorrect."/>
            <p:cNvSpPr/>
            <p:nvPr/>
          </p:nvSpPr>
          <p:spPr>
            <a:xfrm flipH="false" flipV="false" rot="0">
              <a:off x="0" y="0"/>
              <a:ext cx="9968611" cy="6273419"/>
            </a:xfrm>
            <a:custGeom>
              <a:avLst/>
              <a:gdLst/>
              <a:ahLst/>
              <a:cxnLst/>
              <a:rect r="r" b="b" t="t" l="l"/>
              <a:pathLst>
                <a:path h="6273419" w="9968611">
                  <a:moveTo>
                    <a:pt x="0" y="0"/>
                  </a:moveTo>
                  <a:lnTo>
                    <a:pt x="9968611" y="0"/>
                  </a:lnTo>
                  <a:lnTo>
                    <a:pt x="9968611" y="6273419"/>
                  </a:lnTo>
                  <a:lnTo>
                    <a:pt x="0" y="6273419"/>
                  </a:lnTo>
                  <a:lnTo>
                    <a:pt x="0" y="0"/>
                  </a:lnTo>
                  <a:close/>
                </a:path>
              </a:pathLst>
            </a:custGeom>
            <a:blipFill>
              <a:blip r:embed="rId3"/>
              <a:stretch>
                <a:fillRect l="0" t="-3003" r="-22418" b="-430"/>
              </a:stretch>
            </a:blipFill>
          </p:spPr>
        </p:sp>
      </p:grpSp>
      <p:sp>
        <p:nvSpPr>
          <p:cNvPr name="TextBox 6" id="6"/>
          <p:cNvSpPr txBox="true"/>
          <p:nvPr/>
        </p:nvSpPr>
        <p:spPr>
          <a:xfrm rot="0">
            <a:off x="210760" y="6454931"/>
            <a:ext cx="17861280" cy="3392110"/>
          </a:xfrm>
          <a:prstGeom prst="rect">
            <a:avLst/>
          </a:prstGeom>
        </p:spPr>
        <p:txBody>
          <a:bodyPr anchor="t" rtlCol="false" tIns="0" lIns="0" bIns="0" rIns="0">
            <a:spAutoFit/>
          </a:bodyPr>
          <a:lstStyle/>
          <a:p>
            <a:pPr algn="l">
              <a:lnSpc>
                <a:spcPts val="3118"/>
              </a:lnSpc>
            </a:pPr>
            <a:r>
              <a:rPr lang="en-US" sz="2800" b="true">
                <a:solidFill>
                  <a:srgbClr val="0D1B2A"/>
                </a:solidFill>
                <a:latin typeface="Calibri (MS) Bold"/>
                <a:ea typeface="Calibri (MS) Bold"/>
                <a:cs typeface="Calibri (MS) Bold"/>
                <a:sym typeface="Calibri (MS) Bold"/>
              </a:rPr>
              <a:t>Goal: </a:t>
            </a:r>
          </a:p>
          <a:p>
            <a:pPr algn="l">
              <a:lnSpc>
                <a:spcPts val="3360"/>
              </a:lnSpc>
            </a:pPr>
            <a:r>
              <a:rPr lang="en-US" sz="2800">
                <a:solidFill>
                  <a:srgbClr val="0D1B2A"/>
                </a:solidFill>
                <a:latin typeface="Calibri (MS)"/>
                <a:ea typeface="Calibri (MS)"/>
                <a:cs typeface="Calibri (MS)"/>
                <a:sym typeface="Calibri (MS)"/>
              </a:rPr>
              <a:t>Determine optimal suspension parameters for a 6×2 vehicle with Non-Reactive Suspension (NRS) to minimize cabin seat RMS acceleration.</a:t>
            </a:r>
          </a:p>
          <a:p>
            <a:pPr algn="l">
              <a:lnSpc>
                <a:spcPts val="3360"/>
              </a:lnSpc>
            </a:pPr>
          </a:p>
          <a:p>
            <a:pPr algn="l">
              <a:lnSpc>
                <a:spcPts val="3360"/>
              </a:lnSpc>
            </a:pPr>
            <a:r>
              <a:rPr lang="en-US" sz="2800">
                <a:solidFill>
                  <a:srgbClr val="000000"/>
                </a:solidFill>
                <a:latin typeface="Calibri (MS)"/>
                <a:ea typeface="Calibri (MS)"/>
                <a:cs typeface="Calibri (MS)"/>
                <a:sym typeface="Calibri (MS)"/>
              </a:rPr>
              <a:t>Develop a fast and accurate suspension dynamics model that captures full system behavior and supports efficient optimization to automatically identify the optimal stiffness and damping configuration for improved ride comfort.</a:t>
            </a:r>
          </a:p>
          <a:p>
            <a:pPr algn="l">
              <a:lnSpc>
                <a:spcPts val="3360"/>
              </a:lnSpc>
            </a:pPr>
          </a:p>
          <a:p>
            <a:pPr algn="l">
              <a:lnSpc>
                <a:spcPts val="3118"/>
              </a:lnSpc>
            </a:pPr>
          </a:p>
          <a:p>
            <a:pPr algn="l">
              <a:lnSpc>
                <a:spcPts val="3360"/>
              </a:lnSpc>
            </a:pPr>
          </a:p>
        </p:txBody>
      </p:sp>
      <p:sp>
        <p:nvSpPr>
          <p:cNvPr name="TextBox 7" id="7"/>
          <p:cNvSpPr txBox="true"/>
          <p:nvPr/>
        </p:nvSpPr>
        <p:spPr>
          <a:xfrm rot="0">
            <a:off x="62636" y="1851241"/>
            <a:ext cx="11168872" cy="4872619"/>
          </a:xfrm>
          <a:prstGeom prst="rect">
            <a:avLst/>
          </a:prstGeom>
        </p:spPr>
        <p:txBody>
          <a:bodyPr anchor="t" rtlCol="false" tIns="0" lIns="0" bIns="0" rIns="0">
            <a:spAutoFit/>
          </a:bodyPr>
          <a:lstStyle/>
          <a:p>
            <a:pPr algn="l">
              <a:lnSpc>
                <a:spcPts val="3360"/>
              </a:lnSpc>
            </a:pPr>
            <a:r>
              <a:rPr lang="en-US" sz="2800">
                <a:solidFill>
                  <a:srgbClr val="0D1B2A"/>
                </a:solidFill>
                <a:latin typeface="Calibri (MS)"/>
                <a:ea typeface="Calibri (MS)"/>
                <a:cs typeface="Calibri (MS)"/>
                <a:sym typeface="Calibri (MS)"/>
              </a:rPr>
              <a:t>The suspension system is a key component influencing ride comfort and driving performance.</a:t>
            </a:r>
          </a:p>
          <a:p>
            <a:pPr algn="l">
              <a:lnSpc>
                <a:spcPts val="3118"/>
              </a:lnSpc>
            </a:pPr>
          </a:p>
          <a:p>
            <a:pPr algn="l" marL="506820" indent="-253410" lvl="1">
              <a:lnSpc>
                <a:spcPts val="3360"/>
              </a:lnSpc>
              <a:buFont typeface="Arial"/>
              <a:buChar char="•"/>
            </a:pPr>
            <a:r>
              <a:rPr lang="en-US" sz="2800">
                <a:solidFill>
                  <a:srgbClr val="0D1B2A"/>
                </a:solidFill>
                <a:latin typeface="Calibri (MS)"/>
                <a:ea typeface="Calibri (MS)"/>
                <a:cs typeface="Calibri (MS)"/>
                <a:sym typeface="Calibri (MS)"/>
              </a:rPr>
              <a:t>Heavy commercial vehicles experience continuous road excitations, transmitting vibrations through the suspension to the cabin and ultimately the driver seat.</a:t>
            </a:r>
          </a:p>
          <a:p>
            <a:pPr algn="l" marL="506820" indent="-253410" lvl="1">
              <a:lnSpc>
                <a:spcPts val="3360"/>
              </a:lnSpc>
            </a:pPr>
          </a:p>
          <a:p>
            <a:pPr algn="l" marL="506820" indent="-253410" lvl="1">
              <a:lnSpc>
                <a:spcPts val="3360"/>
              </a:lnSpc>
              <a:buFont typeface="Arial"/>
              <a:buChar char="•"/>
            </a:pPr>
            <a:r>
              <a:rPr lang="en-US" sz="2800">
                <a:solidFill>
                  <a:srgbClr val="0D1B2A"/>
                </a:solidFill>
                <a:latin typeface="Calibri (MS)"/>
                <a:ea typeface="Calibri (MS)"/>
                <a:cs typeface="Calibri (MS)"/>
                <a:sym typeface="Calibri (MS)"/>
              </a:rPr>
              <a:t>Ride comfort is quantified using RMS acceleration at the cabin seat, a standard measure of whole-body vibration linked to: Driver fatigue, Discomfort, Long-term health impacts</a:t>
            </a:r>
          </a:p>
          <a:p>
            <a:pPr algn="just" marL="506820" indent="-253410" lvl="1">
              <a:lnSpc>
                <a:spcPts val="3118"/>
              </a:lnSpc>
            </a:pPr>
          </a:p>
          <a:p>
            <a:pPr algn="just" marL="506820" indent="-253410" lvl="1">
              <a:lnSpc>
                <a:spcPts val="3118"/>
              </a:lnSpc>
            </a:pPr>
          </a:p>
        </p:txBody>
      </p:sp>
      <p:grpSp>
        <p:nvGrpSpPr>
          <p:cNvPr name="Group 8" id="8"/>
          <p:cNvGrpSpPr/>
          <p:nvPr/>
        </p:nvGrpSpPr>
        <p:grpSpPr>
          <a:xfrm rot="-5400000">
            <a:off x="8349396" y="-8349396"/>
            <a:ext cx="1589218" cy="18288000"/>
            <a:chOff x="0" y="0"/>
            <a:chExt cx="2118957" cy="24384000"/>
          </a:xfrm>
        </p:grpSpPr>
        <p:sp>
          <p:nvSpPr>
            <p:cNvPr name="Freeform 9" id="9"/>
            <p:cNvSpPr/>
            <p:nvPr/>
          </p:nvSpPr>
          <p:spPr>
            <a:xfrm flipH="false" flipV="false" rot="0">
              <a:off x="0" y="0"/>
              <a:ext cx="2118995" cy="24384000"/>
            </a:xfrm>
            <a:custGeom>
              <a:avLst/>
              <a:gdLst/>
              <a:ahLst/>
              <a:cxnLst/>
              <a:rect r="r" b="b" t="t" l="l"/>
              <a:pathLst>
                <a:path h="24384000" w="2118995">
                  <a:moveTo>
                    <a:pt x="0" y="0"/>
                  </a:moveTo>
                  <a:lnTo>
                    <a:pt x="2118995" y="0"/>
                  </a:lnTo>
                  <a:lnTo>
                    <a:pt x="2118995" y="24384000"/>
                  </a:lnTo>
                  <a:lnTo>
                    <a:pt x="0" y="24384000"/>
                  </a:lnTo>
                  <a:close/>
                </a:path>
              </a:pathLst>
            </a:custGeom>
            <a:solidFill>
              <a:srgbClr val="17375E"/>
            </a:solidFill>
          </p:spPr>
        </p:sp>
        <p:sp>
          <p:nvSpPr>
            <p:cNvPr name="Freeform 10" id="10"/>
            <p:cNvSpPr/>
            <p:nvPr/>
          </p:nvSpPr>
          <p:spPr>
            <a:xfrm flipH="false" flipV="false" rot="0">
              <a:off x="-1524" y="-1524"/>
              <a:ext cx="2122043" cy="24387048"/>
            </a:xfrm>
            <a:custGeom>
              <a:avLst/>
              <a:gdLst/>
              <a:ahLst/>
              <a:cxnLst/>
              <a:rect r="r" b="b" t="t" l="l"/>
              <a:pathLst>
                <a:path h="24387048" w="2122043">
                  <a:moveTo>
                    <a:pt x="1524" y="0"/>
                  </a:moveTo>
                  <a:lnTo>
                    <a:pt x="2120519" y="0"/>
                  </a:lnTo>
                  <a:cubicBezTo>
                    <a:pt x="2121408" y="0"/>
                    <a:pt x="2122043" y="762"/>
                    <a:pt x="2122043" y="1524"/>
                  </a:cubicBezTo>
                  <a:lnTo>
                    <a:pt x="2122043" y="24385524"/>
                  </a:lnTo>
                  <a:cubicBezTo>
                    <a:pt x="2122043" y="24386414"/>
                    <a:pt x="2121281" y="24387048"/>
                    <a:pt x="2120519" y="24387048"/>
                  </a:cubicBezTo>
                  <a:lnTo>
                    <a:pt x="1524" y="24387048"/>
                  </a:lnTo>
                  <a:cubicBezTo>
                    <a:pt x="635" y="24387048"/>
                    <a:pt x="0" y="24386287"/>
                    <a:pt x="0" y="24385524"/>
                  </a:cubicBezTo>
                  <a:lnTo>
                    <a:pt x="0" y="1524"/>
                  </a:lnTo>
                  <a:cubicBezTo>
                    <a:pt x="0" y="635"/>
                    <a:pt x="762" y="0"/>
                    <a:pt x="1524" y="0"/>
                  </a:cubicBezTo>
                  <a:moveTo>
                    <a:pt x="1524" y="3048"/>
                  </a:moveTo>
                  <a:lnTo>
                    <a:pt x="1524" y="1524"/>
                  </a:lnTo>
                  <a:lnTo>
                    <a:pt x="3048" y="1524"/>
                  </a:lnTo>
                  <a:lnTo>
                    <a:pt x="3048" y="24385524"/>
                  </a:lnTo>
                  <a:lnTo>
                    <a:pt x="1524" y="24385524"/>
                  </a:lnTo>
                  <a:lnTo>
                    <a:pt x="1524" y="24384000"/>
                  </a:lnTo>
                  <a:lnTo>
                    <a:pt x="2120519" y="24384000"/>
                  </a:lnTo>
                  <a:lnTo>
                    <a:pt x="2120519" y="24385524"/>
                  </a:lnTo>
                  <a:lnTo>
                    <a:pt x="2118995" y="24385524"/>
                  </a:lnTo>
                  <a:lnTo>
                    <a:pt x="2118995" y="1524"/>
                  </a:lnTo>
                  <a:lnTo>
                    <a:pt x="2120519" y="1524"/>
                  </a:lnTo>
                  <a:lnTo>
                    <a:pt x="2120519" y="3048"/>
                  </a:lnTo>
                  <a:lnTo>
                    <a:pt x="1524" y="3048"/>
                  </a:lnTo>
                  <a:close/>
                </a:path>
              </a:pathLst>
            </a:custGeom>
            <a:solidFill>
              <a:srgbClr val="002060"/>
            </a:solidFill>
          </p:spPr>
        </p:sp>
      </p:grpSp>
      <p:grpSp>
        <p:nvGrpSpPr>
          <p:cNvPr name="Group 11" id="11"/>
          <p:cNvGrpSpPr/>
          <p:nvPr/>
        </p:nvGrpSpPr>
        <p:grpSpPr>
          <a:xfrm rot="0">
            <a:off x="287284" y="-66599"/>
            <a:ext cx="15235942" cy="1725511"/>
            <a:chOff x="0" y="0"/>
            <a:chExt cx="20314590" cy="2300681"/>
          </a:xfrm>
        </p:grpSpPr>
        <p:sp>
          <p:nvSpPr>
            <p:cNvPr name="Freeform 12" id="12"/>
            <p:cNvSpPr/>
            <p:nvPr/>
          </p:nvSpPr>
          <p:spPr>
            <a:xfrm flipH="false" flipV="false" rot="0">
              <a:off x="0" y="0"/>
              <a:ext cx="20314586" cy="2300686"/>
            </a:xfrm>
            <a:custGeom>
              <a:avLst/>
              <a:gdLst/>
              <a:ahLst/>
              <a:cxnLst/>
              <a:rect r="r" b="b" t="t" l="l"/>
              <a:pathLst>
                <a:path h="2300686" w="20314586">
                  <a:moveTo>
                    <a:pt x="0" y="0"/>
                  </a:moveTo>
                  <a:lnTo>
                    <a:pt x="20314586" y="0"/>
                  </a:lnTo>
                  <a:lnTo>
                    <a:pt x="20314586" y="2300686"/>
                  </a:lnTo>
                  <a:lnTo>
                    <a:pt x="0" y="2300686"/>
                  </a:lnTo>
                  <a:close/>
                </a:path>
              </a:pathLst>
            </a:custGeom>
            <a:blipFill>
              <a:blip r:embed="rId4">
                <a:alphaModFix amt="0"/>
              </a:blip>
              <a:stretch>
                <a:fillRect l="0" t="-122049" r="0" b="-122048"/>
              </a:stretch>
            </a:blipFill>
          </p:spPr>
        </p:sp>
        <p:sp>
          <p:nvSpPr>
            <p:cNvPr name="TextBox 13" id="13"/>
            <p:cNvSpPr txBox="true"/>
            <p:nvPr/>
          </p:nvSpPr>
          <p:spPr>
            <a:xfrm>
              <a:off x="0" y="-161925"/>
              <a:ext cx="20314590" cy="2462606"/>
            </a:xfrm>
            <a:prstGeom prst="rect">
              <a:avLst/>
            </a:prstGeom>
          </p:spPr>
          <p:txBody>
            <a:bodyPr anchor="ctr" rtlCol="false" tIns="0" lIns="0" bIns="0" rIns="0"/>
            <a:lstStyle/>
            <a:p>
              <a:pPr algn="l">
                <a:lnSpc>
                  <a:spcPts val="9600"/>
                </a:lnSpc>
              </a:pPr>
              <a:r>
                <a:rPr lang="en-US" sz="8001" b="true">
                  <a:solidFill>
                    <a:srgbClr val="FFFFFF"/>
                  </a:solidFill>
                  <a:latin typeface="Calibri (MS) Bold"/>
                  <a:ea typeface="Calibri (MS) Bold"/>
                  <a:cs typeface="Calibri (MS) Bold"/>
                  <a:sym typeface="Calibri (MS) Bold"/>
                </a:rPr>
                <a:t>Ride Optimisation</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8904122" y="903122"/>
            <a:ext cx="479755" cy="18288000"/>
            <a:chOff x="0" y="0"/>
            <a:chExt cx="639674" cy="24384000"/>
          </a:xfrm>
        </p:grpSpPr>
        <p:sp>
          <p:nvSpPr>
            <p:cNvPr name="Freeform 3" id="3"/>
            <p:cNvSpPr/>
            <p:nvPr/>
          </p:nvSpPr>
          <p:spPr>
            <a:xfrm flipH="false" flipV="false" rot="0">
              <a:off x="0" y="0"/>
              <a:ext cx="639699" cy="24384000"/>
            </a:xfrm>
            <a:custGeom>
              <a:avLst/>
              <a:gdLst/>
              <a:ahLst/>
              <a:cxnLst/>
              <a:rect r="r" b="b" t="t" l="l"/>
              <a:pathLst>
                <a:path h="24384000" w="639699">
                  <a:moveTo>
                    <a:pt x="0" y="0"/>
                  </a:moveTo>
                  <a:lnTo>
                    <a:pt x="639699" y="0"/>
                  </a:lnTo>
                  <a:lnTo>
                    <a:pt x="639699" y="24384000"/>
                  </a:lnTo>
                  <a:lnTo>
                    <a:pt x="0" y="24384000"/>
                  </a:lnTo>
                  <a:close/>
                </a:path>
              </a:pathLst>
            </a:custGeom>
            <a:solidFill>
              <a:srgbClr val="00ACC1"/>
            </a:solidFill>
          </p:spPr>
        </p:sp>
      </p:grpSp>
      <p:sp>
        <p:nvSpPr>
          <p:cNvPr name="TextBox 4" id="4"/>
          <p:cNvSpPr txBox="true"/>
          <p:nvPr/>
        </p:nvSpPr>
        <p:spPr>
          <a:xfrm rot="0">
            <a:off x="58398" y="8452418"/>
            <a:ext cx="17861280" cy="1641148"/>
          </a:xfrm>
          <a:prstGeom prst="rect">
            <a:avLst/>
          </a:prstGeom>
        </p:spPr>
        <p:txBody>
          <a:bodyPr anchor="t" rtlCol="false" tIns="0" lIns="0" bIns="0" rIns="0">
            <a:spAutoFit/>
          </a:bodyPr>
          <a:lstStyle/>
          <a:p>
            <a:pPr algn="l">
              <a:lnSpc>
                <a:spcPts val="3118"/>
              </a:lnSpc>
            </a:pPr>
            <a:r>
              <a:rPr lang="en-US" sz="2800">
                <a:solidFill>
                  <a:srgbClr val="0D1B2A"/>
                </a:solidFill>
                <a:latin typeface="Calibri (MS)"/>
                <a:ea typeface="Calibri (MS)"/>
                <a:cs typeface="Calibri (MS)"/>
                <a:sym typeface="Calibri (MS)"/>
              </a:rPr>
              <a:t>The rear tandem axles are mechanically coupled, which is a defining feature of the NRS setup. This arrangement allows load sharing without inducing additional pitch or roll moments, helping maintain vehicle attitude stability</a:t>
            </a:r>
          </a:p>
          <a:p>
            <a:pPr algn="l">
              <a:lnSpc>
                <a:spcPts val="3360"/>
              </a:lnSpc>
            </a:pPr>
          </a:p>
          <a:p>
            <a:pPr algn="l">
              <a:lnSpc>
                <a:spcPts val="3118"/>
              </a:lnSpc>
            </a:pPr>
          </a:p>
          <a:p>
            <a:pPr algn="l">
              <a:lnSpc>
                <a:spcPts val="3360"/>
              </a:lnSpc>
            </a:pPr>
          </a:p>
        </p:txBody>
      </p:sp>
      <p:grpSp>
        <p:nvGrpSpPr>
          <p:cNvPr name="Group 5" id="5"/>
          <p:cNvGrpSpPr/>
          <p:nvPr/>
        </p:nvGrpSpPr>
        <p:grpSpPr>
          <a:xfrm rot="-5400000">
            <a:off x="8349396" y="-8349396"/>
            <a:ext cx="1589218" cy="18288000"/>
            <a:chOff x="0" y="0"/>
            <a:chExt cx="2118957" cy="24384000"/>
          </a:xfrm>
        </p:grpSpPr>
        <p:sp>
          <p:nvSpPr>
            <p:cNvPr name="Freeform 6" id="6"/>
            <p:cNvSpPr/>
            <p:nvPr/>
          </p:nvSpPr>
          <p:spPr>
            <a:xfrm flipH="false" flipV="false" rot="0">
              <a:off x="0" y="0"/>
              <a:ext cx="2118995" cy="24384000"/>
            </a:xfrm>
            <a:custGeom>
              <a:avLst/>
              <a:gdLst/>
              <a:ahLst/>
              <a:cxnLst/>
              <a:rect r="r" b="b" t="t" l="l"/>
              <a:pathLst>
                <a:path h="24384000" w="2118995">
                  <a:moveTo>
                    <a:pt x="0" y="0"/>
                  </a:moveTo>
                  <a:lnTo>
                    <a:pt x="2118995" y="0"/>
                  </a:lnTo>
                  <a:lnTo>
                    <a:pt x="2118995" y="24384000"/>
                  </a:lnTo>
                  <a:lnTo>
                    <a:pt x="0" y="24384000"/>
                  </a:lnTo>
                  <a:close/>
                </a:path>
              </a:pathLst>
            </a:custGeom>
            <a:solidFill>
              <a:srgbClr val="17375E"/>
            </a:solidFill>
          </p:spPr>
        </p:sp>
        <p:sp>
          <p:nvSpPr>
            <p:cNvPr name="Freeform 7" id="7"/>
            <p:cNvSpPr/>
            <p:nvPr/>
          </p:nvSpPr>
          <p:spPr>
            <a:xfrm flipH="false" flipV="false" rot="0">
              <a:off x="-1524" y="-1524"/>
              <a:ext cx="2122043" cy="24387048"/>
            </a:xfrm>
            <a:custGeom>
              <a:avLst/>
              <a:gdLst/>
              <a:ahLst/>
              <a:cxnLst/>
              <a:rect r="r" b="b" t="t" l="l"/>
              <a:pathLst>
                <a:path h="24387048" w="2122043">
                  <a:moveTo>
                    <a:pt x="1524" y="0"/>
                  </a:moveTo>
                  <a:lnTo>
                    <a:pt x="2120519" y="0"/>
                  </a:lnTo>
                  <a:cubicBezTo>
                    <a:pt x="2121408" y="0"/>
                    <a:pt x="2122043" y="762"/>
                    <a:pt x="2122043" y="1524"/>
                  </a:cubicBezTo>
                  <a:lnTo>
                    <a:pt x="2122043" y="24385524"/>
                  </a:lnTo>
                  <a:cubicBezTo>
                    <a:pt x="2122043" y="24386414"/>
                    <a:pt x="2121281" y="24387048"/>
                    <a:pt x="2120519" y="24387048"/>
                  </a:cubicBezTo>
                  <a:lnTo>
                    <a:pt x="1524" y="24387048"/>
                  </a:lnTo>
                  <a:cubicBezTo>
                    <a:pt x="635" y="24387048"/>
                    <a:pt x="0" y="24386287"/>
                    <a:pt x="0" y="24385524"/>
                  </a:cubicBezTo>
                  <a:lnTo>
                    <a:pt x="0" y="1524"/>
                  </a:lnTo>
                  <a:cubicBezTo>
                    <a:pt x="0" y="635"/>
                    <a:pt x="762" y="0"/>
                    <a:pt x="1524" y="0"/>
                  </a:cubicBezTo>
                  <a:moveTo>
                    <a:pt x="1524" y="3048"/>
                  </a:moveTo>
                  <a:lnTo>
                    <a:pt x="1524" y="1524"/>
                  </a:lnTo>
                  <a:lnTo>
                    <a:pt x="3048" y="1524"/>
                  </a:lnTo>
                  <a:lnTo>
                    <a:pt x="3048" y="24385524"/>
                  </a:lnTo>
                  <a:lnTo>
                    <a:pt x="1524" y="24385524"/>
                  </a:lnTo>
                  <a:lnTo>
                    <a:pt x="1524" y="24384000"/>
                  </a:lnTo>
                  <a:lnTo>
                    <a:pt x="2120519" y="24384000"/>
                  </a:lnTo>
                  <a:lnTo>
                    <a:pt x="2120519" y="24385524"/>
                  </a:lnTo>
                  <a:lnTo>
                    <a:pt x="2118995" y="24385524"/>
                  </a:lnTo>
                  <a:lnTo>
                    <a:pt x="2118995" y="1524"/>
                  </a:lnTo>
                  <a:lnTo>
                    <a:pt x="2120519" y="1524"/>
                  </a:lnTo>
                  <a:lnTo>
                    <a:pt x="2120519" y="3048"/>
                  </a:lnTo>
                  <a:lnTo>
                    <a:pt x="1524" y="3048"/>
                  </a:lnTo>
                  <a:close/>
                </a:path>
              </a:pathLst>
            </a:custGeom>
            <a:solidFill>
              <a:srgbClr val="002060"/>
            </a:solidFill>
          </p:spPr>
        </p:sp>
      </p:grpSp>
      <p:grpSp>
        <p:nvGrpSpPr>
          <p:cNvPr name="Group 8" id="8"/>
          <p:cNvGrpSpPr/>
          <p:nvPr/>
        </p:nvGrpSpPr>
        <p:grpSpPr>
          <a:xfrm rot="0">
            <a:off x="259404" y="-66599"/>
            <a:ext cx="15235942" cy="1725511"/>
            <a:chOff x="0" y="0"/>
            <a:chExt cx="20314590" cy="2300681"/>
          </a:xfrm>
        </p:grpSpPr>
        <p:sp>
          <p:nvSpPr>
            <p:cNvPr name="Freeform 9" id="9"/>
            <p:cNvSpPr/>
            <p:nvPr/>
          </p:nvSpPr>
          <p:spPr>
            <a:xfrm flipH="false" flipV="false" rot="0">
              <a:off x="0" y="0"/>
              <a:ext cx="20314586" cy="2300686"/>
            </a:xfrm>
            <a:custGeom>
              <a:avLst/>
              <a:gdLst/>
              <a:ahLst/>
              <a:cxnLst/>
              <a:rect r="r" b="b" t="t" l="l"/>
              <a:pathLst>
                <a:path h="2300686" w="20314586">
                  <a:moveTo>
                    <a:pt x="0" y="0"/>
                  </a:moveTo>
                  <a:lnTo>
                    <a:pt x="20314586" y="0"/>
                  </a:lnTo>
                  <a:lnTo>
                    <a:pt x="20314586" y="2300686"/>
                  </a:lnTo>
                  <a:lnTo>
                    <a:pt x="0" y="2300686"/>
                  </a:lnTo>
                  <a:close/>
                </a:path>
              </a:pathLst>
            </a:custGeom>
            <a:blipFill>
              <a:blip r:embed="rId3">
                <a:alphaModFix amt="0"/>
              </a:blip>
              <a:stretch>
                <a:fillRect l="0" t="-122049" r="0" b="-122048"/>
              </a:stretch>
            </a:blipFill>
          </p:spPr>
        </p:sp>
        <p:sp>
          <p:nvSpPr>
            <p:cNvPr name="TextBox 10" id="10"/>
            <p:cNvSpPr txBox="true"/>
            <p:nvPr/>
          </p:nvSpPr>
          <p:spPr>
            <a:xfrm>
              <a:off x="0" y="-161925"/>
              <a:ext cx="20314590" cy="2462606"/>
            </a:xfrm>
            <a:prstGeom prst="rect">
              <a:avLst/>
            </a:prstGeom>
          </p:spPr>
          <p:txBody>
            <a:bodyPr anchor="ctr" rtlCol="false" tIns="0" lIns="0" bIns="0" rIns="0"/>
            <a:lstStyle/>
            <a:p>
              <a:pPr algn="l">
                <a:lnSpc>
                  <a:spcPts val="9601"/>
                </a:lnSpc>
              </a:pPr>
              <a:r>
                <a:rPr lang="en-US" sz="8001">
                  <a:solidFill>
                    <a:srgbClr val="FFFFFF"/>
                  </a:solidFill>
                  <a:latin typeface="Calibri (MS)"/>
                  <a:ea typeface="Calibri (MS)"/>
                  <a:cs typeface="Calibri (MS)"/>
                  <a:sym typeface="Calibri (MS)"/>
                </a:rPr>
                <a:t>System Definition</a:t>
              </a:r>
            </a:p>
          </p:txBody>
        </p:sp>
      </p:grpSp>
      <p:grpSp>
        <p:nvGrpSpPr>
          <p:cNvPr name="Group 11" id="11"/>
          <p:cNvGrpSpPr/>
          <p:nvPr/>
        </p:nvGrpSpPr>
        <p:grpSpPr>
          <a:xfrm rot="0">
            <a:off x="6740614" y="1598124"/>
            <a:ext cx="11541814" cy="6512128"/>
            <a:chOff x="0" y="0"/>
            <a:chExt cx="15389085" cy="8682838"/>
          </a:xfrm>
        </p:grpSpPr>
        <p:sp>
          <p:nvSpPr>
            <p:cNvPr name="Freeform 12" id="12" descr="A diagram of a cabin  AI-generated content may be incorrect."/>
            <p:cNvSpPr/>
            <p:nvPr/>
          </p:nvSpPr>
          <p:spPr>
            <a:xfrm flipH="false" flipV="false" rot="0">
              <a:off x="0" y="0"/>
              <a:ext cx="15389098" cy="8682863"/>
            </a:xfrm>
            <a:custGeom>
              <a:avLst/>
              <a:gdLst/>
              <a:ahLst/>
              <a:cxnLst/>
              <a:rect r="r" b="b" t="t" l="l"/>
              <a:pathLst>
                <a:path h="8682863" w="15389098">
                  <a:moveTo>
                    <a:pt x="0" y="0"/>
                  </a:moveTo>
                  <a:lnTo>
                    <a:pt x="15389098" y="0"/>
                  </a:lnTo>
                  <a:lnTo>
                    <a:pt x="15389098" y="8682863"/>
                  </a:lnTo>
                  <a:lnTo>
                    <a:pt x="0" y="8682863"/>
                  </a:lnTo>
                  <a:lnTo>
                    <a:pt x="0" y="0"/>
                  </a:lnTo>
                  <a:close/>
                </a:path>
              </a:pathLst>
            </a:custGeom>
            <a:blipFill>
              <a:blip r:embed="rId4"/>
              <a:stretch>
                <a:fillRect l="0" t="0" r="-305" b="0"/>
              </a:stretch>
            </a:blipFill>
          </p:spPr>
        </p:sp>
      </p:grpSp>
      <p:sp>
        <p:nvSpPr>
          <p:cNvPr name="TextBox 13" id="13"/>
          <p:cNvSpPr txBox="true"/>
          <p:nvPr/>
        </p:nvSpPr>
        <p:spPr>
          <a:xfrm rot="0">
            <a:off x="61017" y="2354666"/>
            <a:ext cx="6959289" cy="4749508"/>
          </a:xfrm>
          <a:prstGeom prst="rect">
            <a:avLst/>
          </a:prstGeom>
        </p:spPr>
        <p:txBody>
          <a:bodyPr anchor="t" rtlCol="false" tIns="0" lIns="0" bIns="0" rIns="0">
            <a:spAutoFit/>
          </a:bodyPr>
          <a:lstStyle/>
          <a:p>
            <a:pPr algn="l">
              <a:lnSpc>
                <a:spcPts val="3360"/>
              </a:lnSpc>
            </a:pPr>
            <a:r>
              <a:rPr lang="en-US" sz="2800">
                <a:solidFill>
                  <a:srgbClr val="0D1B2A"/>
                </a:solidFill>
                <a:latin typeface="Calibri (MS)"/>
                <a:ea typeface="Calibri (MS)"/>
                <a:cs typeface="Calibri (MS)"/>
                <a:sym typeface="Calibri (MS)"/>
              </a:rPr>
              <a:t>The system under consideration is a 6×2 heavy commercial vehicle equipped with a Non-Reactive Suspension (NRS) configuration, designed to improve ride comfort and stability.</a:t>
            </a:r>
          </a:p>
          <a:p>
            <a:pPr algn="l">
              <a:lnSpc>
                <a:spcPts val="3118"/>
              </a:lnSpc>
            </a:pPr>
          </a:p>
          <a:p>
            <a:pPr algn="l" marL="470445" indent="-235222" lvl="1">
              <a:lnSpc>
                <a:spcPts val="3119"/>
              </a:lnSpc>
              <a:buFont typeface="Arial"/>
              <a:buChar char="•"/>
            </a:pPr>
            <a:r>
              <a:rPr lang="en-US" sz="2599">
                <a:solidFill>
                  <a:srgbClr val="0D1B2A"/>
                </a:solidFill>
                <a:latin typeface="Calibri (MS)"/>
                <a:ea typeface="Calibri (MS)"/>
                <a:cs typeface="Calibri (MS)"/>
                <a:sym typeface="Calibri (MS)"/>
              </a:rPr>
              <a:t>Consists of the cabin and chassis (sprung mass) with bounce (z), pitch (θ), and roll (ϕ) motions.</a:t>
            </a:r>
          </a:p>
          <a:p>
            <a:pPr algn="l" marL="506820" indent="-253410" lvl="1">
              <a:lnSpc>
                <a:spcPts val="3360"/>
              </a:lnSpc>
            </a:pPr>
          </a:p>
          <a:p>
            <a:pPr algn="l" marL="470445" indent="-235222" lvl="1">
              <a:lnSpc>
                <a:spcPts val="3119"/>
              </a:lnSpc>
              <a:buFont typeface="Arial"/>
              <a:buChar char="•"/>
            </a:pPr>
            <a:r>
              <a:rPr lang="en-US" sz="2599">
                <a:solidFill>
                  <a:srgbClr val="0D1B2A"/>
                </a:solidFill>
                <a:latin typeface="Calibri (MS)"/>
                <a:ea typeface="Calibri (MS)"/>
                <a:cs typeface="Calibri (MS)"/>
                <a:sym typeface="Calibri (MS)"/>
              </a:rPr>
              <a:t>Each of the three axles exhibits bounce (z) and roll (ϕ) dynamics.</a:t>
            </a:r>
          </a:p>
          <a:p>
            <a:pPr algn="l" marL="506820" indent="-253410" lvl="1">
              <a:lnSpc>
                <a:spcPts val="3118"/>
              </a:lnSpc>
            </a:pPr>
          </a:p>
          <a:p>
            <a:pPr algn="just" marL="506820" indent="-253410" lvl="1">
              <a:lnSpc>
                <a:spcPts val="3118"/>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8904122" y="903122"/>
            <a:ext cx="479755" cy="18288000"/>
            <a:chOff x="0" y="0"/>
            <a:chExt cx="639674" cy="24384000"/>
          </a:xfrm>
        </p:grpSpPr>
        <p:sp>
          <p:nvSpPr>
            <p:cNvPr name="Freeform 3" id="3"/>
            <p:cNvSpPr/>
            <p:nvPr/>
          </p:nvSpPr>
          <p:spPr>
            <a:xfrm flipH="false" flipV="false" rot="0">
              <a:off x="0" y="0"/>
              <a:ext cx="639699" cy="24384000"/>
            </a:xfrm>
            <a:custGeom>
              <a:avLst/>
              <a:gdLst/>
              <a:ahLst/>
              <a:cxnLst/>
              <a:rect r="r" b="b" t="t" l="l"/>
              <a:pathLst>
                <a:path h="24384000" w="639699">
                  <a:moveTo>
                    <a:pt x="0" y="0"/>
                  </a:moveTo>
                  <a:lnTo>
                    <a:pt x="639699" y="0"/>
                  </a:lnTo>
                  <a:lnTo>
                    <a:pt x="639699" y="24384000"/>
                  </a:lnTo>
                  <a:lnTo>
                    <a:pt x="0" y="24384000"/>
                  </a:lnTo>
                  <a:close/>
                </a:path>
              </a:pathLst>
            </a:custGeom>
            <a:solidFill>
              <a:srgbClr val="00ACC1"/>
            </a:solidFill>
          </p:spPr>
        </p:sp>
      </p:grpSp>
      <p:grpSp>
        <p:nvGrpSpPr>
          <p:cNvPr name="Group 4" id="4"/>
          <p:cNvGrpSpPr/>
          <p:nvPr/>
        </p:nvGrpSpPr>
        <p:grpSpPr>
          <a:xfrm rot="-5400000">
            <a:off x="8196548" y="-8249707"/>
            <a:ext cx="1841735" cy="18341159"/>
            <a:chOff x="0" y="0"/>
            <a:chExt cx="2455647" cy="24454879"/>
          </a:xfrm>
        </p:grpSpPr>
        <p:sp>
          <p:nvSpPr>
            <p:cNvPr name="Freeform 5" id="5"/>
            <p:cNvSpPr/>
            <p:nvPr/>
          </p:nvSpPr>
          <p:spPr>
            <a:xfrm flipH="false" flipV="false" rot="0">
              <a:off x="0" y="0"/>
              <a:ext cx="2455672" cy="24454865"/>
            </a:xfrm>
            <a:custGeom>
              <a:avLst/>
              <a:gdLst/>
              <a:ahLst/>
              <a:cxnLst/>
              <a:rect r="r" b="b" t="t" l="l"/>
              <a:pathLst>
                <a:path h="24454865" w="2455672">
                  <a:moveTo>
                    <a:pt x="0" y="0"/>
                  </a:moveTo>
                  <a:lnTo>
                    <a:pt x="2455672" y="0"/>
                  </a:lnTo>
                  <a:lnTo>
                    <a:pt x="2455672" y="24454865"/>
                  </a:lnTo>
                  <a:lnTo>
                    <a:pt x="0" y="24454865"/>
                  </a:lnTo>
                  <a:close/>
                </a:path>
              </a:pathLst>
            </a:custGeom>
            <a:solidFill>
              <a:srgbClr val="17375E"/>
            </a:solidFill>
          </p:spPr>
        </p:sp>
        <p:sp>
          <p:nvSpPr>
            <p:cNvPr name="Freeform 6" id="6"/>
            <p:cNvSpPr/>
            <p:nvPr/>
          </p:nvSpPr>
          <p:spPr>
            <a:xfrm flipH="false" flipV="false" rot="0">
              <a:off x="-1524" y="-1524"/>
              <a:ext cx="2458720" cy="24457913"/>
            </a:xfrm>
            <a:custGeom>
              <a:avLst/>
              <a:gdLst/>
              <a:ahLst/>
              <a:cxnLst/>
              <a:rect r="r" b="b" t="t" l="l"/>
              <a:pathLst>
                <a:path h="24457913" w="2458720">
                  <a:moveTo>
                    <a:pt x="1524" y="0"/>
                  </a:moveTo>
                  <a:lnTo>
                    <a:pt x="2457196" y="0"/>
                  </a:lnTo>
                  <a:cubicBezTo>
                    <a:pt x="2458085" y="0"/>
                    <a:pt x="2458720" y="762"/>
                    <a:pt x="2458720" y="1524"/>
                  </a:cubicBezTo>
                  <a:lnTo>
                    <a:pt x="2458720" y="24456389"/>
                  </a:lnTo>
                  <a:cubicBezTo>
                    <a:pt x="2458720" y="24457278"/>
                    <a:pt x="2457958" y="24457913"/>
                    <a:pt x="2457196" y="24457913"/>
                  </a:cubicBezTo>
                  <a:lnTo>
                    <a:pt x="1524" y="24457913"/>
                  </a:lnTo>
                  <a:cubicBezTo>
                    <a:pt x="635" y="24457913"/>
                    <a:pt x="0" y="24457152"/>
                    <a:pt x="0" y="24456389"/>
                  </a:cubicBezTo>
                  <a:lnTo>
                    <a:pt x="0" y="1524"/>
                  </a:lnTo>
                  <a:cubicBezTo>
                    <a:pt x="0" y="635"/>
                    <a:pt x="762" y="0"/>
                    <a:pt x="1524" y="0"/>
                  </a:cubicBezTo>
                  <a:moveTo>
                    <a:pt x="1524" y="3048"/>
                  </a:moveTo>
                  <a:lnTo>
                    <a:pt x="1524" y="1524"/>
                  </a:lnTo>
                  <a:lnTo>
                    <a:pt x="3048" y="1524"/>
                  </a:lnTo>
                  <a:lnTo>
                    <a:pt x="3048" y="24456389"/>
                  </a:lnTo>
                  <a:lnTo>
                    <a:pt x="1524" y="24456389"/>
                  </a:lnTo>
                  <a:lnTo>
                    <a:pt x="1524" y="24454866"/>
                  </a:lnTo>
                  <a:lnTo>
                    <a:pt x="2457196" y="24454866"/>
                  </a:lnTo>
                  <a:lnTo>
                    <a:pt x="2457196" y="24456389"/>
                  </a:lnTo>
                  <a:lnTo>
                    <a:pt x="2455672" y="24456389"/>
                  </a:lnTo>
                  <a:lnTo>
                    <a:pt x="2455672" y="1524"/>
                  </a:lnTo>
                  <a:lnTo>
                    <a:pt x="2457196" y="1524"/>
                  </a:lnTo>
                  <a:lnTo>
                    <a:pt x="2457196" y="3048"/>
                  </a:lnTo>
                  <a:lnTo>
                    <a:pt x="1524" y="3048"/>
                  </a:lnTo>
                  <a:close/>
                </a:path>
              </a:pathLst>
            </a:custGeom>
            <a:solidFill>
              <a:srgbClr val="002060"/>
            </a:solidFill>
          </p:spPr>
        </p:sp>
      </p:grpSp>
      <p:grpSp>
        <p:nvGrpSpPr>
          <p:cNvPr name="Group 7" id="7"/>
          <p:cNvGrpSpPr/>
          <p:nvPr/>
        </p:nvGrpSpPr>
        <p:grpSpPr>
          <a:xfrm rot="0">
            <a:off x="153076" y="66304"/>
            <a:ext cx="15235942" cy="1725511"/>
            <a:chOff x="0" y="0"/>
            <a:chExt cx="20314590" cy="2300681"/>
          </a:xfrm>
        </p:grpSpPr>
        <p:sp>
          <p:nvSpPr>
            <p:cNvPr name="Freeform 8" id="8"/>
            <p:cNvSpPr/>
            <p:nvPr/>
          </p:nvSpPr>
          <p:spPr>
            <a:xfrm flipH="false" flipV="false" rot="0">
              <a:off x="0" y="0"/>
              <a:ext cx="20314586" cy="2300686"/>
            </a:xfrm>
            <a:custGeom>
              <a:avLst/>
              <a:gdLst/>
              <a:ahLst/>
              <a:cxnLst/>
              <a:rect r="r" b="b" t="t" l="l"/>
              <a:pathLst>
                <a:path h="2300686" w="20314586">
                  <a:moveTo>
                    <a:pt x="0" y="0"/>
                  </a:moveTo>
                  <a:lnTo>
                    <a:pt x="20314586" y="0"/>
                  </a:lnTo>
                  <a:lnTo>
                    <a:pt x="20314586" y="2300686"/>
                  </a:lnTo>
                  <a:lnTo>
                    <a:pt x="0" y="2300686"/>
                  </a:lnTo>
                  <a:close/>
                </a:path>
              </a:pathLst>
            </a:custGeom>
            <a:blipFill>
              <a:blip r:embed="rId3">
                <a:alphaModFix amt="0"/>
              </a:blip>
              <a:stretch>
                <a:fillRect l="0" t="-122049" r="0" b="-122048"/>
              </a:stretch>
            </a:blipFill>
          </p:spPr>
        </p:sp>
        <p:sp>
          <p:nvSpPr>
            <p:cNvPr name="TextBox 9" id="9"/>
            <p:cNvSpPr txBox="true"/>
            <p:nvPr/>
          </p:nvSpPr>
          <p:spPr>
            <a:xfrm>
              <a:off x="0" y="-161925"/>
              <a:ext cx="20314590" cy="2462606"/>
            </a:xfrm>
            <a:prstGeom prst="rect">
              <a:avLst/>
            </a:prstGeom>
          </p:spPr>
          <p:txBody>
            <a:bodyPr anchor="ctr" rtlCol="false" tIns="0" lIns="0" bIns="0" rIns="0"/>
            <a:lstStyle/>
            <a:p>
              <a:pPr algn="l">
                <a:lnSpc>
                  <a:spcPts val="9601"/>
                </a:lnSpc>
              </a:pPr>
              <a:r>
                <a:rPr lang="en-US" sz="8001">
                  <a:solidFill>
                    <a:srgbClr val="FFFFFF"/>
                  </a:solidFill>
                  <a:latin typeface="Calibri (MS)"/>
                  <a:ea typeface="Calibri (MS)"/>
                  <a:cs typeface="Calibri (MS)"/>
                  <a:sym typeface="Calibri (MS)"/>
                </a:rPr>
                <a:t>System Definition</a:t>
              </a:r>
            </a:p>
          </p:txBody>
        </p:sp>
      </p:grpSp>
      <p:sp>
        <p:nvSpPr>
          <p:cNvPr name="Freeform 10" id="10"/>
          <p:cNvSpPr/>
          <p:nvPr/>
        </p:nvSpPr>
        <p:spPr>
          <a:xfrm flipH="false" flipV="false" rot="0">
            <a:off x="-53164" y="2321169"/>
            <a:ext cx="10547704" cy="6262205"/>
          </a:xfrm>
          <a:custGeom>
            <a:avLst/>
            <a:gdLst/>
            <a:ahLst/>
            <a:cxnLst/>
            <a:rect r="r" b="b" t="t" l="l"/>
            <a:pathLst>
              <a:path h="6262205" w="10547704">
                <a:moveTo>
                  <a:pt x="0" y="0"/>
                </a:moveTo>
                <a:lnTo>
                  <a:pt x="10547704" y="0"/>
                </a:lnTo>
                <a:lnTo>
                  <a:pt x="10547704" y="6262205"/>
                </a:lnTo>
                <a:lnTo>
                  <a:pt x="0" y="6262205"/>
                </a:lnTo>
                <a:lnTo>
                  <a:pt x="0" y="0"/>
                </a:lnTo>
                <a:close/>
              </a:path>
            </a:pathLst>
          </a:custGeom>
          <a:blipFill>
            <a:blip r:embed="rId4"/>
            <a:stretch>
              <a:fillRect l="0" t="0" r="0" b="0"/>
            </a:stretch>
          </a:blipFill>
        </p:spPr>
      </p:sp>
      <p:sp>
        <p:nvSpPr>
          <p:cNvPr name="TextBox 11" id="11"/>
          <p:cNvSpPr txBox="true"/>
          <p:nvPr/>
        </p:nvSpPr>
        <p:spPr>
          <a:xfrm rot="0">
            <a:off x="10670765" y="2803636"/>
            <a:ext cx="7472439" cy="5249647"/>
          </a:xfrm>
          <a:prstGeom prst="rect">
            <a:avLst/>
          </a:prstGeom>
        </p:spPr>
        <p:txBody>
          <a:bodyPr anchor="t" rtlCol="false" tIns="0" lIns="0" bIns="0" rIns="0">
            <a:spAutoFit/>
          </a:bodyPr>
          <a:lstStyle/>
          <a:p>
            <a:pPr algn="l">
              <a:lnSpc>
                <a:spcPts val="3360"/>
              </a:lnSpc>
            </a:pPr>
            <a:r>
              <a:rPr lang="en-US" sz="2800">
                <a:solidFill>
                  <a:srgbClr val="0D1B2A"/>
                </a:solidFill>
                <a:latin typeface="Calibri (MS)"/>
                <a:ea typeface="Calibri (MS)"/>
                <a:cs typeface="Calibri (MS)"/>
                <a:sym typeface="Calibri (MS)"/>
              </a:rPr>
              <a:t>The system is formulated using axle displacements, with primary focus on cabin seat-level RMS acceleration.</a:t>
            </a:r>
          </a:p>
          <a:p>
            <a:pPr algn="l">
              <a:lnSpc>
                <a:spcPts val="3360"/>
              </a:lnSpc>
            </a:pPr>
          </a:p>
          <a:p>
            <a:pPr algn="l">
              <a:lnSpc>
                <a:spcPts val="3360"/>
              </a:lnSpc>
            </a:pPr>
            <a:r>
              <a:rPr lang="en-US" sz="2800">
                <a:solidFill>
                  <a:srgbClr val="0D1B2A"/>
                </a:solidFill>
                <a:latin typeface="Calibri (MS)"/>
                <a:ea typeface="Calibri (MS)"/>
                <a:cs typeface="Calibri (MS)"/>
                <a:sym typeface="Calibri (MS)"/>
              </a:rPr>
              <a:t>Minimize cabin seat-level RMS acceleration through parameter optimization.</a:t>
            </a:r>
          </a:p>
          <a:p>
            <a:pPr algn="l">
              <a:lnSpc>
                <a:spcPts val="3360"/>
              </a:lnSpc>
            </a:pPr>
          </a:p>
          <a:p>
            <a:pPr algn="l">
              <a:lnSpc>
                <a:spcPts val="3360"/>
              </a:lnSpc>
            </a:pPr>
            <a:r>
              <a:rPr lang="en-US" sz="2800">
                <a:solidFill>
                  <a:srgbClr val="0D1B2A"/>
                </a:solidFill>
                <a:latin typeface="Calibri (MS)"/>
                <a:ea typeface="Calibri (MS)"/>
                <a:cs typeface="Calibri (MS)"/>
                <a:sym typeface="Calibri (MS)"/>
              </a:rPr>
              <a:t>Tunable Parameters</a:t>
            </a:r>
          </a:p>
          <a:p>
            <a:pPr algn="l" marL="506820" indent="-253410" lvl="1">
              <a:lnSpc>
                <a:spcPts val="3360"/>
              </a:lnSpc>
              <a:buFont typeface="Arial"/>
              <a:buChar char="•"/>
            </a:pPr>
            <a:r>
              <a:rPr lang="en-US" sz="2800">
                <a:solidFill>
                  <a:srgbClr val="0D1B2A"/>
                </a:solidFill>
                <a:latin typeface="Calibri (MS)"/>
                <a:ea typeface="Calibri (MS)"/>
                <a:cs typeface="Calibri (MS)"/>
                <a:sym typeface="Calibri (MS)"/>
              </a:rPr>
              <a:t>KF – Front axle spring stiffness</a:t>
            </a:r>
          </a:p>
          <a:p>
            <a:pPr algn="l" marL="506820" indent="-253410" lvl="1">
              <a:lnSpc>
                <a:spcPts val="3360"/>
              </a:lnSpc>
              <a:buFont typeface="Arial"/>
              <a:buChar char="•"/>
            </a:pPr>
            <a:r>
              <a:rPr lang="en-US" sz="2800">
                <a:solidFill>
                  <a:srgbClr val="0D1B2A"/>
                </a:solidFill>
                <a:latin typeface="Calibri (MS)"/>
                <a:ea typeface="Calibri (MS)"/>
                <a:cs typeface="Calibri (MS)"/>
                <a:sym typeface="Calibri (MS)"/>
              </a:rPr>
              <a:t>CF – Front axle damping</a:t>
            </a:r>
          </a:p>
          <a:p>
            <a:pPr algn="l" marL="506820" indent="-253410" lvl="1">
              <a:lnSpc>
                <a:spcPts val="3360"/>
              </a:lnSpc>
              <a:buFont typeface="Arial"/>
              <a:buChar char="•"/>
            </a:pPr>
            <a:r>
              <a:rPr lang="en-US" sz="2800">
                <a:solidFill>
                  <a:srgbClr val="0D1B2A"/>
                </a:solidFill>
                <a:latin typeface="Calibri (MS)"/>
                <a:ea typeface="Calibri (MS)"/>
                <a:cs typeface="Calibri (MS)"/>
                <a:sym typeface="Calibri (MS)"/>
              </a:rPr>
              <a:t>K2 – Rear axle 1 spring stiffness</a:t>
            </a:r>
          </a:p>
          <a:p>
            <a:pPr algn="l" marL="506820" indent="-253410" lvl="1">
              <a:lnSpc>
                <a:spcPts val="3360"/>
              </a:lnSpc>
              <a:buFont typeface="Arial"/>
              <a:buChar char="•"/>
            </a:pPr>
            <a:r>
              <a:rPr lang="en-US" sz="2800">
                <a:solidFill>
                  <a:srgbClr val="0D1B2A"/>
                </a:solidFill>
                <a:latin typeface="Calibri (MS)"/>
                <a:ea typeface="Calibri (MS)"/>
                <a:cs typeface="Calibri (MS)"/>
                <a:sym typeface="Calibri (MS)"/>
              </a:rPr>
              <a:t>K3 – Rear axle 2 spring stiffness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8904122" y="903122"/>
            <a:ext cx="479755" cy="18288000"/>
            <a:chOff x="0" y="0"/>
            <a:chExt cx="639674" cy="24384000"/>
          </a:xfrm>
        </p:grpSpPr>
        <p:sp>
          <p:nvSpPr>
            <p:cNvPr name="Freeform 3" id="3"/>
            <p:cNvSpPr/>
            <p:nvPr/>
          </p:nvSpPr>
          <p:spPr>
            <a:xfrm flipH="false" flipV="false" rot="0">
              <a:off x="0" y="0"/>
              <a:ext cx="639699" cy="24384000"/>
            </a:xfrm>
            <a:custGeom>
              <a:avLst/>
              <a:gdLst/>
              <a:ahLst/>
              <a:cxnLst/>
              <a:rect r="r" b="b" t="t" l="l"/>
              <a:pathLst>
                <a:path h="24384000" w="639699">
                  <a:moveTo>
                    <a:pt x="0" y="0"/>
                  </a:moveTo>
                  <a:lnTo>
                    <a:pt x="639699" y="0"/>
                  </a:lnTo>
                  <a:lnTo>
                    <a:pt x="639699" y="24384000"/>
                  </a:lnTo>
                  <a:lnTo>
                    <a:pt x="0" y="24384000"/>
                  </a:lnTo>
                  <a:close/>
                </a:path>
              </a:pathLst>
            </a:custGeom>
            <a:solidFill>
              <a:srgbClr val="00ACC1"/>
            </a:solidFill>
          </p:spPr>
        </p:sp>
      </p:grpSp>
      <p:grpSp>
        <p:nvGrpSpPr>
          <p:cNvPr name="Group 4" id="4"/>
          <p:cNvGrpSpPr/>
          <p:nvPr/>
        </p:nvGrpSpPr>
        <p:grpSpPr>
          <a:xfrm rot="-5400000">
            <a:off x="8349396" y="-8349396"/>
            <a:ext cx="1589218" cy="18288000"/>
            <a:chOff x="0" y="0"/>
            <a:chExt cx="2118957" cy="24384000"/>
          </a:xfrm>
        </p:grpSpPr>
        <p:sp>
          <p:nvSpPr>
            <p:cNvPr name="Freeform 5" id="5"/>
            <p:cNvSpPr/>
            <p:nvPr/>
          </p:nvSpPr>
          <p:spPr>
            <a:xfrm flipH="false" flipV="false" rot="0">
              <a:off x="0" y="0"/>
              <a:ext cx="2118995" cy="24384000"/>
            </a:xfrm>
            <a:custGeom>
              <a:avLst/>
              <a:gdLst/>
              <a:ahLst/>
              <a:cxnLst/>
              <a:rect r="r" b="b" t="t" l="l"/>
              <a:pathLst>
                <a:path h="24384000" w="2118995">
                  <a:moveTo>
                    <a:pt x="0" y="0"/>
                  </a:moveTo>
                  <a:lnTo>
                    <a:pt x="2118995" y="0"/>
                  </a:lnTo>
                  <a:lnTo>
                    <a:pt x="2118995" y="24384000"/>
                  </a:lnTo>
                  <a:lnTo>
                    <a:pt x="0" y="24384000"/>
                  </a:lnTo>
                  <a:close/>
                </a:path>
              </a:pathLst>
            </a:custGeom>
            <a:solidFill>
              <a:srgbClr val="17375E"/>
            </a:solidFill>
          </p:spPr>
        </p:sp>
        <p:sp>
          <p:nvSpPr>
            <p:cNvPr name="Freeform 6" id="6"/>
            <p:cNvSpPr/>
            <p:nvPr/>
          </p:nvSpPr>
          <p:spPr>
            <a:xfrm flipH="false" flipV="false" rot="0">
              <a:off x="-1524" y="-1524"/>
              <a:ext cx="2122043" cy="24387048"/>
            </a:xfrm>
            <a:custGeom>
              <a:avLst/>
              <a:gdLst/>
              <a:ahLst/>
              <a:cxnLst/>
              <a:rect r="r" b="b" t="t" l="l"/>
              <a:pathLst>
                <a:path h="24387048" w="2122043">
                  <a:moveTo>
                    <a:pt x="1524" y="0"/>
                  </a:moveTo>
                  <a:lnTo>
                    <a:pt x="2120519" y="0"/>
                  </a:lnTo>
                  <a:cubicBezTo>
                    <a:pt x="2121408" y="0"/>
                    <a:pt x="2122043" y="762"/>
                    <a:pt x="2122043" y="1524"/>
                  </a:cubicBezTo>
                  <a:lnTo>
                    <a:pt x="2122043" y="24385524"/>
                  </a:lnTo>
                  <a:cubicBezTo>
                    <a:pt x="2122043" y="24386414"/>
                    <a:pt x="2121281" y="24387048"/>
                    <a:pt x="2120519" y="24387048"/>
                  </a:cubicBezTo>
                  <a:lnTo>
                    <a:pt x="1524" y="24387048"/>
                  </a:lnTo>
                  <a:cubicBezTo>
                    <a:pt x="635" y="24387048"/>
                    <a:pt x="0" y="24386287"/>
                    <a:pt x="0" y="24385524"/>
                  </a:cubicBezTo>
                  <a:lnTo>
                    <a:pt x="0" y="1524"/>
                  </a:lnTo>
                  <a:cubicBezTo>
                    <a:pt x="0" y="635"/>
                    <a:pt x="762" y="0"/>
                    <a:pt x="1524" y="0"/>
                  </a:cubicBezTo>
                  <a:moveTo>
                    <a:pt x="1524" y="3048"/>
                  </a:moveTo>
                  <a:lnTo>
                    <a:pt x="1524" y="1524"/>
                  </a:lnTo>
                  <a:lnTo>
                    <a:pt x="3048" y="1524"/>
                  </a:lnTo>
                  <a:lnTo>
                    <a:pt x="3048" y="24385524"/>
                  </a:lnTo>
                  <a:lnTo>
                    <a:pt x="1524" y="24385524"/>
                  </a:lnTo>
                  <a:lnTo>
                    <a:pt x="1524" y="24384000"/>
                  </a:lnTo>
                  <a:lnTo>
                    <a:pt x="2120519" y="24384000"/>
                  </a:lnTo>
                  <a:lnTo>
                    <a:pt x="2120519" y="24385524"/>
                  </a:lnTo>
                  <a:lnTo>
                    <a:pt x="2118995" y="24385524"/>
                  </a:lnTo>
                  <a:lnTo>
                    <a:pt x="2118995" y="1524"/>
                  </a:lnTo>
                  <a:lnTo>
                    <a:pt x="2120519" y="1524"/>
                  </a:lnTo>
                  <a:lnTo>
                    <a:pt x="2120519" y="3048"/>
                  </a:lnTo>
                  <a:lnTo>
                    <a:pt x="1524" y="3048"/>
                  </a:lnTo>
                  <a:close/>
                </a:path>
              </a:pathLst>
            </a:custGeom>
            <a:solidFill>
              <a:srgbClr val="002060"/>
            </a:solidFill>
          </p:spPr>
        </p:sp>
      </p:grpSp>
      <p:grpSp>
        <p:nvGrpSpPr>
          <p:cNvPr name="Group 7" id="7"/>
          <p:cNvGrpSpPr/>
          <p:nvPr/>
        </p:nvGrpSpPr>
        <p:grpSpPr>
          <a:xfrm rot="0">
            <a:off x="259404" y="-66599"/>
            <a:ext cx="15235942" cy="1725511"/>
            <a:chOff x="0" y="0"/>
            <a:chExt cx="20314590" cy="2300681"/>
          </a:xfrm>
        </p:grpSpPr>
        <p:sp>
          <p:nvSpPr>
            <p:cNvPr name="Freeform 8" id="8"/>
            <p:cNvSpPr/>
            <p:nvPr/>
          </p:nvSpPr>
          <p:spPr>
            <a:xfrm flipH="false" flipV="false" rot="0">
              <a:off x="0" y="0"/>
              <a:ext cx="20314586" cy="2300686"/>
            </a:xfrm>
            <a:custGeom>
              <a:avLst/>
              <a:gdLst/>
              <a:ahLst/>
              <a:cxnLst/>
              <a:rect r="r" b="b" t="t" l="l"/>
              <a:pathLst>
                <a:path h="2300686" w="20314586">
                  <a:moveTo>
                    <a:pt x="0" y="0"/>
                  </a:moveTo>
                  <a:lnTo>
                    <a:pt x="20314586" y="0"/>
                  </a:lnTo>
                  <a:lnTo>
                    <a:pt x="20314586" y="2300686"/>
                  </a:lnTo>
                  <a:lnTo>
                    <a:pt x="0" y="2300686"/>
                  </a:lnTo>
                  <a:close/>
                </a:path>
              </a:pathLst>
            </a:custGeom>
            <a:blipFill>
              <a:blip r:embed="rId3">
                <a:alphaModFix amt="0"/>
              </a:blip>
              <a:stretch>
                <a:fillRect l="0" t="-122049" r="0" b="-122048"/>
              </a:stretch>
            </a:blipFill>
          </p:spPr>
        </p:sp>
        <p:sp>
          <p:nvSpPr>
            <p:cNvPr name="TextBox 9" id="9"/>
            <p:cNvSpPr txBox="true"/>
            <p:nvPr/>
          </p:nvSpPr>
          <p:spPr>
            <a:xfrm>
              <a:off x="0" y="-161925"/>
              <a:ext cx="20314590" cy="2462606"/>
            </a:xfrm>
            <a:prstGeom prst="rect">
              <a:avLst/>
            </a:prstGeom>
          </p:spPr>
          <p:txBody>
            <a:bodyPr anchor="ctr" rtlCol="false" tIns="0" lIns="0" bIns="0" rIns="0"/>
            <a:lstStyle/>
            <a:p>
              <a:pPr algn="l">
                <a:lnSpc>
                  <a:spcPts val="9601"/>
                </a:lnSpc>
              </a:pPr>
              <a:r>
                <a:rPr lang="en-US" sz="8001">
                  <a:solidFill>
                    <a:srgbClr val="FFFFFF"/>
                  </a:solidFill>
                  <a:latin typeface="Calibri (MS)"/>
                  <a:ea typeface="Calibri (MS)"/>
                  <a:cs typeface="Calibri (MS)"/>
                  <a:sym typeface="Calibri (MS)"/>
                </a:rPr>
                <a:t>Two Approaches</a:t>
              </a:r>
            </a:p>
          </p:txBody>
        </p:sp>
      </p:grpSp>
      <p:grpSp>
        <p:nvGrpSpPr>
          <p:cNvPr name="Group 10" id="10"/>
          <p:cNvGrpSpPr/>
          <p:nvPr/>
        </p:nvGrpSpPr>
        <p:grpSpPr>
          <a:xfrm rot="0">
            <a:off x="6874" y="1595599"/>
            <a:ext cx="9130261" cy="760790"/>
            <a:chOff x="0" y="0"/>
            <a:chExt cx="12111803" cy="1009231"/>
          </a:xfrm>
        </p:grpSpPr>
        <p:sp>
          <p:nvSpPr>
            <p:cNvPr name="Freeform 11" id="11"/>
            <p:cNvSpPr/>
            <p:nvPr/>
          </p:nvSpPr>
          <p:spPr>
            <a:xfrm flipH="false" flipV="false" rot="0">
              <a:off x="18184" y="16891"/>
              <a:ext cx="12075340" cy="975360"/>
            </a:xfrm>
            <a:custGeom>
              <a:avLst/>
              <a:gdLst/>
              <a:ahLst/>
              <a:cxnLst/>
              <a:rect r="r" b="b" t="t" l="l"/>
              <a:pathLst>
                <a:path h="975360" w="12075340">
                  <a:moveTo>
                    <a:pt x="0" y="0"/>
                  </a:moveTo>
                  <a:lnTo>
                    <a:pt x="12075340" y="0"/>
                  </a:lnTo>
                  <a:lnTo>
                    <a:pt x="12075340" y="975360"/>
                  </a:lnTo>
                  <a:lnTo>
                    <a:pt x="0" y="975360"/>
                  </a:lnTo>
                  <a:close/>
                </a:path>
              </a:pathLst>
            </a:custGeom>
            <a:solidFill>
              <a:srgbClr val="F4845F"/>
            </a:solidFill>
          </p:spPr>
        </p:sp>
        <p:sp>
          <p:nvSpPr>
            <p:cNvPr name="Freeform 12" id="12"/>
            <p:cNvSpPr/>
            <p:nvPr/>
          </p:nvSpPr>
          <p:spPr>
            <a:xfrm flipH="false" flipV="false" rot="0">
              <a:off x="0" y="0"/>
              <a:ext cx="12111707" cy="1009144"/>
            </a:xfrm>
            <a:custGeom>
              <a:avLst/>
              <a:gdLst/>
              <a:ahLst/>
              <a:cxnLst/>
              <a:rect r="r" b="b" t="t" l="l"/>
              <a:pathLst>
                <a:path h="1009144" w="12111707">
                  <a:moveTo>
                    <a:pt x="18184" y="0"/>
                  </a:moveTo>
                  <a:lnTo>
                    <a:pt x="12093524" y="0"/>
                  </a:lnTo>
                  <a:cubicBezTo>
                    <a:pt x="12103641" y="0"/>
                    <a:pt x="12111707" y="7620"/>
                    <a:pt x="12111707" y="16891"/>
                  </a:cubicBezTo>
                  <a:lnTo>
                    <a:pt x="12111707" y="992251"/>
                  </a:lnTo>
                  <a:cubicBezTo>
                    <a:pt x="12111707" y="1001649"/>
                    <a:pt x="12103505" y="1009142"/>
                    <a:pt x="12093524" y="1009142"/>
                  </a:cubicBezTo>
                  <a:lnTo>
                    <a:pt x="18184" y="1009142"/>
                  </a:lnTo>
                  <a:cubicBezTo>
                    <a:pt x="8203" y="1009269"/>
                    <a:pt x="0" y="1001649"/>
                    <a:pt x="0" y="992251"/>
                  </a:cubicBezTo>
                  <a:lnTo>
                    <a:pt x="0" y="16891"/>
                  </a:lnTo>
                  <a:cubicBezTo>
                    <a:pt x="0" y="7620"/>
                    <a:pt x="8203" y="0"/>
                    <a:pt x="18184" y="0"/>
                  </a:cubicBezTo>
                  <a:moveTo>
                    <a:pt x="18184" y="33909"/>
                  </a:moveTo>
                  <a:lnTo>
                    <a:pt x="18184" y="16891"/>
                  </a:lnTo>
                  <a:lnTo>
                    <a:pt x="36505" y="16891"/>
                  </a:lnTo>
                  <a:lnTo>
                    <a:pt x="36505" y="992251"/>
                  </a:lnTo>
                  <a:lnTo>
                    <a:pt x="18184" y="992251"/>
                  </a:lnTo>
                  <a:lnTo>
                    <a:pt x="18184" y="975360"/>
                  </a:lnTo>
                  <a:lnTo>
                    <a:pt x="12093524" y="975360"/>
                  </a:lnTo>
                  <a:lnTo>
                    <a:pt x="12093524" y="992251"/>
                  </a:lnTo>
                  <a:lnTo>
                    <a:pt x="12075340" y="992251"/>
                  </a:lnTo>
                  <a:lnTo>
                    <a:pt x="12075340" y="16891"/>
                  </a:lnTo>
                  <a:lnTo>
                    <a:pt x="12093524" y="16891"/>
                  </a:lnTo>
                  <a:lnTo>
                    <a:pt x="12093524" y="33909"/>
                  </a:lnTo>
                  <a:lnTo>
                    <a:pt x="18184" y="33909"/>
                  </a:lnTo>
                  <a:close/>
                </a:path>
              </a:pathLst>
            </a:custGeom>
            <a:solidFill>
              <a:srgbClr val="F4845F"/>
            </a:solidFill>
          </p:spPr>
        </p:sp>
      </p:grpSp>
      <p:grpSp>
        <p:nvGrpSpPr>
          <p:cNvPr name="Group 13" id="13"/>
          <p:cNvGrpSpPr/>
          <p:nvPr/>
        </p:nvGrpSpPr>
        <p:grpSpPr>
          <a:xfrm rot="0">
            <a:off x="41226" y="1589213"/>
            <a:ext cx="9102774" cy="744381"/>
            <a:chOff x="0" y="0"/>
            <a:chExt cx="12075340" cy="987463"/>
          </a:xfrm>
        </p:grpSpPr>
        <p:sp>
          <p:nvSpPr>
            <p:cNvPr name="Freeform 14" id="14"/>
            <p:cNvSpPr/>
            <p:nvPr/>
          </p:nvSpPr>
          <p:spPr>
            <a:xfrm flipH="false" flipV="false" rot="0">
              <a:off x="0" y="0"/>
              <a:ext cx="12075340" cy="987463"/>
            </a:xfrm>
            <a:custGeom>
              <a:avLst/>
              <a:gdLst/>
              <a:ahLst/>
              <a:cxnLst/>
              <a:rect r="r" b="b" t="t" l="l"/>
              <a:pathLst>
                <a:path h="987463" w="12075340">
                  <a:moveTo>
                    <a:pt x="0" y="0"/>
                  </a:moveTo>
                  <a:lnTo>
                    <a:pt x="12075340" y="0"/>
                  </a:lnTo>
                  <a:lnTo>
                    <a:pt x="12075340" y="987463"/>
                  </a:lnTo>
                  <a:lnTo>
                    <a:pt x="0" y="987463"/>
                  </a:lnTo>
                  <a:close/>
                </a:path>
              </a:pathLst>
            </a:custGeom>
            <a:blipFill>
              <a:blip r:embed="rId3">
                <a:alphaModFix amt="0"/>
              </a:blip>
              <a:stretch>
                <a:fillRect l="0" t="-171944" r="7111" b="-170718"/>
              </a:stretch>
            </a:blipFill>
          </p:spPr>
        </p:sp>
        <p:sp>
          <p:nvSpPr>
            <p:cNvPr name="TextBox 15" id="15"/>
            <p:cNvSpPr txBox="true"/>
            <p:nvPr/>
          </p:nvSpPr>
          <p:spPr>
            <a:xfrm>
              <a:off x="0" y="-76200"/>
              <a:ext cx="12075340" cy="1063663"/>
            </a:xfrm>
            <a:prstGeom prst="rect">
              <a:avLst/>
            </a:prstGeom>
          </p:spPr>
          <p:txBody>
            <a:bodyPr anchor="ctr" rtlCol="false" tIns="0" lIns="0" bIns="0" rIns="0"/>
            <a:lstStyle/>
            <a:p>
              <a:pPr algn="ctr">
                <a:lnSpc>
                  <a:spcPts val="4439"/>
                </a:lnSpc>
              </a:pPr>
              <a:r>
                <a:rPr lang="en-US" sz="3699" b="true">
                  <a:solidFill>
                    <a:srgbClr val="FFFFFF"/>
                  </a:solidFill>
                  <a:latin typeface="Calibri (MS) Bold"/>
                  <a:ea typeface="Calibri (MS) Bold"/>
                  <a:cs typeface="Calibri (MS) Bold"/>
                  <a:sym typeface="Calibri (MS) Bold"/>
                </a:rPr>
                <a:t>Physics-Based Approach</a:t>
              </a:r>
            </a:p>
          </p:txBody>
        </p:sp>
      </p:grpSp>
      <p:grpSp>
        <p:nvGrpSpPr>
          <p:cNvPr name="Group 16" id="16"/>
          <p:cNvGrpSpPr/>
          <p:nvPr/>
        </p:nvGrpSpPr>
        <p:grpSpPr>
          <a:xfrm rot="0">
            <a:off x="317443" y="2490669"/>
            <a:ext cx="8509115" cy="480269"/>
            <a:chOff x="0" y="0"/>
            <a:chExt cx="11287817" cy="637103"/>
          </a:xfrm>
        </p:grpSpPr>
        <p:sp>
          <p:nvSpPr>
            <p:cNvPr name="Freeform 17" id="17"/>
            <p:cNvSpPr/>
            <p:nvPr/>
          </p:nvSpPr>
          <p:spPr>
            <a:xfrm flipH="false" flipV="false" rot="0">
              <a:off x="0" y="0"/>
              <a:ext cx="11287817" cy="637103"/>
            </a:xfrm>
            <a:custGeom>
              <a:avLst/>
              <a:gdLst/>
              <a:ahLst/>
              <a:cxnLst/>
              <a:rect r="r" b="b" t="t" l="l"/>
              <a:pathLst>
                <a:path h="637103" w="11287817">
                  <a:moveTo>
                    <a:pt x="0" y="0"/>
                  </a:moveTo>
                  <a:lnTo>
                    <a:pt x="11287817" y="0"/>
                  </a:lnTo>
                  <a:lnTo>
                    <a:pt x="11287817" y="637103"/>
                  </a:lnTo>
                  <a:lnTo>
                    <a:pt x="0" y="637103"/>
                  </a:lnTo>
                  <a:close/>
                </a:path>
              </a:pathLst>
            </a:custGeom>
            <a:blipFill>
              <a:blip r:embed="rId3">
                <a:alphaModFix amt="0"/>
              </a:blip>
              <a:stretch>
                <a:fillRect l="0" t="-278574" r="7111" b="-262775"/>
              </a:stretch>
            </a:blipFill>
          </p:spPr>
        </p:sp>
        <p:sp>
          <p:nvSpPr>
            <p:cNvPr name="TextBox 18" id="18"/>
            <p:cNvSpPr txBox="true"/>
            <p:nvPr/>
          </p:nvSpPr>
          <p:spPr>
            <a:xfrm>
              <a:off x="0" y="-38100"/>
              <a:ext cx="11287817" cy="675203"/>
            </a:xfrm>
            <a:prstGeom prst="rect">
              <a:avLst/>
            </a:prstGeom>
          </p:spPr>
          <p:txBody>
            <a:bodyPr anchor="ctr" rtlCol="false" tIns="0" lIns="0" bIns="0" rIns="0"/>
            <a:lstStyle/>
            <a:p>
              <a:pPr algn="l">
                <a:lnSpc>
                  <a:spcPts val="2880"/>
                </a:lnSpc>
              </a:pPr>
              <a:r>
                <a:rPr lang="en-US" b="true" sz="2400" spc="640">
                  <a:solidFill>
                    <a:srgbClr val="F4845F"/>
                  </a:solidFill>
                  <a:latin typeface="Calibri (MS) Bold"/>
                  <a:ea typeface="Calibri (MS) Bold"/>
                  <a:cs typeface="Calibri (MS) Bold"/>
                  <a:sym typeface="Calibri (MS) Bold"/>
                </a:rPr>
                <a:t>WORKFLOW</a:t>
              </a:r>
            </a:p>
          </p:txBody>
        </p:sp>
      </p:grpSp>
      <p:grpSp>
        <p:nvGrpSpPr>
          <p:cNvPr name="Group 19" id="19"/>
          <p:cNvGrpSpPr/>
          <p:nvPr/>
        </p:nvGrpSpPr>
        <p:grpSpPr>
          <a:xfrm rot="0">
            <a:off x="306446" y="2921608"/>
            <a:ext cx="8531098" cy="682152"/>
            <a:chOff x="0" y="0"/>
            <a:chExt cx="11316980" cy="904913"/>
          </a:xfrm>
        </p:grpSpPr>
        <p:sp>
          <p:nvSpPr>
            <p:cNvPr name="Freeform 20" id="20"/>
            <p:cNvSpPr/>
            <p:nvPr/>
          </p:nvSpPr>
          <p:spPr>
            <a:xfrm flipH="false" flipV="false" rot="0">
              <a:off x="14629" y="13589"/>
              <a:ext cx="11287817" cy="877824"/>
            </a:xfrm>
            <a:custGeom>
              <a:avLst/>
              <a:gdLst/>
              <a:ahLst/>
              <a:cxnLst/>
              <a:rect r="r" b="b" t="t" l="l"/>
              <a:pathLst>
                <a:path h="877824" w="11287817">
                  <a:moveTo>
                    <a:pt x="0" y="0"/>
                  </a:moveTo>
                  <a:lnTo>
                    <a:pt x="11287818" y="0"/>
                  </a:lnTo>
                  <a:lnTo>
                    <a:pt x="11287818" y="877824"/>
                  </a:lnTo>
                  <a:lnTo>
                    <a:pt x="0" y="877824"/>
                  </a:lnTo>
                  <a:close/>
                </a:path>
              </a:pathLst>
            </a:custGeom>
            <a:solidFill>
              <a:srgbClr val="F4845F"/>
            </a:solidFill>
          </p:spPr>
        </p:sp>
        <p:sp>
          <p:nvSpPr>
            <p:cNvPr name="Freeform 21" id="21"/>
            <p:cNvSpPr/>
            <p:nvPr/>
          </p:nvSpPr>
          <p:spPr>
            <a:xfrm flipH="false" flipV="false" rot="0">
              <a:off x="0" y="0"/>
              <a:ext cx="11317069" cy="905002"/>
            </a:xfrm>
            <a:custGeom>
              <a:avLst/>
              <a:gdLst/>
              <a:ahLst/>
              <a:cxnLst/>
              <a:rect r="r" b="b" t="t" l="l"/>
              <a:pathLst>
                <a:path h="905002" w="11317069">
                  <a:moveTo>
                    <a:pt x="14629" y="0"/>
                  </a:moveTo>
                  <a:lnTo>
                    <a:pt x="11302447" y="0"/>
                  </a:lnTo>
                  <a:cubicBezTo>
                    <a:pt x="11310513" y="0"/>
                    <a:pt x="11317069" y="6096"/>
                    <a:pt x="11317069" y="13589"/>
                  </a:cubicBezTo>
                  <a:lnTo>
                    <a:pt x="11317069" y="891413"/>
                  </a:lnTo>
                  <a:cubicBezTo>
                    <a:pt x="11317069" y="898906"/>
                    <a:pt x="11310513" y="905002"/>
                    <a:pt x="11302447" y="905002"/>
                  </a:cubicBezTo>
                  <a:lnTo>
                    <a:pt x="14629" y="905002"/>
                  </a:lnTo>
                  <a:cubicBezTo>
                    <a:pt x="6563" y="904875"/>
                    <a:pt x="0" y="898906"/>
                    <a:pt x="0" y="891413"/>
                  </a:cubicBezTo>
                  <a:lnTo>
                    <a:pt x="0" y="13589"/>
                  </a:lnTo>
                  <a:cubicBezTo>
                    <a:pt x="0" y="6096"/>
                    <a:pt x="6563" y="0"/>
                    <a:pt x="14629" y="0"/>
                  </a:cubicBezTo>
                  <a:moveTo>
                    <a:pt x="14629" y="27051"/>
                  </a:moveTo>
                  <a:lnTo>
                    <a:pt x="14629" y="13589"/>
                  </a:lnTo>
                  <a:lnTo>
                    <a:pt x="29122" y="13589"/>
                  </a:lnTo>
                  <a:lnTo>
                    <a:pt x="29122" y="891413"/>
                  </a:lnTo>
                  <a:lnTo>
                    <a:pt x="14629" y="891413"/>
                  </a:lnTo>
                  <a:lnTo>
                    <a:pt x="14629" y="877824"/>
                  </a:lnTo>
                  <a:lnTo>
                    <a:pt x="11302447" y="877824"/>
                  </a:lnTo>
                  <a:lnTo>
                    <a:pt x="11302447" y="891413"/>
                  </a:lnTo>
                  <a:lnTo>
                    <a:pt x="11287817" y="891413"/>
                  </a:lnTo>
                  <a:lnTo>
                    <a:pt x="11287817" y="13589"/>
                  </a:lnTo>
                  <a:lnTo>
                    <a:pt x="11302447" y="13589"/>
                  </a:lnTo>
                  <a:lnTo>
                    <a:pt x="11302447" y="27051"/>
                  </a:lnTo>
                  <a:lnTo>
                    <a:pt x="14629" y="27051"/>
                  </a:lnTo>
                  <a:close/>
                </a:path>
              </a:pathLst>
            </a:custGeom>
            <a:solidFill>
              <a:srgbClr val="F4845F"/>
            </a:solidFill>
          </p:spPr>
        </p:sp>
      </p:grpSp>
      <p:grpSp>
        <p:nvGrpSpPr>
          <p:cNvPr name="Group 22" id="22"/>
          <p:cNvGrpSpPr/>
          <p:nvPr/>
        </p:nvGrpSpPr>
        <p:grpSpPr>
          <a:xfrm rot="0">
            <a:off x="504332" y="2890962"/>
            <a:ext cx="8113342" cy="661732"/>
            <a:chOff x="0" y="0"/>
            <a:chExt cx="10762803" cy="877824"/>
          </a:xfrm>
        </p:grpSpPr>
        <p:sp>
          <p:nvSpPr>
            <p:cNvPr name="Freeform 23" id="23"/>
            <p:cNvSpPr/>
            <p:nvPr/>
          </p:nvSpPr>
          <p:spPr>
            <a:xfrm flipH="false" flipV="false" rot="0">
              <a:off x="0" y="0"/>
              <a:ext cx="10762803" cy="877824"/>
            </a:xfrm>
            <a:custGeom>
              <a:avLst/>
              <a:gdLst/>
              <a:ahLst/>
              <a:cxnLst/>
              <a:rect r="r" b="b" t="t" l="l"/>
              <a:pathLst>
                <a:path h="877824" w="10762803">
                  <a:moveTo>
                    <a:pt x="0" y="0"/>
                  </a:moveTo>
                  <a:lnTo>
                    <a:pt x="10762803" y="0"/>
                  </a:lnTo>
                  <a:lnTo>
                    <a:pt x="10762803" y="877824"/>
                  </a:lnTo>
                  <a:lnTo>
                    <a:pt x="0" y="877824"/>
                  </a:lnTo>
                  <a:close/>
                </a:path>
              </a:pathLst>
            </a:custGeom>
            <a:blipFill>
              <a:blip r:embed="rId3">
                <a:alphaModFix amt="0"/>
              </a:blip>
              <a:stretch>
                <a:fillRect l="0" t="-171912" r="7111" b="-171912"/>
              </a:stretch>
            </a:blipFill>
          </p:spPr>
        </p:sp>
        <p:sp>
          <p:nvSpPr>
            <p:cNvPr name="TextBox 24" id="24"/>
            <p:cNvSpPr txBox="true"/>
            <p:nvPr/>
          </p:nvSpPr>
          <p:spPr>
            <a:xfrm>
              <a:off x="0" y="-38100"/>
              <a:ext cx="10762803" cy="915924"/>
            </a:xfrm>
            <a:prstGeom prst="rect">
              <a:avLst/>
            </a:prstGeom>
          </p:spPr>
          <p:txBody>
            <a:bodyPr anchor="ctr" rtlCol="false" tIns="0" lIns="0" bIns="0" rIns="0"/>
            <a:lstStyle/>
            <a:p>
              <a:pPr algn="l">
                <a:lnSpc>
                  <a:spcPts val="2880"/>
                </a:lnSpc>
              </a:pPr>
              <a:r>
                <a:rPr lang="en-US" sz="2400">
                  <a:solidFill>
                    <a:srgbClr val="FFFFFF"/>
                  </a:solidFill>
                  <a:latin typeface="Calibri (MS)"/>
                  <a:ea typeface="Calibri (MS)"/>
                  <a:cs typeface="Calibri (MS)"/>
                  <a:sym typeface="Calibri (MS)"/>
                </a:rPr>
                <a:t>1.  Define Suspension ODE System</a:t>
              </a:r>
            </a:p>
          </p:txBody>
        </p:sp>
      </p:grpSp>
      <p:grpSp>
        <p:nvGrpSpPr>
          <p:cNvPr name="Group 25" id="25"/>
          <p:cNvGrpSpPr/>
          <p:nvPr/>
        </p:nvGrpSpPr>
        <p:grpSpPr>
          <a:xfrm rot="0">
            <a:off x="4275170" y="3581268"/>
            <a:ext cx="593659" cy="480269"/>
            <a:chOff x="0" y="0"/>
            <a:chExt cx="787522" cy="637103"/>
          </a:xfrm>
        </p:grpSpPr>
        <p:sp>
          <p:nvSpPr>
            <p:cNvPr name="Freeform 26" id="26"/>
            <p:cNvSpPr/>
            <p:nvPr/>
          </p:nvSpPr>
          <p:spPr>
            <a:xfrm flipH="false" flipV="false" rot="0">
              <a:off x="0" y="0"/>
              <a:ext cx="787522" cy="637103"/>
            </a:xfrm>
            <a:custGeom>
              <a:avLst/>
              <a:gdLst/>
              <a:ahLst/>
              <a:cxnLst/>
              <a:rect r="r" b="b" t="t" l="l"/>
              <a:pathLst>
                <a:path h="637103" w="787522">
                  <a:moveTo>
                    <a:pt x="0" y="0"/>
                  </a:moveTo>
                  <a:lnTo>
                    <a:pt x="787522" y="0"/>
                  </a:lnTo>
                  <a:lnTo>
                    <a:pt x="787522" y="637103"/>
                  </a:lnTo>
                  <a:lnTo>
                    <a:pt x="0" y="637103"/>
                  </a:lnTo>
                  <a:close/>
                </a:path>
              </a:pathLst>
            </a:custGeom>
            <a:blipFill>
              <a:blip r:embed="rId3">
                <a:alphaModFix amt="0"/>
              </a:blip>
              <a:stretch>
                <a:fillRect l="-25063" t="0" r="-17952" b="31108"/>
              </a:stretch>
            </a:blipFill>
          </p:spPr>
        </p:sp>
        <p:sp>
          <p:nvSpPr>
            <p:cNvPr name="TextBox 27" id="27"/>
            <p:cNvSpPr txBox="true"/>
            <p:nvPr/>
          </p:nvSpPr>
          <p:spPr>
            <a:xfrm>
              <a:off x="0" y="-38100"/>
              <a:ext cx="787522" cy="675203"/>
            </a:xfrm>
            <a:prstGeom prst="rect">
              <a:avLst/>
            </a:prstGeom>
          </p:spPr>
          <p:txBody>
            <a:bodyPr anchor="ctr" rtlCol="false" tIns="0" lIns="0" bIns="0" rIns="0"/>
            <a:lstStyle/>
            <a:p>
              <a:pPr algn="ctr">
                <a:lnSpc>
                  <a:spcPts val="2880"/>
                </a:lnSpc>
              </a:pPr>
              <a:r>
                <a:rPr lang="en-US" sz="2400">
                  <a:solidFill>
                    <a:srgbClr val="F4845F"/>
                  </a:solidFill>
                  <a:latin typeface="Calibri (MS)"/>
                  <a:ea typeface="Calibri (MS)"/>
                  <a:cs typeface="Calibri (MS)"/>
                  <a:sym typeface="Calibri (MS)"/>
                </a:rPr>
                <a:t>↓</a:t>
              </a:r>
            </a:p>
          </p:txBody>
        </p:sp>
      </p:grpSp>
      <p:grpSp>
        <p:nvGrpSpPr>
          <p:cNvPr name="Group 28" id="28"/>
          <p:cNvGrpSpPr/>
          <p:nvPr/>
        </p:nvGrpSpPr>
        <p:grpSpPr>
          <a:xfrm rot="0">
            <a:off x="306446" y="3914206"/>
            <a:ext cx="8531098" cy="682152"/>
            <a:chOff x="0" y="0"/>
            <a:chExt cx="11316980" cy="904913"/>
          </a:xfrm>
        </p:grpSpPr>
        <p:sp>
          <p:nvSpPr>
            <p:cNvPr name="Freeform 29" id="29"/>
            <p:cNvSpPr/>
            <p:nvPr/>
          </p:nvSpPr>
          <p:spPr>
            <a:xfrm flipH="false" flipV="false" rot="0">
              <a:off x="14629" y="13589"/>
              <a:ext cx="11287817" cy="877824"/>
            </a:xfrm>
            <a:custGeom>
              <a:avLst/>
              <a:gdLst/>
              <a:ahLst/>
              <a:cxnLst/>
              <a:rect r="r" b="b" t="t" l="l"/>
              <a:pathLst>
                <a:path h="877824" w="11287817">
                  <a:moveTo>
                    <a:pt x="0" y="0"/>
                  </a:moveTo>
                  <a:lnTo>
                    <a:pt x="11287818" y="0"/>
                  </a:lnTo>
                  <a:lnTo>
                    <a:pt x="11287818" y="877824"/>
                  </a:lnTo>
                  <a:lnTo>
                    <a:pt x="0" y="877824"/>
                  </a:lnTo>
                  <a:close/>
                </a:path>
              </a:pathLst>
            </a:custGeom>
            <a:solidFill>
              <a:srgbClr val="F4845F"/>
            </a:solidFill>
          </p:spPr>
        </p:sp>
        <p:sp>
          <p:nvSpPr>
            <p:cNvPr name="Freeform 30" id="30"/>
            <p:cNvSpPr/>
            <p:nvPr/>
          </p:nvSpPr>
          <p:spPr>
            <a:xfrm flipH="false" flipV="false" rot="0">
              <a:off x="0" y="0"/>
              <a:ext cx="11317069" cy="905002"/>
            </a:xfrm>
            <a:custGeom>
              <a:avLst/>
              <a:gdLst/>
              <a:ahLst/>
              <a:cxnLst/>
              <a:rect r="r" b="b" t="t" l="l"/>
              <a:pathLst>
                <a:path h="905002" w="11317069">
                  <a:moveTo>
                    <a:pt x="14629" y="0"/>
                  </a:moveTo>
                  <a:lnTo>
                    <a:pt x="11302447" y="0"/>
                  </a:lnTo>
                  <a:cubicBezTo>
                    <a:pt x="11310513" y="0"/>
                    <a:pt x="11317069" y="6096"/>
                    <a:pt x="11317069" y="13589"/>
                  </a:cubicBezTo>
                  <a:lnTo>
                    <a:pt x="11317069" y="891413"/>
                  </a:lnTo>
                  <a:cubicBezTo>
                    <a:pt x="11317069" y="898906"/>
                    <a:pt x="11310513" y="905002"/>
                    <a:pt x="11302447" y="905002"/>
                  </a:cubicBezTo>
                  <a:lnTo>
                    <a:pt x="14629" y="905002"/>
                  </a:lnTo>
                  <a:cubicBezTo>
                    <a:pt x="6563" y="904875"/>
                    <a:pt x="0" y="898906"/>
                    <a:pt x="0" y="891413"/>
                  </a:cubicBezTo>
                  <a:lnTo>
                    <a:pt x="0" y="13589"/>
                  </a:lnTo>
                  <a:cubicBezTo>
                    <a:pt x="0" y="6096"/>
                    <a:pt x="6563" y="0"/>
                    <a:pt x="14629" y="0"/>
                  </a:cubicBezTo>
                  <a:moveTo>
                    <a:pt x="14629" y="27051"/>
                  </a:moveTo>
                  <a:lnTo>
                    <a:pt x="14629" y="13589"/>
                  </a:lnTo>
                  <a:lnTo>
                    <a:pt x="29122" y="13589"/>
                  </a:lnTo>
                  <a:lnTo>
                    <a:pt x="29122" y="891413"/>
                  </a:lnTo>
                  <a:lnTo>
                    <a:pt x="14629" y="891413"/>
                  </a:lnTo>
                  <a:lnTo>
                    <a:pt x="14629" y="877824"/>
                  </a:lnTo>
                  <a:lnTo>
                    <a:pt x="11302447" y="877824"/>
                  </a:lnTo>
                  <a:lnTo>
                    <a:pt x="11302447" y="891413"/>
                  </a:lnTo>
                  <a:lnTo>
                    <a:pt x="11287817" y="891413"/>
                  </a:lnTo>
                  <a:lnTo>
                    <a:pt x="11287817" y="13589"/>
                  </a:lnTo>
                  <a:lnTo>
                    <a:pt x="11302447" y="13589"/>
                  </a:lnTo>
                  <a:lnTo>
                    <a:pt x="11302447" y="27051"/>
                  </a:lnTo>
                  <a:lnTo>
                    <a:pt x="14629" y="27051"/>
                  </a:lnTo>
                  <a:close/>
                </a:path>
              </a:pathLst>
            </a:custGeom>
            <a:solidFill>
              <a:srgbClr val="F4845F"/>
            </a:solidFill>
          </p:spPr>
        </p:sp>
      </p:grpSp>
      <p:grpSp>
        <p:nvGrpSpPr>
          <p:cNvPr name="Group 31" id="31"/>
          <p:cNvGrpSpPr/>
          <p:nvPr/>
        </p:nvGrpSpPr>
        <p:grpSpPr>
          <a:xfrm rot="0">
            <a:off x="515329" y="3924421"/>
            <a:ext cx="8113342" cy="661732"/>
            <a:chOff x="0" y="0"/>
            <a:chExt cx="10762803" cy="877824"/>
          </a:xfrm>
        </p:grpSpPr>
        <p:sp>
          <p:nvSpPr>
            <p:cNvPr name="Freeform 32" id="32"/>
            <p:cNvSpPr/>
            <p:nvPr/>
          </p:nvSpPr>
          <p:spPr>
            <a:xfrm flipH="false" flipV="false" rot="0">
              <a:off x="0" y="0"/>
              <a:ext cx="10762803" cy="877824"/>
            </a:xfrm>
            <a:custGeom>
              <a:avLst/>
              <a:gdLst/>
              <a:ahLst/>
              <a:cxnLst/>
              <a:rect r="r" b="b" t="t" l="l"/>
              <a:pathLst>
                <a:path h="877824" w="10762803">
                  <a:moveTo>
                    <a:pt x="0" y="0"/>
                  </a:moveTo>
                  <a:lnTo>
                    <a:pt x="10762803" y="0"/>
                  </a:lnTo>
                  <a:lnTo>
                    <a:pt x="10762803" y="877824"/>
                  </a:lnTo>
                  <a:lnTo>
                    <a:pt x="0" y="877824"/>
                  </a:lnTo>
                  <a:close/>
                </a:path>
              </a:pathLst>
            </a:custGeom>
            <a:blipFill>
              <a:blip r:embed="rId3">
                <a:alphaModFix amt="0"/>
              </a:blip>
              <a:stretch>
                <a:fillRect l="0" t="-171912" r="7111" b="-171912"/>
              </a:stretch>
            </a:blipFill>
          </p:spPr>
        </p:sp>
        <p:sp>
          <p:nvSpPr>
            <p:cNvPr name="TextBox 33" id="33"/>
            <p:cNvSpPr txBox="true"/>
            <p:nvPr/>
          </p:nvSpPr>
          <p:spPr>
            <a:xfrm>
              <a:off x="0" y="-38100"/>
              <a:ext cx="10762803" cy="915924"/>
            </a:xfrm>
            <a:prstGeom prst="rect">
              <a:avLst/>
            </a:prstGeom>
          </p:spPr>
          <p:txBody>
            <a:bodyPr anchor="ctr" rtlCol="false" tIns="0" lIns="0" bIns="0" rIns="0"/>
            <a:lstStyle/>
            <a:p>
              <a:pPr algn="l">
                <a:lnSpc>
                  <a:spcPts val="2880"/>
                </a:lnSpc>
              </a:pPr>
              <a:r>
                <a:rPr lang="en-US" sz="2400">
                  <a:solidFill>
                    <a:srgbClr val="FFFFFF"/>
                  </a:solidFill>
                  <a:latin typeface="Calibri (MS)"/>
                  <a:ea typeface="Calibri (MS)"/>
                  <a:cs typeface="Calibri (MS)"/>
                  <a:sym typeface="Calibri (MS)"/>
                </a:rPr>
                <a:t>2.  Simulate Road Input → ODE Solve</a:t>
              </a:r>
            </a:p>
          </p:txBody>
        </p:sp>
      </p:grpSp>
      <p:grpSp>
        <p:nvGrpSpPr>
          <p:cNvPr name="Group 34" id="34"/>
          <p:cNvGrpSpPr/>
          <p:nvPr/>
        </p:nvGrpSpPr>
        <p:grpSpPr>
          <a:xfrm rot="0">
            <a:off x="4275170" y="4573866"/>
            <a:ext cx="593659" cy="480269"/>
            <a:chOff x="0" y="0"/>
            <a:chExt cx="787522" cy="637103"/>
          </a:xfrm>
        </p:grpSpPr>
        <p:sp>
          <p:nvSpPr>
            <p:cNvPr name="Freeform 35" id="35"/>
            <p:cNvSpPr/>
            <p:nvPr/>
          </p:nvSpPr>
          <p:spPr>
            <a:xfrm flipH="false" flipV="false" rot="0">
              <a:off x="0" y="0"/>
              <a:ext cx="787522" cy="637103"/>
            </a:xfrm>
            <a:custGeom>
              <a:avLst/>
              <a:gdLst/>
              <a:ahLst/>
              <a:cxnLst/>
              <a:rect r="r" b="b" t="t" l="l"/>
              <a:pathLst>
                <a:path h="637103" w="787522">
                  <a:moveTo>
                    <a:pt x="0" y="0"/>
                  </a:moveTo>
                  <a:lnTo>
                    <a:pt x="787522" y="0"/>
                  </a:lnTo>
                  <a:lnTo>
                    <a:pt x="787522" y="637103"/>
                  </a:lnTo>
                  <a:lnTo>
                    <a:pt x="0" y="637103"/>
                  </a:lnTo>
                  <a:close/>
                </a:path>
              </a:pathLst>
            </a:custGeom>
            <a:blipFill>
              <a:blip r:embed="rId3">
                <a:alphaModFix amt="0"/>
              </a:blip>
              <a:stretch>
                <a:fillRect l="-25063" t="0" r="-17952" b="31108"/>
              </a:stretch>
            </a:blipFill>
          </p:spPr>
        </p:sp>
        <p:sp>
          <p:nvSpPr>
            <p:cNvPr name="TextBox 36" id="36"/>
            <p:cNvSpPr txBox="true"/>
            <p:nvPr/>
          </p:nvSpPr>
          <p:spPr>
            <a:xfrm>
              <a:off x="0" y="-38100"/>
              <a:ext cx="787522" cy="675203"/>
            </a:xfrm>
            <a:prstGeom prst="rect">
              <a:avLst/>
            </a:prstGeom>
          </p:spPr>
          <p:txBody>
            <a:bodyPr anchor="ctr" rtlCol="false" tIns="0" lIns="0" bIns="0" rIns="0"/>
            <a:lstStyle/>
            <a:p>
              <a:pPr algn="ctr">
                <a:lnSpc>
                  <a:spcPts val="2880"/>
                </a:lnSpc>
              </a:pPr>
              <a:r>
                <a:rPr lang="en-US" sz="2400">
                  <a:solidFill>
                    <a:srgbClr val="F4845F"/>
                  </a:solidFill>
                  <a:latin typeface="Calibri (MS)"/>
                  <a:ea typeface="Calibri (MS)"/>
                  <a:cs typeface="Calibri (MS)"/>
                  <a:sym typeface="Calibri (MS)"/>
                </a:rPr>
                <a:t>↓</a:t>
              </a:r>
            </a:p>
          </p:txBody>
        </p:sp>
      </p:grpSp>
      <p:grpSp>
        <p:nvGrpSpPr>
          <p:cNvPr name="Group 37" id="37"/>
          <p:cNvGrpSpPr/>
          <p:nvPr/>
        </p:nvGrpSpPr>
        <p:grpSpPr>
          <a:xfrm rot="0">
            <a:off x="306446" y="4906803"/>
            <a:ext cx="8531098" cy="682152"/>
            <a:chOff x="0" y="0"/>
            <a:chExt cx="11316980" cy="904913"/>
          </a:xfrm>
        </p:grpSpPr>
        <p:sp>
          <p:nvSpPr>
            <p:cNvPr name="Freeform 38" id="38"/>
            <p:cNvSpPr/>
            <p:nvPr/>
          </p:nvSpPr>
          <p:spPr>
            <a:xfrm flipH="false" flipV="false" rot="0">
              <a:off x="14629" y="13589"/>
              <a:ext cx="11287817" cy="877824"/>
            </a:xfrm>
            <a:custGeom>
              <a:avLst/>
              <a:gdLst/>
              <a:ahLst/>
              <a:cxnLst/>
              <a:rect r="r" b="b" t="t" l="l"/>
              <a:pathLst>
                <a:path h="877824" w="11287817">
                  <a:moveTo>
                    <a:pt x="0" y="0"/>
                  </a:moveTo>
                  <a:lnTo>
                    <a:pt x="11287818" y="0"/>
                  </a:lnTo>
                  <a:lnTo>
                    <a:pt x="11287818" y="877824"/>
                  </a:lnTo>
                  <a:lnTo>
                    <a:pt x="0" y="877824"/>
                  </a:lnTo>
                  <a:close/>
                </a:path>
              </a:pathLst>
            </a:custGeom>
            <a:solidFill>
              <a:srgbClr val="F4845F"/>
            </a:solidFill>
          </p:spPr>
        </p:sp>
        <p:sp>
          <p:nvSpPr>
            <p:cNvPr name="Freeform 39" id="39"/>
            <p:cNvSpPr/>
            <p:nvPr/>
          </p:nvSpPr>
          <p:spPr>
            <a:xfrm flipH="false" flipV="false" rot="0">
              <a:off x="0" y="0"/>
              <a:ext cx="11317069" cy="905002"/>
            </a:xfrm>
            <a:custGeom>
              <a:avLst/>
              <a:gdLst/>
              <a:ahLst/>
              <a:cxnLst/>
              <a:rect r="r" b="b" t="t" l="l"/>
              <a:pathLst>
                <a:path h="905002" w="11317069">
                  <a:moveTo>
                    <a:pt x="14629" y="0"/>
                  </a:moveTo>
                  <a:lnTo>
                    <a:pt x="11302447" y="0"/>
                  </a:lnTo>
                  <a:cubicBezTo>
                    <a:pt x="11310513" y="0"/>
                    <a:pt x="11317069" y="6096"/>
                    <a:pt x="11317069" y="13589"/>
                  </a:cubicBezTo>
                  <a:lnTo>
                    <a:pt x="11317069" y="891413"/>
                  </a:lnTo>
                  <a:cubicBezTo>
                    <a:pt x="11317069" y="898906"/>
                    <a:pt x="11310513" y="905002"/>
                    <a:pt x="11302447" y="905002"/>
                  </a:cubicBezTo>
                  <a:lnTo>
                    <a:pt x="14629" y="905002"/>
                  </a:lnTo>
                  <a:cubicBezTo>
                    <a:pt x="6563" y="904875"/>
                    <a:pt x="0" y="898906"/>
                    <a:pt x="0" y="891413"/>
                  </a:cubicBezTo>
                  <a:lnTo>
                    <a:pt x="0" y="13589"/>
                  </a:lnTo>
                  <a:cubicBezTo>
                    <a:pt x="0" y="6096"/>
                    <a:pt x="6563" y="0"/>
                    <a:pt x="14629" y="0"/>
                  </a:cubicBezTo>
                  <a:moveTo>
                    <a:pt x="14629" y="27051"/>
                  </a:moveTo>
                  <a:lnTo>
                    <a:pt x="14629" y="13589"/>
                  </a:lnTo>
                  <a:lnTo>
                    <a:pt x="29122" y="13589"/>
                  </a:lnTo>
                  <a:lnTo>
                    <a:pt x="29122" y="891413"/>
                  </a:lnTo>
                  <a:lnTo>
                    <a:pt x="14629" y="891413"/>
                  </a:lnTo>
                  <a:lnTo>
                    <a:pt x="14629" y="877824"/>
                  </a:lnTo>
                  <a:lnTo>
                    <a:pt x="11302447" y="877824"/>
                  </a:lnTo>
                  <a:lnTo>
                    <a:pt x="11302447" y="891413"/>
                  </a:lnTo>
                  <a:lnTo>
                    <a:pt x="11287817" y="891413"/>
                  </a:lnTo>
                  <a:lnTo>
                    <a:pt x="11287817" y="13589"/>
                  </a:lnTo>
                  <a:lnTo>
                    <a:pt x="11302447" y="13589"/>
                  </a:lnTo>
                  <a:lnTo>
                    <a:pt x="11302447" y="27051"/>
                  </a:lnTo>
                  <a:lnTo>
                    <a:pt x="14629" y="27051"/>
                  </a:lnTo>
                  <a:close/>
                </a:path>
              </a:pathLst>
            </a:custGeom>
            <a:solidFill>
              <a:srgbClr val="F4845F"/>
            </a:solidFill>
          </p:spPr>
        </p:sp>
      </p:grpSp>
      <p:grpSp>
        <p:nvGrpSpPr>
          <p:cNvPr name="Group 40" id="40"/>
          <p:cNvGrpSpPr/>
          <p:nvPr/>
        </p:nvGrpSpPr>
        <p:grpSpPr>
          <a:xfrm rot="0">
            <a:off x="515329" y="4917018"/>
            <a:ext cx="8113342" cy="661732"/>
            <a:chOff x="0" y="0"/>
            <a:chExt cx="10762803" cy="877824"/>
          </a:xfrm>
        </p:grpSpPr>
        <p:sp>
          <p:nvSpPr>
            <p:cNvPr name="Freeform 41" id="41"/>
            <p:cNvSpPr/>
            <p:nvPr/>
          </p:nvSpPr>
          <p:spPr>
            <a:xfrm flipH="false" flipV="false" rot="0">
              <a:off x="0" y="0"/>
              <a:ext cx="10762803" cy="877824"/>
            </a:xfrm>
            <a:custGeom>
              <a:avLst/>
              <a:gdLst/>
              <a:ahLst/>
              <a:cxnLst/>
              <a:rect r="r" b="b" t="t" l="l"/>
              <a:pathLst>
                <a:path h="877824" w="10762803">
                  <a:moveTo>
                    <a:pt x="0" y="0"/>
                  </a:moveTo>
                  <a:lnTo>
                    <a:pt x="10762803" y="0"/>
                  </a:lnTo>
                  <a:lnTo>
                    <a:pt x="10762803" y="877824"/>
                  </a:lnTo>
                  <a:lnTo>
                    <a:pt x="0" y="877824"/>
                  </a:lnTo>
                  <a:close/>
                </a:path>
              </a:pathLst>
            </a:custGeom>
            <a:blipFill>
              <a:blip r:embed="rId3">
                <a:alphaModFix amt="0"/>
              </a:blip>
              <a:stretch>
                <a:fillRect l="0" t="-171912" r="7111" b="-171912"/>
              </a:stretch>
            </a:blipFill>
          </p:spPr>
        </p:sp>
        <p:sp>
          <p:nvSpPr>
            <p:cNvPr name="TextBox 42" id="42"/>
            <p:cNvSpPr txBox="true"/>
            <p:nvPr/>
          </p:nvSpPr>
          <p:spPr>
            <a:xfrm>
              <a:off x="0" y="-38100"/>
              <a:ext cx="10762803" cy="915924"/>
            </a:xfrm>
            <a:prstGeom prst="rect">
              <a:avLst/>
            </a:prstGeom>
          </p:spPr>
          <p:txBody>
            <a:bodyPr anchor="ctr" rtlCol="false" tIns="0" lIns="0" bIns="0" rIns="0"/>
            <a:lstStyle/>
            <a:p>
              <a:pPr algn="l">
                <a:lnSpc>
                  <a:spcPts val="2880"/>
                </a:lnSpc>
              </a:pPr>
              <a:r>
                <a:rPr lang="en-US" sz="2400">
                  <a:solidFill>
                    <a:srgbClr val="FFFFFF"/>
                  </a:solidFill>
                  <a:latin typeface="Calibri (MS)"/>
                  <a:ea typeface="Calibri (MS)"/>
                  <a:cs typeface="Calibri (MS)"/>
                  <a:sym typeface="Calibri (MS)"/>
                </a:rPr>
                <a:t>3.  Extract RMS Acceleration</a:t>
              </a:r>
            </a:p>
          </p:txBody>
        </p:sp>
      </p:grpSp>
      <p:grpSp>
        <p:nvGrpSpPr>
          <p:cNvPr name="Group 43" id="43"/>
          <p:cNvGrpSpPr/>
          <p:nvPr/>
        </p:nvGrpSpPr>
        <p:grpSpPr>
          <a:xfrm rot="0">
            <a:off x="4275170" y="5566463"/>
            <a:ext cx="593659" cy="480269"/>
            <a:chOff x="0" y="0"/>
            <a:chExt cx="787522" cy="637103"/>
          </a:xfrm>
        </p:grpSpPr>
        <p:sp>
          <p:nvSpPr>
            <p:cNvPr name="Freeform 44" id="44"/>
            <p:cNvSpPr/>
            <p:nvPr/>
          </p:nvSpPr>
          <p:spPr>
            <a:xfrm flipH="false" flipV="false" rot="0">
              <a:off x="0" y="0"/>
              <a:ext cx="787522" cy="637103"/>
            </a:xfrm>
            <a:custGeom>
              <a:avLst/>
              <a:gdLst/>
              <a:ahLst/>
              <a:cxnLst/>
              <a:rect r="r" b="b" t="t" l="l"/>
              <a:pathLst>
                <a:path h="637103" w="787522">
                  <a:moveTo>
                    <a:pt x="0" y="0"/>
                  </a:moveTo>
                  <a:lnTo>
                    <a:pt x="787522" y="0"/>
                  </a:lnTo>
                  <a:lnTo>
                    <a:pt x="787522" y="637103"/>
                  </a:lnTo>
                  <a:lnTo>
                    <a:pt x="0" y="637103"/>
                  </a:lnTo>
                  <a:close/>
                </a:path>
              </a:pathLst>
            </a:custGeom>
            <a:blipFill>
              <a:blip r:embed="rId3">
                <a:alphaModFix amt="0"/>
              </a:blip>
              <a:stretch>
                <a:fillRect l="-25063" t="0" r="-17952" b="31108"/>
              </a:stretch>
            </a:blipFill>
          </p:spPr>
        </p:sp>
        <p:sp>
          <p:nvSpPr>
            <p:cNvPr name="TextBox 45" id="45"/>
            <p:cNvSpPr txBox="true"/>
            <p:nvPr/>
          </p:nvSpPr>
          <p:spPr>
            <a:xfrm>
              <a:off x="0" y="-38100"/>
              <a:ext cx="787522" cy="675203"/>
            </a:xfrm>
            <a:prstGeom prst="rect">
              <a:avLst/>
            </a:prstGeom>
          </p:spPr>
          <p:txBody>
            <a:bodyPr anchor="ctr" rtlCol="false" tIns="0" lIns="0" bIns="0" rIns="0"/>
            <a:lstStyle/>
            <a:p>
              <a:pPr algn="ctr">
                <a:lnSpc>
                  <a:spcPts val="2880"/>
                </a:lnSpc>
              </a:pPr>
              <a:r>
                <a:rPr lang="en-US" sz="2400">
                  <a:solidFill>
                    <a:srgbClr val="F4845F"/>
                  </a:solidFill>
                  <a:latin typeface="Calibri (MS)"/>
                  <a:ea typeface="Calibri (MS)"/>
                  <a:cs typeface="Calibri (MS)"/>
                  <a:sym typeface="Calibri (MS)"/>
                </a:rPr>
                <a:t>↓</a:t>
              </a:r>
            </a:p>
          </p:txBody>
        </p:sp>
      </p:grpSp>
      <p:grpSp>
        <p:nvGrpSpPr>
          <p:cNvPr name="Group 46" id="46"/>
          <p:cNvGrpSpPr/>
          <p:nvPr/>
        </p:nvGrpSpPr>
        <p:grpSpPr>
          <a:xfrm rot="0">
            <a:off x="306446" y="5899400"/>
            <a:ext cx="8531098" cy="682152"/>
            <a:chOff x="0" y="0"/>
            <a:chExt cx="11316980" cy="904913"/>
          </a:xfrm>
        </p:grpSpPr>
        <p:sp>
          <p:nvSpPr>
            <p:cNvPr name="Freeform 47" id="47"/>
            <p:cNvSpPr/>
            <p:nvPr/>
          </p:nvSpPr>
          <p:spPr>
            <a:xfrm flipH="false" flipV="false" rot="0">
              <a:off x="14629" y="13589"/>
              <a:ext cx="11287817" cy="877824"/>
            </a:xfrm>
            <a:custGeom>
              <a:avLst/>
              <a:gdLst/>
              <a:ahLst/>
              <a:cxnLst/>
              <a:rect r="r" b="b" t="t" l="l"/>
              <a:pathLst>
                <a:path h="877824" w="11287817">
                  <a:moveTo>
                    <a:pt x="0" y="0"/>
                  </a:moveTo>
                  <a:lnTo>
                    <a:pt x="11287818" y="0"/>
                  </a:lnTo>
                  <a:lnTo>
                    <a:pt x="11287818" y="877824"/>
                  </a:lnTo>
                  <a:lnTo>
                    <a:pt x="0" y="877824"/>
                  </a:lnTo>
                  <a:close/>
                </a:path>
              </a:pathLst>
            </a:custGeom>
            <a:solidFill>
              <a:srgbClr val="F4845F"/>
            </a:solidFill>
          </p:spPr>
        </p:sp>
        <p:sp>
          <p:nvSpPr>
            <p:cNvPr name="Freeform 48" id="48"/>
            <p:cNvSpPr/>
            <p:nvPr/>
          </p:nvSpPr>
          <p:spPr>
            <a:xfrm flipH="false" flipV="false" rot="0">
              <a:off x="0" y="0"/>
              <a:ext cx="11317069" cy="905002"/>
            </a:xfrm>
            <a:custGeom>
              <a:avLst/>
              <a:gdLst/>
              <a:ahLst/>
              <a:cxnLst/>
              <a:rect r="r" b="b" t="t" l="l"/>
              <a:pathLst>
                <a:path h="905002" w="11317069">
                  <a:moveTo>
                    <a:pt x="14629" y="0"/>
                  </a:moveTo>
                  <a:lnTo>
                    <a:pt x="11302447" y="0"/>
                  </a:lnTo>
                  <a:cubicBezTo>
                    <a:pt x="11310513" y="0"/>
                    <a:pt x="11317069" y="6096"/>
                    <a:pt x="11317069" y="13589"/>
                  </a:cubicBezTo>
                  <a:lnTo>
                    <a:pt x="11317069" y="891413"/>
                  </a:lnTo>
                  <a:cubicBezTo>
                    <a:pt x="11317069" y="898906"/>
                    <a:pt x="11310513" y="905002"/>
                    <a:pt x="11302447" y="905002"/>
                  </a:cubicBezTo>
                  <a:lnTo>
                    <a:pt x="14629" y="905002"/>
                  </a:lnTo>
                  <a:cubicBezTo>
                    <a:pt x="6563" y="904875"/>
                    <a:pt x="0" y="898906"/>
                    <a:pt x="0" y="891413"/>
                  </a:cubicBezTo>
                  <a:lnTo>
                    <a:pt x="0" y="13589"/>
                  </a:lnTo>
                  <a:cubicBezTo>
                    <a:pt x="0" y="6096"/>
                    <a:pt x="6563" y="0"/>
                    <a:pt x="14629" y="0"/>
                  </a:cubicBezTo>
                  <a:moveTo>
                    <a:pt x="14629" y="27051"/>
                  </a:moveTo>
                  <a:lnTo>
                    <a:pt x="14629" y="13589"/>
                  </a:lnTo>
                  <a:lnTo>
                    <a:pt x="29122" y="13589"/>
                  </a:lnTo>
                  <a:lnTo>
                    <a:pt x="29122" y="891413"/>
                  </a:lnTo>
                  <a:lnTo>
                    <a:pt x="14629" y="891413"/>
                  </a:lnTo>
                  <a:lnTo>
                    <a:pt x="14629" y="877824"/>
                  </a:lnTo>
                  <a:lnTo>
                    <a:pt x="11302447" y="877824"/>
                  </a:lnTo>
                  <a:lnTo>
                    <a:pt x="11302447" y="891413"/>
                  </a:lnTo>
                  <a:lnTo>
                    <a:pt x="11287817" y="891413"/>
                  </a:lnTo>
                  <a:lnTo>
                    <a:pt x="11287817" y="13589"/>
                  </a:lnTo>
                  <a:lnTo>
                    <a:pt x="11302447" y="13589"/>
                  </a:lnTo>
                  <a:lnTo>
                    <a:pt x="11302447" y="27051"/>
                  </a:lnTo>
                  <a:lnTo>
                    <a:pt x="14629" y="27051"/>
                  </a:lnTo>
                  <a:close/>
                </a:path>
              </a:pathLst>
            </a:custGeom>
            <a:solidFill>
              <a:srgbClr val="F4845F"/>
            </a:solidFill>
          </p:spPr>
        </p:sp>
      </p:grpSp>
      <p:grpSp>
        <p:nvGrpSpPr>
          <p:cNvPr name="Group 49" id="49"/>
          <p:cNvGrpSpPr/>
          <p:nvPr/>
        </p:nvGrpSpPr>
        <p:grpSpPr>
          <a:xfrm rot="0">
            <a:off x="515329" y="5909615"/>
            <a:ext cx="8113342" cy="661732"/>
            <a:chOff x="0" y="0"/>
            <a:chExt cx="10762803" cy="877824"/>
          </a:xfrm>
        </p:grpSpPr>
        <p:sp>
          <p:nvSpPr>
            <p:cNvPr name="Freeform 50" id="50"/>
            <p:cNvSpPr/>
            <p:nvPr/>
          </p:nvSpPr>
          <p:spPr>
            <a:xfrm flipH="false" flipV="false" rot="0">
              <a:off x="0" y="0"/>
              <a:ext cx="10762803" cy="877824"/>
            </a:xfrm>
            <a:custGeom>
              <a:avLst/>
              <a:gdLst/>
              <a:ahLst/>
              <a:cxnLst/>
              <a:rect r="r" b="b" t="t" l="l"/>
              <a:pathLst>
                <a:path h="877824" w="10762803">
                  <a:moveTo>
                    <a:pt x="0" y="0"/>
                  </a:moveTo>
                  <a:lnTo>
                    <a:pt x="10762803" y="0"/>
                  </a:lnTo>
                  <a:lnTo>
                    <a:pt x="10762803" y="877824"/>
                  </a:lnTo>
                  <a:lnTo>
                    <a:pt x="0" y="877824"/>
                  </a:lnTo>
                  <a:close/>
                </a:path>
              </a:pathLst>
            </a:custGeom>
            <a:blipFill>
              <a:blip r:embed="rId3">
                <a:alphaModFix amt="0"/>
              </a:blip>
              <a:stretch>
                <a:fillRect l="0" t="-171912" r="7111" b="-171912"/>
              </a:stretch>
            </a:blipFill>
          </p:spPr>
        </p:sp>
        <p:sp>
          <p:nvSpPr>
            <p:cNvPr name="TextBox 51" id="51"/>
            <p:cNvSpPr txBox="true"/>
            <p:nvPr/>
          </p:nvSpPr>
          <p:spPr>
            <a:xfrm>
              <a:off x="0" y="-38100"/>
              <a:ext cx="10762803" cy="915924"/>
            </a:xfrm>
            <a:prstGeom prst="rect">
              <a:avLst/>
            </a:prstGeom>
          </p:spPr>
          <p:txBody>
            <a:bodyPr anchor="ctr" rtlCol="false" tIns="0" lIns="0" bIns="0" rIns="0"/>
            <a:lstStyle/>
            <a:p>
              <a:pPr algn="l">
                <a:lnSpc>
                  <a:spcPts val="2880"/>
                </a:lnSpc>
              </a:pPr>
              <a:r>
                <a:rPr lang="en-US" sz="2400">
                  <a:solidFill>
                    <a:srgbClr val="FFFFFF"/>
                  </a:solidFill>
                  <a:latin typeface="Calibri (MS)"/>
                  <a:ea typeface="Calibri (MS)"/>
                  <a:cs typeface="Calibri (MS)"/>
                  <a:sym typeface="Calibri (MS)"/>
                </a:rPr>
                <a:t>4.  Optimise Stiffness &amp; Damping</a:t>
              </a:r>
            </a:p>
          </p:txBody>
        </p:sp>
      </p:grpSp>
      <p:grpSp>
        <p:nvGrpSpPr>
          <p:cNvPr name="Group 52" id="52"/>
          <p:cNvGrpSpPr/>
          <p:nvPr/>
        </p:nvGrpSpPr>
        <p:grpSpPr>
          <a:xfrm rot="0">
            <a:off x="259404" y="6962460"/>
            <a:ext cx="8509115" cy="441154"/>
            <a:chOff x="0" y="0"/>
            <a:chExt cx="11287817" cy="585216"/>
          </a:xfrm>
        </p:grpSpPr>
        <p:sp>
          <p:nvSpPr>
            <p:cNvPr name="Freeform 53" id="53"/>
            <p:cNvSpPr/>
            <p:nvPr/>
          </p:nvSpPr>
          <p:spPr>
            <a:xfrm flipH="false" flipV="false" rot="0">
              <a:off x="0" y="0"/>
              <a:ext cx="11287817" cy="585216"/>
            </a:xfrm>
            <a:custGeom>
              <a:avLst/>
              <a:gdLst/>
              <a:ahLst/>
              <a:cxnLst/>
              <a:rect r="r" b="b" t="t" l="l"/>
              <a:pathLst>
                <a:path h="585216" w="11287817">
                  <a:moveTo>
                    <a:pt x="0" y="0"/>
                  </a:moveTo>
                  <a:lnTo>
                    <a:pt x="11287817" y="0"/>
                  </a:lnTo>
                  <a:lnTo>
                    <a:pt x="11287817" y="585216"/>
                  </a:lnTo>
                  <a:lnTo>
                    <a:pt x="0" y="585216"/>
                  </a:lnTo>
                  <a:close/>
                </a:path>
              </a:pathLst>
            </a:custGeom>
            <a:blipFill>
              <a:blip r:embed="rId3">
                <a:alphaModFix amt="0"/>
              </a:blip>
              <a:stretch>
                <a:fillRect l="0" t="-299106" r="7111" b="-299106"/>
              </a:stretch>
            </a:blipFill>
          </p:spPr>
        </p:sp>
        <p:sp>
          <p:nvSpPr>
            <p:cNvPr name="TextBox 54" id="54"/>
            <p:cNvSpPr txBox="true"/>
            <p:nvPr/>
          </p:nvSpPr>
          <p:spPr>
            <a:xfrm>
              <a:off x="0" y="-38100"/>
              <a:ext cx="11287817" cy="623316"/>
            </a:xfrm>
            <a:prstGeom prst="rect">
              <a:avLst/>
            </a:prstGeom>
          </p:spPr>
          <p:txBody>
            <a:bodyPr anchor="ctr" rtlCol="false" tIns="0" lIns="0" bIns="0" rIns="0"/>
            <a:lstStyle/>
            <a:p>
              <a:pPr algn="l">
                <a:lnSpc>
                  <a:spcPts val="2039"/>
                </a:lnSpc>
              </a:pPr>
              <a:r>
                <a:rPr lang="en-US" sz="1700">
                  <a:solidFill>
                    <a:srgbClr val="000000"/>
                  </a:solidFill>
                  <a:latin typeface="Calibri (MS)"/>
                  <a:ea typeface="Calibri (MS)"/>
                  <a:cs typeface="Calibri (MS)"/>
                  <a:sym typeface="Calibri (MS)"/>
                </a:rPr>
                <a:t>✓  Physically reliable — grounded in mechanics</a:t>
              </a:r>
            </a:p>
          </p:txBody>
        </p:sp>
      </p:grpSp>
      <p:grpSp>
        <p:nvGrpSpPr>
          <p:cNvPr name="Group 55" id="55"/>
          <p:cNvGrpSpPr/>
          <p:nvPr/>
        </p:nvGrpSpPr>
        <p:grpSpPr>
          <a:xfrm rot="0">
            <a:off x="259404" y="7432189"/>
            <a:ext cx="8509115" cy="441154"/>
            <a:chOff x="0" y="0"/>
            <a:chExt cx="11287817" cy="585216"/>
          </a:xfrm>
        </p:grpSpPr>
        <p:sp>
          <p:nvSpPr>
            <p:cNvPr name="Freeform 56" id="56"/>
            <p:cNvSpPr/>
            <p:nvPr/>
          </p:nvSpPr>
          <p:spPr>
            <a:xfrm flipH="false" flipV="false" rot="0">
              <a:off x="0" y="0"/>
              <a:ext cx="11287817" cy="585216"/>
            </a:xfrm>
            <a:custGeom>
              <a:avLst/>
              <a:gdLst/>
              <a:ahLst/>
              <a:cxnLst/>
              <a:rect r="r" b="b" t="t" l="l"/>
              <a:pathLst>
                <a:path h="585216" w="11287817">
                  <a:moveTo>
                    <a:pt x="0" y="0"/>
                  </a:moveTo>
                  <a:lnTo>
                    <a:pt x="11287817" y="0"/>
                  </a:lnTo>
                  <a:lnTo>
                    <a:pt x="11287817" y="585216"/>
                  </a:lnTo>
                  <a:lnTo>
                    <a:pt x="0" y="585216"/>
                  </a:lnTo>
                  <a:close/>
                </a:path>
              </a:pathLst>
            </a:custGeom>
            <a:blipFill>
              <a:blip r:embed="rId3">
                <a:alphaModFix amt="0"/>
              </a:blip>
              <a:stretch>
                <a:fillRect l="0" t="-299106" r="7111" b="-299106"/>
              </a:stretch>
            </a:blipFill>
          </p:spPr>
        </p:sp>
        <p:sp>
          <p:nvSpPr>
            <p:cNvPr name="TextBox 57" id="57"/>
            <p:cNvSpPr txBox="true"/>
            <p:nvPr/>
          </p:nvSpPr>
          <p:spPr>
            <a:xfrm>
              <a:off x="0" y="-38100"/>
              <a:ext cx="11287817" cy="623316"/>
            </a:xfrm>
            <a:prstGeom prst="rect">
              <a:avLst/>
            </a:prstGeom>
          </p:spPr>
          <p:txBody>
            <a:bodyPr anchor="ctr" rtlCol="false" tIns="0" lIns="0" bIns="0" rIns="0"/>
            <a:lstStyle/>
            <a:p>
              <a:pPr algn="l">
                <a:lnSpc>
                  <a:spcPts val="2039"/>
                </a:lnSpc>
              </a:pPr>
              <a:r>
                <a:rPr lang="en-US" sz="1700">
                  <a:solidFill>
                    <a:srgbClr val="000000"/>
                  </a:solidFill>
                  <a:latin typeface="Calibri (MS)"/>
                  <a:ea typeface="Calibri (MS)"/>
                  <a:cs typeface="Calibri (MS)"/>
                  <a:sym typeface="Calibri (MS)"/>
                </a:rPr>
                <a:t>✓  No training data required</a:t>
              </a:r>
            </a:p>
          </p:txBody>
        </p:sp>
      </p:grpSp>
      <p:grpSp>
        <p:nvGrpSpPr>
          <p:cNvPr name="Group 58" id="58"/>
          <p:cNvGrpSpPr/>
          <p:nvPr/>
        </p:nvGrpSpPr>
        <p:grpSpPr>
          <a:xfrm rot="0">
            <a:off x="306446" y="7971326"/>
            <a:ext cx="8509115" cy="441154"/>
            <a:chOff x="0" y="0"/>
            <a:chExt cx="11287817" cy="585216"/>
          </a:xfrm>
        </p:grpSpPr>
        <p:sp>
          <p:nvSpPr>
            <p:cNvPr name="Freeform 59" id="59"/>
            <p:cNvSpPr/>
            <p:nvPr/>
          </p:nvSpPr>
          <p:spPr>
            <a:xfrm flipH="false" flipV="false" rot="0">
              <a:off x="0" y="0"/>
              <a:ext cx="11287817" cy="585216"/>
            </a:xfrm>
            <a:custGeom>
              <a:avLst/>
              <a:gdLst/>
              <a:ahLst/>
              <a:cxnLst/>
              <a:rect r="r" b="b" t="t" l="l"/>
              <a:pathLst>
                <a:path h="585216" w="11287817">
                  <a:moveTo>
                    <a:pt x="0" y="0"/>
                  </a:moveTo>
                  <a:lnTo>
                    <a:pt x="11287817" y="0"/>
                  </a:lnTo>
                  <a:lnTo>
                    <a:pt x="11287817" y="585216"/>
                  </a:lnTo>
                  <a:lnTo>
                    <a:pt x="0" y="585216"/>
                  </a:lnTo>
                  <a:close/>
                </a:path>
              </a:pathLst>
            </a:custGeom>
            <a:blipFill>
              <a:blip r:embed="rId3">
                <a:alphaModFix amt="0"/>
              </a:blip>
              <a:stretch>
                <a:fillRect l="0" t="-299106" r="7111" b="-299106"/>
              </a:stretch>
            </a:blipFill>
          </p:spPr>
        </p:sp>
        <p:sp>
          <p:nvSpPr>
            <p:cNvPr name="TextBox 60" id="60"/>
            <p:cNvSpPr txBox="true"/>
            <p:nvPr/>
          </p:nvSpPr>
          <p:spPr>
            <a:xfrm>
              <a:off x="0" y="-38100"/>
              <a:ext cx="11287817" cy="623316"/>
            </a:xfrm>
            <a:prstGeom prst="rect">
              <a:avLst/>
            </a:prstGeom>
          </p:spPr>
          <p:txBody>
            <a:bodyPr anchor="ctr" rtlCol="false" tIns="0" lIns="0" bIns="0" rIns="0"/>
            <a:lstStyle/>
            <a:p>
              <a:pPr algn="l">
                <a:lnSpc>
                  <a:spcPts val="2039"/>
                </a:lnSpc>
              </a:pPr>
              <a:r>
                <a:rPr lang="en-US" sz="1700">
                  <a:solidFill>
                    <a:srgbClr val="000000"/>
                  </a:solidFill>
                  <a:latin typeface="Calibri (MS)"/>
                  <a:ea typeface="Calibri (MS)"/>
                  <a:cs typeface="Calibri (MS)"/>
                  <a:sym typeface="Calibri (MS)"/>
                </a:rPr>
                <a:t>✓  Interpretable and explainable results</a:t>
              </a:r>
            </a:p>
          </p:txBody>
        </p:sp>
      </p:grpSp>
      <p:grpSp>
        <p:nvGrpSpPr>
          <p:cNvPr name="Group 61" id="61"/>
          <p:cNvGrpSpPr/>
          <p:nvPr/>
        </p:nvGrpSpPr>
        <p:grpSpPr>
          <a:xfrm rot="0">
            <a:off x="259404" y="8574405"/>
            <a:ext cx="8509115" cy="441154"/>
            <a:chOff x="0" y="0"/>
            <a:chExt cx="11287817" cy="585216"/>
          </a:xfrm>
        </p:grpSpPr>
        <p:sp>
          <p:nvSpPr>
            <p:cNvPr name="Freeform 62" id="62"/>
            <p:cNvSpPr/>
            <p:nvPr/>
          </p:nvSpPr>
          <p:spPr>
            <a:xfrm flipH="false" flipV="false" rot="0">
              <a:off x="0" y="0"/>
              <a:ext cx="11287817" cy="585216"/>
            </a:xfrm>
            <a:custGeom>
              <a:avLst/>
              <a:gdLst/>
              <a:ahLst/>
              <a:cxnLst/>
              <a:rect r="r" b="b" t="t" l="l"/>
              <a:pathLst>
                <a:path h="585216" w="11287817">
                  <a:moveTo>
                    <a:pt x="0" y="0"/>
                  </a:moveTo>
                  <a:lnTo>
                    <a:pt x="11287817" y="0"/>
                  </a:lnTo>
                  <a:lnTo>
                    <a:pt x="11287817" y="585216"/>
                  </a:lnTo>
                  <a:lnTo>
                    <a:pt x="0" y="585216"/>
                  </a:lnTo>
                  <a:close/>
                </a:path>
              </a:pathLst>
            </a:custGeom>
            <a:blipFill>
              <a:blip r:embed="rId3">
                <a:alphaModFix amt="0"/>
              </a:blip>
              <a:stretch>
                <a:fillRect l="0" t="-299106" r="7111" b="-299106"/>
              </a:stretch>
            </a:blipFill>
          </p:spPr>
        </p:sp>
        <p:sp>
          <p:nvSpPr>
            <p:cNvPr name="TextBox 63" id="63"/>
            <p:cNvSpPr txBox="true"/>
            <p:nvPr/>
          </p:nvSpPr>
          <p:spPr>
            <a:xfrm>
              <a:off x="0" y="-38100"/>
              <a:ext cx="11287817" cy="623316"/>
            </a:xfrm>
            <a:prstGeom prst="rect">
              <a:avLst/>
            </a:prstGeom>
          </p:spPr>
          <p:txBody>
            <a:bodyPr anchor="ctr" rtlCol="false" tIns="0" lIns="0" bIns="0" rIns="0"/>
            <a:lstStyle/>
            <a:p>
              <a:pPr algn="l">
                <a:lnSpc>
                  <a:spcPts val="2039"/>
                </a:lnSpc>
              </a:pPr>
              <a:r>
                <a:rPr lang="en-US" sz="1700">
                  <a:solidFill>
                    <a:srgbClr val="000000"/>
                  </a:solidFill>
                  <a:latin typeface="Calibri (MS)"/>
                  <a:ea typeface="Calibri (MS)"/>
                  <a:cs typeface="Calibri (MS)"/>
                  <a:sym typeface="Calibri (MS)"/>
                </a:rPr>
                <a:t>✗  Computationally expensive — 10–11 hrs per run</a:t>
              </a:r>
            </a:p>
          </p:txBody>
        </p:sp>
      </p:grpSp>
      <p:grpSp>
        <p:nvGrpSpPr>
          <p:cNvPr name="Group 64" id="64"/>
          <p:cNvGrpSpPr/>
          <p:nvPr/>
        </p:nvGrpSpPr>
        <p:grpSpPr>
          <a:xfrm rot="0">
            <a:off x="259404" y="9110809"/>
            <a:ext cx="8509115" cy="441154"/>
            <a:chOff x="0" y="0"/>
            <a:chExt cx="11287817" cy="585216"/>
          </a:xfrm>
        </p:grpSpPr>
        <p:sp>
          <p:nvSpPr>
            <p:cNvPr name="Freeform 65" id="65"/>
            <p:cNvSpPr/>
            <p:nvPr/>
          </p:nvSpPr>
          <p:spPr>
            <a:xfrm flipH="false" flipV="false" rot="0">
              <a:off x="0" y="0"/>
              <a:ext cx="11287817" cy="585216"/>
            </a:xfrm>
            <a:custGeom>
              <a:avLst/>
              <a:gdLst/>
              <a:ahLst/>
              <a:cxnLst/>
              <a:rect r="r" b="b" t="t" l="l"/>
              <a:pathLst>
                <a:path h="585216" w="11287817">
                  <a:moveTo>
                    <a:pt x="0" y="0"/>
                  </a:moveTo>
                  <a:lnTo>
                    <a:pt x="11287817" y="0"/>
                  </a:lnTo>
                  <a:lnTo>
                    <a:pt x="11287817" y="585216"/>
                  </a:lnTo>
                  <a:lnTo>
                    <a:pt x="0" y="585216"/>
                  </a:lnTo>
                  <a:close/>
                </a:path>
              </a:pathLst>
            </a:custGeom>
            <a:blipFill>
              <a:blip r:embed="rId3">
                <a:alphaModFix amt="0"/>
              </a:blip>
              <a:stretch>
                <a:fillRect l="0" t="-299106" r="7111" b="-299106"/>
              </a:stretch>
            </a:blipFill>
          </p:spPr>
        </p:sp>
        <p:sp>
          <p:nvSpPr>
            <p:cNvPr name="TextBox 66" id="66"/>
            <p:cNvSpPr txBox="true"/>
            <p:nvPr/>
          </p:nvSpPr>
          <p:spPr>
            <a:xfrm>
              <a:off x="0" y="-38100"/>
              <a:ext cx="11287817" cy="623316"/>
            </a:xfrm>
            <a:prstGeom prst="rect">
              <a:avLst/>
            </a:prstGeom>
          </p:spPr>
          <p:txBody>
            <a:bodyPr anchor="ctr" rtlCol="false" tIns="0" lIns="0" bIns="0" rIns="0"/>
            <a:lstStyle/>
            <a:p>
              <a:pPr algn="l">
                <a:lnSpc>
                  <a:spcPts val="2039"/>
                </a:lnSpc>
              </a:pPr>
              <a:r>
                <a:rPr lang="en-US" sz="1700">
                  <a:solidFill>
                    <a:srgbClr val="000000"/>
                  </a:solidFill>
                  <a:latin typeface="Calibri (MS)"/>
                  <a:ea typeface="Calibri (MS)"/>
                  <a:cs typeface="Calibri (MS)"/>
                  <a:sym typeface="Calibri (MS)"/>
                </a:rPr>
                <a:t>✗  Every parameter change requires full re-run</a:t>
              </a:r>
            </a:p>
          </p:txBody>
        </p:sp>
      </p:grpSp>
      <p:grpSp>
        <p:nvGrpSpPr>
          <p:cNvPr name="Group 67" id="67"/>
          <p:cNvGrpSpPr/>
          <p:nvPr/>
        </p:nvGrpSpPr>
        <p:grpSpPr>
          <a:xfrm rot="0">
            <a:off x="9164603" y="1603750"/>
            <a:ext cx="9123397" cy="756923"/>
            <a:chOff x="0" y="0"/>
            <a:chExt cx="12164530" cy="1009231"/>
          </a:xfrm>
        </p:grpSpPr>
        <p:sp>
          <p:nvSpPr>
            <p:cNvPr name="Freeform 68" id="68"/>
            <p:cNvSpPr/>
            <p:nvPr/>
          </p:nvSpPr>
          <p:spPr>
            <a:xfrm flipH="false" flipV="false" rot="0">
              <a:off x="18263" y="16891"/>
              <a:ext cx="12127907" cy="975360"/>
            </a:xfrm>
            <a:custGeom>
              <a:avLst/>
              <a:gdLst/>
              <a:ahLst/>
              <a:cxnLst/>
              <a:rect r="r" b="b" t="t" l="l"/>
              <a:pathLst>
                <a:path h="975360" w="12127907">
                  <a:moveTo>
                    <a:pt x="0" y="0"/>
                  </a:moveTo>
                  <a:lnTo>
                    <a:pt x="12127907" y="0"/>
                  </a:lnTo>
                  <a:lnTo>
                    <a:pt x="12127907" y="975360"/>
                  </a:lnTo>
                  <a:lnTo>
                    <a:pt x="0" y="975360"/>
                  </a:lnTo>
                  <a:close/>
                </a:path>
              </a:pathLst>
            </a:custGeom>
            <a:solidFill>
              <a:srgbClr val="6C63AC"/>
            </a:solidFill>
          </p:spPr>
        </p:sp>
        <p:sp>
          <p:nvSpPr>
            <p:cNvPr name="Freeform 69" id="69"/>
            <p:cNvSpPr/>
            <p:nvPr/>
          </p:nvSpPr>
          <p:spPr>
            <a:xfrm flipH="false" flipV="false" rot="0">
              <a:off x="0" y="0"/>
              <a:ext cx="12164433" cy="1009144"/>
            </a:xfrm>
            <a:custGeom>
              <a:avLst/>
              <a:gdLst/>
              <a:ahLst/>
              <a:cxnLst/>
              <a:rect r="r" b="b" t="t" l="l"/>
              <a:pathLst>
                <a:path h="1009144" w="12164433">
                  <a:moveTo>
                    <a:pt x="18263" y="0"/>
                  </a:moveTo>
                  <a:lnTo>
                    <a:pt x="12146170" y="0"/>
                  </a:lnTo>
                  <a:cubicBezTo>
                    <a:pt x="12156332" y="0"/>
                    <a:pt x="12164433" y="7620"/>
                    <a:pt x="12164433" y="16891"/>
                  </a:cubicBezTo>
                  <a:lnTo>
                    <a:pt x="12164433" y="992251"/>
                  </a:lnTo>
                  <a:cubicBezTo>
                    <a:pt x="12164433" y="1001649"/>
                    <a:pt x="12156194" y="1009142"/>
                    <a:pt x="12146170" y="1009142"/>
                  </a:cubicBezTo>
                  <a:lnTo>
                    <a:pt x="18263" y="1009142"/>
                  </a:lnTo>
                  <a:cubicBezTo>
                    <a:pt x="8239" y="1009269"/>
                    <a:pt x="0" y="1001649"/>
                    <a:pt x="0" y="992251"/>
                  </a:cubicBezTo>
                  <a:lnTo>
                    <a:pt x="0" y="16891"/>
                  </a:lnTo>
                  <a:cubicBezTo>
                    <a:pt x="0" y="7620"/>
                    <a:pt x="8239" y="0"/>
                    <a:pt x="18263" y="0"/>
                  </a:cubicBezTo>
                  <a:moveTo>
                    <a:pt x="18263" y="33909"/>
                  </a:moveTo>
                  <a:lnTo>
                    <a:pt x="18263" y="16891"/>
                  </a:lnTo>
                  <a:lnTo>
                    <a:pt x="36664" y="16891"/>
                  </a:lnTo>
                  <a:lnTo>
                    <a:pt x="36664" y="992251"/>
                  </a:lnTo>
                  <a:lnTo>
                    <a:pt x="18263" y="992251"/>
                  </a:lnTo>
                  <a:lnTo>
                    <a:pt x="18263" y="975360"/>
                  </a:lnTo>
                  <a:lnTo>
                    <a:pt x="12146170" y="975360"/>
                  </a:lnTo>
                  <a:lnTo>
                    <a:pt x="12146170" y="992251"/>
                  </a:lnTo>
                  <a:lnTo>
                    <a:pt x="12127907" y="992251"/>
                  </a:lnTo>
                  <a:lnTo>
                    <a:pt x="12127907" y="16891"/>
                  </a:lnTo>
                  <a:lnTo>
                    <a:pt x="12146170" y="16891"/>
                  </a:lnTo>
                  <a:lnTo>
                    <a:pt x="12146170" y="33909"/>
                  </a:lnTo>
                  <a:lnTo>
                    <a:pt x="18263" y="33909"/>
                  </a:lnTo>
                  <a:close/>
                </a:path>
              </a:pathLst>
            </a:custGeom>
            <a:solidFill>
              <a:srgbClr val="6C63AC"/>
            </a:solidFill>
          </p:spPr>
        </p:sp>
      </p:grpSp>
      <p:grpSp>
        <p:nvGrpSpPr>
          <p:cNvPr name="Group 70" id="70"/>
          <p:cNvGrpSpPr/>
          <p:nvPr/>
        </p:nvGrpSpPr>
        <p:grpSpPr>
          <a:xfrm rot="0">
            <a:off x="9178331" y="1589213"/>
            <a:ext cx="9095930" cy="786070"/>
            <a:chOff x="0" y="0"/>
            <a:chExt cx="12127907" cy="1048093"/>
          </a:xfrm>
        </p:grpSpPr>
        <p:sp>
          <p:nvSpPr>
            <p:cNvPr name="Freeform 71" id="71"/>
            <p:cNvSpPr/>
            <p:nvPr/>
          </p:nvSpPr>
          <p:spPr>
            <a:xfrm flipH="false" flipV="false" rot="0">
              <a:off x="0" y="0"/>
              <a:ext cx="12127907" cy="1048093"/>
            </a:xfrm>
            <a:custGeom>
              <a:avLst/>
              <a:gdLst/>
              <a:ahLst/>
              <a:cxnLst/>
              <a:rect r="r" b="b" t="t" l="l"/>
              <a:pathLst>
                <a:path h="1048093" w="12127907">
                  <a:moveTo>
                    <a:pt x="0" y="0"/>
                  </a:moveTo>
                  <a:lnTo>
                    <a:pt x="12127907" y="0"/>
                  </a:lnTo>
                  <a:lnTo>
                    <a:pt x="12127907" y="1048093"/>
                  </a:lnTo>
                  <a:lnTo>
                    <a:pt x="0" y="1048093"/>
                  </a:lnTo>
                  <a:close/>
                </a:path>
              </a:pathLst>
            </a:custGeom>
            <a:blipFill>
              <a:blip r:embed="rId3">
                <a:alphaModFix amt="0"/>
              </a:blip>
              <a:stretch>
                <a:fillRect l="0" t="-161997" r="7513" b="-155058"/>
              </a:stretch>
            </a:blipFill>
          </p:spPr>
        </p:sp>
        <p:sp>
          <p:nvSpPr>
            <p:cNvPr name="TextBox 72" id="72"/>
            <p:cNvSpPr txBox="true"/>
            <p:nvPr/>
          </p:nvSpPr>
          <p:spPr>
            <a:xfrm>
              <a:off x="0" y="-76200"/>
              <a:ext cx="12127907" cy="1124293"/>
            </a:xfrm>
            <a:prstGeom prst="rect">
              <a:avLst/>
            </a:prstGeom>
          </p:spPr>
          <p:txBody>
            <a:bodyPr anchor="ctr" rtlCol="false" tIns="0" lIns="0" bIns="0" rIns="0"/>
            <a:lstStyle/>
            <a:p>
              <a:pPr algn="ctr">
                <a:lnSpc>
                  <a:spcPts val="4559"/>
                </a:lnSpc>
              </a:pPr>
              <a:r>
                <a:rPr lang="en-US" sz="3799" b="true">
                  <a:solidFill>
                    <a:srgbClr val="FFFFFF"/>
                  </a:solidFill>
                  <a:latin typeface="Calibri (MS) Bold"/>
                  <a:ea typeface="Calibri (MS) Bold"/>
                  <a:cs typeface="Calibri (MS) Bold"/>
                  <a:sym typeface="Calibri (MS) Bold"/>
                </a:rPr>
                <a:t>Deep Learning Surrogate Approach</a:t>
              </a:r>
            </a:p>
          </p:txBody>
        </p:sp>
      </p:grpSp>
      <p:grpSp>
        <p:nvGrpSpPr>
          <p:cNvPr name="Group 73" id="73"/>
          <p:cNvGrpSpPr/>
          <p:nvPr/>
        </p:nvGrpSpPr>
        <p:grpSpPr>
          <a:xfrm rot="0">
            <a:off x="9474938" y="2494271"/>
            <a:ext cx="8502717" cy="480269"/>
            <a:chOff x="0" y="0"/>
            <a:chExt cx="11336956" cy="640358"/>
          </a:xfrm>
        </p:grpSpPr>
        <p:sp>
          <p:nvSpPr>
            <p:cNvPr name="Freeform 74" id="74"/>
            <p:cNvSpPr/>
            <p:nvPr/>
          </p:nvSpPr>
          <p:spPr>
            <a:xfrm flipH="false" flipV="false" rot="0">
              <a:off x="0" y="0"/>
              <a:ext cx="11336956" cy="640358"/>
            </a:xfrm>
            <a:custGeom>
              <a:avLst/>
              <a:gdLst/>
              <a:ahLst/>
              <a:cxnLst/>
              <a:rect r="r" b="b" t="t" l="l"/>
              <a:pathLst>
                <a:path h="640358" w="11336956">
                  <a:moveTo>
                    <a:pt x="0" y="0"/>
                  </a:moveTo>
                  <a:lnTo>
                    <a:pt x="11336956" y="0"/>
                  </a:lnTo>
                  <a:lnTo>
                    <a:pt x="11336956" y="640358"/>
                  </a:lnTo>
                  <a:lnTo>
                    <a:pt x="0" y="640358"/>
                  </a:lnTo>
                  <a:close/>
                </a:path>
              </a:pathLst>
            </a:custGeom>
            <a:blipFill>
              <a:blip r:embed="rId3">
                <a:alphaModFix amt="0"/>
              </a:blip>
              <a:stretch>
                <a:fillRect l="0" t="-277158" r="7513" b="-260931"/>
              </a:stretch>
            </a:blipFill>
          </p:spPr>
        </p:sp>
        <p:sp>
          <p:nvSpPr>
            <p:cNvPr name="TextBox 75" id="75"/>
            <p:cNvSpPr txBox="true"/>
            <p:nvPr/>
          </p:nvSpPr>
          <p:spPr>
            <a:xfrm>
              <a:off x="0" y="-38100"/>
              <a:ext cx="11336956" cy="678458"/>
            </a:xfrm>
            <a:prstGeom prst="rect">
              <a:avLst/>
            </a:prstGeom>
          </p:spPr>
          <p:txBody>
            <a:bodyPr anchor="ctr" rtlCol="false" tIns="0" lIns="0" bIns="0" rIns="0"/>
            <a:lstStyle/>
            <a:p>
              <a:pPr algn="l">
                <a:lnSpc>
                  <a:spcPts val="2880"/>
                </a:lnSpc>
              </a:pPr>
              <a:r>
                <a:rPr lang="en-US" b="true" sz="2400" spc="640">
                  <a:solidFill>
                    <a:srgbClr val="6C63AC"/>
                  </a:solidFill>
                  <a:latin typeface="Calibri (MS) Bold"/>
                  <a:ea typeface="Calibri (MS) Bold"/>
                  <a:cs typeface="Calibri (MS) Bold"/>
                  <a:sym typeface="Calibri (MS) Bold"/>
                </a:rPr>
                <a:t>WORKFLOW</a:t>
              </a:r>
            </a:p>
          </p:txBody>
        </p:sp>
      </p:grpSp>
      <p:grpSp>
        <p:nvGrpSpPr>
          <p:cNvPr name="Group 76" id="76"/>
          <p:cNvGrpSpPr/>
          <p:nvPr/>
        </p:nvGrpSpPr>
        <p:grpSpPr>
          <a:xfrm rot="0">
            <a:off x="9463949" y="2923020"/>
            <a:ext cx="8524685" cy="678685"/>
            <a:chOff x="0" y="0"/>
            <a:chExt cx="11366246" cy="904913"/>
          </a:xfrm>
        </p:grpSpPr>
        <p:sp>
          <p:nvSpPr>
            <p:cNvPr name="Freeform 77" id="77"/>
            <p:cNvSpPr/>
            <p:nvPr/>
          </p:nvSpPr>
          <p:spPr>
            <a:xfrm flipH="false" flipV="false" rot="0">
              <a:off x="14693" y="13589"/>
              <a:ext cx="11336956" cy="877824"/>
            </a:xfrm>
            <a:custGeom>
              <a:avLst/>
              <a:gdLst/>
              <a:ahLst/>
              <a:cxnLst/>
              <a:rect r="r" b="b" t="t" l="l"/>
              <a:pathLst>
                <a:path h="877824" w="11336956">
                  <a:moveTo>
                    <a:pt x="0" y="0"/>
                  </a:moveTo>
                  <a:lnTo>
                    <a:pt x="11336956" y="0"/>
                  </a:lnTo>
                  <a:lnTo>
                    <a:pt x="11336956" y="877824"/>
                  </a:lnTo>
                  <a:lnTo>
                    <a:pt x="0" y="877824"/>
                  </a:lnTo>
                  <a:close/>
                </a:path>
              </a:pathLst>
            </a:custGeom>
            <a:solidFill>
              <a:srgbClr val="6C63AC"/>
            </a:solidFill>
          </p:spPr>
        </p:sp>
        <p:sp>
          <p:nvSpPr>
            <p:cNvPr name="Freeform 78" id="78"/>
            <p:cNvSpPr/>
            <p:nvPr/>
          </p:nvSpPr>
          <p:spPr>
            <a:xfrm flipH="false" flipV="false" rot="0">
              <a:off x="0" y="0"/>
              <a:ext cx="11366335" cy="905002"/>
            </a:xfrm>
            <a:custGeom>
              <a:avLst/>
              <a:gdLst/>
              <a:ahLst/>
              <a:cxnLst/>
              <a:rect r="r" b="b" t="t" l="l"/>
              <a:pathLst>
                <a:path h="905002" w="11366335">
                  <a:moveTo>
                    <a:pt x="14693" y="0"/>
                  </a:moveTo>
                  <a:lnTo>
                    <a:pt x="11351649" y="0"/>
                  </a:lnTo>
                  <a:cubicBezTo>
                    <a:pt x="11359751" y="0"/>
                    <a:pt x="11366335" y="6096"/>
                    <a:pt x="11366335" y="13589"/>
                  </a:cubicBezTo>
                  <a:lnTo>
                    <a:pt x="11366335" y="891413"/>
                  </a:lnTo>
                  <a:cubicBezTo>
                    <a:pt x="11366335" y="898906"/>
                    <a:pt x="11359751" y="905002"/>
                    <a:pt x="11351649" y="905002"/>
                  </a:cubicBezTo>
                  <a:lnTo>
                    <a:pt x="14693" y="905002"/>
                  </a:lnTo>
                  <a:cubicBezTo>
                    <a:pt x="6591" y="904875"/>
                    <a:pt x="0" y="898906"/>
                    <a:pt x="0" y="891413"/>
                  </a:cubicBezTo>
                  <a:lnTo>
                    <a:pt x="0" y="13589"/>
                  </a:lnTo>
                  <a:cubicBezTo>
                    <a:pt x="0" y="6096"/>
                    <a:pt x="6591" y="0"/>
                    <a:pt x="14693" y="0"/>
                  </a:cubicBezTo>
                  <a:moveTo>
                    <a:pt x="14693" y="27051"/>
                  </a:moveTo>
                  <a:lnTo>
                    <a:pt x="14693" y="13589"/>
                  </a:lnTo>
                  <a:lnTo>
                    <a:pt x="29249" y="13589"/>
                  </a:lnTo>
                  <a:lnTo>
                    <a:pt x="29249" y="891413"/>
                  </a:lnTo>
                  <a:lnTo>
                    <a:pt x="14693" y="891413"/>
                  </a:lnTo>
                  <a:lnTo>
                    <a:pt x="14693" y="877824"/>
                  </a:lnTo>
                  <a:lnTo>
                    <a:pt x="11351649" y="877824"/>
                  </a:lnTo>
                  <a:lnTo>
                    <a:pt x="11351649" y="891413"/>
                  </a:lnTo>
                  <a:lnTo>
                    <a:pt x="11336956" y="891413"/>
                  </a:lnTo>
                  <a:lnTo>
                    <a:pt x="11336956" y="13589"/>
                  </a:lnTo>
                  <a:lnTo>
                    <a:pt x="11351649" y="13589"/>
                  </a:lnTo>
                  <a:lnTo>
                    <a:pt x="11351649" y="27051"/>
                  </a:lnTo>
                  <a:lnTo>
                    <a:pt x="14693" y="27051"/>
                  </a:lnTo>
                  <a:close/>
                </a:path>
              </a:pathLst>
            </a:custGeom>
            <a:solidFill>
              <a:srgbClr val="6C63AC"/>
            </a:solidFill>
          </p:spPr>
        </p:sp>
      </p:grpSp>
      <p:grpSp>
        <p:nvGrpSpPr>
          <p:cNvPr name="Group 79" id="79"/>
          <p:cNvGrpSpPr/>
          <p:nvPr/>
        </p:nvGrpSpPr>
        <p:grpSpPr>
          <a:xfrm rot="0">
            <a:off x="9672675" y="2933183"/>
            <a:ext cx="8107242" cy="658368"/>
            <a:chOff x="0" y="0"/>
            <a:chExt cx="10809656" cy="877824"/>
          </a:xfrm>
        </p:grpSpPr>
        <p:sp>
          <p:nvSpPr>
            <p:cNvPr name="Freeform 80" id="80"/>
            <p:cNvSpPr/>
            <p:nvPr/>
          </p:nvSpPr>
          <p:spPr>
            <a:xfrm flipH="false" flipV="false" rot="0">
              <a:off x="0" y="0"/>
              <a:ext cx="10809656" cy="877824"/>
            </a:xfrm>
            <a:custGeom>
              <a:avLst/>
              <a:gdLst/>
              <a:ahLst/>
              <a:cxnLst/>
              <a:rect r="r" b="b" t="t" l="l"/>
              <a:pathLst>
                <a:path h="877824" w="10809656">
                  <a:moveTo>
                    <a:pt x="0" y="0"/>
                  </a:moveTo>
                  <a:lnTo>
                    <a:pt x="10809656" y="0"/>
                  </a:lnTo>
                  <a:lnTo>
                    <a:pt x="10809656" y="877824"/>
                  </a:lnTo>
                  <a:lnTo>
                    <a:pt x="0" y="877824"/>
                  </a:lnTo>
                  <a:close/>
                </a:path>
              </a:pathLst>
            </a:custGeom>
            <a:blipFill>
              <a:blip r:embed="rId3">
                <a:alphaModFix amt="0"/>
              </a:blip>
              <a:stretch>
                <a:fillRect l="0" t="-171912" r="7513" b="-171912"/>
              </a:stretch>
            </a:blipFill>
          </p:spPr>
        </p:sp>
        <p:sp>
          <p:nvSpPr>
            <p:cNvPr name="TextBox 81" id="81"/>
            <p:cNvSpPr txBox="true"/>
            <p:nvPr/>
          </p:nvSpPr>
          <p:spPr>
            <a:xfrm>
              <a:off x="0" y="-38100"/>
              <a:ext cx="10809656" cy="915924"/>
            </a:xfrm>
            <a:prstGeom prst="rect">
              <a:avLst/>
            </a:prstGeom>
          </p:spPr>
          <p:txBody>
            <a:bodyPr anchor="ctr" rtlCol="false" tIns="0" lIns="0" bIns="0" rIns="0"/>
            <a:lstStyle/>
            <a:p>
              <a:pPr algn="l">
                <a:lnSpc>
                  <a:spcPts val="2880"/>
                </a:lnSpc>
              </a:pPr>
              <a:r>
                <a:rPr lang="en-US" sz="2400">
                  <a:solidFill>
                    <a:srgbClr val="FFFFFF"/>
                  </a:solidFill>
                  <a:latin typeface="Calibri (MS)"/>
                  <a:ea typeface="Calibri (MS)"/>
                  <a:cs typeface="Calibri (MS)"/>
                  <a:sym typeface="Calibri (MS)"/>
                </a:rPr>
                <a:t>1.  Generate training data from ODE simulations</a:t>
              </a:r>
            </a:p>
          </p:txBody>
        </p:sp>
      </p:grpSp>
      <p:grpSp>
        <p:nvGrpSpPr>
          <p:cNvPr name="Group 82" id="82"/>
          <p:cNvGrpSpPr/>
          <p:nvPr/>
        </p:nvGrpSpPr>
        <p:grpSpPr>
          <a:xfrm rot="0">
            <a:off x="13429690" y="3578424"/>
            <a:ext cx="593213" cy="480269"/>
            <a:chOff x="0" y="0"/>
            <a:chExt cx="790950" cy="640358"/>
          </a:xfrm>
        </p:grpSpPr>
        <p:sp>
          <p:nvSpPr>
            <p:cNvPr name="Freeform 83" id="83"/>
            <p:cNvSpPr/>
            <p:nvPr/>
          </p:nvSpPr>
          <p:spPr>
            <a:xfrm flipH="false" flipV="false" rot="0">
              <a:off x="0" y="0"/>
              <a:ext cx="790950" cy="640358"/>
            </a:xfrm>
            <a:custGeom>
              <a:avLst/>
              <a:gdLst/>
              <a:ahLst/>
              <a:cxnLst/>
              <a:rect r="r" b="b" t="t" l="l"/>
              <a:pathLst>
                <a:path h="640358" w="790950">
                  <a:moveTo>
                    <a:pt x="0" y="0"/>
                  </a:moveTo>
                  <a:lnTo>
                    <a:pt x="790950" y="0"/>
                  </a:lnTo>
                  <a:lnTo>
                    <a:pt x="790950" y="640358"/>
                  </a:lnTo>
                  <a:lnTo>
                    <a:pt x="0" y="640358"/>
                  </a:lnTo>
                  <a:close/>
                </a:path>
              </a:pathLst>
            </a:custGeom>
            <a:blipFill>
              <a:blip r:embed="rId3">
                <a:alphaModFix amt="0"/>
              </a:blip>
              <a:stretch>
                <a:fillRect l="-24954" t="0" r="-17440" b="31458"/>
              </a:stretch>
            </a:blipFill>
          </p:spPr>
        </p:sp>
        <p:sp>
          <p:nvSpPr>
            <p:cNvPr name="TextBox 84" id="84"/>
            <p:cNvSpPr txBox="true"/>
            <p:nvPr/>
          </p:nvSpPr>
          <p:spPr>
            <a:xfrm>
              <a:off x="0" y="-38100"/>
              <a:ext cx="790950" cy="678458"/>
            </a:xfrm>
            <a:prstGeom prst="rect">
              <a:avLst/>
            </a:prstGeom>
          </p:spPr>
          <p:txBody>
            <a:bodyPr anchor="ctr" rtlCol="false" tIns="0" lIns="0" bIns="0" rIns="0"/>
            <a:lstStyle/>
            <a:p>
              <a:pPr algn="ctr">
                <a:lnSpc>
                  <a:spcPts val="2880"/>
                </a:lnSpc>
              </a:pPr>
              <a:r>
                <a:rPr lang="en-US" sz="2400">
                  <a:solidFill>
                    <a:srgbClr val="6C63AC"/>
                  </a:solidFill>
                  <a:latin typeface="Calibri (MS)"/>
                  <a:ea typeface="Calibri (MS)"/>
                  <a:cs typeface="Calibri (MS)"/>
                  <a:sym typeface="Calibri (MS)"/>
                </a:rPr>
                <a:t>↓</a:t>
              </a:r>
            </a:p>
          </p:txBody>
        </p:sp>
      </p:grpSp>
      <p:grpSp>
        <p:nvGrpSpPr>
          <p:cNvPr name="Group 85" id="85"/>
          <p:cNvGrpSpPr/>
          <p:nvPr/>
        </p:nvGrpSpPr>
        <p:grpSpPr>
          <a:xfrm rot="0">
            <a:off x="9463949" y="3910572"/>
            <a:ext cx="8524685" cy="678685"/>
            <a:chOff x="0" y="0"/>
            <a:chExt cx="11366246" cy="904913"/>
          </a:xfrm>
        </p:grpSpPr>
        <p:sp>
          <p:nvSpPr>
            <p:cNvPr name="Freeform 86" id="86"/>
            <p:cNvSpPr/>
            <p:nvPr/>
          </p:nvSpPr>
          <p:spPr>
            <a:xfrm flipH="false" flipV="false" rot="0">
              <a:off x="14693" y="13589"/>
              <a:ext cx="11336956" cy="877824"/>
            </a:xfrm>
            <a:custGeom>
              <a:avLst/>
              <a:gdLst/>
              <a:ahLst/>
              <a:cxnLst/>
              <a:rect r="r" b="b" t="t" l="l"/>
              <a:pathLst>
                <a:path h="877824" w="11336956">
                  <a:moveTo>
                    <a:pt x="0" y="0"/>
                  </a:moveTo>
                  <a:lnTo>
                    <a:pt x="11336956" y="0"/>
                  </a:lnTo>
                  <a:lnTo>
                    <a:pt x="11336956" y="877824"/>
                  </a:lnTo>
                  <a:lnTo>
                    <a:pt x="0" y="877824"/>
                  </a:lnTo>
                  <a:close/>
                </a:path>
              </a:pathLst>
            </a:custGeom>
            <a:solidFill>
              <a:srgbClr val="6C63AC"/>
            </a:solidFill>
          </p:spPr>
        </p:sp>
        <p:sp>
          <p:nvSpPr>
            <p:cNvPr name="Freeform 87" id="87"/>
            <p:cNvSpPr/>
            <p:nvPr/>
          </p:nvSpPr>
          <p:spPr>
            <a:xfrm flipH="false" flipV="false" rot="0">
              <a:off x="0" y="0"/>
              <a:ext cx="11366335" cy="905002"/>
            </a:xfrm>
            <a:custGeom>
              <a:avLst/>
              <a:gdLst/>
              <a:ahLst/>
              <a:cxnLst/>
              <a:rect r="r" b="b" t="t" l="l"/>
              <a:pathLst>
                <a:path h="905002" w="11366335">
                  <a:moveTo>
                    <a:pt x="14693" y="0"/>
                  </a:moveTo>
                  <a:lnTo>
                    <a:pt x="11351649" y="0"/>
                  </a:lnTo>
                  <a:cubicBezTo>
                    <a:pt x="11359751" y="0"/>
                    <a:pt x="11366335" y="6096"/>
                    <a:pt x="11366335" y="13589"/>
                  </a:cubicBezTo>
                  <a:lnTo>
                    <a:pt x="11366335" y="891413"/>
                  </a:lnTo>
                  <a:cubicBezTo>
                    <a:pt x="11366335" y="898906"/>
                    <a:pt x="11359751" y="905002"/>
                    <a:pt x="11351649" y="905002"/>
                  </a:cubicBezTo>
                  <a:lnTo>
                    <a:pt x="14693" y="905002"/>
                  </a:lnTo>
                  <a:cubicBezTo>
                    <a:pt x="6591" y="904875"/>
                    <a:pt x="0" y="898906"/>
                    <a:pt x="0" y="891413"/>
                  </a:cubicBezTo>
                  <a:lnTo>
                    <a:pt x="0" y="13589"/>
                  </a:lnTo>
                  <a:cubicBezTo>
                    <a:pt x="0" y="6096"/>
                    <a:pt x="6591" y="0"/>
                    <a:pt x="14693" y="0"/>
                  </a:cubicBezTo>
                  <a:moveTo>
                    <a:pt x="14693" y="27051"/>
                  </a:moveTo>
                  <a:lnTo>
                    <a:pt x="14693" y="13589"/>
                  </a:lnTo>
                  <a:lnTo>
                    <a:pt x="29249" y="13589"/>
                  </a:lnTo>
                  <a:lnTo>
                    <a:pt x="29249" y="891413"/>
                  </a:lnTo>
                  <a:lnTo>
                    <a:pt x="14693" y="891413"/>
                  </a:lnTo>
                  <a:lnTo>
                    <a:pt x="14693" y="877824"/>
                  </a:lnTo>
                  <a:lnTo>
                    <a:pt x="11351649" y="877824"/>
                  </a:lnTo>
                  <a:lnTo>
                    <a:pt x="11351649" y="891413"/>
                  </a:lnTo>
                  <a:lnTo>
                    <a:pt x="11336956" y="891413"/>
                  </a:lnTo>
                  <a:lnTo>
                    <a:pt x="11336956" y="13589"/>
                  </a:lnTo>
                  <a:lnTo>
                    <a:pt x="11351649" y="13589"/>
                  </a:lnTo>
                  <a:lnTo>
                    <a:pt x="11351649" y="27051"/>
                  </a:lnTo>
                  <a:lnTo>
                    <a:pt x="14693" y="27051"/>
                  </a:lnTo>
                  <a:close/>
                </a:path>
              </a:pathLst>
            </a:custGeom>
            <a:solidFill>
              <a:srgbClr val="6C63AC"/>
            </a:solidFill>
          </p:spPr>
        </p:sp>
      </p:grpSp>
      <p:grpSp>
        <p:nvGrpSpPr>
          <p:cNvPr name="Group 88" id="88"/>
          <p:cNvGrpSpPr/>
          <p:nvPr/>
        </p:nvGrpSpPr>
        <p:grpSpPr>
          <a:xfrm rot="0">
            <a:off x="9672675" y="3920735"/>
            <a:ext cx="8107242" cy="658368"/>
            <a:chOff x="0" y="0"/>
            <a:chExt cx="10809656" cy="877824"/>
          </a:xfrm>
        </p:grpSpPr>
        <p:sp>
          <p:nvSpPr>
            <p:cNvPr name="Freeform 89" id="89"/>
            <p:cNvSpPr/>
            <p:nvPr/>
          </p:nvSpPr>
          <p:spPr>
            <a:xfrm flipH="false" flipV="false" rot="0">
              <a:off x="0" y="0"/>
              <a:ext cx="10809656" cy="877824"/>
            </a:xfrm>
            <a:custGeom>
              <a:avLst/>
              <a:gdLst/>
              <a:ahLst/>
              <a:cxnLst/>
              <a:rect r="r" b="b" t="t" l="l"/>
              <a:pathLst>
                <a:path h="877824" w="10809656">
                  <a:moveTo>
                    <a:pt x="0" y="0"/>
                  </a:moveTo>
                  <a:lnTo>
                    <a:pt x="10809656" y="0"/>
                  </a:lnTo>
                  <a:lnTo>
                    <a:pt x="10809656" y="877824"/>
                  </a:lnTo>
                  <a:lnTo>
                    <a:pt x="0" y="877824"/>
                  </a:lnTo>
                  <a:close/>
                </a:path>
              </a:pathLst>
            </a:custGeom>
            <a:blipFill>
              <a:blip r:embed="rId3">
                <a:alphaModFix amt="0"/>
              </a:blip>
              <a:stretch>
                <a:fillRect l="0" t="-171912" r="7513" b="-171912"/>
              </a:stretch>
            </a:blipFill>
          </p:spPr>
        </p:sp>
        <p:sp>
          <p:nvSpPr>
            <p:cNvPr name="TextBox 90" id="90"/>
            <p:cNvSpPr txBox="true"/>
            <p:nvPr/>
          </p:nvSpPr>
          <p:spPr>
            <a:xfrm>
              <a:off x="0" y="-38100"/>
              <a:ext cx="10809656" cy="915924"/>
            </a:xfrm>
            <a:prstGeom prst="rect">
              <a:avLst/>
            </a:prstGeom>
          </p:spPr>
          <p:txBody>
            <a:bodyPr anchor="ctr" rtlCol="false" tIns="0" lIns="0" bIns="0" rIns="0"/>
            <a:lstStyle/>
            <a:p>
              <a:pPr algn="l">
                <a:lnSpc>
                  <a:spcPts val="2880"/>
                </a:lnSpc>
              </a:pPr>
              <a:r>
                <a:rPr lang="en-US" sz="2400">
                  <a:solidFill>
                    <a:srgbClr val="FFFFFF"/>
                  </a:solidFill>
                  <a:latin typeface="Calibri (MS)"/>
                  <a:ea typeface="Calibri (MS)"/>
                  <a:cs typeface="Calibri (MS)"/>
                  <a:sym typeface="Calibri (MS)"/>
                </a:rPr>
                <a:t>2.  Train deep learning model on system response</a:t>
              </a:r>
            </a:p>
          </p:txBody>
        </p:sp>
      </p:grpSp>
      <p:grpSp>
        <p:nvGrpSpPr>
          <p:cNvPr name="Group 91" id="91"/>
          <p:cNvGrpSpPr/>
          <p:nvPr/>
        </p:nvGrpSpPr>
        <p:grpSpPr>
          <a:xfrm rot="0">
            <a:off x="13429690" y="4565976"/>
            <a:ext cx="593213" cy="480269"/>
            <a:chOff x="0" y="0"/>
            <a:chExt cx="790950" cy="640358"/>
          </a:xfrm>
        </p:grpSpPr>
        <p:sp>
          <p:nvSpPr>
            <p:cNvPr name="Freeform 92" id="92"/>
            <p:cNvSpPr/>
            <p:nvPr/>
          </p:nvSpPr>
          <p:spPr>
            <a:xfrm flipH="false" flipV="false" rot="0">
              <a:off x="0" y="0"/>
              <a:ext cx="790950" cy="640358"/>
            </a:xfrm>
            <a:custGeom>
              <a:avLst/>
              <a:gdLst/>
              <a:ahLst/>
              <a:cxnLst/>
              <a:rect r="r" b="b" t="t" l="l"/>
              <a:pathLst>
                <a:path h="640358" w="790950">
                  <a:moveTo>
                    <a:pt x="0" y="0"/>
                  </a:moveTo>
                  <a:lnTo>
                    <a:pt x="790950" y="0"/>
                  </a:lnTo>
                  <a:lnTo>
                    <a:pt x="790950" y="640358"/>
                  </a:lnTo>
                  <a:lnTo>
                    <a:pt x="0" y="640358"/>
                  </a:lnTo>
                  <a:close/>
                </a:path>
              </a:pathLst>
            </a:custGeom>
            <a:blipFill>
              <a:blip r:embed="rId3">
                <a:alphaModFix amt="0"/>
              </a:blip>
              <a:stretch>
                <a:fillRect l="-24954" t="0" r="-17440" b="31458"/>
              </a:stretch>
            </a:blipFill>
          </p:spPr>
        </p:sp>
        <p:sp>
          <p:nvSpPr>
            <p:cNvPr name="TextBox 93" id="93"/>
            <p:cNvSpPr txBox="true"/>
            <p:nvPr/>
          </p:nvSpPr>
          <p:spPr>
            <a:xfrm>
              <a:off x="0" y="-38100"/>
              <a:ext cx="790950" cy="678458"/>
            </a:xfrm>
            <a:prstGeom prst="rect">
              <a:avLst/>
            </a:prstGeom>
          </p:spPr>
          <p:txBody>
            <a:bodyPr anchor="ctr" rtlCol="false" tIns="0" lIns="0" bIns="0" rIns="0"/>
            <a:lstStyle/>
            <a:p>
              <a:pPr algn="ctr">
                <a:lnSpc>
                  <a:spcPts val="2880"/>
                </a:lnSpc>
              </a:pPr>
              <a:r>
                <a:rPr lang="en-US" sz="2400">
                  <a:solidFill>
                    <a:srgbClr val="6C63AC"/>
                  </a:solidFill>
                  <a:latin typeface="Calibri (MS)"/>
                  <a:ea typeface="Calibri (MS)"/>
                  <a:cs typeface="Calibri (MS)"/>
                  <a:sym typeface="Calibri (MS)"/>
                </a:rPr>
                <a:t>↓</a:t>
              </a:r>
            </a:p>
          </p:txBody>
        </p:sp>
      </p:grpSp>
      <p:grpSp>
        <p:nvGrpSpPr>
          <p:cNvPr name="Group 94" id="94"/>
          <p:cNvGrpSpPr/>
          <p:nvPr/>
        </p:nvGrpSpPr>
        <p:grpSpPr>
          <a:xfrm rot="0">
            <a:off x="9463949" y="4898124"/>
            <a:ext cx="8524685" cy="678685"/>
            <a:chOff x="0" y="0"/>
            <a:chExt cx="11366246" cy="904913"/>
          </a:xfrm>
        </p:grpSpPr>
        <p:sp>
          <p:nvSpPr>
            <p:cNvPr name="Freeform 95" id="95"/>
            <p:cNvSpPr/>
            <p:nvPr/>
          </p:nvSpPr>
          <p:spPr>
            <a:xfrm flipH="false" flipV="false" rot="0">
              <a:off x="14693" y="13589"/>
              <a:ext cx="11336956" cy="877824"/>
            </a:xfrm>
            <a:custGeom>
              <a:avLst/>
              <a:gdLst/>
              <a:ahLst/>
              <a:cxnLst/>
              <a:rect r="r" b="b" t="t" l="l"/>
              <a:pathLst>
                <a:path h="877824" w="11336956">
                  <a:moveTo>
                    <a:pt x="0" y="0"/>
                  </a:moveTo>
                  <a:lnTo>
                    <a:pt x="11336956" y="0"/>
                  </a:lnTo>
                  <a:lnTo>
                    <a:pt x="11336956" y="877824"/>
                  </a:lnTo>
                  <a:lnTo>
                    <a:pt x="0" y="877824"/>
                  </a:lnTo>
                  <a:close/>
                </a:path>
              </a:pathLst>
            </a:custGeom>
            <a:solidFill>
              <a:srgbClr val="6C63AC"/>
            </a:solidFill>
          </p:spPr>
        </p:sp>
        <p:sp>
          <p:nvSpPr>
            <p:cNvPr name="Freeform 96" id="96"/>
            <p:cNvSpPr/>
            <p:nvPr/>
          </p:nvSpPr>
          <p:spPr>
            <a:xfrm flipH="false" flipV="false" rot="0">
              <a:off x="0" y="0"/>
              <a:ext cx="11366335" cy="905002"/>
            </a:xfrm>
            <a:custGeom>
              <a:avLst/>
              <a:gdLst/>
              <a:ahLst/>
              <a:cxnLst/>
              <a:rect r="r" b="b" t="t" l="l"/>
              <a:pathLst>
                <a:path h="905002" w="11366335">
                  <a:moveTo>
                    <a:pt x="14693" y="0"/>
                  </a:moveTo>
                  <a:lnTo>
                    <a:pt x="11351649" y="0"/>
                  </a:lnTo>
                  <a:cubicBezTo>
                    <a:pt x="11359751" y="0"/>
                    <a:pt x="11366335" y="6096"/>
                    <a:pt x="11366335" y="13589"/>
                  </a:cubicBezTo>
                  <a:lnTo>
                    <a:pt x="11366335" y="891413"/>
                  </a:lnTo>
                  <a:cubicBezTo>
                    <a:pt x="11366335" y="898906"/>
                    <a:pt x="11359751" y="905002"/>
                    <a:pt x="11351649" y="905002"/>
                  </a:cubicBezTo>
                  <a:lnTo>
                    <a:pt x="14693" y="905002"/>
                  </a:lnTo>
                  <a:cubicBezTo>
                    <a:pt x="6591" y="904875"/>
                    <a:pt x="0" y="898906"/>
                    <a:pt x="0" y="891413"/>
                  </a:cubicBezTo>
                  <a:lnTo>
                    <a:pt x="0" y="13589"/>
                  </a:lnTo>
                  <a:cubicBezTo>
                    <a:pt x="0" y="6096"/>
                    <a:pt x="6591" y="0"/>
                    <a:pt x="14693" y="0"/>
                  </a:cubicBezTo>
                  <a:moveTo>
                    <a:pt x="14693" y="27051"/>
                  </a:moveTo>
                  <a:lnTo>
                    <a:pt x="14693" y="13589"/>
                  </a:lnTo>
                  <a:lnTo>
                    <a:pt x="29249" y="13589"/>
                  </a:lnTo>
                  <a:lnTo>
                    <a:pt x="29249" y="891413"/>
                  </a:lnTo>
                  <a:lnTo>
                    <a:pt x="14693" y="891413"/>
                  </a:lnTo>
                  <a:lnTo>
                    <a:pt x="14693" y="877824"/>
                  </a:lnTo>
                  <a:lnTo>
                    <a:pt x="11351649" y="877824"/>
                  </a:lnTo>
                  <a:lnTo>
                    <a:pt x="11351649" y="891413"/>
                  </a:lnTo>
                  <a:lnTo>
                    <a:pt x="11336956" y="891413"/>
                  </a:lnTo>
                  <a:lnTo>
                    <a:pt x="11336956" y="13589"/>
                  </a:lnTo>
                  <a:lnTo>
                    <a:pt x="11351649" y="13589"/>
                  </a:lnTo>
                  <a:lnTo>
                    <a:pt x="11351649" y="27051"/>
                  </a:lnTo>
                  <a:lnTo>
                    <a:pt x="14693" y="27051"/>
                  </a:lnTo>
                  <a:close/>
                </a:path>
              </a:pathLst>
            </a:custGeom>
            <a:solidFill>
              <a:srgbClr val="6C63AC"/>
            </a:solidFill>
          </p:spPr>
        </p:sp>
      </p:grpSp>
      <p:grpSp>
        <p:nvGrpSpPr>
          <p:cNvPr name="Group 97" id="97"/>
          <p:cNvGrpSpPr/>
          <p:nvPr/>
        </p:nvGrpSpPr>
        <p:grpSpPr>
          <a:xfrm rot="0">
            <a:off x="9672675" y="4908287"/>
            <a:ext cx="8107242" cy="658368"/>
            <a:chOff x="0" y="0"/>
            <a:chExt cx="10809656" cy="877824"/>
          </a:xfrm>
        </p:grpSpPr>
        <p:sp>
          <p:nvSpPr>
            <p:cNvPr name="Freeform 98" id="98"/>
            <p:cNvSpPr/>
            <p:nvPr/>
          </p:nvSpPr>
          <p:spPr>
            <a:xfrm flipH="false" flipV="false" rot="0">
              <a:off x="0" y="0"/>
              <a:ext cx="10809656" cy="877824"/>
            </a:xfrm>
            <a:custGeom>
              <a:avLst/>
              <a:gdLst/>
              <a:ahLst/>
              <a:cxnLst/>
              <a:rect r="r" b="b" t="t" l="l"/>
              <a:pathLst>
                <a:path h="877824" w="10809656">
                  <a:moveTo>
                    <a:pt x="0" y="0"/>
                  </a:moveTo>
                  <a:lnTo>
                    <a:pt x="10809656" y="0"/>
                  </a:lnTo>
                  <a:lnTo>
                    <a:pt x="10809656" y="877824"/>
                  </a:lnTo>
                  <a:lnTo>
                    <a:pt x="0" y="877824"/>
                  </a:lnTo>
                  <a:close/>
                </a:path>
              </a:pathLst>
            </a:custGeom>
            <a:blipFill>
              <a:blip r:embed="rId3">
                <a:alphaModFix amt="0"/>
              </a:blip>
              <a:stretch>
                <a:fillRect l="0" t="-171912" r="7513" b="-171912"/>
              </a:stretch>
            </a:blipFill>
          </p:spPr>
        </p:sp>
        <p:sp>
          <p:nvSpPr>
            <p:cNvPr name="TextBox 99" id="99"/>
            <p:cNvSpPr txBox="true"/>
            <p:nvPr/>
          </p:nvSpPr>
          <p:spPr>
            <a:xfrm>
              <a:off x="0" y="-38100"/>
              <a:ext cx="10809656" cy="915924"/>
            </a:xfrm>
            <a:prstGeom prst="rect">
              <a:avLst/>
            </a:prstGeom>
          </p:spPr>
          <p:txBody>
            <a:bodyPr anchor="ctr" rtlCol="false" tIns="0" lIns="0" bIns="0" rIns="0"/>
            <a:lstStyle/>
            <a:p>
              <a:pPr algn="l">
                <a:lnSpc>
                  <a:spcPts val="2880"/>
                </a:lnSpc>
              </a:pPr>
              <a:r>
                <a:rPr lang="en-US" sz="2400">
                  <a:solidFill>
                    <a:srgbClr val="FFFFFF"/>
                  </a:solidFill>
                  <a:latin typeface="Calibri (MS)"/>
                  <a:ea typeface="Calibri (MS)"/>
                  <a:cs typeface="Calibri (MS)"/>
                  <a:sym typeface="Calibri (MS)"/>
                </a:rPr>
                <a:t>3.  Trained model predicts RMS in milliseconds</a:t>
              </a:r>
            </a:p>
          </p:txBody>
        </p:sp>
      </p:grpSp>
      <p:grpSp>
        <p:nvGrpSpPr>
          <p:cNvPr name="Group 100" id="100"/>
          <p:cNvGrpSpPr/>
          <p:nvPr/>
        </p:nvGrpSpPr>
        <p:grpSpPr>
          <a:xfrm rot="0">
            <a:off x="13429690" y="5553528"/>
            <a:ext cx="593213" cy="480269"/>
            <a:chOff x="0" y="0"/>
            <a:chExt cx="790950" cy="640358"/>
          </a:xfrm>
        </p:grpSpPr>
        <p:sp>
          <p:nvSpPr>
            <p:cNvPr name="Freeform 101" id="101"/>
            <p:cNvSpPr/>
            <p:nvPr/>
          </p:nvSpPr>
          <p:spPr>
            <a:xfrm flipH="false" flipV="false" rot="0">
              <a:off x="0" y="0"/>
              <a:ext cx="790950" cy="640358"/>
            </a:xfrm>
            <a:custGeom>
              <a:avLst/>
              <a:gdLst/>
              <a:ahLst/>
              <a:cxnLst/>
              <a:rect r="r" b="b" t="t" l="l"/>
              <a:pathLst>
                <a:path h="640358" w="790950">
                  <a:moveTo>
                    <a:pt x="0" y="0"/>
                  </a:moveTo>
                  <a:lnTo>
                    <a:pt x="790950" y="0"/>
                  </a:lnTo>
                  <a:lnTo>
                    <a:pt x="790950" y="640358"/>
                  </a:lnTo>
                  <a:lnTo>
                    <a:pt x="0" y="640358"/>
                  </a:lnTo>
                  <a:close/>
                </a:path>
              </a:pathLst>
            </a:custGeom>
            <a:blipFill>
              <a:blip r:embed="rId3">
                <a:alphaModFix amt="0"/>
              </a:blip>
              <a:stretch>
                <a:fillRect l="-24954" t="0" r="-17440" b="31458"/>
              </a:stretch>
            </a:blipFill>
          </p:spPr>
        </p:sp>
        <p:sp>
          <p:nvSpPr>
            <p:cNvPr name="TextBox 102" id="102"/>
            <p:cNvSpPr txBox="true"/>
            <p:nvPr/>
          </p:nvSpPr>
          <p:spPr>
            <a:xfrm>
              <a:off x="0" y="-38100"/>
              <a:ext cx="790950" cy="678458"/>
            </a:xfrm>
            <a:prstGeom prst="rect">
              <a:avLst/>
            </a:prstGeom>
          </p:spPr>
          <p:txBody>
            <a:bodyPr anchor="ctr" rtlCol="false" tIns="0" lIns="0" bIns="0" rIns="0"/>
            <a:lstStyle/>
            <a:p>
              <a:pPr algn="ctr">
                <a:lnSpc>
                  <a:spcPts val="2880"/>
                </a:lnSpc>
              </a:pPr>
              <a:r>
                <a:rPr lang="en-US" sz="2400">
                  <a:solidFill>
                    <a:srgbClr val="6C63AC"/>
                  </a:solidFill>
                  <a:latin typeface="Calibri (MS)"/>
                  <a:ea typeface="Calibri (MS)"/>
                  <a:cs typeface="Calibri (MS)"/>
                  <a:sym typeface="Calibri (MS)"/>
                </a:rPr>
                <a:t>↓</a:t>
              </a:r>
            </a:p>
          </p:txBody>
        </p:sp>
      </p:grpSp>
      <p:grpSp>
        <p:nvGrpSpPr>
          <p:cNvPr name="Group 103" id="103"/>
          <p:cNvGrpSpPr/>
          <p:nvPr/>
        </p:nvGrpSpPr>
        <p:grpSpPr>
          <a:xfrm rot="0">
            <a:off x="9463949" y="5885676"/>
            <a:ext cx="8524685" cy="678685"/>
            <a:chOff x="0" y="0"/>
            <a:chExt cx="11366246" cy="904913"/>
          </a:xfrm>
        </p:grpSpPr>
        <p:sp>
          <p:nvSpPr>
            <p:cNvPr name="Freeform 104" id="104"/>
            <p:cNvSpPr/>
            <p:nvPr/>
          </p:nvSpPr>
          <p:spPr>
            <a:xfrm flipH="false" flipV="false" rot="0">
              <a:off x="14693" y="13589"/>
              <a:ext cx="11336956" cy="877824"/>
            </a:xfrm>
            <a:custGeom>
              <a:avLst/>
              <a:gdLst/>
              <a:ahLst/>
              <a:cxnLst/>
              <a:rect r="r" b="b" t="t" l="l"/>
              <a:pathLst>
                <a:path h="877824" w="11336956">
                  <a:moveTo>
                    <a:pt x="0" y="0"/>
                  </a:moveTo>
                  <a:lnTo>
                    <a:pt x="11336956" y="0"/>
                  </a:lnTo>
                  <a:lnTo>
                    <a:pt x="11336956" y="877824"/>
                  </a:lnTo>
                  <a:lnTo>
                    <a:pt x="0" y="877824"/>
                  </a:lnTo>
                  <a:close/>
                </a:path>
              </a:pathLst>
            </a:custGeom>
            <a:solidFill>
              <a:srgbClr val="6C63AC"/>
            </a:solidFill>
          </p:spPr>
        </p:sp>
        <p:sp>
          <p:nvSpPr>
            <p:cNvPr name="Freeform 105" id="105"/>
            <p:cNvSpPr/>
            <p:nvPr/>
          </p:nvSpPr>
          <p:spPr>
            <a:xfrm flipH="false" flipV="false" rot="0">
              <a:off x="0" y="0"/>
              <a:ext cx="11366335" cy="905002"/>
            </a:xfrm>
            <a:custGeom>
              <a:avLst/>
              <a:gdLst/>
              <a:ahLst/>
              <a:cxnLst/>
              <a:rect r="r" b="b" t="t" l="l"/>
              <a:pathLst>
                <a:path h="905002" w="11366335">
                  <a:moveTo>
                    <a:pt x="14693" y="0"/>
                  </a:moveTo>
                  <a:lnTo>
                    <a:pt x="11351649" y="0"/>
                  </a:lnTo>
                  <a:cubicBezTo>
                    <a:pt x="11359751" y="0"/>
                    <a:pt x="11366335" y="6096"/>
                    <a:pt x="11366335" y="13589"/>
                  </a:cubicBezTo>
                  <a:lnTo>
                    <a:pt x="11366335" y="891413"/>
                  </a:lnTo>
                  <a:cubicBezTo>
                    <a:pt x="11366335" y="898906"/>
                    <a:pt x="11359751" y="905002"/>
                    <a:pt x="11351649" y="905002"/>
                  </a:cubicBezTo>
                  <a:lnTo>
                    <a:pt x="14693" y="905002"/>
                  </a:lnTo>
                  <a:cubicBezTo>
                    <a:pt x="6591" y="904875"/>
                    <a:pt x="0" y="898906"/>
                    <a:pt x="0" y="891413"/>
                  </a:cubicBezTo>
                  <a:lnTo>
                    <a:pt x="0" y="13589"/>
                  </a:lnTo>
                  <a:cubicBezTo>
                    <a:pt x="0" y="6096"/>
                    <a:pt x="6591" y="0"/>
                    <a:pt x="14693" y="0"/>
                  </a:cubicBezTo>
                  <a:moveTo>
                    <a:pt x="14693" y="27051"/>
                  </a:moveTo>
                  <a:lnTo>
                    <a:pt x="14693" y="13589"/>
                  </a:lnTo>
                  <a:lnTo>
                    <a:pt x="29249" y="13589"/>
                  </a:lnTo>
                  <a:lnTo>
                    <a:pt x="29249" y="891413"/>
                  </a:lnTo>
                  <a:lnTo>
                    <a:pt x="14693" y="891413"/>
                  </a:lnTo>
                  <a:lnTo>
                    <a:pt x="14693" y="877824"/>
                  </a:lnTo>
                  <a:lnTo>
                    <a:pt x="11351649" y="877824"/>
                  </a:lnTo>
                  <a:lnTo>
                    <a:pt x="11351649" y="891413"/>
                  </a:lnTo>
                  <a:lnTo>
                    <a:pt x="11336956" y="891413"/>
                  </a:lnTo>
                  <a:lnTo>
                    <a:pt x="11336956" y="13589"/>
                  </a:lnTo>
                  <a:lnTo>
                    <a:pt x="11351649" y="13589"/>
                  </a:lnTo>
                  <a:lnTo>
                    <a:pt x="11351649" y="27051"/>
                  </a:lnTo>
                  <a:lnTo>
                    <a:pt x="14693" y="27051"/>
                  </a:lnTo>
                  <a:close/>
                </a:path>
              </a:pathLst>
            </a:custGeom>
            <a:solidFill>
              <a:srgbClr val="6C63AC"/>
            </a:solidFill>
          </p:spPr>
        </p:sp>
      </p:grpSp>
      <p:grpSp>
        <p:nvGrpSpPr>
          <p:cNvPr name="Group 106" id="106"/>
          <p:cNvGrpSpPr/>
          <p:nvPr/>
        </p:nvGrpSpPr>
        <p:grpSpPr>
          <a:xfrm rot="0">
            <a:off x="9672675" y="5895839"/>
            <a:ext cx="8107242" cy="658368"/>
            <a:chOff x="0" y="0"/>
            <a:chExt cx="10809656" cy="877824"/>
          </a:xfrm>
        </p:grpSpPr>
        <p:sp>
          <p:nvSpPr>
            <p:cNvPr name="Freeform 107" id="107"/>
            <p:cNvSpPr/>
            <p:nvPr/>
          </p:nvSpPr>
          <p:spPr>
            <a:xfrm flipH="false" flipV="false" rot="0">
              <a:off x="0" y="0"/>
              <a:ext cx="10809656" cy="877824"/>
            </a:xfrm>
            <a:custGeom>
              <a:avLst/>
              <a:gdLst/>
              <a:ahLst/>
              <a:cxnLst/>
              <a:rect r="r" b="b" t="t" l="l"/>
              <a:pathLst>
                <a:path h="877824" w="10809656">
                  <a:moveTo>
                    <a:pt x="0" y="0"/>
                  </a:moveTo>
                  <a:lnTo>
                    <a:pt x="10809656" y="0"/>
                  </a:lnTo>
                  <a:lnTo>
                    <a:pt x="10809656" y="877824"/>
                  </a:lnTo>
                  <a:lnTo>
                    <a:pt x="0" y="877824"/>
                  </a:lnTo>
                  <a:close/>
                </a:path>
              </a:pathLst>
            </a:custGeom>
            <a:blipFill>
              <a:blip r:embed="rId3">
                <a:alphaModFix amt="0"/>
              </a:blip>
              <a:stretch>
                <a:fillRect l="0" t="-171912" r="7513" b="-171912"/>
              </a:stretch>
            </a:blipFill>
          </p:spPr>
        </p:sp>
        <p:sp>
          <p:nvSpPr>
            <p:cNvPr name="TextBox 108" id="108"/>
            <p:cNvSpPr txBox="true"/>
            <p:nvPr/>
          </p:nvSpPr>
          <p:spPr>
            <a:xfrm>
              <a:off x="0" y="-38100"/>
              <a:ext cx="10809656" cy="915924"/>
            </a:xfrm>
            <a:prstGeom prst="rect">
              <a:avLst/>
            </a:prstGeom>
          </p:spPr>
          <p:txBody>
            <a:bodyPr anchor="ctr" rtlCol="false" tIns="0" lIns="0" bIns="0" rIns="0"/>
            <a:lstStyle/>
            <a:p>
              <a:pPr algn="l">
                <a:lnSpc>
                  <a:spcPts val="2880"/>
                </a:lnSpc>
              </a:pPr>
              <a:r>
                <a:rPr lang="en-US" sz="2400">
                  <a:solidFill>
                    <a:srgbClr val="FFFFFF"/>
                  </a:solidFill>
                  <a:latin typeface="Calibri (MS)"/>
                  <a:ea typeface="Calibri (MS)"/>
                  <a:cs typeface="Calibri (MS)"/>
                  <a:sym typeface="Calibri (MS)"/>
                </a:rPr>
                <a:t>4.  Plug into optimiser — repeated runs at low cost</a:t>
              </a:r>
            </a:p>
          </p:txBody>
        </p:sp>
      </p:grpSp>
      <p:grpSp>
        <p:nvGrpSpPr>
          <p:cNvPr name="Group 109" id="109"/>
          <p:cNvGrpSpPr/>
          <p:nvPr/>
        </p:nvGrpSpPr>
        <p:grpSpPr>
          <a:xfrm rot="0">
            <a:off x="9474938" y="7285727"/>
            <a:ext cx="8502717" cy="438912"/>
            <a:chOff x="0" y="0"/>
            <a:chExt cx="11336956" cy="585216"/>
          </a:xfrm>
        </p:grpSpPr>
        <p:sp>
          <p:nvSpPr>
            <p:cNvPr name="Freeform 110" id="110"/>
            <p:cNvSpPr/>
            <p:nvPr/>
          </p:nvSpPr>
          <p:spPr>
            <a:xfrm flipH="false" flipV="false" rot="0">
              <a:off x="0" y="0"/>
              <a:ext cx="11336956" cy="585216"/>
            </a:xfrm>
            <a:custGeom>
              <a:avLst/>
              <a:gdLst/>
              <a:ahLst/>
              <a:cxnLst/>
              <a:rect r="r" b="b" t="t" l="l"/>
              <a:pathLst>
                <a:path h="585216" w="11336956">
                  <a:moveTo>
                    <a:pt x="0" y="0"/>
                  </a:moveTo>
                  <a:lnTo>
                    <a:pt x="11336956" y="0"/>
                  </a:lnTo>
                  <a:lnTo>
                    <a:pt x="11336956" y="585216"/>
                  </a:lnTo>
                  <a:lnTo>
                    <a:pt x="0" y="585216"/>
                  </a:lnTo>
                  <a:close/>
                </a:path>
              </a:pathLst>
            </a:custGeom>
            <a:blipFill>
              <a:blip r:embed="rId3">
                <a:alphaModFix amt="0"/>
              </a:blip>
              <a:stretch>
                <a:fillRect l="0" t="-299106" r="7513" b="-299106"/>
              </a:stretch>
            </a:blipFill>
          </p:spPr>
        </p:sp>
        <p:sp>
          <p:nvSpPr>
            <p:cNvPr name="TextBox 111" id="111"/>
            <p:cNvSpPr txBox="true"/>
            <p:nvPr/>
          </p:nvSpPr>
          <p:spPr>
            <a:xfrm>
              <a:off x="0" y="-38100"/>
              <a:ext cx="11336956" cy="623316"/>
            </a:xfrm>
            <a:prstGeom prst="rect">
              <a:avLst/>
            </a:prstGeom>
          </p:spPr>
          <p:txBody>
            <a:bodyPr anchor="ctr" rtlCol="false" tIns="0" lIns="0" bIns="0" rIns="0"/>
            <a:lstStyle/>
            <a:p>
              <a:pPr algn="l">
                <a:lnSpc>
                  <a:spcPts val="2039"/>
                </a:lnSpc>
              </a:pPr>
              <a:r>
                <a:rPr lang="en-US" sz="1700">
                  <a:solidFill>
                    <a:srgbClr val="000000"/>
                  </a:solidFill>
                  <a:latin typeface="Calibri (MS)"/>
                  <a:ea typeface="Calibri (MS)"/>
                  <a:cs typeface="Calibri (MS)"/>
                  <a:sym typeface="Calibri (MS)"/>
                </a:rPr>
                <a:t>✓  Near-instant inference once trained</a:t>
              </a:r>
            </a:p>
          </p:txBody>
        </p:sp>
      </p:grpSp>
      <p:grpSp>
        <p:nvGrpSpPr>
          <p:cNvPr name="Group 112" id="112"/>
          <p:cNvGrpSpPr/>
          <p:nvPr/>
        </p:nvGrpSpPr>
        <p:grpSpPr>
          <a:xfrm rot="0">
            <a:off x="9474938" y="7761215"/>
            <a:ext cx="8502717" cy="438912"/>
            <a:chOff x="0" y="0"/>
            <a:chExt cx="11336956" cy="585216"/>
          </a:xfrm>
        </p:grpSpPr>
        <p:sp>
          <p:nvSpPr>
            <p:cNvPr name="Freeform 113" id="113"/>
            <p:cNvSpPr/>
            <p:nvPr/>
          </p:nvSpPr>
          <p:spPr>
            <a:xfrm flipH="false" flipV="false" rot="0">
              <a:off x="0" y="0"/>
              <a:ext cx="11336956" cy="585216"/>
            </a:xfrm>
            <a:custGeom>
              <a:avLst/>
              <a:gdLst/>
              <a:ahLst/>
              <a:cxnLst/>
              <a:rect r="r" b="b" t="t" l="l"/>
              <a:pathLst>
                <a:path h="585216" w="11336956">
                  <a:moveTo>
                    <a:pt x="0" y="0"/>
                  </a:moveTo>
                  <a:lnTo>
                    <a:pt x="11336956" y="0"/>
                  </a:lnTo>
                  <a:lnTo>
                    <a:pt x="11336956" y="585216"/>
                  </a:lnTo>
                  <a:lnTo>
                    <a:pt x="0" y="585216"/>
                  </a:lnTo>
                  <a:close/>
                </a:path>
              </a:pathLst>
            </a:custGeom>
            <a:blipFill>
              <a:blip r:embed="rId3">
                <a:alphaModFix amt="0"/>
              </a:blip>
              <a:stretch>
                <a:fillRect l="0" t="-299106" r="7513" b="-299106"/>
              </a:stretch>
            </a:blipFill>
          </p:spPr>
        </p:sp>
        <p:sp>
          <p:nvSpPr>
            <p:cNvPr name="TextBox 114" id="114"/>
            <p:cNvSpPr txBox="true"/>
            <p:nvPr/>
          </p:nvSpPr>
          <p:spPr>
            <a:xfrm>
              <a:off x="0" y="-38100"/>
              <a:ext cx="11336956" cy="623316"/>
            </a:xfrm>
            <a:prstGeom prst="rect">
              <a:avLst/>
            </a:prstGeom>
          </p:spPr>
          <p:txBody>
            <a:bodyPr anchor="ctr" rtlCol="false" tIns="0" lIns="0" bIns="0" rIns="0"/>
            <a:lstStyle/>
            <a:p>
              <a:pPr algn="l">
                <a:lnSpc>
                  <a:spcPts val="2039"/>
                </a:lnSpc>
              </a:pPr>
              <a:r>
                <a:rPr lang="en-US" sz="1700">
                  <a:solidFill>
                    <a:srgbClr val="000000"/>
                  </a:solidFill>
                  <a:latin typeface="Calibri (MS)"/>
                  <a:ea typeface="Calibri (MS)"/>
                  <a:cs typeface="Calibri (MS)"/>
                  <a:sym typeface="Calibri (MS)"/>
                </a:rPr>
                <a:t>✓  Scales easily — no re-simulation needed</a:t>
              </a:r>
            </a:p>
          </p:txBody>
        </p:sp>
      </p:grpSp>
      <p:grpSp>
        <p:nvGrpSpPr>
          <p:cNvPr name="Group 115" id="115"/>
          <p:cNvGrpSpPr/>
          <p:nvPr/>
        </p:nvGrpSpPr>
        <p:grpSpPr>
          <a:xfrm rot="0">
            <a:off x="9474938" y="8236703"/>
            <a:ext cx="8502717" cy="438912"/>
            <a:chOff x="0" y="0"/>
            <a:chExt cx="11336956" cy="585216"/>
          </a:xfrm>
        </p:grpSpPr>
        <p:sp>
          <p:nvSpPr>
            <p:cNvPr name="Freeform 116" id="116"/>
            <p:cNvSpPr/>
            <p:nvPr/>
          </p:nvSpPr>
          <p:spPr>
            <a:xfrm flipH="false" flipV="false" rot="0">
              <a:off x="0" y="0"/>
              <a:ext cx="11336956" cy="585216"/>
            </a:xfrm>
            <a:custGeom>
              <a:avLst/>
              <a:gdLst/>
              <a:ahLst/>
              <a:cxnLst/>
              <a:rect r="r" b="b" t="t" l="l"/>
              <a:pathLst>
                <a:path h="585216" w="11336956">
                  <a:moveTo>
                    <a:pt x="0" y="0"/>
                  </a:moveTo>
                  <a:lnTo>
                    <a:pt x="11336956" y="0"/>
                  </a:lnTo>
                  <a:lnTo>
                    <a:pt x="11336956" y="585216"/>
                  </a:lnTo>
                  <a:lnTo>
                    <a:pt x="0" y="585216"/>
                  </a:lnTo>
                  <a:close/>
                </a:path>
              </a:pathLst>
            </a:custGeom>
            <a:blipFill>
              <a:blip r:embed="rId3">
                <a:alphaModFix amt="0"/>
              </a:blip>
              <a:stretch>
                <a:fillRect l="0" t="-299106" r="7513" b="-299106"/>
              </a:stretch>
            </a:blipFill>
          </p:spPr>
        </p:sp>
        <p:sp>
          <p:nvSpPr>
            <p:cNvPr name="TextBox 117" id="117"/>
            <p:cNvSpPr txBox="true"/>
            <p:nvPr/>
          </p:nvSpPr>
          <p:spPr>
            <a:xfrm>
              <a:off x="0" y="-38100"/>
              <a:ext cx="11336956" cy="623316"/>
            </a:xfrm>
            <a:prstGeom prst="rect">
              <a:avLst/>
            </a:prstGeom>
          </p:spPr>
          <p:txBody>
            <a:bodyPr anchor="ctr" rtlCol="false" tIns="0" lIns="0" bIns="0" rIns="0"/>
            <a:lstStyle/>
            <a:p>
              <a:pPr algn="l">
                <a:lnSpc>
                  <a:spcPts val="2039"/>
                </a:lnSpc>
              </a:pPr>
              <a:r>
                <a:rPr lang="en-US" sz="1700">
                  <a:solidFill>
                    <a:srgbClr val="000000"/>
                  </a:solidFill>
                  <a:latin typeface="Calibri (MS)"/>
                  <a:ea typeface="Calibri (MS)"/>
                  <a:cs typeface="Calibri (MS)"/>
                  <a:sym typeface="Calibri (MS)"/>
                </a:rPr>
                <a:t>✓  Real measurement data can be incorporated</a:t>
              </a:r>
            </a:p>
          </p:txBody>
        </p:sp>
      </p:grpSp>
      <p:grpSp>
        <p:nvGrpSpPr>
          <p:cNvPr name="Group 118" id="118"/>
          <p:cNvGrpSpPr/>
          <p:nvPr/>
        </p:nvGrpSpPr>
        <p:grpSpPr>
          <a:xfrm rot="0">
            <a:off x="9463949" y="8629852"/>
            <a:ext cx="8502717" cy="438912"/>
            <a:chOff x="0" y="0"/>
            <a:chExt cx="11336956" cy="585216"/>
          </a:xfrm>
        </p:grpSpPr>
        <p:sp>
          <p:nvSpPr>
            <p:cNvPr name="Freeform 119" id="119"/>
            <p:cNvSpPr/>
            <p:nvPr/>
          </p:nvSpPr>
          <p:spPr>
            <a:xfrm flipH="false" flipV="false" rot="0">
              <a:off x="0" y="0"/>
              <a:ext cx="11336956" cy="585216"/>
            </a:xfrm>
            <a:custGeom>
              <a:avLst/>
              <a:gdLst/>
              <a:ahLst/>
              <a:cxnLst/>
              <a:rect r="r" b="b" t="t" l="l"/>
              <a:pathLst>
                <a:path h="585216" w="11336956">
                  <a:moveTo>
                    <a:pt x="0" y="0"/>
                  </a:moveTo>
                  <a:lnTo>
                    <a:pt x="11336956" y="0"/>
                  </a:lnTo>
                  <a:lnTo>
                    <a:pt x="11336956" y="585216"/>
                  </a:lnTo>
                  <a:lnTo>
                    <a:pt x="0" y="585216"/>
                  </a:lnTo>
                  <a:close/>
                </a:path>
              </a:pathLst>
            </a:custGeom>
            <a:blipFill>
              <a:blip r:embed="rId3">
                <a:alphaModFix amt="0"/>
              </a:blip>
              <a:stretch>
                <a:fillRect l="0" t="-299106" r="7513" b="-299106"/>
              </a:stretch>
            </a:blipFill>
          </p:spPr>
        </p:sp>
        <p:sp>
          <p:nvSpPr>
            <p:cNvPr name="TextBox 120" id="120"/>
            <p:cNvSpPr txBox="true"/>
            <p:nvPr/>
          </p:nvSpPr>
          <p:spPr>
            <a:xfrm>
              <a:off x="0" y="-38100"/>
              <a:ext cx="11336956" cy="623316"/>
            </a:xfrm>
            <a:prstGeom prst="rect">
              <a:avLst/>
            </a:prstGeom>
          </p:spPr>
          <p:txBody>
            <a:bodyPr anchor="ctr" rtlCol="false" tIns="0" lIns="0" bIns="0" rIns="0"/>
            <a:lstStyle/>
            <a:p>
              <a:pPr algn="l">
                <a:lnSpc>
                  <a:spcPts val="2039"/>
                </a:lnSpc>
              </a:pPr>
              <a:r>
                <a:rPr lang="en-US" sz="1700">
                  <a:solidFill>
                    <a:srgbClr val="000000"/>
                  </a:solidFill>
                  <a:latin typeface="Calibri (MS)"/>
                  <a:ea typeface="Calibri (MS)"/>
                  <a:cs typeface="Calibri (MS)"/>
                  <a:sym typeface="Calibri (MS)"/>
                </a:rPr>
                <a:t>✗  Upfront cost — data generation and training</a:t>
              </a:r>
            </a:p>
          </p:txBody>
        </p:sp>
      </p:grpSp>
      <p:grpSp>
        <p:nvGrpSpPr>
          <p:cNvPr name="Group 121" id="121"/>
          <p:cNvGrpSpPr/>
          <p:nvPr/>
        </p:nvGrpSpPr>
        <p:grpSpPr>
          <a:xfrm rot="0">
            <a:off x="9485916" y="9130660"/>
            <a:ext cx="8502717" cy="438912"/>
            <a:chOff x="0" y="0"/>
            <a:chExt cx="11336956" cy="585216"/>
          </a:xfrm>
        </p:grpSpPr>
        <p:sp>
          <p:nvSpPr>
            <p:cNvPr name="Freeform 122" id="122"/>
            <p:cNvSpPr/>
            <p:nvPr/>
          </p:nvSpPr>
          <p:spPr>
            <a:xfrm flipH="false" flipV="false" rot="0">
              <a:off x="0" y="0"/>
              <a:ext cx="11336956" cy="585216"/>
            </a:xfrm>
            <a:custGeom>
              <a:avLst/>
              <a:gdLst/>
              <a:ahLst/>
              <a:cxnLst/>
              <a:rect r="r" b="b" t="t" l="l"/>
              <a:pathLst>
                <a:path h="585216" w="11336956">
                  <a:moveTo>
                    <a:pt x="0" y="0"/>
                  </a:moveTo>
                  <a:lnTo>
                    <a:pt x="11336956" y="0"/>
                  </a:lnTo>
                  <a:lnTo>
                    <a:pt x="11336956" y="585216"/>
                  </a:lnTo>
                  <a:lnTo>
                    <a:pt x="0" y="585216"/>
                  </a:lnTo>
                  <a:close/>
                </a:path>
              </a:pathLst>
            </a:custGeom>
            <a:blipFill>
              <a:blip r:embed="rId3">
                <a:alphaModFix amt="0"/>
              </a:blip>
              <a:stretch>
                <a:fillRect l="0" t="-299106" r="7513" b="-299106"/>
              </a:stretch>
            </a:blipFill>
          </p:spPr>
        </p:sp>
        <p:sp>
          <p:nvSpPr>
            <p:cNvPr name="TextBox 123" id="123"/>
            <p:cNvSpPr txBox="true"/>
            <p:nvPr/>
          </p:nvSpPr>
          <p:spPr>
            <a:xfrm>
              <a:off x="0" y="-38100"/>
              <a:ext cx="11336956" cy="623316"/>
            </a:xfrm>
            <a:prstGeom prst="rect">
              <a:avLst/>
            </a:prstGeom>
          </p:spPr>
          <p:txBody>
            <a:bodyPr anchor="ctr" rtlCol="false" tIns="0" lIns="0" bIns="0" rIns="0"/>
            <a:lstStyle/>
            <a:p>
              <a:pPr algn="l">
                <a:lnSpc>
                  <a:spcPts val="2039"/>
                </a:lnSpc>
              </a:pPr>
              <a:r>
                <a:rPr lang="en-US" sz="1700">
                  <a:solidFill>
                    <a:srgbClr val="000000"/>
                  </a:solidFill>
                  <a:latin typeface="Calibri (MS)"/>
                  <a:ea typeface="Calibri (MS)"/>
                  <a:cs typeface="Calibri (MS)"/>
                  <a:sym typeface="Calibri (MS)"/>
                </a:rPr>
                <a:t>✗  Accuracy bounded by training data quality</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8904122" y="903122"/>
            <a:ext cx="479755" cy="18288000"/>
            <a:chOff x="0" y="0"/>
            <a:chExt cx="639674" cy="24384000"/>
          </a:xfrm>
        </p:grpSpPr>
        <p:sp>
          <p:nvSpPr>
            <p:cNvPr name="Freeform 3" id="3"/>
            <p:cNvSpPr/>
            <p:nvPr/>
          </p:nvSpPr>
          <p:spPr>
            <a:xfrm flipH="false" flipV="false" rot="0">
              <a:off x="0" y="0"/>
              <a:ext cx="639699" cy="24384000"/>
            </a:xfrm>
            <a:custGeom>
              <a:avLst/>
              <a:gdLst/>
              <a:ahLst/>
              <a:cxnLst/>
              <a:rect r="r" b="b" t="t" l="l"/>
              <a:pathLst>
                <a:path h="24384000" w="639699">
                  <a:moveTo>
                    <a:pt x="0" y="0"/>
                  </a:moveTo>
                  <a:lnTo>
                    <a:pt x="639699" y="0"/>
                  </a:lnTo>
                  <a:lnTo>
                    <a:pt x="639699" y="24384000"/>
                  </a:lnTo>
                  <a:lnTo>
                    <a:pt x="0" y="24384000"/>
                  </a:lnTo>
                  <a:close/>
                </a:path>
              </a:pathLst>
            </a:custGeom>
            <a:solidFill>
              <a:srgbClr val="00ACC1"/>
            </a:solidFill>
          </p:spPr>
        </p:sp>
      </p:grpSp>
      <p:sp>
        <p:nvSpPr>
          <p:cNvPr name="TextBox 4" id="4"/>
          <p:cNvSpPr txBox="true"/>
          <p:nvPr/>
        </p:nvSpPr>
        <p:spPr>
          <a:xfrm rot="0">
            <a:off x="200258" y="1666161"/>
            <a:ext cx="17887483" cy="3459413"/>
          </a:xfrm>
          <a:prstGeom prst="rect">
            <a:avLst/>
          </a:prstGeom>
        </p:spPr>
        <p:txBody>
          <a:bodyPr anchor="t" rtlCol="false" tIns="0" lIns="0" bIns="0" rIns="0">
            <a:spAutoFit/>
          </a:bodyPr>
          <a:lstStyle/>
          <a:p>
            <a:pPr algn="l">
              <a:lnSpc>
                <a:spcPts val="3360"/>
              </a:lnSpc>
            </a:pPr>
            <a:r>
              <a:rPr lang="en-US" sz="2800">
                <a:solidFill>
                  <a:srgbClr val="0D1B2A"/>
                </a:solidFill>
                <a:latin typeface="Calibri (MS)"/>
                <a:ea typeface="Calibri (MS)"/>
                <a:cs typeface="Calibri (MS)"/>
                <a:sym typeface="Calibri (MS)"/>
              </a:rPr>
              <a:t>The physics-based approach involves solving the ODEs (as mentioned earlier), which are detailed here and these equations describe the system dynamics and are used to obtain the response.</a:t>
            </a:r>
          </a:p>
          <a:p>
            <a:pPr algn="l">
              <a:lnSpc>
                <a:spcPts val="3360"/>
              </a:lnSpc>
            </a:pPr>
          </a:p>
          <a:p>
            <a:pPr algn="l">
              <a:lnSpc>
                <a:spcPts val="3360"/>
              </a:lnSpc>
            </a:pPr>
          </a:p>
          <a:p>
            <a:pPr algn="l">
              <a:lnSpc>
                <a:spcPts val="3360"/>
              </a:lnSpc>
            </a:pPr>
          </a:p>
          <a:p>
            <a:pPr algn="l">
              <a:lnSpc>
                <a:spcPts val="3360"/>
              </a:lnSpc>
            </a:pPr>
          </a:p>
          <a:p>
            <a:pPr algn="l">
              <a:lnSpc>
                <a:spcPts val="3118"/>
              </a:lnSpc>
            </a:pPr>
          </a:p>
          <a:p>
            <a:pPr algn="just">
              <a:lnSpc>
                <a:spcPts val="3118"/>
              </a:lnSpc>
            </a:pPr>
          </a:p>
        </p:txBody>
      </p:sp>
      <p:grpSp>
        <p:nvGrpSpPr>
          <p:cNvPr name="Group 5" id="5"/>
          <p:cNvGrpSpPr/>
          <p:nvPr/>
        </p:nvGrpSpPr>
        <p:grpSpPr>
          <a:xfrm rot="-5400000">
            <a:off x="8349396" y="-8349396"/>
            <a:ext cx="1589218" cy="18288000"/>
            <a:chOff x="0" y="0"/>
            <a:chExt cx="2118957" cy="24384000"/>
          </a:xfrm>
        </p:grpSpPr>
        <p:sp>
          <p:nvSpPr>
            <p:cNvPr name="Freeform 6" id="6"/>
            <p:cNvSpPr/>
            <p:nvPr/>
          </p:nvSpPr>
          <p:spPr>
            <a:xfrm flipH="false" flipV="false" rot="0">
              <a:off x="0" y="0"/>
              <a:ext cx="2118995" cy="24384000"/>
            </a:xfrm>
            <a:custGeom>
              <a:avLst/>
              <a:gdLst/>
              <a:ahLst/>
              <a:cxnLst/>
              <a:rect r="r" b="b" t="t" l="l"/>
              <a:pathLst>
                <a:path h="24384000" w="2118995">
                  <a:moveTo>
                    <a:pt x="0" y="0"/>
                  </a:moveTo>
                  <a:lnTo>
                    <a:pt x="2118995" y="0"/>
                  </a:lnTo>
                  <a:lnTo>
                    <a:pt x="2118995" y="24384000"/>
                  </a:lnTo>
                  <a:lnTo>
                    <a:pt x="0" y="24384000"/>
                  </a:lnTo>
                  <a:close/>
                </a:path>
              </a:pathLst>
            </a:custGeom>
            <a:solidFill>
              <a:srgbClr val="17375E"/>
            </a:solidFill>
          </p:spPr>
        </p:sp>
        <p:sp>
          <p:nvSpPr>
            <p:cNvPr name="Freeform 7" id="7"/>
            <p:cNvSpPr/>
            <p:nvPr/>
          </p:nvSpPr>
          <p:spPr>
            <a:xfrm flipH="false" flipV="false" rot="0">
              <a:off x="-1524" y="-1524"/>
              <a:ext cx="2122043" cy="24387048"/>
            </a:xfrm>
            <a:custGeom>
              <a:avLst/>
              <a:gdLst/>
              <a:ahLst/>
              <a:cxnLst/>
              <a:rect r="r" b="b" t="t" l="l"/>
              <a:pathLst>
                <a:path h="24387048" w="2122043">
                  <a:moveTo>
                    <a:pt x="1524" y="0"/>
                  </a:moveTo>
                  <a:lnTo>
                    <a:pt x="2120519" y="0"/>
                  </a:lnTo>
                  <a:cubicBezTo>
                    <a:pt x="2121408" y="0"/>
                    <a:pt x="2122043" y="762"/>
                    <a:pt x="2122043" y="1524"/>
                  </a:cubicBezTo>
                  <a:lnTo>
                    <a:pt x="2122043" y="24385524"/>
                  </a:lnTo>
                  <a:cubicBezTo>
                    <a:pt x="2122043" y="24386414"/>
                    <a:pt x="2121281" y="24387048"/>
                    <a:pt x="2120519" y="24387048"/>
                  </a:cubicBezTo>
                  <a:lnTo>
                    <a:pt x="1524" y="24387048"/>
                  </a:lnTo>
                  <a:cubicBezTo>
                    <a:pt x="635" y="24387048"/>
                    <a:pt x="0" y="24386287"/>
                    <a:pt x="0" y="24385524"/>
                  </a:cubicBezTo>
                  <a:lnTo>
                    <a:pt x="0" y="1524"/>
                  </a:lnTo>
                  <a:cubicBezTo>
                    <a:pt x="0" y="635"/>
                    <a:pt x="762" y="0"/>
                    <a:pt x="1524" y="0"/>
                  </a:cubicBezTo>
                  <a:moveTo>
                    <a:pt x="1524" y="3048"/>
                  </a:moveTo>
                  <a:lnTo>
                    <a:pt x="1524" y="1524"/>
                  </a:lnTo>
                  <a:lnTo>
                    <a:pt x="3048" y="1524"/>
                  </a:lnTo>
                  <a:lnTo>
                    <a:pt x="3048" y="24385524"/>
                  </a:lnTo>
                  <a:lnTo>
                    <a:pt x="1524" y="24385524"/>
                  </a:lnTo>
                  <a:lnTo>
                    <a:pt x="1524" y="24384000"/>
                  </a:lnTo>
                  <a:lnTo>
                    <a:pt x="2120519" y="24384000"/>
                  </a:lnTo>
                  <a:lnTo>
                    <a:pt x="2120519" y="24385524"/>
                  </a:lnTo>
                  <a:lnTo>
                    <a:pt x="2118995" y="24385524"/>
                  </a:lnTo>
                  <a:lnTo>
                    <a:pt x="2118995" y="1524"/>
                  </a:lnTo>
                  <a:lnTo>
                    <a:pt x="2120519" y="1524"/>
                  </a:lnTo>
                  <a:lnTo>
                    <a:pt x="2120519" y="3048"/>
                  </a:lnTo>
                  <a:lnTo>
                    <a:pt x="1524" y="3048"/>
                  </a:lnTo>
                  <a:close/>
                </a:path>
              </a:pathLst>
            </a:custGeom>
            <a:solidFill>
              <a:srgbClr val="002060"/>
            </a:solidFill>
          </p:spPr>
        </p:sp>
      </p:grpSp>
      <p:grpSp>
        <p:nvGrpSpPr>
          <p:cNvPr name="Group 8" id="8"/>
          <p:cNvGrpSpPr/>
          <p:nvPr/>
        </p:nvGrpSpPr>
        <p:grpSpPr>
          <a:xfrm rot="0">
            <a:off x="259404" y="-66599"/>
            <a:ext cx="15235942" cy="1725511"/>
            <a:chOff x="0" y="0"/>
            <a:chExt cx="20314590" cy="2300681"/>
          </a:xfrm>
        </p:grpSpPr>
        <p:sp>
          <p:nvSpPr>
            <p:cNvPr name="Freeform 9" id="9"/>
            <p:cNvSpPr/>
            <p:nvPr/>
          </p:nvSpPr>
          <p:spPr>
            <a:xfrm flipH="false" flipV="false" rot="0">
              <a:off x="0" y="0"/>
              <a:ext cx="20314586" cy="2300686"/>
            </a:xfrm>
            <a:custGeom>
              <a:avLst/>
              <a:gdLst/>
              <a:ahLst/>
              <a:cxnLst/>
              <a:rect r="r" b="b" t="t" l="l"/>
              <a:pathLst>
                <a:path h="2300686" w="20314586">
                  <a:moveTo>
                    <a:pt x="0" y="0"/>
                  </a:moveTo>
                  <a:lnTo>
                    <a:pt x="20314586" y="0"/>
                  </a:lnTo>
                  <a:lnTo>
                    <a:pt x="20314586" y="2300686"/>
                  </a:lnTo>
                  <a:lnTo>
                    <a:pt x="0" y="2300686"/>
                  </a:lnTo>
                  <a:close/>
                </a:path>
              </a:pathLst>
            </a:custGeom>
            <a:blipFill>
              <a:blip r:embed="rId3">
                <a:alphaModFix amt="0"/>
              </a:blip>
              <a:stretch>
                <a:fillRect l="0" t="-122049" r="0" b="-122048"/>
              </a:stretch>
            </a:blipFill>
          </p:spPr>
        </p:sp>
        <p:sp>
          <p:nvSpPr>
            <p:cNvPr name="TextBox 10" id="10"/>
            <p:cNvSpPr txBox="true"/>
            <p:nvPr/>
          </p:nvSpPr>
          <p:spPr>
            <a:xfrm>
              <a:off x="0" y="-161925"/>
              <a:ext cx="20314590" cy="2462606"/>
            </a:xfrm>
            <a:prstGeom prst="rect">
              <a:avLst/>
            </a:prstGeom>
          </p:spPr>
          <p:txBody>
            <a:bodyPr anchor="ctr" rtlCol="false" tIns="0" lIns="0" bIns="0" rIns="0"/>
            <a:lstStyle/>
            <a:p>
              <a:pPr algn="l">
                <a:lnSpc>
                  <a:spcPts val="9601"/>
                </a:lnSpc>
              </a:pPr>
              <a:r>
                <a:rPr lang="en-US" sz="8001">
                  <a:solidFill>
                    <a:srgbClr val="FFFFFF"/>
                  </a:solidFill>
                  <a:latin typeface="Calibri (MS)"/>
                  <a:ea typeface="Calibri (MS)"/>
                  <a:cs typeface="Calibri (MS)"/>
                  <a:sym typeface="Calibri (MS)"/>
                </a:rPr>
                <a:t>Physics Based Approach </a:t>
              </a:r>
            </a:p>
          </p:txBody>
        </p:sp>
      </p:grpSp>
      <p:grpSp>
        <p:nvGrpSpPr>
          <p:cNvPr name="Group 11" id="11"/>
          <p:cNvGrpSpPr/>
          <p:nvPr/>
        </p:nvGrpSpPr>
        <p:grpSpPr>
          <a:xfrm rot="0">
            <a:off x="-2838" y="2925566"/>
            <a:ext cx="5203307" cy="3287678"/>
            <a:chOff x="0" y="0"/>
            <a:chExt cx="6937743" cy="4383570"/>
          </a:xfrm>
        </p:grpSpPr>
        <p:sp>
          <p:nvSpPr>
            <p:cNvPr name="Freeform 12" id="12"/>
            <p:cNvSpPr/>
            <p:nvPr/>
          </p:nvSpPr>
          <p:spPr>
            <a:xfrm flipH="false" flipV="false" rot="0">
              <a:off x="0" y="0"/>
              <a:ext cx="6937756" cy="4383532"/>
            </a:xfrm>
            <a:custGeom>
              <a:avLst/>
              <a:gdLst/>
              <a:ahLst/>
              <a:cxnLst/>
              <a:rect r="r" b="b" t="t" l="l"/>
              <a:pathLst>
                <a:path h="4383532" w="6937756">
                  <a:moveTo>
                    <a:pt x="0" y="0"/>
                  </a:moveTo>
                  <a:lnTo>
                    <a:pt x="6937756" y="0"/>
                  </a:lnTo>
                  <a:lnTo>
                    <a:pt x="6937756" y="4383532"/>
                  </a:lnTo>
                  <a:lnTo>
                    <a:pt x="0" y="4383532"/>
                  </a:lnTo>
                  <a:lnTo>
                    <a:pt x="0" y="0"/>
                  </a:lnTo>
                  <a:close/>
                </a:path>
              </a:pathLst>
            </a:custGeom>
            <a:blipFill>
              <a:blip r:embed="rId4"/>
              <a:stretch>
                <a:fillRect l="0" t="-1824" r="0" b="-1825"/>
              </a:stretch>
            </a:blipFill>
          </p:spPr>
        </p:sp>
      </p:grpSp>
      <p:grpSp>
        <p:nvGrpSpPr>
          <p:cNvPr name="Group 13" id="13"/>
          <p:cNvGrpSpPr/>
          <p:nvPr/>
        </p:nvGrpSpPr>
        <p:grpSpPr>
          <a:xfrm rot="0">
            <a:off x="3486" y="6287624"/>
            <a:ext cx="5429250" cy="3505200"/>
            <a:chOff x="0" y="0"/>
            <a:chExt cx="7239000" cy="4673600"/>
          </a:xfrm>
        </p:grpSpPr>
        <p:sp>
          <p:nvSpPr>
            <p:cNvPr name="Freeform 14" id="14" descr="A table of mathematical equations  AI-generated content may be incorrect."/>
            <p:cNvSpPr/>
            <p:nvPr/>
          </p:nvSpPr>
          <p:spPr>
            <a:xfrm flipH="false" flipV="false" rot="0">
              <a:off x="0" y="0"/>
              <a:ext cx="7239000" cy="4673600"/>
            </a:xfrm>
            <a:custGeom>
              <a:avLst/>
              <a:gdLst/>
              <a:ahLst/>
              <a:cxnLst/>
              <a:rect r="r" b="b" t="t" l="l"/>
              <a:pathLst>
                <a:path h="4673600" w="7239000">
                  <a:moveTo>
                    <a:pt x="0" y="0"/>
                  </a:moveTo>
                  <a:lnTo>
                    <a:pt x="7239000" y="0"/>
                  </a:lnTo>
                  <a:lnTo>
                    <a:pt x="7239000" y="4673600"/>
                  </a:lnTo>
                  <a:lnTo>
                    <a:pt x="0" y="4673600"/>
                  </a:lnTo>
                  <a:lnTo>
                    <a:pt x="0" y="0"/>
                  </a:lnTo>
                  <a:close/>
                </a:path>
              </a:pathLst>
            </a:custGeom>
            <a:blipFill>
              <a:blip r:embed="rId5"/>
              <a:stretch>
                <a:fillRect l="0" t="0" r="0" b="0"/>
              </a:stretch>
            </a:blipFill>
          </p:spPr>
        </p:sp>
      </p:grpSp>
      <p:grpSp>
        <p:nvGrpSpPr>
          <p:cNvPr name="Group 15" id="15"/>
          <p:cNvGrpSpPr/>
          <p:nvPr/>
        </p:nvGrpSpPr>
        <p:grpSpPr>
          <a:xfrm rot="0">
            <a:off x="6006998" y="6327848"/>
            <a:ext cx="4533900" cy="3476625"/>
            <a:chOff x="0" y="0"/>
            <a:chExt cx="6045200" cy="4635500"/>
          </a:xfrm>
        </p:grpSpPr>
        <p:sp>
          <p:nvSpPr>
            <p:cNvPr name="Freeform 16" id="16" descr="A math formula with numbers and symbols  AI-generated content may be incorrect."/>
            <p:cNvSpPr/>
            <p:nvPr/>
          </p:nvSpPr>
          <p:spPr>
            <a:xfrm flipH="false" flipV="false" rot="0">
              <a:off x="0" y="0"/>
              <a:ext cx="6045200" cy="4635500"/>
            </a:xfrm>
            <a:custGeom>
              <a:avLst/>
              <a:gdLst/>
              <a:ahLst/>
              <a:cxnLst/>
              <a:rect r="r" b="b" t="t" l="l"/>
              <a:pathLst>
                <a:path h="4635500" w="6045200">
                  <a:moveTo>
                    <a:pt x="0" y="0"/>
                  </a:moveTo>
                  <a:lnTo>
                    <a:pt x="6045200" y="0"/>
                  </a:lnTo>
                  <a:lnTo>
                    <a:pt x="6045200" y="4635500"/>
                  </a:lnTo>
                  <a:lnTo>
                    <a:pt x="0" y="4635500"/>
                  </a:lnTo>
                  <a:lnTo>
                    <a:pt x="0" y="0"/>
                  </a:lnTo>
                  <a:close/>
                </a:path>
              </a:pathLst>
            </a:custGeom>
            <a:blipFill>
              <a:blip r:embed="rId6"/>
              <a:stretch>
                <a:fillRect l="0" t="0" r="0" b="0"/>
              </a:stretch>
            </a:blipFill>
          </p:spPr>
        </p:sp>
      </p:grpSp>
      <p:grpSp>
        <p:nvGrpSpPr>
          <p:cNvPr name="Group 17" id="17"/>
          <p:cNvGrpSpPr/>
          <p:nvPr/>
        </p:nvGrpSpPr>
        <p:grpSpPr>
          <a:xfrm rot="0">
            <a:off x="11683489" y="6314999"/>
            <a:ext cx="5831072" cy="2332739"/>
            <a:chOff x="0" y="0"/>
            <a:chExt cx="7774762" cy="3110319"/>
          </a:xfrm>
        </p:grpSpPr>
        <p:sp>
          <p:nvSpPr>
            <p:cNvPr name="Freeform 18" id="18"/>
            <p:cNvSpPr/>
            <p:nvPr/>
          </p:nvSpPr>
          <p:spPr>
            <a:xfrm flipH="false" flipV="false" rot="0">
              <a:off x="0" y="0"/>
              <a:ext cx="7774813" cy="3110357"/>
            </a:xfrm>
            <a:custGeom>
              <a:avLst/>
              <a:gdLst/>
              <a:ahLst/>
              <a:cxnLst/>
              <a:rect r="r" b="b" t="t" l="l"/>
              <a:pathLst>
                <a:path h="3110357" w="7774813">
                  <a:moveTo>
                    <a:pt x="0" y="0"/>
                  </a:moveTo>
                  <a:lnTo>
                    <a:pt x="7774813" y="0"/>
                  </a:lnTo>
                  <a:lnTo>
                    <a:pt x="7774813" y="3110357"/>
                  </a:lnTo>
                  <a:lnTo>
                    <a:pt x="0" y="3110357"/>
                  </a:lnTo>
                  <a:lnTo>
                    <a:pt x="0" y="0"/>
                  </a:lnTo>
                  <a:close/>
                </a:path>
              </a:pathLst>
            </a:custGeom>
            <a:blipFill>
              <a:blip r:embed="rId7"/>
              <a:stretch>
                <a:fillRect l="-513" t="0" r="-513" b="1"/>
              </a:stretch>
            </a:blipFill>
          </p:spPr>
        </p:sp>
      </p:grpSp>
      <p:grpSp>
        <p:nvGrpSpPr>
          <p:cNvPr name="Group 19" id="19"/>
          <p:cNvGrpSpPr/>
          <p:nvPr/>
        </p:nvGrpSpPr>
        <p:grpSpPr>
          <a:xfrm rot="0">
            <a:off x="11688375" y="8622068"/>
            <a:ext cx="6116603" cy="1167365"/>
            <a:chOff x="0" y="0"/>
            <a:chExt cx="8155470" cy="1556487"/>
          </a:xfrm>
        </p:grpSpPr>
        <p:sp>
          <p:nvSpPr>
            <p:cNvPr name="Freeform 20" id="20"/>
            <p:cNvSpPr/>
            <p:nvPr/>
          </p:nvSpPr>
          <p:spPr>
            <a:xfrm flipH="false" flipV="false" rot="0">
              <a:off x="0" y="0"/>
              <a:ext cx="8155432" cy="1556512"/>
            </a:xfrm>
            <a:custGeom>
              <a:avLst/>
              <a:gdLst/>
              <a:ahLst/>
              <a:cxnLst/>
              <a:rect r="r" b="b" t="t" l="l"/>
              <a:pathLst>
                <a:path h="1556512" w="8155432">
                  <a:moveTo>
                    <a:pt x="0" y="0"/>
                  </a:moveTo>
                  <a:lnTo>
                    <a:pt x="8155432" y="0"/>
                  </a:lnTo>
                  <a:lnTo>
                    <a:pt x="8155432" y="1556512"/>
                  </a:lnTo>
                  <a:lnTo>
                    <a:pt x="0" y="1556512"/>
                  </a:lnTo>
                  <a:lnTo>
                    <a:pt x="0" y="0"/>
                  </a:lnTo>
                  <a:close/>
                </a:path>
              </a:pathLst>
            </a:custGeom>
            <a:blipFill>
              <a:blip r:embed="rId8"/>
              <a:stretch>
                <a:fillRect l="0" t="-469" r="0" b="-468"/>
              </a:stretch>
            </a:blipFill>
          </p:spPr>
        </p:sp>
      </p:grpSp>
      <p:grpSp>
        <p:nvGrpSpPr>
          <p:cNvPr name="Group 21" id="21"/>
          <p:cNvGrpSpPr/>
          <p:nvPr/>
        </p:nvGrpSpPr>
        <p:grpSpPr>
          <a:xfrm rot="0">
            <a:off x="5609339" y="2793816"/>
            <a:ext cx="5328266" cy="3489941"/>
            <a:chOff x="0" y="0"/>
            <a:chExt cx="7104355" cy="4653255"/>
          </a:xfrm>
        </p:grpSpPr>
        <p:sp>
          <p:nvSpPr>
            <p:cNvPr name="Freeform 22" id="22"/>
            <p:cNvSpPr/>
            <p:nvPr/>
          </p:nvSpPr>
          <p:spPr>
            <a:xfrm flipH="false" flipV="false" rot="0">
              <a:off x="0" y="0"/>
              <a:ext cx="7104380" cy="4653280"/>
            </a:xfrm>
            <a:custGeom>
              <a:avLst/>
              <a:gdLst/>
              <a:ahLst/>
              <a:cxnLst/>
              <a:rect r="r" b="b" t="t" l="l"/>
              <a:pathLst>
                <a:path h="4653280" w="7104380">
                  <a:moveTo>
                    <a:pt x="0" y="0"/>
                  </a:moveTo>
                  <a:lnTo>
                    <a:pt x="7104380" y="0"/>
                  </a:lnTo>
                  <a:lnTo>
                    <a:pt x="7104380" y="4653280"/>
                  </a:lnTo>
                  <a:lnTo>
                    <a:pt x="0" y="4653280"/>
                  </a:lnTo>
                  <a:lnTo>
                    <a:pt x="0" y="0"/>
                  </a:lnTo>
                  <a:close/>
                </a:path>
              </a:pathLst>
            </a:custGeom>
            <a:blipFill>
              <a:blip r:embed="rId9"/>
              <a:stretch>
                <a:fillRect l="0" t="0" r="-3373" b="382"/>
              </a:stretch>
            </a:blipFill>
          </p:spPr>
        </p:sp>
      </p:grpSp>
      <p:grpSp>
        <p:nvGrpSpPr>
          <p:cNvPr name="Group 23" id="23"/>
          <p:cNvGrpSpPr/>
          <p:nvPr/>
        </p:nvGrpSpPr>
        <p:grpSpPr>
          <a:xfrm rot="0">
            <a:off x="11691718" y="2701338"/>
            <a:ext cx="5324475" cy="3714750"/>
            <a:chOff x="0" y="0"/>
            <a:chExt cx="7099300" cy="4953000"/>
          </a:xfrm>
        </p:grpSpPr>
        <p:sp>
          <p:nvSpPr>
            <p:cNvPr name="Freeform 24" id="24"/>
            <p:cNvSpPr/>
            <p:nvPr/>
          </p:nvSpPr>
          <p:spPr>
            <a:xfrm flipH="false" flipV="false" rot="0">
              <a:off x="0" y="0"/>
              <a:ext cx="7099300" cy="4953000"/>
            </a:xfrm>
            <a:custGeom>
              <a:avLst/>
              <a:gdLst/>
              <a:ahLst/>
              <a:cxnLst/>
              <a:rect r="r" b="b" t="t" l="l"/>
              <a:pathLst>
                <a:path h="4953000" w="7099300">
                  <a:moveTo>
                    <a:pt x="0" y="0"/>
                  </a:moveTo>
                  <a:lnTo>
                    <a:pt x="7099300" y="0"/>
                  </a:lnTo>
                  <a:lnTo>
                    <a:pt x="7099300" y="4953000"/>
                  </a:lnTo>
                  <a:lnTo>
                    <a:pt x="0" y="4953000"/>
                  </a:lnTo>
                  <a:lnTo>
                    <a:pt x="0" y="0"/>
                  </a:lnTo>
                  <a:close/>
                </a:path>
              </a:pathLst>
            </a:custGeom>
            <a:blipFill>
              <a:blip r:embed="rId10"/>
              <a:stretch>
                <a:fillRect l="0" t="0" r="-77" b="0"/>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8904122" y="903122"/>
            <a:ext cx="479755" cy="18288000"/>
            <a:chOff x="0" y="0"/>
            <a:chExt cx="639674" cy="24384000"/>
          </a:xfrm>
        </p:grpSpPr>
        <p:sp>
          <p:nvSpPr>
            <p:cNvPr name="Freeform 3" id="3"/>
            <p:cNvSpPr/>
            <p:nvPr/>
          </p:nvSpPr>
          <p:spPr>
            <a:xfrm flipH="false" flipV="false" rot="0">
              <a:off x="0" y="0"/>
              <a:ext cx="639699" cy="24384000"/>
            </a:xfrm>
            <a:custGeom>
              <a:avLst/>
              <a:gdLst/>
              <a:ahLst/>
              <a:cxnLst/>
              <a:rect r="r" b="b" t="t" l="l"/>
              <a:pathLst>
                <a:path h="24384000" w="639699">
                  <a:moveTo>
                    <a:pt x="0" y="0"/>
                  </a:moveTo>
                  <a:lnTo>
                    <a:pt x="639699" y="0"/>
                  </a:lnTo>
                  <a:lnTo>
                    <a:pt x="639699" y="24384000"/>
                  </a:lnTo>
                  <a:lnTo>
                    <a:pt x="0" y="24384000"/>
                  </a:lnTo>
                  <a:close/>
                </a:path>
              </a:pathLst>
            </a:custGeom>
            <a:solidFill>
              <a:srgbClr val="00ACC1"/>
            </a:solidFill>
          </p:spPr>
        </p:sp>
      </p:grpSp>
      <p:sp>
        <p:nvSpPr>
          <p:cNvPr name="TextBox 4" id="4"/>
          <p:cNvSpPr txBox="true"/>
          <p:nvPr/>
        </p:nvSpPr>
        <p:spPr>
          <a:xfrm rot="0">
            <a:off x="202025" y="1637043"/>
            <a:ext cx="17824158" cy="7067576"/>
          </a:xfrm>
          <a:prstGeom prst="rect">
            <a:avLst/>
          </a:prstGeom>
        </p:spPr>
        <p:txBody>
          <a:bodyPr anchor="t" rtlCol="false" tIns="0" lIns="0" bIns="0" rIns="0">
            <a:spAutoFit/>
          </a:bodyPr>
          <a:lstStyle/>
          <a:p>
            <a:pPr algn="l">
              <a:lnSpc>
                <a:spcPts val="3348"/>
              </a:lnSpc>
            </a:pPr>
            <a:r>
              <a:rPr lang="en-US" sz="2790">
                <a:solidFill>
                  <a:srgbClr val="0D1B2A"/>
                </a:solidFill>
                <a:latin typeface="Calibri (MS)"/>
                <a:ea typeface="Calibri (MS)"/>
                <a:cs typeface="Calibri (MS)"/>
                <a:sym typeface="Calibri (MS)"/>
              </a:rPr>
              <a:t>The ODEs mentioned above are represented as 6-DOF suspension model with two geometric constraints:</a:t>
            </a:r>
          </a:p>
          <a:p>
            <a:pPr algn="l">
              <a:lnSpc>
                <a:spcPts val="3348"/>
              </a:lnSpc>
            </a:pPr>
          </a:p>
          <a:p>
            <a:pPr algn="l">
              <a:lnSpc>
                <a:spcPts val="3348"/>
              </a:lnSpc>
            </a:pPr>
          </a:p>
          <a:p>
            <a:pPr algn="l">
              <a:lnSpc>
                <a:spcPts val="3348"/>
              </a:lnSpc>
            </a:pPr>
          </a:p>
          <a:p>
            <a:pPr algn="l">
              <a:lnSpc>
                <a:spcPts val="3108"/>
              </a:lnSpc>
            </a:pPr>
            <a:r>
              <a:rPr lang="en-US" sz="2590">
                <a:solidFill>
                  <a:srgbClr val="0D1B2A"/>
                </a:solidFill>
                <a:latin typeface="Calibri (MS)"/>
                <a:ea typeface="Calibri (MS)"/>
                <a:cs typeface="Calibri (MS)"/>
                <a:sym typeface="Calibri (MS)"/>
              </a:rPr>
              <a:t>Now, formulating the constrained KKT conditions based on the above: to enforce the constraints, introduce Lagrange multipliers λ, which generate constraint forces, where G(q)=∂g/∂q.</a:t>
            </a:r>
          </a:p>
          <a:p>
            <a:pPr algn="l">
              <a:lnSpc>
                <a:spcPts val="3348"/>
              </a:lnSpc>
            </a:pPr>
          </a:p>
          <a:p>
            <a:pPr algn="l">
              <a:lnSpc>
                <a:spcPts val="3348"/>
              </a:lnSpc>
            </a:pPr>
          </a:p>
          <a:p>
            <a:pPr algn="l">
              <a:lnSpc>
                <a:spcPts val="3348"/>
              </a:lnSpc>
            </a:pPr>
          </a:p>
          <a:p>
            <a:pPr algn="l">
              <a:lnSpc>
                <a:spcPts val="3348"/>
              </a:lnSpc>
            </a:pPr>
          </a:p>
          <a:p>
            <a:pPr algn="l">
              <a:lnSpc>
                <a:spcPts val="3348"/>
              </a:lnSpc>
            </a:pPr>
          </a:p>
          <a:p>
            <a:pPr algn="l">
              <a:lnSpc>
                <a:spcPts val="3348"/>
              </a:lnSpc>
            </a:pPr>
          </a:p>
          <a:p>
            <a:pPr algn="l">
              <a:lnSpc>
                <a:spcPts val="3348"/>
              </a:lnSpc>
            </a:pPr>
          </a:p>
          <a:p>
            <a:pPr algn="l">
              <a:lnSpc>
                <a:spcPts val="3348"/>
              </a:lnSpc>
            </a:pPr>
          </a:p>
          <a:p>
            <a:pPr algn="l">
              <a:lnSpc>
                <a:spcPts val="3348"/>
              </a:lnSpc>
            </a:pPr>
          </a:p>
          <a:p>
            <a:pPr algn="l">
              <a:lnSpc>
                <a:spcPts val="3107"/>
              </a:lnSpc>
            </a:pPr>
          </a:p>
          <a:p>
            <a:pPr algn="just">
              <a:lnSpc>
                <a:spcPts val="3107"/>
              </a:lnSpc>
            </a:pPr>
          </a:p>
        </p:txBody>
      </p:sp>
      <p:grpSp>
        <p:nvGrpSpPr>
          <p:cNvPr name="Group 5" id="5"/>
          <p:cNvGrpSpPr/>
          <p:nvPr/>
        </p:nvGrpSpPr>
        <p:grpSpPr>
          <a:xfrm rot="-5400000">
            <a:off x="8349396" y="-8349396"/>
            <a:ext cx="1589218" cy="18288000"/>
            <a:chOff x="0" y="0"/>
            <a:chExt cx="2118957" cy="24384000"/>
          </a:xfrm>
        </p:grpSpPr>
        <p:sp>
          <p:nvSpPr>
            <p:cNvPr name="Freeform 6" id="6"/>
            <p:cNvSpPr/>
            <p:nvPr/>
          </p:nvSpPr>
          <p:spPr>
            <a:xfrm flipH="false" flipV="false" rot="0">
              <a:off x="0" y="0"/>
              <a:ext cx="2118995" cy="24384000"/>
            </a:xfrm>
            <a:custGeom>
              <a:avLst/>
              <a:gdLst/>
              <a:ahLst/>
              <a:cxnLst/>
              <a:rect r="r" b="b" t="t" l="l"/>
              <a:pathLst>
                <a:path h="24384000" w="2118995">
                  <a:moveTo>
                    <a:pt x="0" y="0"/>
                  </a:moveTo>
                  <a:lnTo>
                    <a:pt x="2118995" y="0"/>
                  </a:lnTo>
                  <a:lnTo>
                    <a:pt x="2118995" y="24384000"/>
                  </a:lnTo>
                  <a:lnTo>
                    <a:pt x="0" y="24384000"/>
                  </a:lnTo>
                  <a:close/>
                </a:path>
              </a:pathLst>
            </a:custGeom>
            <a:solidFill>
              <a:srgbClr val="17375E"/>
            </a:solidFill>
          </p:spPr>
        </p:sp>
        <p:sp>
          <p:nvSpPr>
            <p:cNvPr name="Freeform 7" id="7"/>
            <p:cNvSpPr/>
            <p:nvPr/>
          </p:nvSpPr>
          <p:spPr>
            <a:xfrm flipH="false" flipV="false" rot="0">
              <a:off x="-1524" y="-1524"/>
              <a:ext cx="2122043" cy="24387048"/>
            </a:xfrm>
            <a:custGeom>
              <a:avLst/>
              <a:gdLst/>
              <a:ahLst/>
              <a:cxnLst/>
              <a:rect r="r" b="b" t="t" l="l"/>
              <a:pathLst>
                <a:path h="24387048" w="2122043">
                  <a:moveTo>
                    <a:pt x="1524" y="0"/>
                  </a:moveTo>
                  <a:lnTo>
                    <a:pt x="2120519" y="0"/>
                  </a:lnTo>
                  <a:cubicBezTo>
                    <a:pt x="2121408" y="0"/>
                    <a:pt x="2122043" y="762"/>
                    <a:pt x="2122043" y="1524"/>
                  </a:cubicBezTo>
                  <a:lnTo>
                    <a:pt x="2122043" y="24385524"/>
                  </a:lnTo>
                  <a:cubicBezTo>
                    <a:pt x="2122043" y="24386414"/>
                    <a:pt x="2121281" y="24387048"/>
                    <a:pt x="2120519" y="24387048"/>
                  </a:cubicBezTo>
                  <a:lnTo>
                    <a:pt x="1524" y="24387048"/>
                  </a:lnTo>
                  <a:cubicBezTo>
                    <a:pt x="635" y="24387048"/>
                    <a:pt x="0" y="24386287"/>
                    <a:pt x="0" y="24385524"/>
                  </a:cubicBezTo>
                  <a:lnTo>
                    <a:pt x="0" y="1524"/>
                  </a:lnTo>
                  <a:cubicBezTo>
                    <a:pt x="0" y="635"/>
                    <a:pt x="762" y="0"/>
                    <a:pt x="1524" y="0"/>
                  </a:cubicBezTo>
                  <a:moveTo>
                    <a:pt x="1524" y="3048"/>
                  </a:moveTo>
                  <a:lnTo>
                    <a:pt x="1524" y="1524"/>
                  </a:lnTo>
                  <a:lnTo>
                    <a:pt x="3048" y="1524"/>
                  </a:lnTo>
                  <a:lnTo>
                    <a:pt x="3048" y="24385524"/>
                  </a:lnTo>
                  <a:lnTo>
                    <a:pt x="1524" y="24385524"/>
                  </a:lnTo>
                  <a:lnTo>
                    <a:pt x="1524" y="24384000"/>
                  </a:lnTo>
                  <a:lnTo>
                    <a:pt x="2120519" y="24384000"/>
                  </a:lnTo>
                  <a:lnTo>
                    <a:pt x="2120519" y="24385524"/>
                  </a:lnTo>
                  <a:lnTo>
                    <a:pt x="2118995" y="24385524"/>
                  </a:lnTo>
                  <a:lnTo>
                    <a:pt x="2118995" y="1524"/>
                  </a:lnTo>
                  <a:lnTo>
                    <a:pt x="2120519" y="1524"/>
                  </a:lnTo>
                  <a:lnTo>
                    <a:pt x="2120519" y="3048"/>
                  </a:lnTo>
                  <a:lnTo>
                    <a:pt x="1524" y="3048"/>
                  </a:lnTo>
                  <a:close/>
                </a:path>
              </a:pathLst>
            </a:custGeom>
            <a:solidFill>
              <a:srgbClr val="002060"/>
            </a:solidFill>
          </p:spPr>
        </p:sp>
      </p:grpSp>
      <p:grpSp>
        <p:nvGrpSpPr>
          <p:cNvPr name="Group 8" id="8"/>
          <p:cNvGrpSpPr/>
          <p:nvPr/>
        </p:nvGrpSpPr>
        <p:grpSpPr>
          <a:xfrm rot="0">
            <a:off x="259404" y="-66599"/>
            <a:ext cx="15235942" cy="1725511"/>
            <a:chOff x="0" y="0"/>
            <a:chExt cx="20314590" cy="2300681"/>
          </a:xfrm>
        </p:grpSpPr>
        <p:sp>
          <p:nvSpPr>
            <p:cNvPr name="Freeform 9" id="9"/>
            <p:cNvSpPr/>
            <p:nvPr/>
          </p:nvSpPr>
          <p:spPr>
            <a:xfrm flipH="false" flipV="false" rot="0">
              <a:off x="0" y="0"/>
              <a:ext cx="20314586" cy="2300686"/>
            </a:xfrm>
            <a:custGeom>
              <a:avLst/>
              <a:gdLst/>
              <a:ahLst/>
              <a:cxnLst/>
              <a:rect r="r" b="b" t="t" l="l"/>
              <a:pathLst>
                <a:path h="2300686" w="20314586">
                  <a:moveTo>
                    <a:pt x="0" y="0"/>
                  </a:moveTo>
                  <a:lnTo>
                    <a:pt x="20314586" y="0"/>
                  </a:lnTo>
                  <a:lnTo>
                    <a:pt x="20314586" y="2300686"/>
                  </a:lnTo>
                  <a:lnTo>
                    <a:pt x="0" y="2300686"/>
                  </a:lnTo>
                  <a:close/>
                </a:path>
              </a:pathLst>
            </a:custGeom>
            <a:blipFill>
              <a:blip r:embed="rId3">
                <a:alphaModFix amt="0"/>
              </a:blip>
              <a:stretch>
                <a:fillRect l="0" t="-122049" r="0" b="-122048"/>
              </a:stretch>
            </a:blipFill>
          </p:spPr>
        </p:sp>
        <p:sp>
          <p:nvSpPr>
            <p:cNvPr name="TextBox 10" id="10"/>
            <p:cNvSpPr txBox="true"/>
            <p:nvPr/>
          </p:nvSpPr>
          <p:spPr>
            <a:xfrm>
              <a:off x="0" y="-161925"/>
              <a:ext cx="20314590" cy="2462606"/>
            </a:xfrm>
            <a:prstGeom prst="rect">
              <a:avLst/>
            </a:prstGeom>
          </p:spPr>
          <p:txBody>
            <a:bodyPr anchor="ctr" rtlCol="false" tIns="0" lIns="0" bIns="0" rIns="0"/>
            <a:lstStyle/>
            <a:p>
              <a:pPr algn="l">
                <a:lnSpc>
                  <a:spcPts val="9601"/>
                </a:lnSpc>
              </a:pPr>
              <a:r>
                <a:rPr lang="en-US" sz="8001">
                  <a:solidFill>
                    <a:srgbClr val="FFFFFF"/>
                  </a:solidFill>
                  <a:latin typeface="Calibri (MS)"/>
                  <a:ea typeface="Calibri (MS)"/>
                  <a:cs typeface="Calibri (MS)"/>
                  <a:sym typeface="Calibri (MS)"/>
                </a:rPr>
                <a:t>Physics Based Approach </a:t>
              </a:r>
            </a:p>
          </p:txBody>
        </p:sp>
      </p:grpSp>
      <p:grpSp>
        <p:nvGrpSpPr>
          <p:cNvPr name="Group 11" id="11"/>
          <p:cNvGrpSpPr/>
          <p:nvPr/>
        </p:nvGrpSpPr>
        <p:grpSpPr>
          <a:xfrm rot="0">
            <a:off x="5652830" y="4473211"/>
            <a:ext cx="5198046" cy="1012853"/>
            <a:chOff x="0" y="0"/>
            <a:chExt cx="8492757" cy="1654835"/>
          </a:xfrm>
        </p:grpSpPr>
        <p:sp>
          <p:nvSpPr>
            <p:cNvPr name="Freeform 12" id="12"/>
            <p:cNvSpPr/>
            <p:nvPr/>
          </p:nvSpPr>
          <p:spPr>
            <a:xfrm flipH="false" flipV="false" rot="0">
              <a:off x="0" y="0"/>
              <a:ext cx="8492744" cy="1654810"/>
            </a:xfrm>
            <a:custGeom>
              <a:avLst/>
              <a:gdLst/>
              <a:ahLst/>
              <a:cxnLst/>
              <a:rect r="r" b="b" t="t" l="l"/>
              <a:pathLst>
                <a:path h="1654810" w="8492744">
                  <a:moveTo>
                    <a:pt x="0" y="0"/>
                  </a:moveTo>
                  <a:lnTo>
                    <a:pt x="8492744" y="0"/>
                  </a:lnTo>
                  <a:lnTo>
                    <a:pt x="8492744" y="1654810"/>
                  </a:lnTo>
                  <a:lnTo>
                    <a:pt x="0" y="1654810"/>
                  </a:lnTo>
                  <a:lnTo>
                    <a:pt x="0" y="0"/>
                  </a:lnTo>
                  <a:close/>
                </a:path>
              </a:pathLst>
            </a:custGeom>
            <a:blipFill>
              <a:blip r:embed="rId4"/>
              <a:stretch>
                <a:fillRect l="-3465" t="0" r="-3465" b="-1"/>
              </a:stretch>
            </a:blipFill>
          </p:spPr>
        </p:sp>
      </p:grpSp>
      <p:grpSp>
        <p:nvGrpSpPr>
          <p:cNvPr name="Group 13" id="13"/>
          <p:cNvGrpSpPr/>
          <p:nvPr/>
        </p:nvGrpSpPr>
        <p:grpSpPr>
          <a:xfrm rot="0">
            <a:off x="12891477" y="5486063"/>
            <a:ext cx="4849344" cy="2515143"/>
            <a:chOff x="0" y="0"/>
            <a:chExt cx="4551032" cy="2360422"/>
          </a:xfrm>
        </p:grpSpPr>
        <p:sp>
          <p:nvSpPr>
            <p:cNvPr name="Freeform 14" id="14" descr="A math equations on a white background  AI-generated content may be incorrect."/>
            <p:cNvSpPr/>
            <p:nvPr/>
          </p:nvSpPr>
          <p:spPr>
            <a:xfrm flipH="false" flipV="false" rot="0">
              <a:off x="0" y="0"/>
              <a:ext cx="4551045" cy="2360422"/>
            </a:xfrm>
            <a:custGeom>
              <a:avLst/>
              <a:gdLst/>
              <a:ahLst/>
              <a:cxnLst/>
              <a:rect r="r" b="b" t="t" l="l"/>
              <a:pathLst>
                <a:path h="2360422" w="4551045">
                  <a:moveTo>
                    <a:pt x="0" y="0"/>
                  </a:moveTo>
                  <a:lnTo>
                    <a:pt x="4551045" y="0"/>
                  </a:lnTo>
                  <a:lnTo>
                    <a:pt x="4551045" y="2360422"/>
                  </a:lnTo>
                  <a:lnTo>
                    <a:pt x="0" y="2360422"/>
                  </a:lnTo>
                  <a:lnTo>
                    <a:pt x="0" y="0"/>
                  </a:lnTo>
                  <a:close/>
                </a:path>
              </a:pathLst>
            </a:custGeom>
            <a:blipFill>
              <a:blip r:embed="rId5"/>
              <a:stretch>
                <a:fillRect l="-322" t="0" r="-322" b="0"/>
              </a:stretch>
            </a:blipFill>
          </p:spPr>
        </p:sp>
      </p:grpSp>
      <p:grpSp>
        <p:nvGrpSpPr>
          <p:cNvPr name="Group 15" id="15"/>
          <p:cNvGrpSpPr/>
          <p:nvPr/>
        </p:nvGrpSpPr>
        <p:grpSpPr>
          <a:xfrm rot="0">
            <a:off x="8819612" y="8001207"/>
            <a:ext cx="4062527" cy="1406823"/>
            <a:chOff x="0" y="0"/>
            <a:chExt cx="5416702" cy="1875765"/>
          </a:xfrm>
        </p:grpSpPr>
        <p:sp>
          <p:nvSpPr>
            <p:cNvPr name="Freeform 16" id="16" descr="A white rectangular object with black text  AI-generated content may be incorrect."/>
            <p:cNvSpPr/>
            <p:nvPr/>
          </p:nvSpPr>
          <p:spPr>
            <a:xfrm flipH="false" flipV="false" rot="0">
              <a:off x="0" y="0"/>
              <a:ext cx="5416677" cy="1875790"/>
            </a:xfrm>
            <a:custGeom>
              <a:avLst/>
              <a:gdLst/>
              <a:ahLst/>
              <a:cxnLst/>
              <a:rect r="r" b="b" t="t" l="l"/>
              <a:pathLst>
                <a:path h="1875790" w="5416677">
                  <a:moveTo>
                    <a:pt x="0" y="0"/>
                  </a:moveTo>
                  <a:lnTo>
                    <a:pt x="5416677" y="0"/>
                  </a:lnTo>
                  <a:lnTo>
                    <a:pt x="5416677" y="1875790"/>
                  </a:lnTo>
                  <a:lnTo>
                    <a:pt x="0" y="1875790"/>
                  </a:lnTo>
                  <a:lnTo>
                    <a:pt x="0" y="0"/>
                  </a:lnTo>
                  <a:close/>
                </a:path>
              </a:pathLst>
            </a:custGeom>
            <a:blipFill>
              <a:blip r:embed="rId6"/>
              <a:stretch>
                <a:fillRect l="0" t="-1438" r="0" b="-1436"/>
              </a:stretch>
            </a:blipFill>
          </p:spPr>
        </p:sp>
      </p:grpSp>
      <p:sp>
        <p:nvSpPr>
          <p:cNvPr name="Freeform 17" id="17"/>
          <p:cNvSpPr/>
          <p:nvPr/>
        </p:nvSpPr>
        <p:spPr>
          <a:xfrm flipH="false" flipV="false" rot="0">
            <a:off x="3726982" y="2111715"/>
            <a:ext cx="4150393" cy="1064203"/>
          </a:xfrm>
          <a:custGeom>
            <a:avLst/>
            <a:gdLst/>
            <a:ahLst/>
            <a:cxnLst/>
            <a:rect r="r" b="b" t="t" l="l"/>
            <a:pathLst>
              <a:path h="1064203" w="4150393">
                <a:moveTo>
                  <a:pt x="0" y="0"/>
                </a:moveTo>
                <a:lnTo>
                  <a:pt x="4150393" y="0"/>
                </a:lnTo>
                <a:lnTo>
                  <a:pt x="4150393" y="1064203"/>
                </a:lnTo>
                <a:lnTo>
                  <a:pt x="0" y="1064203"/>
                </a:lnTo>
                <a:lnTo>
                  <a:pt x="0" y="0"/>
                </a:lnTo>
                <a:close/>
              </a:path>
            </a:pathLst>
          </a:custGeom>
          <a:blipFill>
            <a:blip r:embed="rId7"/>
            <a:stretch>
              <a:fillRect l="0" t="0" r="0" b="0"/>
            </a:stretch>
          </a:blipFill>
        </p:spPr>
      </p:sp>
      <p:sp>
        <p:nvSpPr>
          <p:cNvPr name="Freeform 18" id="18"/>
          <p:cNvSpPr/>
          <p:nvPr/>
        </p:nvSpPr>
        <p:spPr>
          <a:xfrm flipH="false" flipV="false" rot="0">
            <a:off x="8251853" y="2351838"/>
            <a:ext cx="2599023" cy="824080"/>
          </a:xfrm>
          <a:custGeom>
            <a:avLst/>
            <a:gdLst/>
            <a:ahLst/>
            <a:cxnLst/>
            <a:rect r="r" b="b" t="t" l="l"/>
            <a:pathLst>
              <a:path h="824080" w="2599023">
                <a:moveTo>
                  <a:pt x="0" y="0"/>
                </a:moveTo>
                <a:lnTo>
                  <a:pt x="2599023" y="0"/>
                </a:lnTo>
                <a:lnTo>
                  <a:pt x="2599023" y="824080"/>
                </a:lnTo>
                <a:lnTo>
                  <a:pt x="0" y="824080"/>
                </a:lnTo>
                <a:lnTo>
                  <a:pt x="0" y="0"/>
                </a:lnTo>
                <a:close/>
              </a:path>
            </a:pathLst>
          </a:custGeom>
          <a:blipFill>
            <a:blip r:embed="rId8"/>
            <a:stretch>
              <a:fillRect l="0" t="0" r="0" b="0"/>
            </a:stretch>
          </a:blipFill>
        </p:spPr>
      </p:sp>
      <p:sp>
        <p:nvSpPr>
          <p:cNvPr name="TextBox 19" id="19"/>
          <p:cNvSpPr txBox="true"/>
          <p:nvPr/>
        </p:nvSpPr>
        <p:spPr>
          <a:xfrm rot="0">
            <a:off x="202025" y="5727784"/>
            <a:ext cx="12882686" cy="2976834"/>
          </a:xfrm>
          <a:prstGeom prst="rect">
            <a:avLst/>
          </a:prstGeom>
        </p:spPr>
        <p:txBody>
          <a:bodyPr anchor="t" rtlCol="false" tIns="0" lIns="0" bIns="0" rIns="0">
            <a:spAutoFit/>
          </a:bodyPr>
          <a:lstStyle/>
          <a:p>
            <a:pPr algn="l">
              <a:lnSpc>
                <a:spcPts val="3348"/>
              </a:lnSpc>
            </a:pPr>
            <a:r>
              <a:rPr lang="en-US" sz="2790">
                <a:solidFill>
                  <a:srgbClr val="0D1B2A"/>
                </a:solidFill>
                <a:latin typeface="Calibri (MS)"/>
                <a:ea typeface="Calibri (MS)"/>
                <a:cs typeface="Calibri (MS)"/>
                <a:sym typeface="Calibri (MS)"/>
              </a:rPr>
              <a:t>Baumgart</a:t>
            </a:r>
            <a:r>
              <a:rPr lang="en-US" sz="2790">
                <a:solidFill>
                  <a:srgbClr val="0D1B2A"/>
                </a:solidFill>
                <a:latin typeface="Calibri (MS)"/>
                <a:ea typeface="Calibri (MS)"/>
                <a:cs typeface="Calibri (MS)"/>
                <a:sym typeface="Calibri (MS)"/>
              </a:rPr>
              <a:t>e stabilization corrects this drift continuously by adding a term, which behaves like a critically damped spring</a:t>
            </a:r>
            <a:r>
              <a:rPr lang="en-US" sz="2790">
                <a:solidFill>
                  <a:srgbClr val="0D1B2A"/>
                </a:solidFill>
                <a:latin typeface="Calibri (MS)"/>
                <a:ea typeface="Calibri (MS)"/>
                <a:cs typeface="Calibri (MS)"/>
                <a:sym typeface="Calibri (MS)"/>
              </a:rPr>
              <a:t> pulling the constraint back toward zero.</a:t>
            </a:r>
          </a:p>
          <a:p>
            <a:pPr algn="l">
              <a:lnSpc>
                <a:spcPts val="3348"/>
              </a:lnSpc>
            </a:pPr>
            <a:r>
              <a:rPr lang="en-US" sz="2790">
                <a:solidFill>
                  <a:srgbClr val="0D1B2A"/>
                </a:solidFill>
                <a:latin typeface="Calibri (MS)"/>
                <a:ea typeface="Calibri (MS)"/>
                <a:cs typeface="Calibri (MS)"/>
                <a:sym typeface="Calibri (MS)"/>
              </a:rPr>
              <a:t>And it has a damping ratio and a correction stiffness that control how fast the constraint error is removed.</a:t>
            </a:r>
          </a:p>
          <a:p>
            <a:pPr algn="l">
              <a:lnSpc>
                <a:spcPts val="3348"/>
              </a:lnSpc>
            </a:pPr>
          </a:p>
          <a:p>
            <a:pPr algn="l">
              <a:lnSpc>
                <a:spcPts val="3348"/>
              </a:lnSpc>
            </a:pPr>
          </a:p>
          <a:p>
            <a:pPr algn="just">
              <a:lnSpc>
                <a:spcPts val="3107"/>
              </a:lnSpc>
            </a:pPr>
            <a:r>
              <a:rPr lang="en-US" sz="2790">
                <a:solidFill>
                  <a:srgbClr val="0D1B2A"/>
                </a:solidFill>
                <a:latin typeface="Calibri (MS)"/>
                <a:ea typeface="Calibri (MS)"/>
                <a:cs typeface="Calibri (MS)"/>
                <a:sym typeface="Calibri (MS)"/>
              </a:rPr>
              <a:t>This is solved using the standard KKT formulation with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8904122" y="903122"/>
            <a:ext cx="479755" cy="18288000"/>
            <a:chOff x="0" y="0"/>
            <a:chExt cx="639674" cy="24384000"/>
          </a:xfrm>
        </p:grpSpPr>
        <p:sp>
          <p:nvSpPr>
            <p:cNvPr name="Freeform 3" id="3"/>
            <p:cNvSpPr/>
            <p:nvPr/>
          </p:nvSpPr>
          <p:spPr>
            <a:xfrm flipH="false" flipV="false" rot="0">
              <a:off x="0" y="0"/>
              <a:ext cx="639699" cy="24384000"/>
            </a:xfrm>
            <a:custGeom>
              <a:avLst/>
              <a:gdLst/>
              <a:ahLst/>
              <a:cxnLst/>
              <a:rect r="r" b="b" t="t" l="l"/>
              <a:pathLst>
                <a:path h="24384000" w="639699">
                  <a:moveTo>
                    <a:pt x="0" y="0"/>
                  </a:moveTo>
                  <a:lnTo>
                    <a:pt x="639699" y="0"/>
                  </a:lnTo>
                  <a:lnTo>
                    <a:pt x="639699" y="24384000"/>
                  </a:lnTo>
                  <a:lnTo>
                    <a:pt x="0" y="24384000"/>
                  </a:lnTo>
                  <a:close/>
                </a:path>
              </a:pathLst>
            </a:custGeom>
            <a:solidFill>
              <a:srgbClr val="00ACC1"/>
            </a:solidFill>
          </p:spPr>
        </p:sp>
      </p:grpSp>
      <p:sp>
        <p:nvSpPr>
          <p:cNvPr name="TextBox 4" id="4"/>
          <p:cNvSpPr txBox="true"/>
          <p:nvPr/>
        </p:nvSpPr>
        <p:spPr>
          <a:xfrm rot="0">
            <a:off x="229905" y="1623108"/>
            <a:ext cx="17859604" cy="8153400"/>
          </a:xfrm>
          <a:prstGeom prst="rect">
            <a:avLst/>
          </a:prstGeom>
        </p:spPr>
        <p:txBody>
          <a:bodyPr anchor="t" rtlCol="false" tIns="0" lIns="0" bIns="0" rIns="0">
            <a:spAutoFit/>
          </a:bodyPr>
          <a:lstStyle/>
          <a:p>
            <a:pPr algn="l">
              <a:lnSpc>
                <a:spcPts val="4320"/>
              </a:lnSpc>
            </a:pPr>
            <a:r>
              <a:rPr lang="en-US" sz="3600" b="true">
                <a:solidFill>
                  <a:srgbClr val="0D1B2A"/>
                </a:solidFill>
                <a:latin typeface="Calibri (MS) Bold"/>
                <a:ea typeface="Calibri (MS) Bold"/>
                <a:cs typeface="Calibri (MS) Bold"/>
                <a:sym typeface="Calibri (MS) Bold"/>
              </a:rPr>
              <a:t>Design Approaches for Two-Stage Asymmetric Damper Integration:</a:t>
            </a:r>
          </a:p>
          <a:p>
            <a:pPr algn="l">
              <a:lnSpc>
                <a:spcPts val="3360"/>
              </a:lnSpc>
            </a:pPr>
          </a:p>
          <a:p>
            <a:pPr algn="l">
              <a:lnSpc>
                <a:spcPts val="3360"/>
              </a:lnSpc>
            </a:pPr>
            <a:r>
              <a:rPr lang="en-US" sz="2800" b="true">
                <a:solidFill>
                  <a:srgbClr val="0D1B2A"/>
                </a:solidFill>
                <a:latin typeface="Calibri (MS) Bold"/>
                <a:ea typeface="Calibri (MS) Bold"/>
                <a:cs typeface="Calibri (MS) Bold"/>
                <a:sym typeface="Calibri (MS) Bold"/>
              </a:rPr>
              <a:t>Option 1: Direct Optimization – Two-Stage Asymmetric Damper</a:t>
            </a:r>
          </a:p>
          <a:p>
            <a:pPr algn="l" marL="506820" indent="-253410" lvl="1">
              <a:lnSpc>
                <a:spcPts val="3360"/>
              </a:lnSpc>
              <a:buFont typeface="Arial"/>
              <a:buChar char="•"/>
            </a:pPr>
            <a:r>
              <a:rPr lang="en-US" sz="2800">
                <a:solidFill>
                  <a:srgbClr val="0D1B2A"/>
                </a:solidFill>
                <a:latin typeface="Calibri (MS)"/>
                <a:ea typeface="Calibri (MS)"/>
                <a:cs typeface="Calibri (MS)"/>
                <a:sym typeface="Calibri (MS)"/>
              </a:rPr>
              <a:t>The nonlinear damper characteristics are optimized directly, along with key vehicle and suspension stiffness parameters.</a:t>
            </a:r>
          </a:p>
          <a:p>
            <a:pPr algn="l" marL="506820" indent="-253410" lvl="1">
              <a:lnSpc>
                <a:spcPts val="3360"/>
              </a:lnSpc>
              <a:buFont typeface="Arial"/>
              <a:buChar char="•"/>
            </a:pPr>
            <a:r>
              <a:rPr lang="en-US" sz="2800">
                <a:solidFill>
                  <a:srgbClr val="0D1B2A"/>
                </a:solidFill>
                <a:latin typeface="Calibri (MS)"/>
                <a:ea typeface="Calibri (MS)"/>
                <a:cs typeface="Calibri (MS)"/>
                <a:sym typeface="Calibri (MS)"/>
              </a:rPr>
              <a:t>Optimization is performed using the fully nonlinear damping model within the ODE framework.</a:t>
            </a:r>
          </a:p>
          <a:p>
            <a:pPr algn="l" marL="506820" indent="-253410" lvl="1">
              <a:lnSpc>
                <a:spcPts val="3360"/>
              </a:lnSpc>
              <a:buFont typeface="Arial"/>
              <a:buChar char="•"/>
            </a:pPr>
            <a:r>
              <a:rPr lang="en-US" sz="2800">
                <a:solidFill>
                  <a:srgbClr val="0D1B2A"/>
                </a:solidFill>
                <a:latin typeface="Calibri (MS)"/>
                <a:ea typeface="Calibri (MS)"/>
                <a:cs typeface="Calibri (MS)"/>
                <a:sym typeface="Calibri (MS)"/>
              </a:rPr>
              <a:t>The optimization simultaneously tunes: </a:t>
            </a:r>
          </a:p>
          <a:p>
            <a:pPr algn="l" marL="506820" indent="-253410" lvl="1">
              <a:lnSpc>
                <a:spcPts val="3360"/>
              </a:lnSpc>
            </a:pPr>
            <a:r>
              <a:rPr lang="en-US" sz="2800">
                <a:solidFill>
                  <a:srgbClr val="0D1B2A"/>
                </a:solidFill>
                <a:latin typeface="Calibri (MS)"/>
                <a:ea typeface="Calibri (MS)"/>
                <a:cs typeface="Calibri (MS)"/>
                <a:sym typeface="Calibri (MS)"/>
              </a:rPr>
              <a:t>           1. K_F , C_F , K_2 , K_3</a:t>
            </a:r>
          </a:p>
          <a:p>
            <a:pPr algn="l" marL="506820" indent="-253410" lvl="1">
              <a:lnSpc>
                <a:spcPts val="3360"/>
              </a:lnSpc>
            </a:pPr>
            <a:r>
              <a:rPr lang="en-US" sz="2800">
                <a:solidFill>
                  <a:srgbClr val="0D1B2A"/>
                </a:solidFill>
                <a:latin typeface="Calibri (MS)"/>
                <a:ea typeface="Calibri (MS)"/>
                <a:cs typeface="Calibri (MS)"/>
                <a:sym typeface="Calibri (MS)"/>
              </a:rPr>
              <a:t>              2. Damping parameters: cs− , Asymmetry Ratio, γc , γr</a:t>
            </a:r>
          </a:p>
          <a:p>
            <a:pPr algn="l" marL="506820" indent="-253410" lvl="1">
              <a:lnSpc>
                <a:spcPts val="3360"/>
              </a:lnSpc>
            </a:pPr>
          </a:p>
          <a:p>
            <a:pPr algn="l" marL="506820" indent="-253410" lvl="1">
              <a:lnSpc>
                <a:spcPts val="3360"/>
              </a:lnSpc>
            </a:pPr>
            <a:r>
              <a:rPr lang="en-US" b="true" sz="2800">
                <a:solidFill>
                  <a:srgbClr val="0D1B2A"/>
                </a:solidFill>
                <a:latin typeface="Calibri (MS) Bold"/>
                <a:ea typeface="Calibri (MS) Bold"/>
                <a:cs typeface="Calibri (MS) Bold"/>
                <a:sym typeface="Calibri (MS) Bold"/>
              </a:rPr>
              <a:t>Option 2: Two-Phase Optimization with Curve Fitting</a:t>
            </a:r>
          </a:p>
          <a:p>
            <a:pPr algn="l" marL="506820" indent="-253410" lvl="1">
              <a:lnSpc>
                <a:spcPts val="3360"/>
              </a:lnSpc>
            </a:pPr>
            <a:r>
              <a:rPr lang="en-US" sz="2800">
                <a:solidFill>
                  <a:srgbClr val="0D1B2A"/>
                </a:solidFill>
                <a:latin typeface="Calibri (MS)"/>
                <a:ea typeface="Calibri (MS)"/>
                <a:cs typeface="Calibri (MS)"/>
                <a:sym typeface="Calibri (MS)"/>
              </a:rPr>
              <a:t>A two-phase strategy is adopted to improve robustness and reduce computational complexity:</a:t>
            </a:r>
          </a:p>
          <a:p>
            <a:pPr algn="l" marL="506820" indent="-253410" lvl="1">
              <a:lnSpc>
                <a:spcPts val="3360"/>
              </a:lnSpc>
            </a:pPr>
            <a:r>
              <a:rPr lang="en-US" sz="2800">
                <a:solidFill>
                  <a:srgbClr val="0D1B2A"/>
                </a:solidFill>
                <a:latin typeface="Calibri (MS)"/>
                <a:ea typeface="Calibri (MS)"/>
                <a:cs typeface="Calibri (MS)"/>
                <a:sym typeface="Calibri (MS)"/>
              </a:rPr>
              <a:t>Phase 1: Linear Optimization</a:t>
            </a:r>
          </a:p>
          <a:p>
            <a:pPr algn="l" marL="506820" indent="-253410" lvl="1">
              <a:lnSpc>
                <a:spcPts val="3360"/>
              </a:lnSpc>
              <a:buFont typeface="Arial"/>
              <a:buChar char="•"/>
            </a:pPr>
            <a:r>
              <a:rPr lang="en-US" sz="2800">
                <a:solidFill>
                  <a:srgbClr val="0D1B2A"/>
                </a:solidFill>
                <a:latin typeface="Calibri (MS)"/>
                <a:ea typeface="Calibri (MS)"/>
                <a:cs typeface="Calibri (MS)"/>
                <a:sym typeface="Calibri (MS)"/>
              </a:rPr>
              <a:t>Optimize linear suspension and damper parameters: K_F , C_F , K_2 , K_3 </a:t>
            </a:r>
          </a:p>
          <a:p>
            <a:pPr algn="l" marL="506820" indent="-253410" lvl="1">
              <a:lnSpc>
                <a:spcPts val="3360"/>
              </a:lnSpc>
            </a:pPr>
            <a:r>
              <a:rPr lang="en-US" sz="2800">
                <a:solidFill>
                  <a:srgbClr val="0D1B2A"/>
                </a:solidFill>
                <a:latin typeface="Calibri (MS)"/>
                <a:ea typeface="Calibri (MS)"/>
                <a:cs typeface="Calibri (MS)"/>
                <a:sym typeface="Calibri (MS)"/>
              </a:rPr>
              <a:t>Phase 2: Nonlinear Curve Fitting</a:t>
            </a:r>
          </a:p>
          <a:p>
            <a:pPr algn="l" marL="506820" indent="-253410" lvl="1">
              <a:lnSpc>
                <a:spcPts val="3360"/>
              </a:lnSpc>
              <a:buFont typeface="Arial"/>
              <a:buChar char="•"/>
            </a:pPr>
            <a:r>
              <a:rPr lang="en-US" sz="2800">
                <a:solidFill>
                  <a:srgbClr val="0D1B2A"/>
                </a:solidFill>
                <a:latin typeface="Calibri (MS)"/>
                <a:ea typeface="Calibri (MS)"/>
                <a:cs typeface="Calibri (MS)"/>
                <a:sym typeface="Calibri (MS)"/>
              </a:rPr>
              <a:t>Fit nonlinear damper parameters based on optimized linear response:  cs− , Asymmetry Ratio, γc , γr</a:t>
            </a:r>
          </a:p>
          <a:p>
            <a:pPr algn="l" marL="506820" indent="-253410" lvl="1">
              <a:lnSpc>
                <a:spcPts val="3360"/>
              </a:lnSpc>
            </a:pPr>
          </a:p>
          <a:p>
            <a:pPr algn="l" marL="506820" indent="-253410" lvl="1">
              <a:lnSpc>
                <a:spcPts val="3360"/>
              </a:lnSpc>
            </a:pPr>
            <a:r>
              <a:rPr lang="en-US" sz="2800">
                <a:solidFill>
                  <a:srgbClr val="0D1B2A"/>
                </a:solidFill>
                <a:latin typeface="Calibri (MS)"/>
                <a:ea typeface="Calibri (MS)"/>
                <a:cs typeface="Calibri (MS)"/>
                <a:sym typeface="Calibri (MS)"/>
              </a:rPr>
              <a:t>The front damper relative velocity time history from Phase 1 represents the actual operating velocity distribution.</a:t>
            </a:r>
          </a:p>
          <a:p>
            <a:pPr algn="l" marL="506820" indent="-253410" lvl="1">
              <a:lnSpc>
                <a:spcPts val="3360"/>
              </a:lnSpc>
            </a:pPr>
            <a:r>
              <a:rPr lang="en-US" sz="2800">
                <a:solidFill>
                  <a:srgbClr val="0D1B2A"/>
                </a:solidFill>
                <a:latin typeface="Calibri (MS)"/>
                <a:ea typeface="Calibri (MS)"/>
                <a:cs typeface="Calibri (MS)"/>
                <a:sym typeface="Calibri (MS)"/>
              </a:rPr>
              <a:t>Nonlinear damper parameters are identified using a weighted least-squares curve fitting approach.</a:t>
            </a:r>
          </a:p>
        </p:txBody>
      </p:sp>
      <p:grpSp>
        <p:nvGrpSpPr>
          <p:cNvPr name="Group 5" id="5"/>
          <p:cNvGrpSpPr/>
          <p:nvPr/>
        </p:nvGrpSpPr>
        <p:grpSpPr>
          <a:xfrm rot="-5400000">
            <a:off x="8349396" y="-8349396"/>
            <a:ext cx="1589218" cy="18288000"/>
            <a:chOff x="0" y="0"/>
            <a:chExt cx="2118957" cy="24384000"/>
          </a:xfrm>
        </p:grpSpPr>
        <p:sp>
          <p:nvSpPr>
            <p:cNvPr name="Freeform 6" id="6"/>
            <p:cNvSpPr/>
            <p:nvPr/>
          </p:nvSpPr>
          <p:spPr>
            <a:xfrm flipH="false" flipV="false" rot="0">
              <a:off x="0" y="0"/>
              <a:ext cx="2118995" cy="24384000"/>
            </a:xfrm>
            <a:custGeom>
              <a:avLst/>
              <a:gdLst/>
              <a:ahLst/>
              <a:cxnLst/>
              <a:rect r="r" b="b" t="t" l="l"/>
              <a:pathLst>
                <a:path h="24384000" w="2118995">
                  <a:moveTo>
                    <a:pt x="0" y="0"/>
                  </a:moveTo>
                  <a:lnTo>
                    <a:pt x="2118995" y="0"/>
                  </a:lnTo>
                  <a:lnTo>
                    <a:pt x="2118995" y="24384000"/>
                  </a:lnTo>
                  <a:lnTo>
                    <a:pt x="0" y="24384000"/>
                  </a:lnTo>
                  <a:close/>
                </a:path>
              </a:pathLst>
            </a:custGeom>
            <a:solidFill>
              <a:srgbClr val="17375E"/>
            </a:solidFill>
          </p:spPr>
        </p:sp>
        <p:sp>
          <p:nvSpPr>
            <p:cNvPr name="Freeform 7" id="7"/>
            <p:cNvSpPr/>
            <p:nvPr/>
          </p:nvSpPr>
          <p:spPr>
            <a:xfrm flipH="false" flipV="false" rot="0">
              <a:off x="-1524" y="-1524"/>
              <a:ext cx="2122043" cy="24387048"/>
            </a:xfrm>
            <a:custGeom>
              <a:avLst/>
              <a:gdLst/>
              <a:ahLst/>
              <a:cxnLst/>
              <a:rect r="r" b="b" t="t" l="l"/>
              <a:pathLst>
                <a:path h="24387048" w="2122043">
                  <a:moveTo>
                    <a:pt x="1524" y="0"/>
                  </a:moveTo>
                  <a:lnTo>
                    <a:pt x="2120519" y="0"/>
                  </a:lnTo>
                  <a:cubicBezTo>
                    <a:pt x="2121408" y="0"/>
                    <a:pt x="2122043" y="762"/>
                    <a:pt x="2122043" y="1524"/>
                  </a:cubicBezTo>
                  <a:lnTo>
                    <a:pt x="2122043" y="24385524"/>
                  </a:lnTo>
                  <a:cubicBezTo>
                    <a:pt x="2122043" y="24386414"/>
                    <a:pt x="2121281" y="24387048"/>
                    <a:pt x="2120519" y="24387048"/>
                  </a:cubicBezTo>
                  <a:lnTo>
                    <a:pt x="1524" y="24387048"/>
                  </a:lnTo>
                  <a:cubicBezTo>
                    <a:pt x="635" y="24387048"/>
                    <a:pt x="0" y="24386287"/>
                    <a:pt x="0" y="24385524"/>
                  </a:cubicBezTo>
                  <a:lnTo>
                    <a:pt x="0" y="1524"/>
                  </a:lnTo>
                  <a:cubicBezTo>
                    <a:pt x="0" y="635"/>
                    <a:pt x="762" y="0"/>
                    <a:pt x="1524" y="0"/>
                  </a:cubicBezTo>
                  <a:moveTo>
                    <a:pt x="1524" y="3048"/>
                  </a:moveTo>
                  <a:lnTo>
                    <a:pt x="1524" y="1524"/>
                  </a:lnTo>
                  <a:lnTo>
                    <a:pt x="3048" y="1524"/>
                  </a:lnTo>
                  <a:lnTo>
                    <a:pt x="3048" y="24385524"/>
                  </a:lnTo>
                  <a:lnTo>
                    <a:pt x="1524" y="24385524"/>
                  </a:lnTo>
                  <a:lnTo>
                    <a:pt x="1524" y="24384000"/>
                  </a:lnTo>
                  <a:lnTo>
                    <a:pt x="2120519" y="24384000"/>
                  </a:lnTo>
                  <a:lnTo>
                    <a:pt x="2120519" y="24385524"/>
                  </a:lnTo>
                  <a:lnTo>
                    <a:pt x="2118995" y="24385524"/>
                  </a:lnTo>
                  <a:lnTo>
                    <a:pt x="2118995" y="1524"/>
                  </a:lnTo>
                  <a:lnTo>
                    <a:pt x="2120519" y="1524"/>
                  </a:lnTo>
                  <a:lnTo>
                    <a:pt x="2120519" y="3048"/>
                  </a:lnTo>
                  <a:lnTo>
                    <a:pt x="1524" y="3048"/>
                  </a:lnTo>
                  <a:close/>
                </a:path>
              </a:pathLst>
            </a:custGeom>
            <a:solidFill>
              <a:srgbClr val="002060"/>
            </a:solidFill>
          </p:spPr>
        </p:sp>
      </p:grpSp>
      <p:grpSp>
        <p:nvGrpSpPr>
          <p:cNvPr name="Group 8" id="8"/>
          <p:cNvGrpSpPr/>
          <p:nvPr/>
        </p:nvGrpSpPr>
        <p:grpSpPr>
          <a:xfrm rot="0">
            <a:off x="259404" y="-66599"/>
            <a:ext cx="15235942" cy="1725511"/>
            <a:chOff x="0" y="0"/>
            <a:chExt cx="20314590" cy="2300681"/>
          </a:xfrm>
        </p:grpSpPr>
        <p:sp>
          <p:nvSpPr>
            <p:cNvPr name="Freeform 9" id="9"/>
            <p:cNvSpPr/>
            <p:nvPr/>
          </p:nvSpPr>
          <p:spPr>
            <a:xfrm flipH="false" flipV="false" rot="0">
              <a:off x="0" y="0"/>
              <a:ext cx="20314586" cy="2300686"/>
            </a:xfrm>
            <a:custGeom>
              <a:avLst/>
              <a:gdLst/>
              <a:ahLst/>
              <a:cxnLst/>
              <a:rect r="r" b="b" t="t" l="l"/>
              <a:pathLst>
                <a:path h="2300686" w="20314586">
                  <a:moveTo>
                    <a:pt x="0" y="0"/>
                  </a:moveTo>
                  <a:lnTo>
                    <a:pt x="20314586" y="0"/>
                  </a:lnTo>
                  <a:lnTo>
                    <a:pt x="20314586" y="2300686"/>
                  </a:lnTo>
                  <a:lnTo>
                    <a:pt x="0" y="2300686"/>
                  </a:lnTo>
                  <a:close/>
                </a:path>
              </a:pathLst>
            </a:custGeom>
            <a:blipFill>
              <a:blip r:embed="rId3">
                <a:alphaModFix amt="0"/>
              </a:blip>
              <a:stretch>
                <a:fillRect l="0" t="-122049" r="0" b="-122048"/>
              </a:stretch>
            </a:blipFill>
          </p:spPr>
        </p:sp>
        <p:sp>
          <p:nvSpPr>
            <p:cNvPr name="TextBox 10" id="10"/>
            <p:cNvSpPr txBox="true"/>
            <p:nvPr/>
          </p:nvSpPr>
          <p:spPr>
            <a:xfrm>
              <a:off x="0" y="-161925"/>
              <a:ext cx="20314590" cy="2462606"/>
            </a:xfrm>
            <a:prstGeom prst="rect">
              <a:avLst/>
            </a:prstGeom>
          </p:spPr>
          <p:txBody>
            <a:bodyPr anchor="ctr" rtlCol="false" tIns="0" lIns="0" bIns="0" rIns="0"/>
            <a:lstStyle/>
            <a:p>
              <a:pPr algn="l">
                <a:lnSpc>
                  <a:spcPts val="9601"/>
                </a:lnSpc>
              </a:pPr>
              <a:r>
                <a:rPr lang="en-US" sz="8001">
                  <a:solidFill>
                    <a:srgbClr val="FFFFFF"/>
                  </a:solidFill>
                  <a:latin typeface="Calibri (MS)"/>
                  <a:ea typeface="Calibri (MS)"/>
                  <a:cs typeface="Calibri (MS)"/>
                  <a:sym typeface="Calibri (MS)"/>
                </a:rPr>
                <a:t>Shock Absorbing Character</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8904122" y="903122"/>
            <a:ext cx="479755" cy="18288000"/>
            <a:chOff x="0" y="0"/>
            <a:chExt cx="639674" cy="24384000"/>
          </a:xfrm>
        </p:grpSpPr>
        <p:sp>
          <p:nvSpPr>
            <p:cNvPr name="Freeform 3" id="3"/>
            <p:cNvSpPr/>
            <p:nvPr/>
          </p:nvSpPr>
          <p:spPr>
            <a:xfrm flipH="false" flipV="false" rot="0">
              <a:off x="0" y="0"/>
              <a:ext cx="639699" cy="24384000"/>
            </a:xfrm>
            <a:custGeom>
              <a:avLst/>
              <a:gdLst/>
              <a:ahLst/>
              <a:cxnLst/>
              <a:rect r="r" b="b" t="t" l="l"/>
              <a:pathLst>
                <a:path h="24384000" w="639699">
                  <a:moveTo>
                    <a:pt x="0" y="0"/>
                  </a:moveTo>
                  <a:lnTo>
                    <a:pt x="639699" y="0"/>
                  </a:lnTo>
                  <a:lnTo>
                    <a:pt x="639699" y="24384000"/>
                  </a:lnTo>
                  <a:lnTo>
                    <a:pt x="0" y="24384000"/>
                  </a:lnTo>
                  <a:close/>
                </a:path>
              </a:pathLst>
            </a:custGeom>
            <a:solidFill>
              <a:srgbClr val="00ACC1"/>
            </a:solidFill>
          </p:spPr>
        </p:sp>
      </p:grpSp>
      <p:grpSp>
        <p:nvGrpSpPr>
          <p:cNvPr name="Group 4" id="4"/>
          <p:cNvGrpSpPr/>
          <p:nvPr/>
        </p:nvGrpSpPr>
        <p:grpSpPr>
          <a:xfrm rot="-5400000">
            <a:off x="8349396" y="-8349396"/>
            <a:ext cx="1589218" cy="18288000"/>
            <a:chOff x="0" y="0"/>
            <a:chExt cx="2118957" cy="24384000"/>
          </a:xfrm>
        </p:grpSpPr>
        <p:sp>
          <p:nvSpPr>
            <p:cNvPr name="Freeform 5" id="5"/>
            <p:cNvSpPr/>
            <p:nvPr/>
          </p:nvSpPr>
          <p:spPr>
            <a:xfrm flipH="false" flipV="false" rot="0">
              <a:off x="0" y="0"/>
              <a:ext cx="2118995" cy="24384000"/>
            </a:xfrm>
            <a:custGeom>
              <a:avLst/>
              <a:gdLst/>
              <a:ahLst/>
              <a:cxnLst/>
              <a:rect r="r" b="b" t="t" l="l"/>
              <a:pathLst>
                <a:path h="24384000" w="2118995">
                  <a:moveTo>
                    <a:pt x="0" y="0"/>
                  </a:moveTo>
                  <a:lnTo>
                    <a:pt x="2118995" y="0"/>
                  </a:lnTo>
                  <a:lnTo>
                    <a:pt x="2118995" y="24384000"/>
                  </a:lnTo>
                  <a:lnTo>
                    <a:pt x="0" y="24384000"/>
                  </a:lnTo>
                  <a:close/>
                </a:path>
              </a:pathLst>
            </a:custGeom>
            <a:solidFill>
              <a:srgbClr val="17375E"/>
            </a:solidFill>
          </p:spPr>
        </p:sp>
        <p:sp>
          <p:nvSpPr>
            <p:cNvPr name="Freeform 6" id="6"/>
            <p:cNvSpPr/>
            <p:nvPr/>
          </p:nvSpPr>
          <p:spPr>
            <a:xfrm flipH="false" flipV="false" rot="0">
              <a:off x="-1524" y="-1524"/>
              <a:ext cx="2122043" cy="24387048"/>
            </a:xfrm>
            <a:custGeom>
              <a:avLst/>
              <a:gdLst/>
              <a:ahLst/>
              <a:cxnLst/>
              <a:rect r="r" b="b" t="t" l="l"/>
              <a:pathLst>
                <a:path h="24387048" w="2122043">
                  <a:moveTo>
                    <a:pt x="1524" y="0"/>
                  </a:moveTo>
                  <a:lnTo>
                    <a:pt x="2120519" y="0"/>
                  </a:lnTo>
                  <a:cubicBezTo>
                    <a:pt x="2121408" y="0"/>
                    <a:pt x="2122043" y="762"/>
                    <a:pt x="2122043" y="1524"/>
                  </a:cubicBezTo>
                  <a:lnTo>
                    <a:pt x="2122043" y="24385524"/>
                  </a:lnTo>
                  <a:cubicBezTo>
                    <a:pt x="2122043" y="24386414"/>
                    <a:pt x="2121281" y="24387048"/>
                    <a:pt x="2120519" y="24387048"/>
                  </a:cubicBezTo>
                  <a:lnTo>
                    <a:pt x="1524" y="24387048"/>
                  </a:lnTo>
                  <a:cubicBezTo>
                    <a:pt x="635" y="24387048"/>
                    <a:pt x="0" y="24386287"/>
                    <a:pt x="0" y="24385524"/>
                  </a:cubicBezTo>
                  <a:lnTo>
                    <a:pt x="0" y="1524"/>
                  </a:lnTo>
                  <a:cubicBezTo>
                    <a:pt x="0" y="635"/>
                    <a:pt x="762" y="0"/>
                    <a:pt x="1524" y="0"/>
                  </a:cubicBezTo>
                  <a:moveTo>
                    <a:pt x="1524" y="3048"/>
                  </a:moveTo>
                  <a:lnTo>
                    <a:pt x="1524" y="1524"/>
                  </a:lnTo>
                  <a:lnTo>
                    <a:pt x="3048" y="1524"/>
                  </a:lnTo>
                  <a:lnTo>
                    <a:pt x="3048" y="24385524"/>
                  </a:lnTo>
                  <a:lnTo>
                    <a:pt x="1524" y="24385524"/>
                  </a:lnTo>
                  <a:lnTo>
                    <a:pt x="1524" y="24384000"/>
                  </a:lnTo>
                  <a:lnTo>
                    <a:pt x="2120519" y="24384000"/>
                  </a:lnTo>
                  <a:lnTo>
                    <a:pt x="2120519" y="24385524"/>
                  </a:lnTo>
                  <a:lnTo>
                    <a:pt x="2118995" y="24385524"/>
                  </a:lnTo>
                  <a:lnTo>
                    <a:pt x="2118995" y="1524"/>
                  </a:lnTo>
                  <a:lnTo>
                    <a:pt x="2120519" y="1524"/>
                  </a:lnTo>
                  <a:lnTo>
                    <a:pt x="2120519" y="3048"/>
                  </a:lnTo>
                  <a:lnTo>
                    <a:pt x="1524" y="3048"/>
                  </a:lnTo>
                  <a:close/>
                </a:path>
              </a:pathLst>
            </a:custGeom>
            <a:solidFill>
              <a:srgbClr val="002060"/>
            </a:solidFill>
          </p:spPr>
        </p:sp>
      </p:grpSp>
      <p:grpSp>
        <p:nvGrpSpPr>
          <p:cNvPr name="Group 7" id="7"/>
          <p:cNvGrpSpPr/>
          <p:nvPr/>
        </p:nvGrpSpPr>
        <p:grpSpPr>
          <a:xfrm rot="0">
            <a:off x="259404" y="-66599"/>
            <a:ext cx="15235942" cy="1725511"/>
            <a:chOff x="0" y="0"/>
            <a:chExt cx="20314590" cy="2300681"/>
          </a:xfrm>
        </p:grpSpPr>
        <p:sp>
          <p:nvSpPr>
            <p:cNvPr name="Freeform 8" id="8"/>
            <p:cNvSpPr/>
            <p:nvPr/>
          </p:nvSpPr>
          <p:spPr>
            <a:xfrm flipH="false" flipV="false" rot="0">
              <a:off x="0" y="0"/>
              <a:ext cx="20314586" cy="2300686"/>
            </a:xfrm>
            <a:custGeom>
              <a:avLst/>
              <a:gdLst/>
              <a:ahLst/>
              <a:cxnLst/>
              <a:rect r="r" b="b" t="t" l="l"/>
              <a:pathLst>
                <a:path h="2300686" w="20314586">
                  <a:moveTo>
                    <a:pt x="0" y="0"/>
                  </a:moveTo>
                  <a:lnTo>
                    <a:pt x="20314586" y="0"/>
                  </a:lnTo>
                  <a:lnTo>
                    <a:pt x="20314586" y="2300686"/>
                  </a:lnTo>
                  <a:lnTo>
                    <a:pt x="0" y="2300686"/>
                  </a:lnTo>
                  <a:close/>
                </a:path>
              </a:pathLst>
            </a:custGeom>
            <a:blipFill>
              <a:blip r:embed="rId3">
                <a:alphaModFix amt="0"/>
              </a:blip>
              <a:stretch>
                <a:fillRect l="0" t="-122049" r="0" b="-122048"/>
              </a:stretch>
            </a:blipFill>
          </p:spPr>
        </p:sp>
        <p:sp>
          <p:nvSpPr>
            <p:cNvPr name="TextBox 9" id="9"/>
            <p:cNvSpPr txBox="true"/>
            <p:nvPr/>
          </p:nvSpPr>
          <p:spPr>
            <a:xfrm>
              <a:off x="0" y="-161925"/>
              <a:ext cx="20314590" cy="2462606"/>
            </a:xfrm>
            <a:prstGeom prst="rect">
              <a:avLst/>
            </a:prstGeom>
          </p:spPr>
          <p:txBody>
            <a:bodyPr anchor="ctr" rtlCol="false" tIns="0" lIns="0" bIns="0" rIns="0"/>
            <a:lstStyle/>
            <a:p>
              <a:pPr algn="l">
                <a:lnSpc>
                  <a:spcPts val="9601"/>
                </a:lnSpc>
              </a:pPr>
              <a:r>
                <a:rPr lang="en-US" sz="8001">
                  <a:solidFill>
                    <a:srgbClr val="FFFFFF"/>
                  </a:solidFill>
                  <a:latin typeface="Calibri (MS)"/>
                  <a:ea typeface="Calibri (MS)"/>
                  <a:cs typeface="Calibri (MS)"/>
                  <a:sym typeface="Calibri (MS)"/>
                </a:rPr>
                <a:t>Shock Absorbing Character</a:t>
              </a:r>
            </a:p>
          </p:txBody>
        </p:sp>
      </p:grpSp>
      <p:sp>
        <p:nvSpPr>
          <p:cNvPr name="Freeform 10" id="10"/>
          <p:cNvSpPr/>
          <p:nvPr/>
        </p:nvSpPr>
        <p:spPr>
          <a:xfrm flipH="false" flipV="false" rot="0">
            <a:off x="5" y="2132138"/>
            <a:ext cx="8312206" cy="3591694"/>
          </a:xfrm>
          <a:custGeom>
            <a:avLst/>
            <a:gdLst/>
            <a:ahLst/>
            <a:cxnLst/>
            <a:rect r="r" b="b" t="t" l="l"/>
            <a:pathLst>
              <a:path h="3591694" w="8312206">
                <a:moveTo>
                  <a:pt x="0" y="0"/>
                </a:moveTo>
                <a:lnTo>
                  <a:pt x="8312206" y="0"/>
                </a:lnTo>
                <a:lnTo>
                  <a:pt x="8312206" y="3591694"/>
                </a:lnTo>
                <a:lnTo>
                  <a:pt x="0" y="3591694"/>
                </a:lnTo>
                <a:lnTo>
                  <a:pt x="0" y="0"/>
                </a:lnTo>
                <a:close/>
              </a:path>
            </a:pathLst>
          </a:custGeom>
          <a:blipFill>
            <a:blip r:embed="rId4"/>
            <a:stretch>
              <a:fillRect l="0" t="0" r="0" b="0"/>
            </a:stretch>
          </a:blipFill>
        </p:spPr>
      </p:sp>
      <p:sp>
        <p:nvSpPr>
          <p:cNvPr name="Freeform 11" id="11"/>
          <p:cNvSpPr/>
          <p:nvPr/>
        </p:nvSpPr>
        <p:spPr>
          <a:xfrm flipH="false" flipV="false" rot="0">
            <a:off x="8312211" y="2560818"/>
            <a:ext cx="9777298" cy="2582682"/>
          </a:xfrm>
          <a:custGeom>
            <a:avLst/>
            <a:gdLst/>
            <a:ahLst/>
            <a:cxnLst/>
            <a:rect r="r" b="b" t="t" l="l"/>
            <a:pathLst>
              <a:path h="2582682" w="9777298">
                <a:moveTo>
                  <a:pt x="0" y="0"/>
                </a:moveTo>
                <a:lnTo>
                  <a:pt x="9777298" y="0"/>
                </a:lnTo>
                <a:lnTo>
                  <a:pt x="9777298" y="2582682"/>
                </a:lnTo>
                <a:lnTo>
                  <a:pt x="0" y="2582682"/>
                </a:lnTo>
                <a:lnTo>
                  <a:pt x="0" y="0"/>
                </a:lnTo>
                <a:close/>
              </a:path>
            </a:pathLst>
          </a:custGeom>
          <a:blipFill>
            <a:blip r:embed="rId5"/>
            <a:stretch>
              <a:fillRect l="0" t="0" r="0" b="0"/>
            </a:stretch>
          </a:blipFill>
        </p:spPr>
      </p:sp>
      <p:sp>
        <p:nvSpPr>
          <p:cNvPr name="Freeform 12" id="12"/>
          <p:cNvSpPr/>
          <p:nvPr/>
        </p:nvSpPr>
        <p:spPr>
          <a:xfrm flipH="false" flipV="false" rot="0">
            <a:off x="4156108" y="5632504"/>
            <a:ext cx="8745992" cy="4047441"/>
          </a:xfrm>
          <a:custGeom>
            <a:avLst/>
            <a:gdLst/>
            <a:ahLst/>
            <a:cxnLst/>
            <a:rect r="r" b="b" t="t" l="l"/>
            <a:pathLst>
              <a:path h="4047441" w="8745992">
                <a:moveTo>
                  <a:pt x="0" y="0"/>
                </a:moveTo>
                <a:lnTo>
                  <a:pt x="8745992" y="0"/>
                </a:lnTo>
                <a:lnTo>
                  <a:pt x="8745992" y="4047441"/>
                </a:lnTo>
                <a:lnTo>
                  <a:pt x="0" y="4047441"/>
                </a:lnTo>
                <a:lnTo>
                  <a:pt x="0" y="0"/>
                </a:lnTo>
                <a:close/>
              </a:path>
            </a:pathLst>
          </a:custGeom>
          <a:blipFill>
            <a:blip r:embed="rId6"/>
            <a:stretch>
              <a:fillRect l="0" t="0" r="0" b="0"/>
            </a:stretch>
          </a:blipFill>
        </p:spPr>
      </p:sp>
      <p:sp>
        <p:nvSpPr>
          <p:cNvPr name="TextBox 13" id="13"/>
          <p:cNvSpPr txBox="true"/>
          <p:nvPr/>
        </p:nvSpPr>
        <p:spPr>
          <a:xfrm rot="0">
            <a:off x="5" y="1522538"/>
            <a:ext cx="17859604" cy="609600"/>
          </a:xfrm>
          <a:prstGeom prst="rect">
            <a:avLst/>
          </a:prstGeom>
        </p:spPr>
        <p:txBody>
          <a:bodyPr anchor="t" rtlCol="false" tIns="0" lIns="0" bIns="0" rIns="0">
            <a:spAutoFit/>
          </a:bodyPr>
          <a:lstStyle/>
          <a:p>
            <a:pPr algn="l">
              <a:lnSpc>
                <a:spcPts val="4320"/>
              </a:lnSpc>
            </a:pPr>
            <a:r>
              <a:rPr lang="en-US" sz="3600" b="true">
                <a:solidFill>
                  <a:srgbClr val="0D1B2A"/>
                </a:solidFill>
                <a:latin typeface="Calibri (MS) Bold"/>
                <a:ea typeface="Calibri (MS) Bold"/>
                <a:cs typeface="Calibri (MS) Bold"/>
                <a:sym typeface="Calibri (MS) Bold"/>
              </a:rPr>
              <a:t>Results and Observation: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8904122" y="903122"/>
            <a:ext cx="479755" cy="18288000"/>
            <a:chOff x="0" y="0"/>
            <a:chExt cx="639674" cy="24384000"/>
          </a:xfrm>
        </p:grpSpPr>
        <p:sp>
          <p:nvSpPr>
            <p:cNvPr name="Freeform 3" id="3"/>
            <p:cNvSpPr/>
            <p:nvPr/>
          </p:nvSpPr>
          <p:spPr>
            <a:xfrm flipH="false" flipV="false" rot="0">
              <a:off x="0" y="0"/>
              <a:ext cx="639699" cy="24384000"/>
            </a:xfrm>
            <a:custGeom>
              <a:avLst/>
              <a:gdLst/>
              <a:ahLst/>
              <a:cxnLst/>
              <a:rect r="r" b="b" t="t" l="l"/>
              <a:pathLst>
                <a:path h="24384000" w="639699">
                  <a:moveTo>
                    <a:pt x="0" y="0"/>
                  </a:moveTo>
                  <a:lnTo>
                    <a:pt x="639699" y="0"/>
                  </a:lnTo>
                  <a:lnTo>
                    <a:pt x="639699" y="24384000"/>
                  </a:lnTo>
                  <a:lnTo>
                    <a:pt x="0" y="24384000"/>
                  </a:lnTo>
                  <a:close/>
                </a:path>
              </a:pathLst>
            </a:custGeom>
            <a:solidFill>
              <a:srgbClr val="00ACC1"/>
            </a:solidFill>
          </p:spPr>
        </p:sp>
      </p:grpSp>
      <p:grpSp>
        <p:nvGrpSpPr>
          <p:cNvPr name="Group 4" id="4"/>
          <p:cNvGrpSpPr/>
          <p:nvPr/>
        </p:nvGrpSpPr>
        <p:grpSpPr>
          <a:xfrm rot="-5400000">
            <a:off x="8349396" y="-8349396"/>
            <a:ext cx="1589218" cy="18288000"/>
            <a:chOff x="0" y="0"/>
            <a:chExt cx="2118957" cy="24384000"/>
          </a:xfrm>
        </p:grpSpPr>
        <p:sp>
          <p:nvSpPr>
            <p:cNvPr name="Freeform 5" id="5"/>
            <p:cNvSpPr/>
            <p:nvPr/>
          </p:nvSpPr>
          <p:spPr>
            <a:xfrm flipH="false" flipV="false" rot="0">
              <a:off x="0" y="0"/>
              <a:ext cx="2118995" cy="24384000"/>
            </a:xfrm>
            <a:custGeom>
              <a:avLst/>
              <a:gdLst/>
              <a:ahLst/>
              <a:cxnLst/>
              <a:rect r="r" b="b" t="t" l="l"/>
              <a:pathLst>
                <a:path h="24384000" w="2118995">
                  <a:moveTo>
                    <a:pt x="0" y="0"/>
                  </a:moveTo>
                  <a:lnTo>
                    <a:pt x="2118995" y="0"/>
                  </a:lnTo>
                  <a:lnTo>
                    <a:pt x="2118995" y="24384000"/>
                  </a:lnTo>
                  <a:lnTo>
                    <a:pt x="0" y="24384000"/>
                  </a:lnTo>
                  <a:close/>
                </a:path>
              </a:pathLst>
            </a:custGeom>
            <a:solidFill>
              <a:srgbClr val="17375E"/>
            </a:solidFill>
          </p:spPr>
        </p:sp>
        <p:sp>
          <p:nvSpPr>
            <p:cNvPr name="Freeform 6" id="6"/>
            <p:cNvSpPr/>
            <p:nvPr/>
          </p:nvSpPr>
          <p:spPr>
            <a:xfrm flipH="false" flipV="false" rot="0">
              <a:off x="-1524" y="-1524"/>
              <a:ext cx="2122043" cy="24387048"/>
            </a:xfrm>
            <a:custGeom>
              <a:avLst/>
              <a:gdLst/>
              <a:ahLst/>
              <a:cxnLst/>
              <a:rect r="r" b="b" t="t" l="l"/>
              <a:pathLst>
                <a:path h="24387048" w="2122043">
                  <a:moveTo>
                    <a:pt x="1524" y="0"/>
                  </a:moveTo>
                  <a:lnTo>
                    <a:pt x="2120519" y="0"/>
                  </a:lnTo>
                  <a:cubicBezTo>
                    <a:pt x="2121408" y="0"/>
                    <a:pt x="2122043" y="762"/>
                    <a:pt x="2122043" y="1524"/>
                  </a:cubicBezTo>
                  <a:lnTo>
                    <a:pt x="2122043" y="24385524"/>
                  </a:lnTo>
                  <a:cubicBezTo>
                    <a:pt x="2122043" y="24386414"/>
                    <a:pt x="2121281" y="24387048"/>
                    <a:pt x="2120519" y="24387048"/>
                  </a:cubicBezTo>
                  <a:lnTo>
                    <a:pt x="1524" y="24387048"/>
                  </a:lnTo>
                  <a:cubicBezTo>
                    <a:pt x="635" y="24387048"/>
                    <a:pt x="0" y="24386287"/>
                    <a:pt x="0" y="24385524"/>
                  </a:cubicBezTo>
                  <a:lnTo>
                    <a:pt x="0" y="1524"/>
                  </a:lnTo>
                  <a:cubicBezTo>
                    <a:pt x="0" y="635"/>
                    <a:pt x="762" y="0"/>
                    <a:pt x="1524" y="0"/>
                  </a:cubicBezTo>
                  <a:moveTo>
                    <a:pt x="1524" y="3048"/>
                  </a:moveTo>
                  <a:lnTo>
                    <a:pt x="1524" y="1524"/>
                  </a:lnTo>
                  <a:lnTo>
                    <a:pt x="3048" y="1524"/>
                  </a:lnTo>
                  <a:lnTo>
                    <a:pt x="3048" y="24385524"/>
                  </a:lnTo>
                  <a:lnTo>
                    <a:pt x="1524" y="24385524"/>
                  </a:lnTo>
                  <a:lnTo>
                    <a:pt x="1524" y="24384000"/>
                  </a:lnTo>
                  <a:lnTo>
                    <a:pt x="2120519" y="24384000"/>
                  </a:lnTo>
                  <a:lnTo>
                    <a:pt x="2120519" y="24385524"/>
                  </a:lnTo>
                  <a:lnTo>
                    <a:pt x="2118995" y="24385524"/>
                  </a:lnTo>
                  <a:lnTo>
                    <a:pt x="2118995" y="1524"/>
                  </a:lnTo>
                  <a:lnTo>
                    <a:pt x="2120519" y="1524"/>
                  </a:lnTo>
                  <a:lnTo>
                    <a:pt x="2120519" y="3048"/>
                  </a:lnTo>
                  <a:lnTo>
                    <a:pt x="1524" y="3048"/>
                  </a:lnTo>
                  <a:close/>
                </a:path>
              </a:pathLst>
            </a:custGeom>
            <a:solidFill>
              <a:srgbClr val="002060"/>
            </a:solidFill>
          </p:spPr>
        </p:sp>
      </p:grpSp>
      <p:grpSp>
        <p:nvGrpSpPr>
          <p:cNvPr name="Group 7" id="7"/>
          <p:cNvGrpSpPr/>
          <p:nvPr/>
        </p:nvGrpSpPr>
        <p:grpSpPr>
          <a:xfrm rot="0">
            <a:off x="259404" y="-66599"/>
            <a:ext cx="15235942" cy="1725511"/>
            <a:chOff x="0" y="0"/>
            <a:chExt cx="20314590" cy="2300681"/>
          </a:xfrm>
        </p:grpSpPr>
        <p:sp>
          <p:nvSpPr>
            <p:cNvPr name="Freeform 8" id="8"/>
            <p:cNvSpPr/>
            <p:nvPr/>
          </p:nvSpPr>
          <p:spPr>
            <a:xfrm flipH="false" flipV="false" rot="0">
              <a:off x="0" y="0"/>
              <a:ext cx="20314586" cy="2300686"/>
            </a:xfrm>
            <a:custGeom>
              <a:avLst/>
              <a:gdLst/>
              <a:ahLst/>
              <a:cxnLst/>
              <a:rect r="r" b="b" t="t" l="l"/>
              <a:pathLst>
                <a:path h="2300686" w="20314586">
                  <a:moveTo>
                    <a:pt x="0" y="0"/>
                  </a:moveTo>
                  <a:lnTo>
                    <a:pt x="20314586" y="0"/>
                  </a:lnTo>
                  <a:lnTo>
                    <a:pt x="20314586" y="2300686"/>
                  </a:lnTo>
                  <a:lnTo>
                    <a:pt x="0" y="2300686"/>
                  </a:lnTo>
                  <a:close/>
                </a:path>
              </a:pathLst>
            </a:custGeom>
            <a:blipFill>
              <a:blip r:embed="rId3">
                <a:alphaModFix amt="0"/>
              </a:blip>
              <a:stretch>
                <a:fillRect l="0" t="-122049" r="0" b="-122048"/>
              </a:stretch>
            </a:blipFill>
          </p:spPr>
        </p:sp>
        <p:sp>
          <p:nvSpPr>
            <p:cNvPr name="TextBox 9" id="9"/>
            <p:cNvSpPr txBox="true"/>
            <p:nvPr/>
          </p:nvSpPr>
          <p:spPr>
            <a:xfrm>
              <a:off x="0" y="-161925"/>
              <a:ext cx="20314590" cy="2462606"/>
            </a:xfrm>
            <a:prstGeom prst="rect">
              <a:avLst/>
            </a:prstGeom>
          </p:spPr>
          <p:txBody>
            <a:bodyPr anchor="ctr" rtlCol="false" tIns="0" lIns="0" bIns="0" rIns="0"/>
            <a:lstStyle/>
            <a:p>
              <a:pPr algn="l">
                <a:lnSpc>
                  <a:spcPts val="9601"/>
                </a:lnSpc>
              </a:pPr>
              <a:r>
                <a:rPr lang="en-US" sz="8001">
                  <a:solidFill>
                    <a:srgbClr val="FFFFFF"/>
                  </a:solidFill>
                  <a:latin typeface="Calibri (MS)"/>
                  <a:ea typeface="Calibri (MS)"/>
                  <a:cs typeface="Calibri (MS)"/>
                  <a:sym typeface="Calibri (MS)"/>
                </a:rPr>
                <a:t>Shock Absorbing Character</a:t>
              </a:r>
            </a:p>
          </p:txBody>
        </p:sp>
      </p:grpSp>
      <p:grpSp>
        <p:nvGrpSpPr>
          <p:cNvPr name="Group 10" id="10"/>
          <p:cNvGrpSpPr/>
          <p:nvPr/>
        </p:nvGrpSpPr>
        <p:grpSpPr>
          <a:xfrm rot="0">
            <a:off x="6264521" y="1861203"/>
            <a:ext cx="12023479" cy="4592056"/>
            <a:chOff x="0" y="0"/>
            <a:chExt cx="15607678" cy="5960948"/>
          </a:xfrm>
        </p:grpSpPr>
        <p:sp>
          <p:nvSpPr>
            <p:cNvPr name="Freeform 11" id="11"/>
            <p:cNvSpPr/>
            <p:nvPr/>
          </p:nvSpPr>
          <p:spPr>
            <a:xfrm flipH="false" flipV="false" rot="0">
              <a:off x="0" y="0"/>
              <a:ext cx="15607664" cy="5960999"/>
            </a:xfrm>
            <a:custGeom>
              <a:avLst/>
              <a:gdLst/>
              <a:ahLst/>
              <a:cxnLst/>
              <a:rect r="r" b="b" t="t" l="l"/>
              <a:pathLst>
                <a:path h="5960999" w="15607664">
                  <a:moveTo>
                    <a:pt x="0" y="0"/>
                  </a:moveTo>
                  <a:lnTo>
                    <a:pt x="15607664" y="0"/>
                  </a:lnTo>
                  <a:lnTo>
                    <a:pt x="15607664" y="5960999"/>
                  </a:lnTo>
                  <a:lnTo>
                    <a:pt x="0" y="5960999"/>
                  </a:lnTo>
                  <a:lnTo>
                    <a:pt x="0" y="0"/>
                  </a:lnTo>
                  <a:close/>
                </a:path>
              </a:pathLst>
            </a:custGeom>
            <a:blipFill>
              <a:blip r:embed="rId4"/>
              <a:stretch>
                <a:fillRect l="0" t="0" r="0" b="-780"/>
              </a:stretch>
            </a:blipFill>
          </p:spPr>
        </p:sp>
      </p:grpSp>
      <p:sp>
        <p:nvSpPr>
          <p:cNvPr name="Freeform 12" id="12"/>
          <p:cNvSpPr/>
          <p:nvPr/>
        </p:nvSpPr>
        <p:spPr>
          <a:xfrm flipH="false" flipV="false" rot="0">
            <a:off x="214198" y="1861203"/>
            <a:ext cx="6050323" cy="4846721"/>
          </a:xfrm>
          <a:custGeom>
            <a:avLst/>
            <a:gdLst/>
            <a:ahLst/>
            <a:cxnLst/>
            <a:rect r="r" b="b" t="t" l="l"/>
            <a:pathLst>
              <a:path h="4846721" w="6050323">
                <a:moveTo>
                  <a:pt x="0" y="0"/>
                </a:moveTo>
                <a:lnTo>
                  <a:pt x="6050323" y="0"/>
                </a:lnTo>
                <a:lnTo>
                  <a:pt x="6050323" y="4846721"/>
                </a:lnTo>
                <a:lnTo>
                  <a:pt x="0" y="4846721"/>
                </a:lnTo>
                <a:lnTo>
                  <a:pt x="0" y="0"/>
                </a:lnTo>
                <a:close/>
              </a:path>
            </a:pathLst>
          </a:custGeom>
          <a:blipFill>
            <a:blip r:embed="rId5"/>
            <a:stretch>
              <a:fillRect l="0" t="0" r="0" b="0"/>
            </a:stretch>
          </a:blipFill>
        </p:spPr>
      </p:sp>
      <p:sp>
        <p:nvSpPr>
          <p:cNvPr name="TextBox 13" id="13"/>
          <p:cNvSpPr txBox="true"/>
          <p:nvPr/>
        </p:nvSpPr>
        <p:spPr>
          <a:xfrm rot="0">
            <a:off x="259404" y="7369911"/>
            <a:ext cx="17859604" cy="1847850"/>
          </a:xfrm>
          <a:prstGeom prst="rect">
            <a:avLst/>
          </a:prstGeom>
        </p:spPr>
        <p:txBody>
          <a:bodyPr anchor="t" rtlCol="false" tIns="0" lIns="0" bIns="0" rIns="0">
            <a:spAutoFit/>
          </a:bodyPr>
          <a:lstStyle/>
          <a:p>
            <a:pPr algn="l">
              <a:lnSpc>
                <a:spcPts val="2879"/>
              </a:lnSpc>
            </a:pPr>
            <a:r>
              <a:rPr lang="en-US" sz="2400">
                <a:solidFill>
                  <a:srgbClr val="0D1B2A"/>
                </a:solidFill>
                <a:latin typeface="Calibri (MS)"/>
                <a:ea typeface="Calibri (MS)"/>
                <a:cs typeface="Calibri (MS)"/>
                <a:sym typeface="Calibri (MS)"/>
              </a:rPr>
              <a:t>Both approaches — directly optimising with the nonlinear damper embedded in the ODE and optimising for linear parameters followed by a curve fit — produced comparable RMS acceleration results. Since the performance is equivalent, Option 1 is the preferred approach. Embedding the nonlinear damper directly into the optimisation ensures the solver always operates on the true system representation, eliminating the post-processing curve fitting step, preserving physical consistency throughout, and reducing the risk of approximation error introduced by fitting a nonlinear curve after the fact. This makes Option 1 the cleaner and more rigorous pipeline.</a:t>
            </a:r>
          </a:p>
        </p:txBody>
      </p:sp>
      <p:sp>
        <p:nvSpPr>
          <p:cNvPr name="TextBox 14" id="14"/>
          <p:cNvSpPr txBox="true"/>
          <p:nvPr/>
        </p:nvSpPr>
        <p:spPr>
          <a:xfrm rot="0">
            <a:off x="214198" y="6807936"/>
            <a:ext cx="17859604" cy="400050"/>
          </a:xfrm>
          <a:prstGeom prst="rect">
            <a:avLst/>
          </a:prstGeom>
        </p:spPr>
        <p:txBody>
          <a:bodyPr anchor="t" rtlCol="false" tIns="0" lIns="0" bIns="0" rIns="0">
            <a:spAutoFit/>
          </a:bodyPr>
          <a:lstStyle/>
          <a:p>
            <a:pPr algn="l">
              <a:lnSpc>
                <a:spcPts val="2879"/>
              </a:lnSpc>
            </a:pPr>
            <a:r>
              <a:rPr lang="en-US" sz="2400" b="true">
                <a:solidFill>
                  <a:srgbClr val="0D1B2A"/>
                </a:solidFill>
                <a:latin typeface="Calibri (MS) Bold"/>
                <a:ea typeface="Calibri (MS) Bold"/>
                <a:cs typeface="Calibri (MS) Bold"/>
                <a:sym typeface="Calibri (MS) Bold"/>
              </a:rPr>
              <a:t>Observation: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8904122" y="903122"/>
            <a:ext cx="479755" cy="18288000"/>
            <a:chOff x="0" y="0"/>
            <a:chExt cx="639674" cy="24384000"/>
          </a:xfrm>
        </p:grpSpPr>
        <p:sp>
          <p:nvSpPr>
            <p:cNvPr name="Freeform 3" id="3"/>
            <p:cNvSpPr/>
            <p:nvPr/>
          </p:nvSpPr>
          <p:spPr>
            <a:xfrm flipH="false" flipV="false" rot="0">
              <a:off x="0" y="0"/>
              <a:ext cx="639699" cy="24384000"/>
            </a:xfrm>
            <a:custGeom>
              <a:avLst/>
              <a:gdLst/>
              <a:ahLst/>
              <a:cxnLst/>
              <a:rect r="r" b="b" t="t" l="l"/>
              <a:pathLst>
                <a:path h="24384000" w="639699">
                  <a:moveTo>
                    <a:pt x="0" y="0"/>
                  </a:moveTo>
                  <a:lnTo>
                    <a:pt x="639699" y="0"/>
                  </a:lnTo>
                  <a:lnTo>
                    <a:pt x="639699" y="24384000"/>
                  </a:lnTo>
                  <a:lnTo>
                    <a:pt x="0" y="24384000"/>
                  </a:lnTo>
                  <a:close/>
                </a:path>
              </a:pathLst>
            </a:custGeom>
            <a:solidFill>
              <a:srgbClr val="00ACC1"/>
            </a:solidFill>
          </p:spPr>
        </p:sp>
      </p:grpSp>
      <p:grpSp>
        <p:nvGrpSpPr>
          <p:cNvPr name="Group 4" id="4"/>
          <p:cNvGrpSpPr/>
          <p:nvPr/>
        </p:nvGrpSpPr>
        <p:grpSpPr>
          <a:xfrm rot="-5400000">
            <a:off x="8349396" y="-8349396"/>
            <a:ext cx="1589218" cy="18288000"/>
            <a:chOff x="0" y="0"/>
            <a:chExt cx="2118957" cy="24384000"/>
          </a:xfrm>
        </p:grpSpPr>
        <p:sp>
          <p:nvSpPr>
            <p:cNvPr name="Freeform 5" id="5"/>
            <p:cNvSpPr/>
            <p:nvPr/>
          </p:nvSpPr>
          <p:spPr>
            <a:xfrm flipH="false" flipV="false" rot="0">
              <a:off x="0" y="0"/>
              <a:ext cx="2118995" cy="24384000"/>
            </a:xfrm>
            <a:custGeom>
              <a:avLst/>
              <a:gdLst/>
              <a:ahLst/>
              <a:cxnLst/>
              <a:rect r="r" b="b" t="t" l="l"/>
              <a:pathLst>
                <a:path h="24384000" w="2118995">
                  <a:moveTo>
                    <a:pt x="0" y="0"/>
                  </a:moveTo>
                  <a:lnTo>
                    <a:pt x="2118995" y="0"/>
                  </a:lnTo>
                  <a:lnTo>
                    <a:pt x="2118995" y="24384000"/>
                  </a:lnTo>
                  <a:lnTo>
                    <a:pt x="0" y="24384000"/>
                  </a:lnTo>
                  <a:close/>
                </a:path>
              </a:pathLst>
            </a:custGeom>
            <a:solidFill>
              <a:srgbClr val="17375E"/>
            </a:solidFill>
          </p:spPr>
        </p:sp>
        <p:sp>
          <p:nvSpPr>
            <p:cNvPr name="Freeform 6" id="6"/>
            <p:cNvSpPr/>
            <p:nvPr/>
          </p:nvSpPr>
          <p:spPr>
            <a:xfrm flipH="false" flipV="false" rot="0">
              <a:off x="-1524" y="-1524"/>
              <a:ext cx="2122043" cy="24387048"/>
            </a:xfrm>
            <a:custGeom>
              <a:avLst/>
              <a:gdLst/>
              <a:ahLst/>
              <a:cxnLst/>
              <a:rect r="r" b="b" t="t" l="l"/>
              <a:pathLst>
                <a:path h="24387048" w="2122043">
                  <a:moveTo>
                    <a:pt x="1524" y="0"/>
                  </a:moveTo>
                  <a:lnTo>
                    <a:pt x="2120519" y="0"/>
                  </a:lnTo>
                  <a:cubicBezTo>
                    <a:pt x="2121408" y="0"/>
                    <a:pt x="2122043" y="762"/>
                    <a:pt x="2122043" y="1524"/>
                  </a:cubicBezTo>
                  <a:lnTo>
                    <a:pt x="2122043" y="24385524"/>
                  </a:lnTo>
                  <a:cubicBezTo>
                    <a:pt x="2122043" y="24386414"/>
                    <a:pt x="2121281" y="24387048"/>
                    <a:pt x="2120519" y="24387048"/>
                  </a:cubicBezTo>
                  <a:lnTo>
                    <a:pt x="1524" y="24387048"/>
                  </a:lnTo>
                  <a:cubicBezTo>
                    <a:pt x="635" y="24387048"/>
                    <a:pt x="0" y="24386287"/>
                    <a:pt x="0" y="24385524"/>
                  </a:cubicBezTo>
                  <a:lnTo>
                    <a:pt x="0" y="1524"/>
                  </a:lnTo>
                  <a:cubicBezTo>
                    <a:pt x="0" y="635"/>
                    <a:pt x="762" y="0"/>
                    <a:pt x="1524" y="0"/>
                  </a:cubicBezTo>
                  <a:moveTo>
                    <a:pt x="1524" y="3048"/>
                  </a:moveTo>
                  <a:lnTo>
                    <a:pt x="1524" y="1524"/>
                  </a:lnTo>
                  <a:lnTo>
                    <a:pt x="3048" y="1524"/>
                  </a:lnTo>
                  <a:lnTo>
                    <a:pt x="3048" y="24385524"/>
                  </a:lnTo>
                  <a:lnTo>
                    <a:pt x="1524" y="24385524"/>
                  </a:lnTo>
                  <a:lnTo>
                    <a:pt x="1524" y="24384000"/>
                  </a:lnTo>
                  <a:lnTo>
                    <a:pt x="2120519" y="24384000"/>
                  </a:lnTo>
                  <a:lnTo>
                    <a:pt x="2120519" y="24385524"/>
                  </a:lnTo>
                  <a:lnTo>
                    <a:pt x="2118995" y="24385524"/>
                  </a:lnTo>
                  <a:lnTo>
                    <a:pt x="2118995" y="1524"/>
                  </a:lnTo>
                  <a:lnTo>
                    <a:pt x="2120519" y="1524"/>
                  </a:lnTo>
                  <a:lnTo>
                    <a:pt x="2120519" y="3048"/>
                  </a:lnTo>
                  <a:lnTo>
                    <a:pt x="1524" y="3048"/>
                  </a:lnTo>
                  <a:close/>
                </a:path>
              </a:pathLst>
            </a:custGeom>
            <a:solidFill>
              <a:srgbClr val="002060"/>
            </a:solidFill>
          </p:spPr>
        </p:sp>
      </p:grpSp>
      <p:grpSp>
        <p:nvGrpSpPr>
          <p:cNvPr name="Group 7" id="7"/>
          <p:cNvGrpSpPr/>
          <p:nvPr/>
        </p:nvGrpSpPr>
        <p:grpSpPr>
          <a:xfrm rot="0">
            <a:off x="259404" y="-66599"/>
            <a:ext cx="15235942" cy="1725511"/>
            <a:chOff x="0" y="0"/>
            <a:chExt cx="20314590" cy="2300681"/>
          </a:xfrm>
        </p:grpSpPr>
        <p:sp>
          <p:nvSpPr>
            <p:cNvPr name="Freeform 8" id="8"/>
            <p:cNvSpPr/>
            <p:nvPr/>
          </p:nvSpPr>
          <p:spPr>
            <a:xfrm flipH="false" flipV="false" rot="0">
              <a:off x="0" y="0"/>
              <a:ext cx="20314586" cy="2300686"/>
            </a:xfrm>
            <a:custGeom>
              <a:avLst/>
              <a:gdLst/>
              <a:ahLst/>
              <a:cxnLst/>
              <a:rect r="r" b="b" t="t" l="l"/>
              <a:pathLst>
                <a:path h="2300686" w="20314586">
                  <a:moveTo>
                    <a:pt x="0" y="0"/>
                  </a:moveTo>
                  <a:lnTo>
                    <a:pt x="20314586" y="0"/>
                  </a:lnTo>
                  <a:lnTo>
                    <a:pt x="20314586" y="2300686"/>
                  </a:lnTo>
                  <a:lnTo>
                    <a:pt x="0" y="2300686"/>
                  </a:lnTo>
                  <a:close/>
                </a:path>
              </a:pathLst>
            </a:custGeom>
            <a:blipFill>
              <a:blip r:embed="rId3">
                <a:alphaModFix amt="0"/>
              </a:blip>
              <a:stretch>
                <a:fillRect l="0" t="-122049" r="0" b="-122048"/>
              </a:stretch>
            </a:blipFill>
          </p:spPr>
        </p:sp>
        <p:sp>
          <p:nvSpPr>
            <p:cNvPr name="TextBox 9" id="9"/>
            <p:cNvSpPr txBox="true"/>
            <p:nvPr/>
          </p:nvSpPr>
          <p:spPr>
            <a:xfrm>
              <a:off x="0" y="-161925"/>
              <a:ext cx="20314590" cy="2462606"/>
            </a:xfrm>
            <a:prstGeom prst="rect">
              <a:avLst/>
            </a:prstGeom>
          </p:spPr>
          <p:txBody>
            <a:bodyPr anchor="ctr" rtlCol="false" tIns="0" lIns="0" bIns="0" rIns="0"/>
            <a:lstStyle/>
            <a:p>
              <a:pPr algn="l">
                <a:lnSpc>
                  <a:spcPts val="9601"/>
                </a:lnSpc>
              </a:pPr>
              <a:r>
                <a:rPr lang="en-US" sz="8001">
                  <a:solidFill>
                    <a:srgbClr val="FFFFFF"/>
                  </a:solidFill>
                  <a:latin typeface="Calibri (MS)"/>
                  <a:ea typeface="Calibri (MS)"/>
                  <a:cs typeface="Calibri (MS)"/>
                  <a:sym typeface="Calibri (MS)"/>
                </a:rPr>
                <a:t>Optimisation</a:t>
              </a:r>
            </a:p>
          </p:txBody>
        </p:sp>
      </p:grpSp>
      <p:sp>
        <p:nvSpPr>
          <p:cNvPr name="Freeform 10" id="10"/>
          <p:cNvSpPr/>
          <p:nvPr/>
        </p:nvSpPr>
        <p:spPr>
          <a:xfrm flipH="false" flipV="false" rot="0">
            <a:off x="6197596" y="1589213"/>
            <a:ext cx="12090404" cy="8055231"/>
          </a:xfrm>
          <a:custGeom>
            <a:avLst/>
            <a:gdLst/>
            <a:ahLst/>
            <a:cxnLst/>
            <a:rect r="r" b="b" t="t" l="l"/>
            <a:pathLst>
              <a:path h="8055231" w="12090404">
                <a:moveTo>
                  <a:pt x="0" y="0"/>
                </a:moveTo>
                <a:lnTo>
                  <a:pt x="12090404" y="0"/>
                </a:lnTo>
                <a:lnTo>
                  <a:pt x="12090404" y="8055231"/>
                </a:lnTo>
                <a:lnTo>
                  <a:pt x="0" y="8055231"/>
                </a:lnTo>
                <a:lnTo>
                  <a:pt x="0" y="0"/>
                </a:lnTo>
                <a:close/>
              </a:path>
            </a:pathLst>
          </a:custGeom>
          <a:blipFill>
            <a:blip r:embed="rId4"/>
            <a:stretch>
              <a:fillRect l="0" t="0" r="0" b="0"/>
            </a:stretch>
          </a:blipFill>
        </p:spPr>
      </p:sp>
      <p:sp>
        <p:nvSpPr>
          <p:cNvPr name="TextBox 11" id="11"/>
          <p:cNvSpPr txBox="true"/>
          <p:nvPr/>
        </p:nvSpPr>
        <p:spPr>
          <a:xfrm rot="0">
            <a:off x="259404" y="1843100"/>
            <a:ext cx="5479814" cy="6915150"/>
          </a:xfrm>
          <a:prstGeom prst="rect">
            <a:avLst/>
          </a:prstGeom>
        </p:spPr>
        <p:txBody>
          <a:bodyPr anchor="t" rtlCol="false" tIns="0" lIns="0" bIns="0" rIns="0">
            <a:spAutoFit/>
          </a:bodyPr>
          <a:lstStyle/>
          <a:p>
            <a:pPr algn="l">
              <a:lnSpc>
                <a:spcPts val="2879"/>
              </a:lnSpc>
            </a:pPr>
            <a:r>
              <a:rPr lang="en-US" sz="2400">
                <a:solidFill>
                  <a:srgbClr val="0D1B2A"/>
                </a:solidFill>
                <a:latin typeface="Calibri (MS)"/>
                <a:ea typeface="Calibri (MS)"/>
                <a:cs typeface="Calibri (MS)"/>
                <a:sym typeface="Calibri (MS)"/>
              </a:rPr>
              <a:t>The design approach considers:  </a:t>
            </a:r>
            <a:r>
              <a:rPr lang="en-US" sz="2400" b="true">
                <a:solidFill>
                  <a:srgbClr val="0D1B2A"/>
                </a:solidFill>
                <a:latin typeface="Calibri (MS) Bold"/>
                <a:ea typeface="Calibri (MS) Bold"/>
                <a:cs typeface="Calibri (MS) Bold"/>
                <a:sym typeface="Calibri (MS) Bold"/>
              </a:rPr>
              <a:t>Single-objective optimization</a:t>
            </a:r>
            <a:r>
              <a:rPr lang="en-US" sz="2400">
                <a:solidFill>
                  <a:srgbClr val="0D1B2A"/>
                </a:solidFill>
                <a:latin typeface="Calibri (MS)"/>
                <a:ea typeface="Calibri (MS)"/>
                <a:cs typeface="Calibri (MS)"/>
                <a:sym typeface="Calibri (MS)"/>
              </a:rPr>
              <a:t> &amp; </a:t>
            </a:r>
            <a:r>
              <a:rPr lang="en-US" sz="2400" b="true">
                <a:solidFill>
                  <a:srgbClr val="0D1B2A"/>
                </a:solidFill>
                <a:latin typeface="Calibri (MS) Bold"/>
                <a:ea typeface="Calibri (MS) Bold"/>
                <a:cs typeface="Calibri (MS) Bold"/>
                <a:sym typeface="Calibri (MS) Bold"/>
              </a:rPr>
              <a:t>Multi-objective optimization</a:t>
            </a:r>
          </a:p>
          <a:p>
            <a:pPr algn="l">
              <a:lnSpc>
                <a:spcPts val="2879"/>
              </a:lnSpc>
            </a:pPr>
          </a:p>
          <a:p>
            <a:pPr algn="l">
              <a:lnSpc>
                <a:spcPts val="2879"/>
              </a:lnSpc>
            </a:pPr>
            <a:r>
              <a:rPr lang="en-US" sz="2400">
                <a:solidFill>
                  <a:srgbClr val="0D1B2A"/>
                </a:solidFill>
                <a:latin typeface="Calibri (MS)"/>
                <a:ea typeface="Calibri (MS)"/>
                <a:cs typeface="Calibri (MS)"/>
                <a:sym typeface="Calibri (MS)"/>
              </a:rPr>
              <a:t>The cabin seat RMS (Root Mean Square) is computed based on: Bounce acceleration (ẍc), Roll acceleration (ϕ̈c), Pitch acceleration (θ̈c)</a:t>
            </a:r>
          </a:p>
          <a:p>
            <a:pPr algn="l">
              <a:lnSpc>
                <a:spcPts val="2879"/>
              </a:lnSpc>
            </a:pPr>
            <a:r>
              <a:rPr lang="en-US" sz="2400">
                <a:solidFill>
                  <a:srgbClr val="0D1B2A"/>
                </a:solidFill>
                <a:latin typeface="Calibri (MS)"/>
                <a:ea typeface="Calibri (MS)"/>
                <a:cs typeface="Calibri (MS)"/>
                <a:sym typeface="Calibri (MS)"/>
              </a:rPr>
              <a:t>These accelerations are evaluated at the seat level to assess ride comfort.</a:t>
            </a:r>
          </a:p>
          <a:p>
            <a:pPr algn="l">
              <a:lnSpc>
                <a:spcPts val="2879"/>
              </a:lnSpc>
            </a:pPr>
            <a:r>
              <a:rPr lang="en-US" sz="2400">
                <a:solidFill>
                  <a:srgbClr val="0D1B2A"/>
                </a:solidFill>
                <a:latin typeface="Calibri (MS)"/>
                <a:ea typeface="Calibri (MS)"/>
                <a:cs typeface="Calibri (MS)"/>
                <a:sym typeface="Calibri (MS)"/>
              </a:rPr>
              <a:t>Optimization can be applied as:</a:t>
            </a:r>
          </a:p>
          <a:p>
            <a:pPr algn="l" marL="434340" indent="-217170" lvl="1">
              <a:lnSpc>
                <a:spcPts val="2879"/>
              </a:lnSpc>
              <a:buFont typeface="Arial"/>
              <a:buChar char="•"/>
            </a:pPr>
            <a:r>
              <a:rPr lang="en-US" sz="2400">
                <a:solidFill>
                  <a:srgbClr val="0D1B2A"/>
                </a:solidFill>
                <a:latin typeface="Calibri (MS)"/>
                <a:ea typeface="Calibri (MS)"/>
                <a:cs typeface="Calibri (MS)"/>
                <a:sym typeface="Calibri (MS)"/>
              </a:rPr>
              <a:t>Single-objective optimization → Focus on minimizing a scalar objective function, aggregate effect of multiple DOFs</a:t>
            </a:r>
          </a:p>
          <a:p>
            <a:pPr algn="l" marL="434340" indent="-217170" lvl="1">
              <a:lnSpc>
                <a:spcPts val="2879"/>
              </a:lnSpc>
              <a:buFont typeface="Arial"/>
              <a:buChar char="•"/>
            </a:pPr>
            <a:r>
              <a:rPr lang="en-US" sz="2400">
                <a:solidFill>
                  <a:srgbClr val="0D1B2A"/>
                </a:solidFill>
                <a:latin typeface="Calibri (MS)"/>
                <a:ea typeface="Calibri (MS)"/>
                <a:cs typeface="Calibri (MS)"/>
                <a:sym typeface="Calibri (MS)"/>
              </a:rPr>
              <a:t>Multi-objective optimization → Optimize each DOF independently to obtain trade-off solutions</a:t>
            </a:r>
          </a:p>
          <a:p>
            <a:pPr algn="l" marL="434340" indent="-217170" lvl="1">
              <a:lnSpc>
                <a:spcPts val="2879"/>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8904122" y="903122"/>
            <a:ext cx="479755" cy="18288000"/>
            <a:chOff x="0" y="0"/>
            <a:chExt cx="639674" cy="24384000"/>
          </a:xfrm>
        </p:grpSpPr>
        <p:sp>
          <p:nvSpPr>
            <p:cNvPr name="Freeform 3" id="3"/>
            <p:cNvSpPr/>
            <p:nvPr/>
          </p:nvSpPr>
          <p:spPr>
            <a:xfrm flipH="false" flipV="false" rot="0">
              <a:off x="0" y="0"/>
              <a:ext cx="639699" cy="24384000"/>
            </a:xfrm>
            <a:custGeom>
              <a:avLst/>
              <a:gdLst/>
              <a:ahLst/>
              <a:cxnLst/>
              <a:rect r="r" b="b" t="t" l="l"/>
              <a:pathLst>
                <a:path h="24384000" w="639699">
                  <a:moveTo>
                    <a:pt x="0" y="0"/>
                  </a:moveTo>
                  <a:lnTo>
                    <a:pt x="639699" y="0"/>
                  </a:lnTo>
                  <a:lnTo>
                    <a:pt x="639699" y="24384000"/>
                  </a:lnTo>
                  <a:lnTo>
                    <a:pt x="0" y="24384000"/>
                  </a:lnTo>
                  <a:close/>
                </a:path>
              </a:pathLst>
            </a:custGeom>
            <a:solidFill>
              <a:srgbClr val="00ACC1"/>
            </a:solidFill>
          </p:spPr>
        </p:sp>
      </p:grpSp>
      <p:grpSp>
        <p:nvGrpSpPr>
          <p:cNvPr name="Group 4" id="4"/>
          <p:cNvGrpSpPr/>
          <p:nvPr/>
        </p:nvGrpSpPr>
        <p:grpSpPr>
          <a:xfrm rot="-5400000">
            <a:off x="8349396" y="-8349396"/>
            <a:ext cx="1589218" cy="18288000"/>
            <a:chOff x="0" y="0"/>
            <a:chExt cx="2118957" cy="24384000"/>
          </a:xfrm>
        </p:grpSpPr>
        <p:sp>
          <p:nvSpPr>
            <p:cNvPr name="Freeform 5" id="5"/>
            <p:cNvSpPr/>
            <p:nvPr/>
          </p:nvSpPr>
          <p:spPr>
            <a:xfrm flipH="false" flipV="false" rot="0">
              <a:off x="0" y="0"/>
              <a:ext cx="2118995" cy="24384000"/>
            </a:xfrm>
            <a:custGeom>
              <a:avLst/>
              <a:gdLst/>
              <a:ahLst/>
              <a:cxnLst/>
              <a:rect r="r" b="b" t="t" l="l"/>
              <a:pathLst>
                <a:path h="24384000" w="2118995">
                  <a:moveTo>
                    <a:pt x="0" y="0"/>
                  </a:moveTo>
                  <a:lnTo>
                    <a:pt x="2118995" y="0"/>
                  </a:lnTo>
                  <a:lnTo>
                    <a:pt x="2118995" y="24384000"/>
                  </a:lnTo>
                  <a:lnTo>
                    <a:pt x="0" y="24384000"/>
                  </a:lnTo>
                  <a:close/>
                </a:path>
              </a:pathLst>
            </a:custGeom>
            <a:solidFill>
              <a:srgbClr val="17375E"/>
            </a:solidFill>
          </p:spPr>
        </p:sp>
        <p:sp>
          <p:nvSpPr>
            <p:cNvPr name="Freeform 6" id="6"/>
            <p:cNvSpPr/>
            <p:nvPr/>
          </p:nvSpPr>
          <p:spPr>
            <a:xfrm flipH="false" flipV="false" rot="0">
              <a:off x="-1524" y="-1524"/>
              <a:ext cx="2122043" cy="24387048"/>
            </a:xfrm>
            <a:custGeom>
              <a:avLst/>
              <a:gdLst/>
              <a:ahLst/>
              <a:cxnLst/>
              <a:rect r="r" b="b" t="t" l="l"/>
              <a:pathLst>
                <a:path h="24387048" w="2122043">
                  <a:moveTo>
                    <a:pt x="1524" y="0"/>
                  </a:moveTo>
                  <a:lnTo>
                    <a:pt x="2120519" y="0"/>
                  </a:lnTo>
                  <a:cubicBezTo>
                    <a:pt x="2121408" y="0"/>
                    <a:pt x="2122043" y="762"/>
                    <a:pt x="2122043" y="1524"/>
                  </a:cubicBezTo>
                  <a:lnTo>
                    <a:pt x="2122043" y="24385524"/>
                  </a:lnTo>
                  <a:cubicBezTo>
                    <a:pt x="2122043" y="24386414"/>
                    <a:pt x="2121281" y="24387048"/>
                    <a:pt x="2120519" y="24387048"/>
                  </a:cubicBezTo>
                  <a:lnTo>
                    <a:pt x="1524" y="24387048"/>
                  </a:lnTo>
                  <a:cubicBezTo>
                    <a:pt x="635" y="24387048"/>
                    <a:pt x="0" y="24386287"/>
                    <a:pt x="0" y="24385524"/>
                  </a:cubicBezTo>
                  <a:lnTo>
                    <a:pt x="0" y="1524"/>
                  </a:lnTo>
                  <a:cubicBezTo>
                    <a:pt x="0" y="635"/>
                    <a:pt x="762" y="0"/>
                    <a:pt x="1524" y="0"/>
                  </a:cubicBezTo>
                  <a:moveTo>
                    <a:pt x="1524" y="3048"/>
                  </a:moveTo>
                  <a:lnTo>
                    <a:pt x="1524" y="1524"/>
                  </a:lnTo>
                  <a:lnTo>
                    <a:pt x="3048" y="1524"/>
                  </a:lnTo>
                  <a:lnTo>
                    <a:pt x="3048" y="24385524"/>
                  </a:lnTo>
                  <a:lnTo>
                    <a:pt x="1524" y="24385524"/>
                  </a:lnTo>
                  <a:lnTo>
                    <a:pt x="1524" y="24384000"/>
                  </a:lnTo>
                  <a:lnTo>
                    <a:pt x="2120519" y="24384000"/>
                  </a:lnTo>
                  <a:lnTo>
                    <a:pt x="2120519" y="24385524"/>
                  </a:lnTo>
                  <a:lnTo>
                    <a:pt x="2118995" y="24385524"/>
                  </a:lnTo>
                  <a:lnTo>
                    <a:pt x="2118995" y="1524"/>
                  </a:lnTo>
                  <a:lnTo>
                    <a:pt x="2120519" y="1524"/>
                  </a:lnTo>
                  <a:lnTo>
                    <a:pt x="2120519" y="3048"/>
                  </a:lnTo>
                  <a:lnTo>
                    <a:pt x="1524" y="3048"/>
                  </a:lnTo>
                  <a:close/>
                </a:path>
              </a:pathLst>
            </a:custGeom>
            <a:solidFill>
              <a:srgbClr val="002060"/>
            </a:solidFill>
          </p:spPr>
        </p:sp>
      </p:grpSp>
      <p:grpSp>
        <p:nvGrpSpPr>
          <p:cNvPr name="Group 7" id="7"/>
          <p:cNvGrpSpPr/>
          <p:nvPr/>
        </p:nvGrpSpPr>
        <p:grpSpPr>
          <a:xfrm rot="0">
            <a:off x="259404" y="-66599"/>
            <a:ext cx="15235942" cy="1725511"/>
            <a:chOff x="0" y="0"/>
            <a:chExt cx="20314590" cy="2300681"/>
          </a:xfrm>
        </p:grpSpPr>
        <p:sp>
          <p:nvSpPr>
            <p:cNvPr name="Freeform 8" id="8"/>
            <p:cNvSpPr/>
            <p:nvPr/>
          </p:nvSpPr>
          <p:spPr>
            <a:xfrm flipH="false" flipV="false" rot="0">
              <a:off x="0" y="0"/>
              <a:ext cx="20314586" cy="2300686"/>
            </a:xfrm>
            <a:custGeom>
              <a:avLst/>
              <a:gdLst/>
              <a:ahLst/>
              <a:cxnLst/>
              <a:rect r="r" b="b" t="t" l="l"/>
              <a:pathLst>
                <a:path h="2300686" w="20314586">
                  <a:moveTo>
                    <a:pt x="0" y="0"/>
                  </a:moveTo>
                  <a:lnTo>
                    <a:pt x="20314586" y="0"/>
                  </a:lnTo>
                  <a:lnTo>
                    <a:pt x="20314586" y="2300686"/>
                  </a:lnTo>
                  <a:lnTo>
                    <a:pt x="0" y="2300686"/>
                  </a:lnTo>
                  <a:close/>
                </a:path>
              </a:pathLst>
            </a:custGeom>
            <a:blipFill>
              <a:blip r:embed="rId3">
                <a:alphaModFix amt="0"/>
              </a:blip>
              <a:stretch>
                <a:fillRect l="0" t="-122049" r="0" b="-122048"/>
              </a:stretch>
            </a:blipFill>
          </p:spPr>
        </p:sp>
        <p:sp>
          <p:nvSpPr>
            <p:cNvPr name="TextBox 9" id="9"/>
            <p:cNvSpPr txBox="true"/>
            <p:nvPr/>
          </p:nvSpPr>
          <p:spPr>
            <a:xfrm>
              <a:off x="0" y="-161925"/>
              <a:ext cx="20314590" cy="2462606"/>
            </a:xfrm>
            <a:prstGeom prst="rect">
              <a:avLst/>
            </a:prstGeom>
          </p:spPr>
          <p:txBody>
            <a:bodyPr anchor="ctr" rtlCol="false" tIns="0" lIns="0" bIns="0" rIns="0"/>
            <a:lstStyle/>
            <a:p>
              <a:pPr algn="l">
                <a:lnSpc>
                  <a:spcPts val="9601"/>
                </a:lnSpc>
              </a:pPr>
              <a:r>
                <a:rPr lang="en-US" sz="8001">
                  <a:solidFill>
                    <a:srgbClr val="FFFFFF"/>
                  </a:solidFill>
                  <a:latin typeface="Calibri (MS)"/>
                  <a:ea typeface="Calibri (MS)"/>
                  <a:cs typeface="Calibri (MS)"/>
                  <a:sym typeface="Calibri (MS)"/>
                </a:rPr>
                <a:t>Results &amp; Observation</a:t>
              </a:r>
            </a:p>
          </p:txBody>
        </p:sp>
      </p:grpSp>
      <p:sp>
        <p:nvSpPr>
          <p:cNvPr name="Freeform 10" id="10"/>
          <p:cNvSpPr/>
          <p:nvPr/>
        </p:nvSpPr>
        <p:spPr>
          <a:xfrm flipH="false" flipV="false" rot="0">
            <a:off x="-225882" y="1806237"/>
            <a:ext cx="8486907" cy="3484588"/>
          </a:xfrm>
          <a:custGeom>
            <a:avLst/>
            <a:gdLst/>
            <a:ahLst/>
            <a:cxnLst/>
            <a:rect r="r" b="b" t="t" l="l"/>
            <a:pathLst>
              <a:path h="3484588" w="8486907">
                <a:moveTo>
                  <a:pt x="0" y="0"/>
                </a:moveTo>
                <a:lnTo>
                  <a:pt x="8486907" y="0"/>
                </a:lnTo>
                <a:lnTo>
                  <a:pt x="8486907" y="3484588"/>
                </a:lnTo>
                <a:lnTo>
                  <a:pt x="0" y="3484588"/>
                </a:lnTo>
                <a:lnTo>
                  <a:pt x="0" y="0"/>
                </a:lnTo>
                <a:close/>
              </a:path>
            </a:pathLst>
          </a:custGeom>
          <a:blipFill>
            <a:blip r:embed="rId4"/>
            <a:stretch>
              <a:fillRect l="0" t="0" r="0" b="0"/>
            </a:stretch>
          </a:blipFill>
        </p:spPr>
      </p:sp>
      <p:sp>
        <p:nvSpPr>
          <p:cNvPr name="Freeform 11" id="11"/>
          <p:cNvSpPr/>
          <p:nvPr/>
        </p:nvSpPr>
        <p:spPr>
          <a:xfrm flipH="false" flipV="false" rot="0">
            <a:off x="7691565" y="2125390"/>
            <a:ext cx="10596435" cy="2910710"/>
          </a:xfrm>
          <a:custGeom>
            <a:avLst/>
            <a:gdLst/>
            <a:ahLst/>
            <a:cxnLst/>
            <a:rect r="r" b="b" t="t" l="l"/>
            <a:pathLst>
              <a:path h="2910710" w="10596435">
                <a:moveTo>
                  <a:pt x="0" y="0"/>
                </a:moveTo>
                <a:lnTo>
                  <a:pt x="10596435" y="0"/>
                </a:lnTo>
                <a:lnTo>
                  <a:pt x="10596435" y="2910710"/>
                </a:lnTo>
                <a:lnTo>
                  <a:pt x="0" y="2910710"/>
                </a:lnTo>
                <a:lnTo>
                  <a:pt x="0" y="0"/>
                </a:lnTo>
                <a:close/>
              </a:path>
            </a:pathLst>
          </a:custGeom>
          <a:blipFill>
            <a:blip r:embed="rId5"/>
            <a:stretch>
              <a:fillRect l="-1599" t="0" r="0" b="0"/>
            </a:stretch>
          </a:blipFill>
        </p:spPr>
      </p:sp>
      <p:sp>
        <p:nvSpPr>
          <p:cNvPr name="Freeform 12" id="12"/>
          <p:cNvSpPr/>
          <p:nvPr/>
        </p:nvSpPr>
        <p:spPr>
          <a:xfrm flipH="false" flipV="false" rot="0">
            <a:off x="2817956" y="5509900"/>
            <a:ext cx="11874937" cy="4222200"/>
          </a:xfrm>
          <a:custGeom>
            <a:avLst/>
            <a:gdLst/>
            <a:ahLst/>
            <a:cxnLst/>
            <a:rect r="r" b="b" t="t" l="l"/>
            <a:pathLst>
              <a:path h="4222200" w="11874937">
                <a:moveTo>
                  <a:pt x="0" y="0"/>
                </a:moveTo>
                <a:lnTo>
                  <a:pt x="11874937" y="0"/>
                </a:lnTo>
                <a:lnTo>
                  <a:pt x="11874937" y="4222199"/>
                </a:lnTo>
                <a:lnTo>
                  <a:pt x="0" y="4222199"/>
                </a:lnTo>
                <a:lnTo>
                  <a:pt x="0" y="0"/>
                </a:lnTo>
                <a:close/>
              </a:path>
            </a:pathLst>
          </a:custGeom>
          <a:blipFill>
            <a:blip r:embed="rId6"/>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8904122" y="903122"/>
            <a:ext cx="479755" cy="18288000"/>
            <a:chOff x="0" y="0"/>
            <a:chExt cx="639674" cy="24384000"/>
          </a:xfrm>
        </p:grpSpPr>
        <p:sp>
          <p:nvSpPr>
            <p:cNvPr name="Freeform 3" id="3"/>
            <p:cNvSpPr/>
            <p:nvPr/>
          </p:nvSpPr>
          <p:spPr>
            <a:xfrm flipH="false" flipV="false" rot="0">
              <a:off x="0" y="0"/>
              <a:ext cx="639699" cy="24384000"/>
            </a:xfrm>
            <a:custGeom>
              <a:avLst/>
              <a:gdLst/>
              <a:ahLst/>
              <a:cxnLst/>
              <a:rect r="r" b="b" t="t" l="l"/>
              <a:pathLst>
                <a:path h="24384000" w="639699">
                  <a:moveTo>
                    <a:pt x="0" y="0"/>
                  </a:moveTo>
                  <a:lnTo>
                    <a:pt x="639699" y="0"/>
                  </a:lnTo>
                  <a:lnTo>
                    <a:pt x="639699" y="24384000"/>
                  </a:lnTo>
                  <a:lnTo>
                    <a:pt x="0" y="24384000"/>
                  </a:lnTo>
                  <a:close/>
                </a:path>
              </a:pathLst>
            </a:custGeom>
            <a:solidFill>
              <a:srgbClr val="00ACC1"/>
            </a:solidFill>
          </p:spPr>
        </p:sp>
      </p:grpSp>
      <p:sp>
        <p:nvSpPr>
          <p:cNvPr name="TextBox 4" id="4"/>
          <p:cNvSpPr txBox="true"/>
          <p:nvPr/>
        </p:nvSpPr>
        <p:spPr>
          <a:xfrm rot="0">
            <a:off x="215960" y="1777136"/>
            <a:ext cx="17859604" cy="438807"/>
          </a:xfrm>
          <a:prstGeom prst="rect">
            <a:avLst/>
          </a:prstGeom>
        </p:spPr>
        <p:txBody>
          <a:bodyPr anchor="t" rtlCol="false" tIns="0" lIns="0" bIns="0" rIns="0">
            <a:spAutoFit/>
          </a:bodyPr>
          <a:lstStyle/>
          <a:p>
            <a:pPr algn="l">
              <a:lnSpc>
                <a:spcPts val="2879"/>
              </a:lnSpc>
            </a:pPr>
            <a:r>
              <a:rPr lang="en-US" sz="2400">
                <a:solidFill>
                  <a:srgbClr val="0D1B2A"/>
                </a:solidFill>
                <a:latin typeface="Calibri (MS)"/>
                <a:ea typeface="Calibri (MS)"/>
                <a:cs typeface="Calibri (MS)"/>
                <a:sym typeface="Calibri (MS)"/>
              </a:rPr>
              <a:t>The Plots corresponding to </a:t>
            </a:r>
          </a:p>
        </p:txBody>
      </p:sp>
      <p:grpSp>
        <p:nvGrpSpPr>
          <p:cNvPr name="Group 5" id="5"/>
          <p:cNvGrpSpPr/>
          <p:nvPr/>
        </p:nvGrpSpPr>
        <p:grpSpPr>
          <a:xfrm rot="-5400000">
            <a:off x="8349396" y="-8349396"/>
            <a:ext cx="1589218" cy="18288000"/>
            <a:chOff x="0" y="0"/>
            <a:chExt cx="2118957" cy="24384000"/>
          </a:xfrm>
        </p:grpSpPr>
        <p:sp>
          <p:nvSpPr>
            <p:cNvPr name="Freeform 6" id="6"/>
            <p:cNvSpPr/>
            <p:nvPr/>
          </p:nvSpPr>
          <p:spPr>
            <a:xfrm flipH="false" flipV="false" rot="0">
              <a:off x="0" y="0"/>
              <a:ext cx="2118995" cy="24384000"/>
            </a:xfrm>
            <a:custGeom>
              <a:avLst/>
              <a:gdLst/>
              <a:ahLst/>
              <a:cxnLst/>
              <a:rect r="r" b="b" t="t" l="l"/>
              <a:pathLst>
                <a:path h="24384000" w="2118995">
                  <a:moveTo>
                    <a:pt x="0" y="0"/>
                  </a:moveTo>
                  <a:lnTo>
                    <a:pt x="2118995" y="0"/>
                  </a:lnTo>
                  <a:lnTo>
                    <a:pt x="2118995" y="24384000"/>
                  </a:lnTo>
                  <a:lnTo>
                    <a:pt x="0" y="24384000"/>
                  </a:lnTo>
                  <a:close/>
                </a:path>
              </a:pathLst>
            </a:custGeom>
            <a:solidFill>
              <a:srgbClr val="17375E"/>
            </a:solidFill>
          </p:spPr>
        </p:sp>
        <p:sp>
          <p:nvSpPr>
            <p:cNvPr name="Freeform 7" id="7"/>
            <p:cNvSpPr/>
            <p:nvPr/>
          </p:nvSpPr>
          <p:spPr>
            <a:xfrm flipH="false" flipV="false" rot="0">
              <a:off x="-1524" y="-1524"/>
              <a:ext cx="2122043" cy="24387048"/>
            </a:xfrm>
            <a:custGeom>
              <a:avLst/>
              <a:gdLst/>
              <a:ahLst/>
              <a:cxnLst/>
              <a:rect r="r" b="b" t="t" l="l"/>
              <a:pathLst>
                <a:path h="24387048" w="2122043">
                  <a:moveTo>
                    <a:pt x="1524" y="0"/>
                  </a:moveTo>
                  <a:lnTo>
                    <a:pt x="2120519" y="0"/>
                  </a:lnTo>
                  <a:cubicBezTo>
                    <a:pt x="2121408" y="0"/>
                    <a:pt x="2122043" y="762"/>
                    <a:pt x="2122043" y="1524"/>
                  </a:cubicBezTo>
                  <a:lnTo>
                    <a:pt x="2122043" y="24385524"/>
                  </a:lnTo>
                  <a:cubicBezTo>
                    <a:pt x="2122043" y="24386414"/>
                    <a:pt x="2121281" y="24387048"/>
                    <a:pt x="2120519" y="24387048"/>
                  </a:cubicBezTo>
                  <a:lnTo>
                    <a:pt x="1524" y="24387048"/>
                  </a:lnTo>
                  <a:cubicBezTo>
                    <a:pt x="635" y="24387048"/>
                    <a:pt x="0" y="24386287"/>
                    <a:pt x="0" y="24385524"/>
                  </a:cubicBezTo>
                  <a:lnTo>
                    <a:pt x="0" y="1524"/>
                  </a:lnTo>
                  <a:cubicBezTo>
                    <a:pt x="0" y="635"/>
                    <a:pt x="762" y="0"/>
                    <a:pt x="1524" y="0"/>
                  </a:cubicBezTo>
                  <a:moveTo>
                    <a:pt x="1524" y="3048"/>
                  </a:moveTo>
                  <a:lnTo>
                    <a:pt x="1524" y="1524"/>
                  </a:lnTo>
                  <a:lnTo>
                    <a:pt x="3048" y="1524"/>
                  </a:lnTo>
                  <a:lnTo>
                    <a:pt x="3048" y="24385524"/>
                  </a:lnTo>
                  <a:lnTo>
                    <a:pt x="1524" y="24385524"/>
                  </a:lnTo>
                  <a:lnTo>
                    <a:pt x="1524" y="24384000"/>
                  </a:lnTo>
                  <a:lnTo>
                    <a:pt x="2120519" y="24384000"/>
                  </a:lnTo>
                  <a:lnTo>
                    <a:pt x="2120519" y="24385524"/>
                  </a:lnTo>
                  <a:lnTo>
                    <a:pt x="2118995" y="24385524"/>
                  </a:lnTo>
                  <a:lnTo>
                    <a:pt x="2118995" y="1524"/>
                  </a:lnTo>
                  <a:lnTo>
                    <a:pt x="2120519" y="1524"/>
                  </a:lnTo>
                  <a:lnTo>
                    <a:pt x="2120519" y="3048"/>
                  </a:lnTo>
                  <a:lnTo>
                    <a:pt x="1524" y="3048"/>
                  </a:lnTo>
                  <a:close/>
                </a:path>
              </a:pathLst>
            </a:custGeom>
            <a:solidFill>
              <a:srgbClr val="002060"/>
            </a:solidFill>
          </p:spPr>
        </p:sp>
      </p:grpSp>
      <p:grpSp>
        <p:nvGrpSpPr>
          <p:cNvPr name="Group 8" id="8"/>
          <p:cNvGrpSpPr/>
          <p:nvPr/>
        </p:nvGrpSpPr>
        <p:grpSpPr>
          <a:xfrm rot="0">
            <a:off x="259404" y="-66599"/>
            <a:ext cx="15235942" cy="1725511"/>
            <a:chOff x="0" y="0"/>
            <a:chExt cx="20314590" cy="2300681"/>
          </a:xfrm>
        </p:grpSpPr>
        <p:sp>
          <p:nvSpPr>
            <p:cNvPr name="Freeform 9" id="9"/>
            <p:cNvSpPr/>
            <p:nvPr/>
          </p:nvSpPr>
          <p:spPr>
            <a:xfrm flipH="false" flipV="false" rot="0">
              <a:off x="0" y="0"/>
              <a:ext cx="20314586" cy="2300686"/>
            </a:xfrm>
            <a:custGeom>
              <a:avLst/>
              <a:gdLst/>
              <a:ahLst/>
              <a:cxnLst/>
              <a:rect r="r" b="b" t="t" l="l"/>
              <a:pathLst>
                <a:path h="2300686" w="20314586">
                  <a:moveTo>
                    <a:pt x="0" y="0"/>
                  </a:moveTo>
                  <a:lnTo>
                    <a:pt x="20314586" y="0"/>
                  </a:lnTo>
                  <a:lnTo>
                    <a:pt x="20314586" y="2300686"/>
                  </a:lnTo>
                  <a:lnTo>
                    <a:pt x="0" y="2300686"/>
                  </a:lnTo>
                  <a:close/>
                </a:path>
              </a:pathLst>
            </a:custGeom>
            <a:blipFill>
              <a:blip r:embed="rId3">
                <a:alphaModFix amt="0"/>
              </a:blip>
              <a:stretch>
                <a:fillRect l="0" t="-122049" r="0" b="-122048"/>
              </a:stretch>
            </a:blipFill>
          </p:spPr>
        </p:sp>
        <p:sp>
          <p:nvSpPr>
            <p:cNvPr name="TextBox 10" id="10"/>
            <p:cNvSpPr txBox="true"/>
            <p:nvPr/>
          </p:nvSpPr>
          <p:spPr>
            <a:xfrm>
              <a:off x="0" y="-161925"/>
              <a:ext cx="20314590" cy="2462606"/>
            </a:xfrm>
            <a:prstGeom prst="rect">
              <a:avLst/>
            </a:prstGeom>
          </p:spPr>
          <p:txBody>
            <a:bodyPr anchor="ctr" rtlCol="false" tIns="0" lIns="0" bIns="0" rIns="0"/>
            <a:lstStyle/>
            <a:p>
              <a:pPr algn="l">
                <a:lnSpc>
                  <a:spcPts val="9601"/>
                </a:lnSpc>
              </a:pPr>
              <a:r>
                <a:rPr lang="en-US" sz="8001">
                  <a:solidFill>
                    <a:srgbClr val="FFFFFF"/>
                  </a:solidFill>
                  <a:latin typeface="Calibri (MS)"/>
                  <a:ea typeface="Calibri (MS)"/>
                  <a:cs typeface="Calibri (MS)"/>
                  <a:sym typeface="Calibri (MS)"/>
                </a:rPr>
                <a:t>Results &amp; Observation</a:t>
              </a:r>
            </a:p>
          </p:txBody>
        </p:sp>
      </p:grpSp>
      <p:grpSp>
        <p:nvGrpSpPr>
          <p:cNvPr name="Group 11" id="11"/>
          <p:cNvGrpSpPr/>
          <p:nvPr/>
        </p:nvGrpSpPr>
        <p:grpSpPr>
          <a:xfrm rot="0">
            <a:off x="215960" y="2444544"/>
            <a:ext cx="8229188" cy="6171891"/>
            <a:chOff x="0" y="0"/>
            <a:chExt cx="8128000" cy="6096000"/>
          </a:xfrm>
        </p:grpSpPr>
        <p:sp>
          <p:nvSpPr>
            <p:cNvPr name="Freeform 12" id="12" descr="A graph of a road axle  AI-generated content may be incorrect."/>
            <p:cNvSpPr/>
            <p:nvPr/>
          </p:nvSpPr>
          <p:spPr>
            <a:xfrm flipH="false" flipV="false" rot="0">
              <a:off x="0" y="0"/>
              <a:ext cx="8128000" cy="6096000"/>
            </a:xfrm>
            <a:custGeom>
              <a:avLst/>
              <a:gdLst/>
              <a:ahLst/>
              <a:cxnLst/>
              <a:rect r="r" b="b" t="t" l="l"/>
              <a:pathLst>
                <a:path h="6096000" w="8128000">
                  <a:moveTo>
                    <a:pt x="0" y="0"/>
                  </a:moveTo>
                  <a:lnTo>
                    <a:pt x="8128000" y="0"/>
                  </a:lnTo>
                  <a:lnTo>
                    <a:pt x="8128000" y="6096000"/>
                  </a:lnTo>
                  <a:lnTo>
                    <a:pt x="0" y="6096000"/>
                  </a:lnTo>
                  <a:lnTo>
                    <a:pt x="0" y="0"/>
                  </a:lnTo>
                  <a:close/>
                </a:path>
              </a:pathLst>
            </a:custGeom>
            <a:blipFill>
              <a:blip r:embed="rId4"/>
              <a:stretch>
                <a:fillRect l="0" t="0" r="0" b="0"/>
              </a:stretch>
            </a:blipFill>
          </p:spPr>
        </p:sp>
      </p:grpSp>
      <p:grpSp>
        <p:nvGrpSpPr>
          <p:cNvPr name="Group 13" id="13"/>
          <p:cNvGrpSpPr/>
          <p:nvPr/>
        </p:nvGrpSpPr>
        <p:grpSpPr>
          <a:xfrm rot="0">
            <a:off x="10068420" y="3251930"/>
            <a:ext cx="5426926" cy="4962296"/>
            <a:chOff x="0" y="0"/>
            <a:chExt cx="7235901" cy="6616395"/>
          </a:xfrm>
        </p:grpSpPr>
        <p:sp>
          <p:nvSpPr>
            <p:cNvPr name="Freeform 14" id="14" descr="A screenshot of a graph  AI-generated content may be incorrect."/>
            <p:cNvSpPr/>
            <p:nvPr/>
          </p:nvSpPr>
          <p:spPr>
            <a:xfrm flipH="false" flipV="false" rot="0">
              <a:off x="0" y="0"/>
              <a:ext cx="7235952" cy="6616446"/>
            </a:xfrm>
            <a:custGeom>
              <a:avLst/>
              <a:gdLst/>
              <a:ahLst/>
              <a:cxnLst/>
              <a:rect r="r" b="b" t="t" l="l"/>
              <a:pathLst>
                <a:path h="6616446" w="7235952">
                  <a:moveTo>
                    <a:pt x="0" y="0"/>
                  </a:moveTo>
                  <a:lnTo>
                    <a:pt x="7235952" y="0"/>
                  </a:lnTo>
                  <a:lnTo>
                    <a:pt x="7235952" y="6616446"/>
                  </a:lnTo>
                  <a:lnTo>
                    <a:pt x="0" y="6616446"/>
                  </a:lnTo>
                  <a:lnTo>
                    <a:pt x="0" y="0"/>
                  </a:lnTo>
                  <a:close/>
                </a:path>
              </a:pathLst>
            </a:custGeom>
            <a:blipFill>
              <a:blip r:embed="rId5"/>
              <a:stretch>
                <a:fillRect l="-799" t="0" r="-798" b="0"/>
              </a:stretch>
            </a:blipFill>
          </p:spPr>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8904122" y="903122"/>
            <a:ext cx="479755" cy="18288000"/>
            <a:chOff x="0" y="0"/>
            <a:chExt cx="639674" cy="24384000"/>
          </a:xfrm>
        </p:grpSpPr>
        <p:sp>
          <p:nvSpPr>
            <p:cNvPr name="Freeform 3" id="3"/>
            <p:cNvSpPr/>
            <p:nvPr/>
          </p:nvSpPr>
          <p:spPr>
            <a:xfrm flipH="false" flipV="false" rot="0">
              <a:off x="0" y="0"/>
              <a:ext cx="639699" cy="24384000"/>
            </a:xfrm>
            <a:custGeom>
              <a:avLst/>
              <a:gdLst/>
              <a:ahLst/>
              <a:cxnLst/>
              <a:rect r="r" b="b" t="t" l="l"/>
              <a:pathLst>
                <a:path h="24384000" w="639699">
                  <a:moveTo>
                    <a:pt x="0" y="0"/>
                  </a:moveTo>
                  <a:lnTo>
                    <a:pt x="639699" y="0"/>
                  </a:lnTo>
                  <a:lnTo>
                    <a:pt x="639699" y="24384000"/>
                  </a:lnTo>
                  <a:lnTo>
                    <a:pt x="0" y="24384000"/>
                  </a:lnTo>
                  <a:close/>
                </a:path>
              </a:pathLst>
            </a:custGeom>
            <a:solidFill>
              <a:srgbClr val="00ACC1"/>
            </a:solidFill>
          </p:spPr>
        </p:sp>
      </p:grpSp>
      <p:sp>
        <p:nvSpPr>
          <p:cNvPr name="TextBox 4" id="4"/>
          <p:cNvSpPr txBox="true"/>
          <p:nvPr/>
        </p:nvSpPr>
        <p:spPr>
          <a:xfrm rot="0">
            <a:off x="215960" y="1777136"/>
            <a:ext cx="17859604" cy="438807"/>
          </a:xfrm>
          <a:prstGeom prst="rect">
            <a:avLst/>
          </a:prstGeom>
        </p:spPr>
        <p:txBody>
          <a:bodyPr anchor="t" rtlCol="false" tIns="0" lIns="0" bIns="0" rIns="0">
            <a:spAutoFit/>
          </a:bodyPr>
          <a:lstStyle/>
          <a:p>
            <a:pPr algn="l">
              <a:lnSpc>
                <a:spcPts val="2879"/>
              </a:lnSpc>
            </a:pPr>
            <a:r>
              <a:rPr lang="en-US" sz="2400">
                <a:solidFill>
                  <a:srgbClr val="0D1B2A"/>
                </a:solidFill>
                <a:latin typeface="Calibri (MS)"/>
                <a:ea typeface="Calibri (MS)"/>
                <a:cs typeface="Calibri (MS)"/>
                <a:sym typeface="Calibri (MS)"/>
              </a:rPr>
              <a:t>The Plots corresponding to </a:t>
            </a:r>
          </a:p>
        </p:txBody>
      </p:sp>
      <p:grpSp>
        <p:nvGrpSpPr>
          <p:cNvPr name="Group 5" id="5"/>
          <p:cNvGrpSpPr/>
          <p:nvPr/>
        </p:nvGrpSpPr>
        <p:grpSpPr>
          <a:xfrm rot="-5400000">
            <a:off x="8349396" y="-8349396"/>
            <a:ext cx="1589218" cy="18288000"/>
            <a:chOff x="0" y="0"/>
            <a:chExt cx="2118957" cy="24384000"/>
          </a:xfrm>
        </p:grpSpPr>
        <p:sp>
          <p:nvSpPr>
            <p:cNvPr name="Freeform 6" id="6"/>
            <p:cNvSpPr/>
            <p:nvPr/>
          </p:nvSpPr>
          <p:spPr>
            <a:xfrm flipH="false" flipV="false" rot="0">
              <a:off x="0" y="0"/>
              <a:ext cx="2118995" cy="24384000"/>
            </a:xfrm>
            <a:custGeom>
              <a:avLst/>
              <a:gdLst/>
              <a:ahLst/>
              <a:cxnLst/>
              <a:rect r="r" b="b" t="t" l="l"/>
              <a:pathLst>
                <a:path h="24384000" w="2118995">
                  <a:moveTo>
                    <a:pt x="0" y="0"/>
                  </a:moveTo>
                  <a:lnTo>
                    <a:pt x="2118995" y="0"/>
                  </a:lnTo>
                  <a:lnTo>
                    <a:pt x="2118995" y="24384000"/>
                  </a:lnTo>
                  <a:lnTo>
                    <a:pt x="0" y="24384000"/>
                  </a:lnTo>
                  <a:close/>
                </a:path>
              </a:pathLst>
            </a:custGeom>
            <a:solidFill>
              <a:srgbClr val="17375E"/>
            </a:solidFill>
          </p:spPr>
        </p:sp>
        <p:sp>
          <p:nvSpPr>
            <p:cNvPr name="Freeform 7" id="7"/>
            <p:cNvSpPr/>
            <p:nvPr/>
          </p:nvSpPr>
          <p:spPr>
            <a:xfrm flipH="false" flipV="false" rot="0">
              <a:off x="-1524" y="-1524"/>
              <a:ext cx="2122043" cy="24387048"/>
            </a:xfrm>
            <a:custGeom>
              <a:avLst/>
              <a:gdLst/>
              <a:ahLst/>
              <a:cxnLst/>
              <a:rect r="r" b="b" t="t" l="l"/>
              <a:pathLst>
                <a:path h="24387048" w="2122043">
                  <a:moveTo>
                    <a:pt x="1524" y="0"/>
                  </a:moveTo>
                  <a:lnTo>
                    <a:pt x="2120519" y="0"/>
                  </a:lnTo>
                  <a:cubicBezTo>
                    <a:pt x="2121408" y="0"/>
                    <a:pt x="2122043" y="762"/>
                    <a:pt x="2122043" y="1524"/>
                  </a:cubicBezTo>
                  <a:lnTo>
                    <a:pt x="2122043" y="24385524"/>
                  </a:lnTo>
                  <a:cubicBezTo>
                    <a:pt x="2122043" y="24386414"/>
                    <a:pt x="2121281" y="24387048"/>
                    <a:pt x="2120519" y="24387048"/>
                  </a:cubicBezTo>
                  <a:lnTo>
                    <a:pt x="1524" y="24387048"/>
                  </a:lnTo>
                  <a:cubicBezTo>
                    <a:pt x="635" y="24387048"/>
                    <a:pt x="0" y="24386287"/>
                    <a:pt x="0" y="24385524"/>
                  </a:cubicBezTo>
                  <a:lnTo>
                    <a:pt x="0" y="1524"/>
                  </a:lnTo>
                  <a:cubicBezTo>
                    <a:pt x="0" y="635"/>
                    <a:pt x="762" y="0"/>
                    <a:pt x="1524" y="0"/>
                  </a:cubicBezTo>
                  <a:moveTo>
                    <a:pt x="1524" y="3048"/>
                  </a:moveTo>
                  <a:lnTo>
                    <a:pt x="1524" y="1524"/>
                  </a:lnTo>
                  <a:lnTo>
                    <a:pt x="3048" y="1524"/>
                  </a:lnTo>
                  <a:lnTo>
                    <a:pt x="3048" y="24385524"/>
                  </a:lnTo>
                  <a:lnTo>
                    <a:pt x="1524" y="24385524"/>
                  </a:lnTo>
                  <a:lnTo>
                    <a:pt x="1524" y="24384000"/>
                  </a:lnTo>
                  <a:lnTo>
                    <a:pt x="2120519" y="24384000"/>
                  </a:lnTo>
                  <a:lnTo>
                    <a:pt x="2120519" y="24385524"/>
                  </a:lnTo>
                  <a:lnTo>
                    <a:pt x="2118995" y="24385524"/>
                  </a:lnTo>
                  <a:lnTo>
                    <a:pt x="2118995" y="1524"/>
                  </a:lnTo>
                  <a:lnTo>
                    <a:pt x="2120519" y="1524"/>
                  </a:lnTo>
                  <a:lnTo>
                    <a:pt x="2120519" y="3048"/>
                  </a:lnTo>
                  <a:lnTo>
                    <a:pt x="1524" y="3048"/>
                  </a:lnTo>
                  <a:close/>
                </a:path>
              </a:pathLst>
            </a:custGeom>
            <a:solidFill>
              <a:srgbClr val="002060"/>
            </a:solidFill>
          </p:spPr>
        </p:sp>
      </p:grpSp>
      <p:grpSp>
        <p:nvGrpSpPr>
          <p:cNvPr name="Group 8" id="8"/>
          <p:cNvGrpSpPr/>
          <p:nvPr/>
        </p:nvGrpSpPr>
        <p:grpSpPr>
          <a:xfrm rot="0">
            <a:off x="259404" y="-66599"/>
            <a:ext cx="15235942" cy="1725511"/>
            <a:chOff x="0" y="0"/>
            <a:chExt cx="20314590" cy="2300681"/>
          </a:xfrm>
        </p:grpSpPr>
        <p:sp>
          <p:nvSpPr>
            <p:cNvPr name="Freeform 9" id="9"/>
            <p:cNvSpPr/>
            <p:nvPr/>
          </p:nvSpPr>
          <p:spPr>
            <a:xfrm flipH="false" flipV="false" rot="0">
              <a:off x="0" y="0"/>
              <a:ext cx="20314586" cy="2300686"/>
            </a:xfrm>
            <a:custGeom>
              <a:avLst/>
              <a:gdLst/>
              <a:ahLst/>
              <a:cxnLst/>
              <a:rect r="r" b="b" t="t" l="l"/>
              <a:pathLst>
                <a:path h="2300686" w="20314586">
                  <a:moveTo>
                    <a:pt x="0" y="0"/>
                  </a:moveTo>
                  <a:lnTo>
                    <a:pt x="20314586" y="0"/>
                  </a:lnTo>
                  <a:lnTo>
                    <a:pt x="20314586" y="2300686"/>
                  </a:lnTo>
                  <a:lnTo>
                    <a:pt x="0" y="2300686"/>
                  </a:lnTo>
                  <a:close/>
                </a:path>
              </a:pathLst>
            </a:custGeom>
            <a:blipFill>
              <a:blip r:embed="rId3">
                <a:alphaModFix amt="0"/>
              </a:blip>
              <a:stretch>
                <a:fillRect l="0" t="-122049" r="0" b="-122048"/>
              </a:stretch>
            </a:blipFill>
          </p:spPr>
        </p:sp>
        <p:sp>
          <p:nvSpPr>
            <p:cNvPr name="TextBox 10" id="10"/>
            <p:cNvSpPr txBox="true"/>
            <p:nvPr/>
          </p:nvSpPr>
          <p:spPr>
            <a:xfrm>
              <a:off x="0" y="-161925"/>
              <a:ext cx="20314590" cy="2462606"/>
            </a:xfrm>
            <a:prstGeom prst="rect">
              <a:avLst/>
            </a:prstGeom>
          </p:spPr>
          <p:txBody>
            <a:bodyPr anchor="ctr" rtlCol="false" tIns="0" lIns="0" bIns="0" rIns="0"/>
            <a:lstStyle/>
            <a:p>
              <a:pPr algn="l">
                <a:lnSpc>
                  <a:spcPts val="9601"/>
                </a:lnSpc>
              </a:pPr>
              <a:r>
                <a:rPr lang="en-US" sz="8001">
                  <a:solidFill>
                    <a:srgbClr val="FFFFFF"/>
                  </a:solidFill>
                  <a:latin typeface="Calibri (MS)"/>
                  <a:ea typeface="Calibri (MS)"/>
                  <a:cs typeface="Calibri (MS)"/>
                  <a:sym typeface="Calibri (MS)"/>
                </a:rPr>
                <a:t>Results &amp; Observation</a:t>
              </a:r>
            </a:p>
          </p:txBody>
        </p:sp>
      </p:grpSp>
      <p:grpSp>
        <p:nvGrpSpPr>
          <p:cNvPr name="Group 11" id="11"/>
          <p:cNvGrpSpPr/>
          <p:nvPr/>
        </p:nvGrpSpPr>
        <p:grpSpPr>
          <a:xfrm rot="0">
            <a:off x="1028700" y="2558861"/>
            <a:ext cx="7046176" cy="5575611"/>
            <a:chOff x="0" y="0"/>
            <a:chExt cx="9394901" cy="7434148"/>
          </a:xfrm>
        </p:grpSpPr>
        <p:sp>
          <p:nvSpPr>
            <p:cNvPr name="Freeform 12" id="12" descr="A screenshot of a graph  AI-generated content may be incorrect."/>
            <p:cNvSpPr/>
            <p:nvPr/>
          </p:nvSpPr>
          <p:spPr>
            <a:xfrm flipH="false" flipV="false" rot="0">
              <a:off x="0" y="0"/>
              <a:ext cx="9394952" cy="7434199"/>
            </a:xfrm>
            <a:custGeom>
              <a:avLst/>
              <a:gdLst/>
              <a:ahLst/>
              <a:cxnLst/>
              <a:rect r="r" b="b" t="t" l="l"/>
              <a:pathLst>
                <a:path h="7434199" w="9394952">
                  <a:moveTo>
                    <a:pt x="0" y="0"/>
                  </a:moveTo>
                  <a:lnTo>
                    <a:pt x="9394952" y="0"/>
                  </a:lnTo>
                  <a:lnTo>
                    <a:pt x="9394952" y="7434199"/>
                  </a:lnTo>
                  <a:lnTo>
                    <a:pt x="0" y="7434199"/>
                  </a:lnTo>
                  <a:lnTo>
                    <a:pt x="0" y="0"/>
                  </a:lnTo>
                  <a:close/>
                </a:path>
              </a:pathLst>
            </a:custGeom>
            <a:blipFill>
              <a:blip r:embed="rId4"/>
              <a:stretch>
                <a:fillRect l="0" t="-550" r="0" b="-549"/>
              </a:stretch>
            </a:blipFill>
          </p:spPr>
        </p:sp>
      </p:grpSp>
      <p:grpSp>
        <p:nvGrpSpPr>
          <p:cNvPr name="Group 13" id="13"/>
          <p:cNvGrpSpPr/>
          <p:nvPr/>
        </p:nvGrpSpPr>
        <p:grpSpPr>
          <a:xfrm rot="0">
            <a:off x="8476367" y="3113437"/>
            <a:ext cx="6070444" cy="4864722"/>
            <a:chOff x="0" y="0"/>
            <a:chExt cx="8093926" cy="6486296"/>
          </a:xfrm>
        </p:grpSpPr>
        <p:sp>
          <p:nvSpPr>
            <p:cNvPr name="Freeform 14" id="14" descr="A screenshot of a graph  AI-generated content may be incorrect."/>
            <p:cNvSpPr/>
            <p:nvPr/>
          </p:nvSpPr>
          <p:spPr>
            <a:xfrm flipH="false" flipV="false" rot="0">
              <a:off x="0" y="0"/>
              <a:ext cx="8093964" cy="6486271"/>
            </a:xfrm>
            <a:custGeom>
              <a:avLst/>
              <a:gdLst/>
              <a:ahLst/>
              <a:cxnLst/>
              <a:rect r="r" b="b" t="t" l="l"/>
              <a:pathLst>
                <a:path h="6486271" w="8093964">
                  <a:moveTo>
                    <a:pt x="0" y="0"/>
                  </a:moveTo>
                  <a:lnTo>
                    <a:pt x="8093964" y="0"/>
                  </a:lnTo>
                  <a:lnTo>
                    <a:pt x="8093964" y="6486271"/>
                  </a:lnTo>
                  <a:lnTo>
                    <a:pt x="0" y="6486271"/>
                  </a:lnTo>
                  <a:lnTo>
                    <a:pt x="0" y="0"/>
                  </a:lnTo>
                  <a:close/>
                </a:path>
              </a:pathLst>
            </a:custGeom>
            <a:blipFill>
              <a:blip r:embed="rId5"/>
              <a:stretch>
                <a:fillRect l="-86" t="0" r="-85" b="0"/>
              </a:stretch>
            </a:blipFill>
          </p:spPr>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8904122" y="903122"/>
            <a:ext cx="479755" cy="18288000"/>
            <a:chOff x="0" y="0"/>
            <a:chExt cx="639674" cy="24384000"/>
          </a:xfrm>
        </p:grpSpPr>
        <p:sp>
          <p:nvSpPr>
            <p:cNvPr name="Freeform 3" id="3"/>
            <p:cNvSpPr/>
            <p:nvPr/>
          </p:nvSpPr>
          <p:spPr>
            <a:xfrm flipH="false" flipV="false" rot="0">
              <a:off x="0" y="0"/>
              <a:ext cx="639699" cy="24384000"/>
            </a:xfrm>
            <a:custGeom>
              <a:avLst/>
              <a:gdLst/>
              <a:ahLst/>
              <a:cxnLst/>
              <a:rect r="r" b="b" t="t" l="l"/>
              <a:pathLst>
                <a:path h="24384000" w="639699">
                  <a:moveTo>
                    <a:pt x="0" y="0"/>
                  </a:moveTo>
                  <a:lnTo>
                    <a:pt x="639699" y="0"/>
                  </a:lnTo>
                  <a:lnTo>
                    <a:pt x="639699" y="24384000"/>
                  </a:lnTo>
                  <a:lnTo>
                    <a:pt x="0" y="24384000"/>
                  </a:lnTo>
                  <a:close/>
                </a:path>
              </a:pathLst>
            </a:custGeom>
            <a:solidFill>
              <a:srgbClr val="00ACC1"/>
            </a:solidFill>
          </p:spPr>
        </p:sp>
      </p:grpSp>
      <p:sp>
        <p:nvSpPr>
          <p:cNvPr name="TextBox 4" id="4"/>
          <p:cNvSpPr txBox="true"/>
          <p:nvPr/>
        </p:nvSpPr>
        <p:spPr>
          <a:xfrm rot="0">
            <a:off x="215960" y="1758086"/>
            <a:ext cx="17859604" cy="3705225"/>
          </a:xfrm>
          <a:prstGeom prst="rect">
            <a:avLst/>
          </a:prstGeom>
        </p:spPr>
        <p:txBody>
          <a:bodyPr anchor="t" rtlCol="false" tIns="0" lIns="0" bIns="0" rIns="0">
            <a:spAutoFit/>
          </a:bodyPr>
          <a:lstStyle/>
          <a:p>
            <a:pPr algn="l">
              <a:lnSpc>
                <a:spcPts val="3119"/>
              </a:lnSpc>
            </a:pPr>
            <a:r>
              <a:rPr lang="en-US" sz="2599" b="true">
                <a:solidFill>
                  <a:srgbClr val="0D1B2A"/>
                </a:solidFill>
                <a:latin typeface="Calibri (MS) Bold"/>
                <a:ea typeface="Calibri (MS) Bold"/>
                <a:cs typeface="Calibri (MS) Bold"/>
                <a:sym typeface="Calibri (MS) Bold"/>
              </a:rPr>
              <a:t>Key Observation:</a:t>
            </a:r>
          </a:p>
          <a:p>
            <a:pPr algn="l">
              <a:lnSpc>
                <a:spcPts val="2879"/>
              </a:lnSpc>
            </a:pPr>
            <a:r>
              <a:rPr lang="en-US" sz="2400">
                <a:solidFill>
                  <a:srgbClr val="0D1B2A"/>
                </a:solidFill>
                <a:latin typeface="Calibri (MS)"/>
                <a:ea typeface="Calibri (MS)"/>
                <a:cs typeface="Calibri (MS)"/>
                <a:sym typeface="Calibri (MS)"/>
              </a:rPr>
              <a:t>M</a:t>
            </a:r>
            <a:r>
              <a:rPr lang="en-US" sz="2400">
                <a:solidFill>
                  <a:srgbClr val="0D1B2A"/>
                </a:solidFill>
                <a:latin typeface="Calibri (MS)"/>
                <a:ea typeface="Calibri (MS)"/>
                <a:cs typeface="Calibri (MS)"/>
                <a:sym typeface="Calibri (MS)"/>
              </a:rPr>
              <a:t>ulti-objective optimisation (NSGA-II) outperforms single-objective — it captures the full trade-off space and gives the engineer flexibility to select a solution based on priority. Both methods are available and the choice can be embedded in the workflow based on design parameters and the frequency range of interest.</a:t>
            </a:r>
          </a:p>
          <a:p>
            <a:pPr algn="l">
              <a:lnSpc>
                <a:spcPts val="2879"/>
              </a:lnSpc>
            </a:pPr>
          </a:p>
          <a:p>
            <a:pPr algn="l">
              <a:lnSpc>
                <a:spcPts val="2879"/>
              </a:lnSpc>
            </a:pPr>
            <a:r>
              <a:rPr lang="en-US" sz="2400" b="true">
                <a:solidFill>
                  <a:srgbClr val="0D1B2A"/>
                </a:solidFill>
                <a:latin typeface="Calibri (MS) Bold"/>
                <a:ea typeface="Calibri (MS) Bold"/>
                <a:cs typeface="Calibri (MS) Bold"/>
                <a:sym typeface="Calibri (MS) Bold"/>
              </a:rPr>
              <a:t>The Bottleneck:</a:t>
            </a:r>
          </a:p>
          <a:p>
            <a:pPr algn="l">
              <a:lnSpc>
                <a:spcPts val="2879"/>
              </a:lnSpc>
            </a:pPr>
            <a:r>
              <a:rPr lang="en-US" sz="2400">
                <a:solidFill>
                  <a:srgbClr val="0D1B2A"/>
                </a:solidFill>
                <a:latin typeface="Calibri (MS)"/>
                <a:ea typeface="Calibri (MS)"/>
                <a:cs typeface="Calibri (MS)"/>
                <a:sym typeface="Calibri (MS)"/>
              </a:rPr>
              <a:t>The physics-based approach, despite its reliability, takes an average of 10–11 hours per full optimisation run. Any change to the setup — road class, speed, parameter bounds, damper model — requires a complete re-run. For a team iterating rapidly across design variants, this is a significant bottleneck.</a:t>
            </a:r>
          </a:p>
          <a:p>
            <a:pPr algn="l">
              <a:lnSpc>
                <a:spcPts val="2879"/>
              </a:lnSpc>
            </a:pPr>
          </a:p>
        </p:txBody>
      </p:sp>
      <p:grpSp>
        <p:nvGrpSpPr>
          <p:cNvPr name="Group 5" id="5"/>
          <p:cNvGrpSpPr/>
          <p:nvPr/>
        </p:nvGrpSpPr>
        <p:grpSpPr>
          <a:xfrm rot="-5400000">
            <a:off x="8349396" y="-8349396"/>
            <a:ext cx="1589218" cy="18288000"/>
            <a:chOff x="0" y="0"/>
            <a:chExt cx="2118957" cy="24384000"/>
          </a:xfrm>
        </p:grpSpPr>
        <p:sp>
          <p:nvSpPr>
            <p:cNvPr name="Freeform 6" id="6"/>
            <p:cNvSpPr/>
            <p:nvPr/>
          </p:nvSpPr>
          <p:spPr>
            <a:xfrm flipH="false" flipV="false" rot="0">
              <a:off x="0" y="0"/>
              <a:ext cx="2118995" cy="24384000"/>
            </a:xfrm>
            <a:custGeom>
              <a:avLst/>
              <a:gdLst/>
              <a:ahLst/>
              <a:cxnLst/>
              <a:rect r="r" b="b" t="t" l="l"/>
              <a:pathLst>
                <a:path h="24384000" w="2118995">
                  <a:moveTo>
                    <a:pt x="0" y="0"/>
                  </a:moveTo>
                  <a:lnTo>
                    <a:pt x="2118995" y="0"/>
                  </a:lnTo>
                  <a:lnTo>
                    <a:pt x="2118995" y="24384000"/>
                  </a:lnTo>
                  <a:lnTo>
                    <a:pt x="0" y="24384000"/>
                  </a:lnTo>
                  <a:close/>
                </a:path>
              </a:pathLst>
            </a:custGeom>
            <a:solidFill>
              <a:srgbClr val="17375E"/>
            </a:solidFill>
          </p:spPr>
        </p:sp>
        <p:sp>
          <p:nvSpPr>
            <p:cNvPr name="Freeform 7" id="7"/>
            <p:cNvSpPr/>
            <p:nvPr/>
          </p:nvSpPr>
          <p:spPr>
            <a:xfrm flipH="false" flipV="false" rot="0">
              <a:off x="-1524" y="-1524"/>
              <a:ext cx="2122043" cy="24387048"/>
            </a:xfrm>
            <a:custGeom>
              <a:avLst/>
              <a:gdLst/>
              <a:ahLst/>
              <a:cxnLst/>
              <a:rect r="r" b="b" t="t" l="l"/>
              <a:pathLst>
                <a:path h="24387048" w="2122043">
                  <a:moveTo>
                    <a:pt x="1524" y="0"/>
                  </a:moveTo>
                  <a:lnTo>
                    <a:pt x="2120519" y="0"/>
                  </a:lnTo>
                  <a:cubicBezTo>
                    <a:pt x="2121408" y="0"/>
                    <a:pt x="2122043" y="762"/>
                    <a:pt x="2122043" y="1524"/>
                  </a:cubicBezTo>
                  <a:lnTo>
                    <a:pt x="2122043" y="24385524"/>
                  </a:lnTo>
                  <a:cubicBezTo>
                    <a:pt x="2122043" y="24386414"/>
                    <a:pt x="2121281" y="24387048"/>
                    <a:pt x="2120519" y="24387048"/>
                  </a:cubicBezTo>
                  <a:lnTo>
                    <a:pt x="1524" y="24387048"/>
                  </a:lnTo>
                  <a:cubicBezTo>
                    <a:pt x="635" y="24387048"/>
                    <a:pt x="0" y="24386287"/>
                    <a:pt x="0" y="24385524"/>
                  </a:cubicBezTo>
                  <a:lnTo>
                    <a:pt x="0" y="1524"/>
                  </a:lnTo>
                  <a:cubicBezTo>
                    <a:pt x="0" y="635"/>
                    <a:pt x="762" y="0"/>
                    <a:pt x="1524" y="0"/>
                  </a:cubicBezTo>
                  <a:moveTo>
                    <a:pt x="1524" y="3048"/>
                  </a:moveTo>
                  <a:lnTo>
                    <a:pt x="1524" y="1524"/>
                  </a:lnTo>
                  <a:lnTo>
                    <a:pt x="3048" y="1524"/>
                  </a:lnTo>
                  <a:lnTo>
                    <a:pt x="3048" y="24385524"/>
                  </a:lnTo>
                  <a:lnTo>
                    <a:pt x="1524" y="24385524"/>
                  </a:lnTo>
                  <a:lnTo>
                    <a:pt x="1524" y="24384000"/>
                  </a:lnTo>
                  <a:lnTo>
                    <a:pt x="2120519" y="24384000"/>
                  </a:lnTo>
                  <a:lnTo>
                    <a:pt x="2120519" y="24385524"/>
                  </a:lnTo>
                  <a:lnTo>
                    <a:pt x="2118995" y="24385524"/>
                  </a:lnTo>
                  <a:lnTo>
                    <a:pt x="2118995" y="1524"/>
                  </a:lnTo>
                  <a:lnTo>
                    <a:pt x="2120519" y="1524"/>
                  </a:lnTo>
                  <a:lnTo>
                    <a:pt x="2120519" y="3048"/>
                  </a:lnTo>
                  <a:lnTo>
                    <a:pt x="1524" y="3048"/>
                  </a:lnTo>
                  <a:close/>
                </a:path>
              </a:pathLst>
            </a:custGeom>
            <a:solidFill>
              <a:srgbClr val="002060"/>
            </a:solidFill>
          </p:spPr>
        </p:sp>
      </p:grpSp>
      <p:grpSp>
        <p:nvGrpSpPr>
          <p:cNvPr name="Group 8" id="8"/>
          <p:cNvGrpSpPr/>
          <p:nvPr/>
        </p:nvGrpSpPr>
        <p:grpSpPr>
          <a:xfrm rot="0">
            <a:off x="259404" y="-66599"/>
            <a:ext cx="15235942" cy="1725511"/>
            <a:chOff x="0" y="0"/>
            <a:chExt cx="20314590" cy="2300681"/>
          </a:xfrm>
        </p:grpSpPr>
        <p:sp>
          <p:nvSpPr>
            <p:cNvPr name="Freeform 9" id="9"/>
            <p:cNvSpPr/>
            <p:nvPr/>
          </p:nvSpPr>
          <p:spPr>
            <a:xfrm flipH="false" flipV="false" rot="0">
              <a:off x="0" y="0"/>
              <a:ext cx="20314586" cy="2300686"/>
            </a:xfrm>
            <a:custGeom>
              <a:avLst/>
              <a:gdLst/>
              <a:ahLst/>
              <a:cxnLst/>
              <a:rect r="r" b="b" t="t" l="l"/>
              <a:pathLst>
                <a:path h="2300686" w="20314586">
                  <a:moveTo>
                    <a:pt x="0" y="0"/>
                  </a:moveTo>
                  <a:lnTo>
                    <a:pt x="20314586" y="0"/>
                  </a:lnTo>
                  <a:lnTo>
                    <a:pt x="20314586" y="2300686"/>
                  </a:lnTo>
                  <a:lnTo>
                    <a:pt x="0" y="2300686"/>
                  </a:lnTo>
                  <a:close/>
                </a:path>
              </a:pathLst>
            </a:custGeom>
            <a:blipFill>
              <a:blip r:embed="rId3">
                <a:alphaModFix amt="0"/>
              </a:blip>
              <a:stretch>
                <a:fillRect l="0" t="-122049" r="0" b="-122048"/>
              </a:stretch>
            </a:blipFill>
          </p:spPr>
        </p:sp>
        <p:sp>
          <p:nvSpPr>
            <p:cNvPr name="TextBox 10" id="10"/>
            <p:cNvSpPr txBox="true"/>
            <p:nvPr/>
          </p:nvSpPr>
          <p:spPr>
            <a:xfrm>
              <a:off x="0" y="-161925"/>
              <a:ext cx="20314590" cy="2462606"/>
            </a:xfrm>
            <a:prstGeom prst="rect">
              <a:avLst/>
            </a:prstGeom>
          </p:spPr>
          <p:txBody>
            <a:bodyPr anchor="ctr" rtlCol="false" tIns="0" lIns="0" bIns="0" rIns="0"/>
            <a:lstStyle/>
            <a:p>
              <a:pPr algn="l">
                <a:lnSpc>
                  <a:spcPts val="9601"/>
                </a:lnSpc>
              </a:pPr>
              <a:r>
                <a:rPr lang="en-US" sz="8001">
                  <a:solidFill>
                    <a:srgbClr val="FFFFFF"/>
                  </a:solidFill>
                  <a:latin typeface="Calibri (MS)"/>
                  <a:ea typeface="Calibri (MS)"/>
                  <a:cs typeface="Calibri (MS)"/>
                  <a:sym typeface="Calibri (MS)"/>
                </a:rPr>
                <a:t>Inference and Transition </a:t>
              </a:r>
            </a:p>
          </p:txBody>
        </p:sp>
      </p:grpSp>
      <p:grpSp>
        <p:nvGrpSpPr>
          <p:cNvPr name="Group 11" id="11"/>
          <p:cNvGrpSpPr/>
          <p:nvPr/>
        </p:nvGrpSpPr>
        <p:grpSpPr>
          <a:xfrm rot="0">
            <a:off x="215960" y="5283275"/>
            <a:ext cx="8440426" cy="2865120"/>
            <a:chOff x="0" y="0"/>
            <a:chExt cx="11253902" cy="3820160"/>
          </a:xfrm>
        </p:grpSpPr>
        <p:sp>
          <p:nvSpPr>
            <p:cNvPr name="Freeform 12" id="12"/>
            <p:cNvSpPr/>
            <p:nvPr/>
          </p:nvSpPr>
          <p:spPr>
            <a:xfrm flipH="false" flipV="false" rot="0">
              <a:off x="20314" y="20320"/>
              <a:ext cx="11213274" cy="3779520"/>
            </a:xfrm>
            <a:custGeom>
              <a:avLst/>
              <a:gdLst/>
              <a:ahLst/>
              <a:cxnLst/>
              <a:rect r="r" b="b" t="t" l="l"/>
              <a:pathLst>
                <a:path h="3779520" w="11213274">
                  <a:moveTo>
                    <a:pt x="0" y="0"/>
                  </a:moveTo>
                  <a:lnTo>
                    <a:pt x="11213274" y="0"/>
                  </a:lnTo>
                  <a:lnTo>
                    <a:pt x="11213274" y="3779520"/>
                  </a:lnTo>
                  <a:lnTo>
                    <a:pt x="0" y="3779520"/>
                  </a:lnTo>
                  <a:close/>
                </a:path>
              </a:pathLst>
            </a:custGeom>
            <a:solidFill>
              <a:srgbClr val="FFFFFF"/>
            </a:solidFill>
          </p:spPr>
        </p:sp>
        <p:sp>
          <p:nvSpPr>
            <p:cNvPr name="Freeform 13" id="13"/>
            <p:cNvSpPr/>
            <p:nvPr/>
          </p:nvSpPr>
          <p:spPr>
            <a:xfrm flipH="false" flipV="false" rot="0">
              <a:off x="0" y="0"/>
              <a:ext cx="11253901" cy="3820160"/>
            </a:xfrm>
            <a:custGeom>
              <a:avLst/>
              <a:gdLst/>
              <a:ahLst/>
              <a:cxnLst/>
              <a:rect r="r" b="b" t="t" l="l"/>
              <a:pathLst>
                <a:path h="3820160" w="11253901">
                  <a:moveTo>
                    <a:pt x="20314" y="0"/>
                  </a:moveTo>
                  <a:lnTo>
                    <a:pt x="11233588" y="0"/>
                  </a:lnTo>
                  <a:cubicBezTo>
                    <a:pt x="11244760" y="0"/>
                    <a:pt x="11253901" y="9144"/>
                    <a:pt x="11253901" y="20320"/>
                  </a:cubicBezTo>
                  <a:lnTo>
                    <a:pt x="11253901" y="3799840"/>
                  </a:lnTo>
                  <a:cubicBezTo>
                    <a:pt x="11253901" y="3811016"/>
                    <a:pt x="11244760" y="3820160"/>
                    <a:pt x="11233588" y="3820160"/>
                  </a:cubicBezTo>
                  <a:lnTo>
                    <a:pt x="20314" y="3820160"/>
                  </a:lnTo>
                  <a:cubicBezTo>
                    <a:pt x="9141" y="3820160"/>
                    <a:pt x="0" y="3811016"/>
                    <a:pt x="0" y="3799840"/>
                  </a:cubicBezTo>
                  <a:lnTo>
                    <a:pt x="0" y="20320"/>
                  </a:lnTo>
                  <a:cubicBezTo>
                    <a:pt x="0" y="9144"/>
                    <a:pt x="9141" y="0"/>
                    <a:pt x="20314" y="0"/>
                  </a:cubicBezTo>
                  <a:moveTo>
                    <a:pt x="20314" y="40640"/>
                  </a:moveTo>
                  <a:lnTo>
                    <a:pt x="20314" y="20320"/>
                  </a:lnTo>
                  <a:lnTo>
                    <a:pt x="40628" y="20320"/>
                  </a:lnTo>
                  <a:lnTo>
                    <a:pt x="40628" y="3799840"/>
                  </a:lnTo>
                  <a:lnTo>
                    <a:pt x="20314" y="3799840"/>
                  </a:lnTo>
                  <a:lnTo>
                    <a:pt x="20314" y="3779520"/>
                  </a:lnTo>
                  <a:lnTo>
                    <a:pt x="11233588" y="3779520"/>
                  </a:lnTo>
                  <a:lnTo>
                    <a:pt x="11233588" y="3799840"/>
                  </a:lnTo>
                  <a:lnTo>
                    <a:pt x="11213274" y="3799840"/>
                  </a:lnTo>
                  <a:lnTo>
                    <a:pt x="11213274" y="20320"/>
                  </a:lnTo>
                  <a:lnTo>
                    <a:pt x="11233588" y="20320"/>
                  </a:lnTo>
                  <a:lnTo>
                    <a:pt x="11233588" y="40640"/>
                  </a:lnTo>
                  <a:lnTo>
                    <a:pt x="20314" y="40640"/>
                  </a:lnTo>
                  <a:close/>
                </a:path>
              </a:pathLst>
            </a:custGeom>
            <a:solidFill>
              <a:srgbClr val="0A7EA4"/>
            </a:solidFill>
          </p:spPr>
        </p:sp>
      </p:grpSp>
      <p:grpSp>
        <p:nvGrpSpPr>
          <p:cNvPr name="Group 14" id="14"/>
          <p:cNvGrpSpPr/>
          <p:nvPr/>
        </p:nvGrpSpPr>
        <p:grpSpPr>
          <a:xfrm rot="0">
            <a:off x="218503" y="5285818"/>
            <a:ext cx="8437883" cy="647195"/>
            <a:chOff x="0" y="0"/>
            <a:chExt cx="11250511" cy="862927"/>
          </a:xfrm>
        </p:grpSpPr>
        <p:sp>
          <p:nvSpPr>
            <p:cNvPr name="Freeform 15" id="15"/>
            <p:cNvSpPr/>
            <p:nvPr/>
          </p:nvSpPr>
          <p:spPr>
            <a:xfrm flipH="false" flipV="false" rot="0">
              <a:off x="16891" y="16891"/>
              <a:ext cx="11216640" cy="829056"/>
            </a:xfrm>
            <a:custGeom>
              <a:avLst/>
              <a:gdLst/>
              <a:ahLst/>
              <a:cxnLst/>
              <a:rect r="r" b="b" t="t" l="l"/>
              <a:pathLst>
                <a:path h="829056" w="11216640">
                  <a:moveTo>
                    <a:pt x="0" y="0"/>
                  </a:moveTo>
                  <a:lnTo>
                    <a:pt x="11216640" y="0"/>
                  </a:lnTo>
                  <a:lnTo>
                    <a:pt x="11216640" y="829056"/>
                  </a:lnTo>
                  <a:lnTo>
                    <a:pt x="0" y="829056"/>
                  </a:lnTo>
                  <a:close/>
                </a:path>
              </a:pathLst>
            </a:custGeom>
            <a:solidFill>
              <a:srgbClr val="0A7EA4"/>
            </a:solidFill>
          </p:spPr>
        </p:sp>
        <p:sp>
          <p:nvSpPr>
            <p:cNvPr name="Freeform 16" id="16"/>
            <p:cNvSpPr/>
            <p:nvPr/>
          </p:nvSpPr>
          <p:spPr>
            <a:xfrm flipH="false" flipV="false" rot="0">
              <a:off x="0" y="0"/>
              <a:ext cx="11250422" cy="862840"/>
            </a:xfrm>
            <a:custGeom>
              <a:avLst/>
              <a:gdLst/>
              <a:ahLst/>
              <a:cxnLst/>
              <a:rect r="r" b="b" t="t" l="l"/>
              <a:pathLst>
                <a:path h="862840" w="11250422">
                  <a:moveTo>
                    <a:pt x="16891" y="0"/>
                  </a:moveTo>
                  <a:lnTo>
                    <a:pt x="11233531" y="0"/>
                  </a:lnTo>
                  <a:cubicBezTo>
                    <a:pt x="11242929" y="0"/>
                    <a:pt x="11250422" y="7620"/>
                    <a:pt x="11250422" y="16891"/>
                  </a:cubicBezTo>
                  <a:lnTo>
                    <a:pt x="11250422" y="845947"/>
                  </a:lnTo>
                  <a:cubicBezTo>
                    <a:pt x="11250422" y="855345"/>
                    <a:pt x="11242802" y="862838"/>
                    <a:pt x="11233531" y="862838"/>
                  </a:cubicBezTo>
                  <a:lnTo>
                    <a:pt x="16891" y="862838"/>
                  </a:lnTo>
                  <a:cubicBezTo>
                    <a:pt x="7620" y="862965"/>
                    <a:pt x="0" y="855345"/>
                    <a:pt x="0" y="845947"/>
                  </a:cubicBezTo>
                  <a:lnTo>
                    <a:pt x="0" y="16891"/>
                  </a:lnTo>
                  <a:cubicBezTo>
                    <a:pt x="0" y="7620"/>
                    <a:pt x="7620" y="0"/>
                    <a:pt x="16891" y="0"/>
                  </a:cubicBezTo>
                  <a:moveTo>
                    <a:pt x="16891" y="33909"/>
                  </a:moveTo>
                  <a:lnTo>
                    <a:pt x="16891" y="16891"/>
                  </a:lnTo>
                  <a:lnTo>
                    <a:pt x="33909" y="16891"/>
                  </a:lnTo>
                  <a:lnTo>
                    <a:pt x="33909" y="845947"/>
                  </a:lnTo>
                  <a:lnTo>
                    <a:pt x="16891" y="845947"/>
                  </a:lnTo>
                  <a:lnTo>
                    <a:pt x="16891" y="829056"/>
                  </a:lnTo>
                  <a:lnTo>
                    <a:pt x="11233531" y="829056"/>
                  </a:lnTo>
                  <a:lnTo>
                    <a:pt x="11233531" y="845947"/>
                  </a:lnTo>
                  <a:lnTo>
                    <a:pt x="11216640" y="845947"/>
                  </a:lnTo>
                  <a:lnTo>
                    <a:pt x="11216640" y="16891"/>
                  </a:lnTo>
                  <a:lnTo>
                    <a:pt x="11233531" y="16891"/>
                  </a:lnTo>
                  <a:lnTo>
                    <a:pt x="11233531" y="33909"/>
                  </a:lnTo>
                  <a:lnTo>
                    <a:pt x="16891" y="33909"/>
                  </a:lnTo>
                  <a:close/>
                </a:path>
              </a:pathLst>
            </a:custGeom>
            <a:solidFill>
              <a:srgbClr val="0A7EA4"/>
            </a:solidFill>
          </p:spPr>
        </p:sp>
      </p:grpSp>
      <p:grpSp>
        <p:nvGrpSpPr>
          <p:cNvPr name="Group 17" id="17"/>
          <p:cNvGrpSpPr/>
          <p:nvPr/>
        </p:nvGrpSpPr>
        <p:grpSpPr>
          <a:xfrm rot="0">
            <a:off x="414080" y="5298515"/>
            <a:ext cx="8046720" cy="621792"/>
            <a:chOff x="0" y="0"/>
            <a:chExt cx="10728960" cy="829056"/>
          </a:xfrm>
        </p:grpSpPr>
        <p:sp>
          <p:nvSpPr>
            <p:cNvPr name="Freeform 18" id="18"/>
            <p:cNvSpPr/>
            <p:nvPr/>
          </p:nvSpPr>
          <p:spPr>
            <a:xfrm flipH="false" flipV="false" rot="0">
              <a:off x="0" y="0"/>
              <a:ext cx="10728960" cy="829056"/>
            </a:xfrm>
            <a:custGeom>
              <a:avLst/>
              <a:gdLst/>
              <a:ahLst/>
              <a:cxnLst/>
              <a:rect r="r" b="b" t="t" l="l"/>
              <a:pathLst>
                <a:path h="829056" w="10728960">
                  <a:moveTo>
                    <a:pt x="0" y="0"/>
                  </a:moveTo>
                  <a:lnTo>
                    <a:pt x="10728960" y="0"/>
                  </a:lnTo>
                  <a:lnTo>
                    <a:pt x="10728960" y="829056"/>
                  </a:lnTo>
                  <a:lnTo>
                    <a:pt x="0" y="829056"/>
                  </a:lnTo>
                  <a:close/>
                </a:path>
              </a:pathLst>
            </a:custGeom>
            <a:blipFill>
              <a:blip r:embed="rId3">
                <a:alphaModFix amt="0"/>
              </a:blip>
              <a:stretch>
                <a:fillRect l="0" t="-202159" r="0" b="-202159"/>
              </a:stretch>
            </a:blipFill>
          </p:spPr>
        </p:sp>
        <p:sp>
          <p:nvSpPr>
            <p:cNvPr name="TextBox 19" id="19"/>
            <p:cNvSpPr txBox="true"/>
            <p:nvPr/>
          </p:nvSpPr>
          <p:spPr>
            <a:xfrm>
              <a:off x="0" y="-57150"/>
              <a:ext cx="10728960" cy="886206"/>
            </a:xfrm>
            <a:prstGeom prst="rect">
              <a:avLst/>
            </a:prstGeom>
          </p:spPr>
          <p:txBody>
            <a:bodyPr anchor="ctr" rtlCol="false" tIns="0" lIns="0" bIns="0" rIns="0"/>
            <a:lstStyle/>
            <a:p>
              <a:pPr algn="l">
                <a:lnSpc>
                  <a:spcPts val="3119"/>
                </a:lnSpc>
              </a:pPr>
              <a:r>
                <a:rPr lang="en-US" sz="2599" b="true">
                  <a:solidFill>
                    <a:srgbClr val="FFFFFF"/>
                  </a:solidFill>
                  <a:latin typeface="Calibri (MS) Bold"/>
                  <a:ea typeface="Calibri (MS) Bold"/>
                  <a:cs typeface="Calibri (MS) Bold"/>
                  <a:sym typeface="Calibri (MS) Bold"/>
                </a:rPr>
                <a:t>Why Physics-Based Remains Valuable</a:t>
              </a:r>
            </a:p>
          </p:txBody>
        </p:sp>
      </p:grpSp>
      <p:grpSp>
        <p:nvGrpSpPr>
          <p:cNvPr name="Group 20" id="20"/>
          <p:cNvGrpSpPr/>
          <p:nvPr/>
        </p:nvGrpSpPr>
        <p:grpSpPr>
          <a:xfrm rot="0">
            <a:off x="505520" y="6066611"/>
            <a:ext cx="7863840" cy="494722"/>
            <a:chOff x="0" y="0"/>
            <a:chExt cx="10485120" cy="659630"/>
          </a:xfrm>
        </p:grpSpPr>
        <p:sp>
          <p:nvSpPr>
            <p:cNvPr name="Freeform 21" id="21"/>
            <p:cNvSpPr/>
            <p:nvPr/>
          </p:nvSpPr>
          <p:spPr>
            <a:xfrm flipH="false" flipV="false" rot="0">
              <a:off x="0" y="0"/>
              <a:ext cx="10485120" cy="659630"/>
            </a:xfrm>
            <a:custGeom>
              <a:avLst/>
              <a:gdLst/>
              <a:ahLst/>
              <a:cxnLst/>
              <a:rect r="r" b="b" t="t" l="l"/>
              <a:pathLst>
                <a:path h="659630" w="10485120">
                  <a:moveTo>
                    <a:pt x="0" y="0"/>
                  </a:moveTo>
                  <a:lnTo>
                    <a:pt x="10485120" y="0"/>
                  </a:lnTo>
                  <a:lnTo>
                    <a:pt x="10485120" y="659630"/>
                  </a:lnTo>
                  <a:lnTo>
                    <a:pt x="0" y="659630"/>
                  </a:lnTo>
                  <a:close/>
                </a:path>
              </a:pathLst>
            </a:custGeom>
            <a:blipFill>
              <a:blip r:embed="rId3">
                <a:alphaModFix amt="0"/>
              </a:blip>
              <a:stretch>
                <a:fillRect l="0" t="-263515" r="0" b="-255931"/>
              </a:stretch>
            </a:blipFill>
          </p:spPr>
        </p:sp>
        <p:sp>
          <p:nvSpPr>
            <p:cNvPr name="TextBox 22" id="22"/>
            <p:cNvSpPr txBox="true"/>
            <p:nvPr/>
          </p:nvSpPr>
          <p:spPr>
            <a:xfrm>
              <a:off x="0" y="-47625"/>
              <a:ext cx="10485120" cy="707255"/>
            </a:xfrm>
            <a:prstGeom prst="rect">
              <a:avLst/>
            </a:prstGeom>
          </p:spPr>
          <p:txBody>
            <a:bodyPr anchor="ctr" rtlCol="false" tIns="0" lIns="0" bIns="0" rIns="0"/>
            <a:lstStyle/>
            <a:p>
              <a:pPr algn="l">
                <a:lnSpc>
                  <a:spcPts val="2999"/>
                </a:lnSpc>
              </a:pPr>
              <a:r>
                <a:rPr lang="en-US" sz="2499">
                  <a:solidFill>
                    <a:srgbClr val="000000"/>
                  </a:solidFill>
                  <a:latin typeface="Calibri (MS)"/>
                  <a:ea typeface="Calibri (MS)"/>
                  <a:cs typeface="Calibri (MS)"/>
                  <a:sym typeface="Calibri (MS)"/>
                </a:rPr>
                <a:t>→  Ground truth — results are exact by construction</a:t>
              </a:r>
            </a:p>
          </p:txBody>
        </p:sp>
      </p:grpSp>
      <p:grpSp>
        <p:nvGrpSpPr>
          <p:cNvPr name="Group 23" id="23"/>
          <p:cNvGrpSpPr/>
          <p:nvPr/>
        </p:nvGrpSpPr>
        <p:grpSpPr>
          <a:xfrm rot="0">
            <a:off x="505520" y="6560387"/>
            <a:ext cx="7863840" cy="480268"/>
            <a:chOff x="0" y="0"/>
            <a:chExt cx="10485120" cy="640357"/>
          </a:xfrm>
        </p:grpSpPr>
        <p:sp>
          <p:nvSpPr>
            <p:cNvPr name="Freeform 24" id="24"/>
            <p:cNvSpPr/>
            <p:nvPr/>
          </p:nvSpPr>
          <p:spPr>
            <a:xfrm flipH="false" flipV="false" rot="0">
              <a:off x="0" y="0"/>
              <a:ext cx="10485120" cy="640357"/>
            </a:xfrm>
            <a:custGeom>
              <a:avLst/>
              <a:gdLst/>
              <a:ahLst/>
              <a:cxnLst/>
              <a:rect r="r" b="b" t="t" l="l"/>
              <a:pathLst>
                <a:path h="640357" w="10485120">
                  <a:moveTo>
                    <a:pt x="0" y="0"/>
                  </a:moveTo>
                  <a:lnTo>
                    <a:pt x="10485120" y="0"/>
                  </a:lnTo>
                  <a:lnTo>
                    <a:pt x="10485120" y="640357"/>
                  </a:lnTo>
                  <a:lnTo>
                    <a:pt x="0" y="640357"/>
                  </a:lnTo>
                  <a:close/>
                </a:path>
              </a:pathLst>
            </a:custGeom>
            <a:blipFill>
              <a:blip r:embed="rId3">
                <a:alphaModFix amt="0"/>
              </a:blip>
              <a:stretch>
                <a:fillRect l="0" t="-271447" r="0" b="-266643"/>
              </a:stretch>
            </a:blipFill>
          </p:spPr>
        </p:sp>
        <p:sp>
          <p:nvSpPr>
            <p:cNvPr name="TextBox 25" id="25"/>
            <p:cNvSpPr txBox="true"/>
            <p:nvPr/>
          </p:nvSpPr>
          <p:spPr>
            <a:xfrm>
              <a:off x="0" y="-57150"/>
              <a:ext cx="10485120" cy="697507"/>
            </a:xfrm>
            <a:prstGeom prst="rect">
              <a:avLst/>
            </a:prstGeom>
          </p:spPr>
          <p:txBody>
            <a:bodyPr anchor="ctr" rtlCol="false" tIns="0" lIns="0" bIns="0" rIns="0"/>
            <a:lstStyle/>
            <a:p>
              <a:pPr algn="l">
                <a:lnSpc>
                  <a:spcPts val="2879"/>
                </a:lnSpc>
              </a:pPr>
              <a:r>
                <a:rPr lang="en-US" sz="2399">
                  <a:solidFill>
                    <a:srgbClr val="000000"/>
                  </a:solidFill>
                  <a:latin typeface="Calibri (MS)"/>
                  <a:ea typeface="Calibri (MS)"/>
                  <a:cs typeface="Calibri (MS)"/>
                  <a:sym typeface="Calibri (MS)"/>
                </a:rPr>
                <a:t>→  No data dependency — works from first principles</a:t>
              </a:r>
            </a:p>
          </p:txBody>
        </p:sp>
      </p:grpSp>
      <p:grpSp>
        <p:nvGrpSpPr>
          <p:cNvPr name="Group 26" id="26"/>
          <p:cNvGrpSpPr/>
          <p:nvPr/>
        </p:nvGrpSpPr>
        <p:grpSpPr>
          <a:xfrm rot="0">
            <a:off x="505520" y="7054163"/>
            <a:ext cx="7863840" cy="480268"/>
            <a:chOff x="0" y="0"/>
            <a:chExt cx="10485120" cy="640357"/>
          </a:xfrm>
        </p:grpSpPr>
        <p:sp>
          <p:nvSpPr>
            <p:cNvPr name="Freeform 27" id="27"/>
            <p:cNvSpPr/>
            <p:nvPr/>
          </p:nvSpPr>
          <p:spPr>
            <a:xfrm flipH="false" flipV="false" rot="0">
              <a:off x="0" y="0"/>
              <a:ext cx="10485120" cy="640357"/>
            </a:xfrm>
            <a:custGeom>
              <a:avLst/>
              <a:gdLst/>
              <a:ahLst/>
              <a:cxnLst/>
              <a:rect r="r" b="b" t="t" l="l"/>
              <a:pathLst>
                <a:path h="640357" w="10485120">
                  <a:moveTo>
                    <a:pt x="0" y="0"/>
                  </a:moveTo>
                  <a:lnTo>
                    <a:pt x="10485120" y="0"/>
                  </a:lnTo>
                  <a:lnTo>
                    <a:pt x="10485120" y="640357"/>
                  </a:lnTo>
                  <a:lnTo>
                    <a:pt x="0" y="640357"/>
                  </a:lnTo>
                  <a:close/>
                </a:path>
              </a:pathLst>
            </a:custGeom>
            <a:blipFill>
              <a:blip r:embed="rId3">
                <a:alphaModFix amt="0"/>
              </a:blip>
              <a:stretch>
                <a:fillRect l="0" t="-271447" r="0" b="-266643"/>
              </a:stretch>
            </a:blipFill>
          </p:spPr>
        </p:sp>
        <p:sp>
          <p:nvSpPr>
            <p:cNvPr name="TextBox 28" id="28"/>
            <p:cNvSpPr txBox="true"/>
            <p:nvPr/>
          </p:nvSpPr>
          <p:spPr>
            <a:xfrm>
              <a:off x="0" y="-57150"/>
              <a:ext cx="10485120" cy="697507"/>
            </a:xfrm>
            <a:prstGeom prst="rect">
              <a:avLst/>
            </a:prstGeom>
          </p:spPr>
          <p:txBody>
            <a:bodyPr anchor="ctr" rtlCol="false" tIns="0" lIns="0" bIns="0" rIns="0"/>
            <a:lstStyle/>
            <a:p>
              <a:pPr algn="l">
                <a:lnSpc>
                  <a:spcPts val="2879"/>
                </a:lnSpc>
              </a:pPr>
              <a:r>
                <a:rPr lang="en-US" sz="2399">
                  <a:solidFill>
                    <a:srgbClr val="000000"/>
                  </a:solidFill>
                  <a:latin typeface="Calibri (MS)"/>
                  <a:ea typeface="Calibri (MS)"/>
                  <a:cs typeface="Calibri (MS)"/>
                  <a:sym typeface="Calibri (MS)"/>
                </a:rPr>
                <a:t>→  Essential for validation of any surrogate model</a:t>
              </a:r>
            </a:p>
          </p:txBody>
        </p:sp>
      </p:grpSp>
      <p:grpSp>
        <p:nvGrpSpPr>
          <p:cNvPr name="Group 29" id="29"/>
          <p:cNvGrpSpPr/>
          <p:nvPr/>
        </p:nvGrpSpPr>
        <p:grpSpPr>
          <a:xfrm rot="0">
            <a:off x="505520" y="7547939"/>
            <a:ext cx="7863840" cy="480268"/>
            <a:chOff x="0" y="0"/>
            <a:chExt cx="10485120" cy="640357"/>
          </a:xfrm>
        </p:grpSpPr>
        <p:sp>
          <p:nvSpPr>
            <p:cNvPr name="Freeform 30" id="30"/>
            <p:cNvSpPr/>
            <p:nvPr/>
          </p:nvSpPr>
          <p:spPr>
            <a:xfrm flipH="false" flipV="false" rot="0">
              <a:off x="0" y="0"/>
              <a:ext cx="10485120" cy="640357"/>
            </a:xfrm>
            <a:custGeom>
              <a:avLst/>
              <a:gdLst/>
              <a:ahLst/>
              <a:cxnLst/>
              <a:rect r="r" b="b" t="t" l="l"/>
              <a:pathLst>
                <a:path h="640357" w="10485120">
                  <a:moveTo>
                    <a:pt x="0" y="0"/>
                  </a:moveTo>
                  <a:lnTo>
                    <a:pt x="10485120" y="0"/>
                  </a:lnTo>
                  <a:lnTo>
                    <a:pt x="10485120" y="640357"/>
                  </a:lnTo>
                  <a:lnTo>
                    <a:pt x="0" y="640357"/>
                  </a:lnTo>
                  <a:close/>
                </a:path>
              </a:pathLst>
            </a:custGeom>
            <a:blipFill>
              <a:blip r:embed="rId3">
                <a:alphaModFix amt="0"/>
              </a:blip>
              <a:stretch>
                <a:fillRect l="0" t="-271447" r="0" b="-266643"/>
              </a:stretch>
            </a:blipFill>
          </p:spPr>
        </p:sp>
        <p:sp>
          <p:nvSpPr>
            <p:cNvPr name="TextBox 31" id="31"/>
            <p:cNvSpPr txBox="true"/>
            <p:nvPr/>
          </p:nvSpPr>
          <p:spPr>
            <a:xfrm>
              <a:off x="0" y="-57150"/>
              <a:ext cx="10485120" cy="697507"/>
            </a:xfrm>
            <a:prstGeom prst="rect">
              <a:avLst/>
            </a:prstGeom>
          </p:spPr>
          <p:txBody>
            <a:bodyPr anchor="ctr" rtlCol="false" tIns="0" lIns="0" bIns="0" rIns="0"/>
            <a:lstStyle/>
            <a:p>
              <a:pPr algn="l">
                <a:lnSpc>
                  <a:spcPts val="2879"/>
                </a:lnSpc>
              </a:pPr>
              <a:r>
                <a:rPr lang="en-US" sz="2399">
                  <a:solidFill>
                    <a:srgbClr val="000000"/>
                  </a:solidFill>
                  <a:latin typeface="Calibri (MS)"/>
                  <a:ea typeface="Calibri (MS)"/>
                  <a:cs typeface="Calibri (MS)"/>
                  <a:sym typeface="Calibri (MS)"/>
                </a:rPr>
                <a:t>→  Full interpretability of optimised parameters</a:t>
              </a:r>
            </a:p>
          </p:txBody>
        </p:sp>
      </p:grpSp>
      <p:grpSp>
        <p:nvGrpSpPr>
          <p:cNvPr name="Group 32" id="32"/>
          <p:cNvGrpSpPr/>
          <p:nvPr/>
        </p:nvGrpSpPr>
        <p:grpSpPr>
          <a:xfrm rot="0">
            <a:off x="8656387" y="5283275"/>
            <a:ext cx="8440417" cy="2865120"/>
            <a:chOff x="0" y="0"/>
            <a:chExt cx="11253889" cy="3820160"/>
          </a:xfrm>
        </p:grpSpPr>
        <p:sp>
          <p:nvSpPr>
            <p:cNvPr name="Freeform 33" id="33"/>
            <p:cNvSpPr/>
            <p:nvPr/>
          </p:nvSpPr>
          <p:spPr>
            <a:xfrm flipH="false" flipV="false" rot="0">
              <a:off x="20314" y="20320"/>
              <a:ext cx="11213261" cy="3779520"/>
            </a:xfrm>
            <a:custGeom>
              <a:avLst/>
              <a:gdLst/>
              <a:ahLst/>
              <a:cxnLst/>
              <a:rect r="r" b="b" t="t" l="l"/>
              <a:pathLst>
                <a:path h="3779520" w="11213261">
                  <a:moveTo>
                    <a:pt x="0" y="0"/>
                  </a:moveTo>
                  <a:lnTo>
                    <a:pt x="11213261" y="0"/>
                  </a:lnTo>
                  <a:lnTo>
                    <a:pt x="11213261" y="3779520"/>
                  </a:lnTo>
                  <a:lnTo>
                    <a:pt x="0" y="3779520"/>
                  </a:lnTo>
                  <a:close/>
                </a:path>
              </a:pathLst>
            </a:custGeom>
            <a:solidFill>
              <a:srgbClr val="FFFFFF"/>
            </a:solidFill>
          </p:spPr>
        </p:sp>
        <p:sp>
          <p:nvSpPr>
            <p:cNvPr name="Freeform 34" id="34"/>
            <p:cNvSpPr/>
            <p:nvPr/>
          </p:nvSpPr>
          <p:spPr>
            <a:xfrm flipH="false" flipV="false" rot="0">
              <a:off x="0" y="0"/>
              <a:ext cx="11253888" cy="3820160"/>
            </a:xfrm>
            <a:custGeom>
              <a:avLst/>
              <a:gdLst/>
              <a:ahLst/>
              <a:cxnLst/>
              <a:rect r="r" b="b" t="t" l="l"/>
              <a:pathLst>
                <a:path h="3820160" w="11253888">
                  <a:moveTo>
                    <a:pt x="20314" y="0"/>
                  </a:moveTo>
                  <a:lnTo>
                    <a:pt x="11233575" y="0"/>
                  </a:lnTo>
                  <a:cubicBezTo>
                    <a:pt x="11244748" y="0"/>
                    <a:pt x="11253888" y="9144"/>
                    <a:pt x="11253888" y="20320"/>
                  </a:cubicBezTo>
                  <a:lnTo>
                    <a:pt x="11253888" y="3799840"/>
                  </a:lnTo>
                  <a:cubicBezTo>
                    <a:pt x="11253888" y="3811016"/>
                    <a:pt x="11244748" y="3820160"/>
                    <a:pt x="11233575" y="3820160"/>
                  </a:cubicBezTo>
                  <a:lnTo>
                    <a:pt x="20314" y="3820160"/>
                  </a:lnTo>
                  <a:cubicBezTo>
                    <a:pt x="9141" y="3820160"/>
                    <a:pt x="0" y="3811016"/>
                    <a:pt x="0" y="3799840"/>
                  </a:cubicBezTo>
                  <a:lnTo>
                    <a:pt x="0" y="20320"/>
                  </a:lnTo>
                  <a:cubicBezTo>
                    <a:pt x="0" y="9144"/>
                    <a:pt x="9141" y="0"/>
                    <a:pt x="20314" y="0"/>
                  </a:cubicBezTo>
                  <a:moveTo>
                    <a:pt x="20314" y="40640"/>
                  </a:moveTo>
                  <a:lnTo>
                    <a:pt x="20314" y="20320"/>
                  </a:lnTo>
                  <a:lnTo>
                    <a:pt x="40628" y="20320"/>
                  </a:lnTo>
                  <a:lnTo>
                    <a:pt x="40628" y="3799840"/>
                  </a:lnTo>
                  <a:lnTo>
                    <a:pt x="20314" y="3799840"/>
                  </a:lnTo>
                  <a:lnTo>
                    <a:pt x="20314" y="3779520"/>
                  </a:lnTo>
                  <a:lnTo>
                    <a:pt x="11233575" y="3779520"/>
                  </a:lnTo>
                  <a:lnTo>
                    <a:pt x="11233575" y="3799840"/>
                  </a:lnTo>
                  <a:lnTo>
                    <a:pt x="11213261" y="3799840"/>
                  </a:lnTo>
                  <a:lnTo>
                    <a:pt x="11213261" y="20320"/>
                  </a:lnTo>
                  <a:lnTo>
                    <a:pt x="11233575" y="20320"/>
                  </a:lnTo>
                  <a:lnTo>
                    <a:pt x="11233575" y="40640"/>
                  </a:lnTo>
                  <a:lnTo>
                    <a:pt x="20314" y="40640"/>
                  </a:lnTo>
                  <a:close/>
                </a:path>
              </a:pathLst>
            </a:custGeom>
            <a:solidFill>
              <a:srgbClr val="6C63AC"/>
            </a:solidFill>
          </p:spPr>
        </p:sp>
      </p:grpSp>
      <p:grpSp>
        <p:nvGrpSpPr>
          <p:cNvPr name="Group 35" id="35"/>
          <p:cNvGrpSpPr/>
          <p:nvPr/>
        </p:nvGrpSpPr>
        <p:grpSpPr>
          <a:xfrm rot="0">
            <a:off x="8656387" y="5285818"/>
            <a:ext cx="8437883" cy="647195"/>
            <a:chOff x="0" y="0"/>
            <a:chExt cx="11250511" cy="862927"/>
          </a:xfrm>
        </p:grpSpPr>
        <p:sp>
          <p:nvSpPr>
            <p:cNvPr name="Freeform 36" id="36"/>
            <p:cNvSpPr/>
            <p:nvPr/>
          </p:nvSpPr>
          <p:spPr>
            <a:xfrm flipH="false" flipV="false" rot="0">
              <a:off x="16891" y="16891"/>
              <a:ext cx="11216640" cy="829056"/>
            </a:xfrm>
            <a:custGeom>
              <a:avLst/>
              <a:gdLst/>
              <a:ahLst/>
              <a:cxnLst/>
              <a:rect r="r" b="b" t="t" l="l"/>
              <a:pathLst>
                <a:path h="829056" w="11216640">
                  <a:moveTo>
                    <a:pt x="0" y="0"/>
                  </a:moveTo>
                  <a:lnTo>
                    <a:pt x="11216640" y="0"/>
                  </a:lnTo>
                  <a:lnTo>
                    <a:pt x="11216640" y="829056"/>
                  </a:lnTo>
                  <a:lnTo>
                    <a:pt x="0" y="829056"/>
                  </a:lnTo>
                  <a:close/>
                </a:path>
              </a:pathLst>
            </a:custGeom>
            <a:solidFill>
              <a:srgbClr val="6C63AC"/>
            </a:solidFill>
          </p:spPr>
        </p:sp>
        <p:sp>
          <p:nvSpPr>
            <p:cNvPr name="Freeform 37" id="37"/>
            <p:cNvSpPr/>
            <p:nvPr/>
          </p:nvSpPr>
          <p:spPr>
            <a:xfrm flipH="false" flipV="false" rot="0">
              <a:off x="0" y="0"/>
              <a:ext cx="11250422" cy="862840"/>
            </a:xfrm>
            <a:custGeom>
              <a:avLst/>
              <a:gdLst/>
              <a:ahLst/>
              <a:cxnLst/>
              <a:rect r="r" b="b" t="t" l="l"/>
              <a:pathLst>
                <a:path h="862840" w="11250422">
                  <a:moveTo>
                    <a:pt x="16891" y="0"/>
                  </a:moveTo>
                  <a:lnTo>
                    <a:pt x="11233531" y="0"/>
                  </a:lnTo>
                  <a:cubicBezTo>
                    <a:pt x="11242929" y="0"/>
                    <a:pt x="11250422" y="7620"/>
                    <a:pt x="11250422" y="16891"/>
                  </a:cubicBezTo>
                  <a:lnTo>
                    <a:pt x="11250422" y="845947"/>
                  </a:lnTo>
                  <a:cubicBezTo>
                    <a:pt x="11250422" y="855345"/>
                    <a:pt x="11242802" y="862838"/>
                    <a:pt x="11233531" y="862838"/>
                  </a:cubicBezTo>
                  <a:lnTo>
                    <a:pt x="16891" y="862838"/>
                  </a:lnTo>
                  <a:cubicBezTo>
                    <a:pt x="7620" y="862965"/>
                    <a:pt x="0" y="855345"/>
                    <a:pt x="0" y="845947"/>
                  </a:cubicBezTo>
                  <a:lnTo>
                    <a:pt x="0" y="16891"/>
                  </a:lnTo>
                  <a:cubicBezTo>
                    <a:pt x="0" y="7620"/>
                    <a:pt x="7620" y="0"/>
                    <a:pt x="16891" y="0"/>
                  </a:cubicBezTo>
                  <a:moveTo>
                    <a:pt x="16891" y="33909"/>
                  </a:moveTo>
                  <a:lnTo>
                    <a:pt x="16891" y="16891"/>
                  </a:lnTo>
                  <a:lnTo>
                    <a:pt x="33909" y="16891"/>
                  </a:lnTo>
                  <a:lnTo>
                    <a:pt x="33909" y="845947"/>
                  </a:lnTo>
                  <a:lnTo>
                    <a:pt x="16891" y="845947"/>
                  </a:lnTo>
                  <a:lnTo>
                    <a:pt x="16891" y="829056"/>
                  </a:lnTo>
                  <a:lnTo>
                    <a:pt x="11233531" y="829056"/>
                  </a:lnTo>
                  <a:lnTo>
                    <a:pt x="11233531" y="845947"/>
                  </a:lnTo>
                  <a:lnTo>
                    <a:pt x="11216640" y="845947"/>
                  </a:lnTo>
                  <a:lnTo>
                    <a:pt x="11216640" y="16891"/>
                  </a:lnTo>
                  <a:lnTo>
                    <a:pt x="11233531" y="16891"/>
                  </a:lnTo>
                  <a:lnTo>
                    <a:pt x="11233531" y="33909"/>
                  </a:lnTo>
                  <a:lnTo>
                    <a:pt x="16891" y="33909"/>
                  </a:lnTo>
                  <a:close/>
                </a:path>
              </a:pathLst>
            </a:custGeom>
            <a:solidFill>
              <a:srgbClr val="6C63AC"/>
            </a:solidFill>
          </p:spPr>
        </p:sp>
      </p:grpSp>
      <p:grpSp>
        <p:nvGrpSpPr>
          <p:cNvPr name="Group 38" id="38"/>
          <p:cNvGrpSpPr/>
          <p:nvPr/>
        </p:nvGrpSpPr>
        <p:grpSpPr>
          <a:xfrm rot="0">
            <a:off x="8851964" y="5298515"/>
            <a:ext cx="8046720" cy="621792"/>
            <a:chOff x="0" y="0"/>
            <a:chExt cx="10728960" cy="829056"/>
          </a:xfrm>
        </p:grpSpPr>
        <p:sp>
          <p:nvSpPr>
            <p:cNvPr name="Freeform 39" id="39"/>
            <p:cNvSpPr/>
            <p:nvPr/>
          </p:nvSpPr>
          <p:spPr>
            <a:xfrm flipH="false" flipV="false" rot="0">
              <a:off x="0" y="0"/>
              <a:ext cx="10728960" cy="829056"/>
            </a:xfrm>
            <a:custGeom>
              <a:avLst/>
              <a:gdLst/>
              <a:ahLst/>
              <a:cxnLst/>
              <a:rect r="r" b="b" t="t" l="l"/>
              <a:pathLst>
                <a:path h="829056" w="10728960">
                  <a:moveTo>
                    <a:pt x="0" y="0"/>
                  </a:moveTo>
                  <a:lnTo>
                    <a:pt x="10728960" y="0"/>
                  </a:lnTo>
                  <a:lnTo>
                    <a:pt x="10728960" y="829056"/>
                  </a:lnTo>
                  <a:lnTo>
                    <a:pt x="0" y="829056"/>
                  </a:lnTo>
                  <a:close/>
                </a:path>
              </a:pathLst>
            </a:custGeom>
            <a:blipFill>
              <a:blip r:embed="rId3">
                <a:alphaModFix amt="0"/>
              </a:blip>
              <a:stretch>
                <a:fillRect l="0" t="-202159" r="0" b="-202159"/>
              </a:stretch>
            </a:blipFill>
          </p:spPr>
        </p:sp>
        <p:sp>
          <p:nvSpPr>
            <p:cNvPr name="TextBox 40" id="40"/>
            <p:cNvSpPr txBox="true"/>
            <p:nvPr/>
          </p:nvSpPr>
          <p:spPr>
            <a:xfrm>
              <a:off x="0" y="-57150"/>
              <a:ext cx="10728960" cy="886206"/>
            </a:xfrm>
            <a:prstGeom prst="rect">
              <a:avLst/>
            </a:prstGeom>
          </p:spPr>
          <p:txBody>
            <a:bodyPr anchor="ctr" rtlCol="false" tIns="0" lIns="0" bIns="0" rIns="0"/>
            <a:lstStyle/>
            <a:p>
              <a:pPr algn="l">
                <a:lnSpc>
                  <a:spcPts val="3239"/>
                </a:lnSpc>
              </a:pPr>
              <a:r>
                <a:rPr lang="en-US" sz="2699" b="true">
                  <a:solidFill>
                    <a:srgbClr val="FFFFFF"/>
                  </a:solidFill>
                  <a:latin typeface="Calibri (MS) Bold"/>
                  <a:ea typeface="Calibri (MS) Bold"/>
                  <a:cs typeface="Calibri (MS) Bold"/>
                  <a:sym typeface="Calibri (MS) Bold"/>
                </a:rPr>
                <a:t>Why a Surrogate Model Makes Sense</a:t>
              </a:r>
            </a:p>
          </p:txBody>
        </p:sp>
      </p:grpSp>
      <p:grpSp>
        <p:nvGrpSpPr>
          <p:cNvPr name="Group 41" id="41"/>
          <p:cNvGrpSpPr/>
          <p:nvPr/>
        </p:nvGrpSpPr>
        <p:grpSpPr>
          <a:xfrm rot="0">
            <a:off x="8943404" y="6066611"/>
            <a:ext cx="7863840" cy="480268"/>
            <a:chOff x="0" y="0"/>
            <a:chExt cx="10485120" cy="640357"/>
          </a:xfrm>
        </p:grpSpPr>
        <p:sp>
          <p:nvSpPr>
            <p:cNvPr name="Freeform 42" id="42"/>
            <p:cNvSpPr/>
            <p:nvPr/>
          </p:nvSpPr>
          <p:spPr>
            <a:xfrm flipH="false" flipV="false" rot="0">
              <a:off x="0" y="0"/>
              <a:ext cx="10485120" cy="640357"/>
            </a:xfrm>
            <a:custGeom>
              <a:avLst/>
              <a:gdLst/>
              <a:ahLst/>
              <a:cxnLst/>
              <a:rect r="r" b="b" t="t" l="l"/>
              <a:pathLst>
                <a:path h="640357" w="10485120">
                  <a:moveTo>
                    <a:pt x="0" y="0"/>
                  </a:moveTo>
                  <a:lnTo>
                    <a:pt x="10485120" y="0"/>
                  </a:lnTo>
                  <a:lnTo>
                    <a:pt x="10485120" y="640357"/>
                  </a:lnTo>
                  <a:lnTo>
                    <a:pt x="0" y="640357"/>
                  </a:lnTo>
                  <a:close/>
                </a:path>
              </a:pathLst>
            </a:custGeom>
            <a:blipFill>
              <a:blip r:embed="rId3">
                <a:alphaModFix amt="0"/>
              </a:blip>
              <a:stretch>
                <a:fillRect l="0" t="-271447" r="0" b="-266643"/>
              </a:stretch>
            </a:blipFill>
          </p:spPr>
        </p:sp>
        <p:sp>
          <p:nvSpPr>
            <p:cNvPr name="TextBox 43" id="43"/>
            <p:cNvSpPr txBox="true"/>
            <p:nvPr/>
          </p:nvSpPr>
          <p:spPr>
            <a:xfrm>
              <a:off x="0" y="-57150"/>
              <a:ext cx="10485120" cy="697507"/>
            </a:xfrm>
            <a:prstGeom prst="rect">
              <a:avLst/>
            </a:prstGeom>
          </p:spPr>
          <p:txBody>
            <a:bodyPr anchor="ctr" rtlCol="false" tIns="0" lIns="0" bIns="0" rIns="0"/>
            <a:lstStyle/>
            <a:p>
              <a:pPr algn="l">
                <a:lnSpc>
                  <a:spcPts val="2879"/>
                </a:lnSpc>
              </a:pPr>
              <a:r>
                <a:rPr lang="en-US" sz="2399">
                  <a:solidFill>
                    <a:srgbClr val="000000"/>
                  </a:solidFill>
                  <a:latin typeface="Calibri (MS)"/>
                  <a:ea typeface="Calibri (MS)"/>
                  <a:cs typeface="Calibri (MS)"/>
                  <a:sym typeface="Calibri (MS)"/>
                </a:rPr>
                <a:t>→  Once trained — full optimisation in minutes</a:t>
              </a:r>
            </a:p>
          </p:txBody>
        </p:sp>
      </p:grpSp>
      <p:grpSp>
        <p:nvGrpSpPr>
          <p:cNvPr name="Group 44" id="44"/>
          <p:cNvGrpSpPr/>
          <p:nvPr/>
        </p:nvGrpSpPr>
        <p:grpSpPr>
          <a:xfrm rot="0">
            <a:off x="8943404" y="6560387"/>
            <a:ext cx="7863840" cy="480268"/>
            <a:chOff x="0" y="0"/>
            <a:chExt cx="10485120" cy="640357"/>
          </a:xfrm>
        </p:grpSpPr>
        <p:sp>
          <p:nvSpPr>
            <p:cNvPr name="Freeform 45" id="45"/>
            <p:cNvSpPr/>
            <p:nvPr/>
          </p:nvSpPr>
          <p:spPr>
            <a:xfrm flipH="false" flipV="false" rot="0">
              <a:off x="0" y="0"/>
              <a:ext cx="10485120" cy="640357"/>
            </a:xfrm>
            <a:custGeom>
              <a:avLst/>
              <a:gdLst/>
              <a:ahLst/>
              <a:cxnLst/>
              <a:rect r="r" b="b" t="t" l="l"/>
              <a:pathLst>
                <a:path h="640357" w="10485120">
                  <a:moveTo>
                    <a:pt x="0" y="0"/>
                  </a:moveTo>
                  <a:lnTo>
                    <a:pt x="10485120" y="0"/>
                  </a:lnTo>
                  <a:lnTo>
                    <a:pt x="10485120" y="640357"/>
                  </a:lnTo>
                  <a:lnTo>
                    <a:pt x="0" y="640357"/>
                  </a:lnTo>
                  <a:close/>
                </a:path>
              </a:pathLst>
            </a:custGeom>
            <a:solidFill>
              <a:srgbClr val="000000">
                <a:alpha val="0"/>
              </a:srgbClr>
            </a:solidFill>
          </p:spPr>
        </p:sp>
        <p:sp>
          <p:nvSpPr>
            <p:cNvPr name="TextBox 46" id="46"/>
            <p:cNvSpPr txBox="true"/>
            <p:nvPr/>
          </p:nvSpPr>
          <p:spPr>
            <a:xfrm>
              <a:off x="0" y="-57150"/>
              <a:ext cx="10485120" cy="697507"/>
            </a:xfrm>
            <a:prstGeom prst="rect">
              <a:avLst/>
            </a:prstGeom>
          </p:spPr>
          <p:txBody>
            <a:bodyPr anchor="ctr" rtlCol="false" tIns="0" lIns="0" bIns="0" rIns="0"/>
            <a:lstStyle/>
            <a:p>
              <a:pPr algn="l">
                <a:lnSpc>
                  <a:spcPts val="2879"/>
                </a:lnSpc>
              </a:pPr>
              <a:r>
                <a:rPr lang="en-US" sz="2399">
                  <a:solidFill>
                    <a:srgbClr val="000000"/>
                  </a:solidFill>
                  <a:latin typeface="Calibri (MS)"/>
                  <a:ea typeface="Calibri (MS)"/>
                  <a:cs typeface="Calibri (MS)"/>
                  <a:sym typeface="Calibri (MS)"/>
                </a:rPr>
                <a:t>→  Repeated design iterations at negligible compute cost</a:t>
              </a:r>
            </a:p>
          </p:txBody>
        </p:sp>
      </p:grpSp>
      <p:grpSp>
        <p:nvGrpSpPr>
          <p:cNvPr name="Group 47" id="47"/>
          <p:cNvGrpSpPr/>
          <p:nvPr/>
        </p:nvGrpSpPr>
        <p:grpSpPr>
          <a:xfrm rot="0">
            <a:off x="8943404" y="7054163"/>
            <a:ext cx="7863840" cy="480268"/>
            <a:chOff x="0" y="0"/>
            <a:chExt cx="10485120" cy="640357"/>
          </a:xfrm>
        </p:grpSpPr>
        <p:sp>
          <p:nvSpPr>
            <p:cNvPr name="Freeform 48" id="48"/>
            <p:cNvSpPr/>
            <p:nvPr/>
          </p:nvSpPr>
          <p:spPr>
            <a:xfrm flipH="false" flipV="false" rot="0">
              <a:off x="0" y="0"/>
              <a:ext cx="10485120" cy="640357"/>
            </a:xfrm>
            <a:custGeom>
              <a:avLst/>
              <a:gdLst/>
              <a:ahLst/>
              <a:cxnLst/>
              <a:rect r="r" b="b" t="t" l="l"/>
              <a:pathLst>
                <a:path h="640357" w="10485120">
                  <a:moveTo>
                    <a:pt x="0" y="0"/>
                  </a:moveTo>
                  <a:lnTo>
                    <a:pt x="10485120" y="0"/>
                  </a:lnTo>
                  <a:lnTo>
                    <a:pt x="10485120" y="640357"/>
                  </a:lnTo>
                  <a:lnTo>
                    <a:pt x="0" y="640357"/>
                  </a:lnTo>
                  <a:close/>
                </a:path>
              </a:pathLst>
            </a:custGeom>
            <a:blipFill>
              <a:blip r:embed="rId3">
                <a:alphaModFix amt="0"/>
              </a:blip>
              <a:stretch>
                <a:fillRect l="0" t="-271447" r="0" b="-266643"/>
              </a:stretch>
            </a:blipFill>
          </p:spPr>
        </p:sp>
        <p:sp>
          <p:nvSpPr>
            <p:cNvPr name="TextBox 49" id="49"/>
            <p:cNvSpPr txBox="true"/>
            <p:nvPr/>
          </p:nvSpPr>
          <p:spPr>
            <a:xfrm>
              <a:off x="0" y="-57150"/>
              <a:ext cx="10485120" cy="697507"/>
            </a:xfrm>
            <a:prstGeom prst="rect">
              <a:avLst/>
            </a:prstGeom>
          </p:spPr>
          <p:txBody>
            <a:bodyPr anchor="ctr" rtlCol="false" tIns="0" lIns="0" bIns="0" rIns="0"/>
            <a:lstStyle/>
            <a:p>
              <a:pPr algn="l">
                <a:lnSpc>
                  <a:spcPts val="2879"/>
                </a:lnSpc>
              </a:pPr>
              <a:r>
                <a:rPr lang="en-US" sz="2399">
                  <a:solidFill>
                    <a:srgbClr val="000000"/>
                  </a:solidFill>
                  <a:latin typeface="Calibri (MS)"/>
                  <a:ea typeface="Calibri (MS)"/>
                  <a:cs typeface="Calibri (MS)"/>
                  <a:sym typeface="Calibri (MS)"/>
                </a:rPr>
                <a:t>→  Real measurement data can be fed into training directly</a:t>
              </a:r>
            </a:p>
          </p:txBody>
        </p:sp>
      </p:grpSp>
      <p:grpSp>
        <p:nvGrpSpPr>
          <p:cNvPr name="Group 50" id="50"/>
          <p:cNvGrpSpPr/>
          <p:nvPr/>
        </p:nvGrpSpPr>
        <p:grpSpPr>
          <a:xfrm rot="0">
            <a:off x="8943404" y="7547939"/>
            <a:ext cx="7863840" cy="480268"/>
            <a:chOff x="0" y="0"/>
            <a:chExt cx="10485120" cy="640357"/>
          </a:xfrm>
        </p:grpSpPr>
        <p:sp>
          <p:nvSpPr>
            <p:cNvPr name="Freeform 51" id="51"/>
            <p:cNvSpPr/>
            <p:nvPr/>
          </p:nvSpPr>
          <p:spPr>
            <a:xfrm flipH="false" flipV="false" rot="0">
              <a:off x="0" y="0"/>
              <a:ext cx="10485120" cy="640357"/>
            </a:xfrm>
            <a:custGeom>
              <a:avLst/>
              <a:gdLst/>
              <a:ahLst/>
              <a:cxnLst/>
              <a:rect r="r" b="b" t="t" l="l"/>
              <a:pathLst>
                <a:path h="640357" w="10485120">
                  <a:moveTo>
                    <a:pt x="0" y="0"/>
                  </a:moveTo>
                  <a:lnTo>
                    <a:pt x="10485120" y="0"/>
                  </a:lnTo>
                  <a:lnTo>
                    <a:pt x="10485120" y="640357"/>
                  </a:lnTo>
                  <a:lnTo>
                    <a:pt x="0" y="640357"/>
                  </a:lnTo>
                  <a:close/>
                </a:path>
              </a:pathLst>
            </a:custGeom>
            <a:blipFill>
              <a:blip r:embed="rId3">
                <a:alphaModFix amt="0"/>
              </a:blip>
              <a:stretch>
                <a:fillRect l="0" t="-271447" r="0" b="-266643"/>
              </a:stretch>
            </a:blipFill>
          </p:spPr>
        </p:sp>
        <p:sp>
          <p:nvSpPr>
            <p:cNvPr name="TextBox 52" id="52"/>
            <p:cNvSpPr txBox="true"/>
            <p:nvPr/>
          </p:nvSpPr>
          <p:spPr>
            <a:xfrm>
              <a:off x="0" y="-57150"/>
              <a:ext cx="10485120" cy="697507"/>
            </a:xfrm>
            <a:prstGeom prst="rect">
              <a:avLst/>
            </a:prstGeom>
          </p:spPr>
          <p:txBody>
            <a:bodyPr anchor="ctr" rtlCol="false" tIns="0" lIns="0" bIns="0" rIns="0"/>
            <a:lstStyle/>
            <a:p>
              <a:pPr algn="l">
                <a:lnSpc>
                  <a:spcPts val="2879"/>
                </a:lnSpc>
              </a:pPr>
              <a:r>
                <a:rPr lang="en-US" sz="2399">
                  <a:solidFill>
                    <a:srgbClr val="000000"/>
                  </a:solidFill>
                  <a:latin typeface="Calibri (MS)"/>
                  <a:ea typeface="Calibri (MS)"/>
                  <a:cs typeface="Calibri (MS)"/>
                  <a:sym typeface="Calibri (MS)"/>
                </a:rPr>
                <a:t>→  Scales across configurations without re-simulation</a:t>
              </a:r>
            </a:p>
          </p:txBody>
        </p:sp>
      </p:grpSp>
      <p:sp>
        <p:nvSpPr>
          <p:cNvPr name="TextBox 53" id="53"/>
          <p:cNvSpPr txBox="true"/>
          <p:nvPr/>
        </p:nvSpPr>
        <p:spPr>
          <a:xfrm rot="0">
            <a:off x="505520" y="8481338"/>
            <a:ext cx="17859604" cy="1981200"/>
          </a:xfrm>
          <a:prstGeom prst="rect">
            <a:avLst/>
          </a:prstGeom>
        </p:spPr>
        <p:txBody>
          <a:bodyPr anchor="t" rtlCol="false" tIns="0" lIns="0" bIns="0" rIns="0">
            <a:spAutoFit/>
          </a:bodyPr>
          <a:lstStyle/>
          <a:p>
            <a:pPr algn="l">
              <a:lnSpc>
                <a:spcPts val="3119"/>
              </a:lnSpc>
            </a:pPr>
            <a:r>
              <a:rPr lang="en-US" sz="2599">
                <a:solidFill>
                  <a:srgbClr val="0D1B2A"/>
                </a:solidFill>
                <a:latin typeface="Calibri (MS)"/>
                <a:ea typeface="Calibri (MS)"/>
                <a:cs typeface="Calibri (MS)"/>
                <a:sym typeface="Calibri (MS)"/>
              </a:rPr>
              <a:t>To get the speed advantage of a surrogate while preserving physical reliability, we build a Physics-Informed Neural Network — a deep learning model trained not just on simulation data but constrained by the governing equations of motion. The network can only learn solutions that are physically consistent.</a:t>
            </a:r>
          </a:p>
          <a:p>
            <a:pPr algn="l">
              <a:lnSpc>
                <a:spcPts val="3119"/>
              </a:lnSpc>
            </a:pPr>
          </a:p>
          <a:p>
            <a:pPr algn="l">
              <a:lnSpc>
                <a:spcPts val="2879"/>
              </a:lnSpc>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8904122" y="903122"/>
            <a:ext cx="479755" cy="18288000"/>
            <a:chOff x="0" y="0"/>
            <a:chExt cx="639674" cy="24384000"/>
          </a:xfrm>
        </p:grpSpPr>
        <p:sp>
          <p:nvSpPr>
            <p:cNvPr name="Freeform 3" id="3"/>
            <p:cNvSpPr/>
            <p:nvPr/>
          </p:nvSpPr>
          <p:spPr>
            <a:xfrm flipH="false" flipV="false" rot="0">
              <a:off x="0" y="0"/>
              <a:ext cx="639699" cy="24384000"/>
            </a:xfrm>
            <a:custGeom>
              <a:avLst/>
              <a:gdLst/>
              <a:ahLst/>
              <a:cxnLst/>
              <a:rect r="r" b="b" t="t" l="l"/>
              <a:pathLst>
                <a:path h="24384000" w="639699">
                  <a:moveTo>
                    <a:pt x="0" y="0"/>
                  </a:moveTo>
                  <a:lnTo>
                    <a:pt x="639699" y="0"/>
                  </a:lnTo>
                  <a:lnTo>
                    <a:pt x="639699" y="24384000"/>
                  </a:lnTo>
                  <a:lnTo>
                    <a:pt x="0" y="24384000"/>
                  </a:lnTo>
                  <a:close/>
                </a:path>
              </a:pathLst>
            </a:custGeom>
            <a:solidFill>
              <a:srgbClr val="00ACC1"/>
            </a:solidFill>
          </p:spPr>
        </p:sp>
      </p:grpSp>
      <p:grpSp>
        <p:nvGrpSpPr>
          <p:cNvPr name="Group 4" id="4"/>
          <p:cNvGrpSpPr/>
          <p:nvPr/>
        </p:nvGrpSpPr>
        <p:grpSpPr>
          <a:xfrm rot="-5400000">
            <a:off x="8349396" y="-8349396"/>
            <a:ext cx="1589218" cy="18288000"/>
            <a:chOff x="0" y="0"/>
            <a:chExt cx="2118957" cy="24384000"/>
          </a:xfrm>
        </p:grpSpPr>
        <p:sp>
          <p:nvSpPr>
            <p:cNvPr name="Freeform 5" id="5"/>
            <p:cNvSpPr/>
            <p:nvPr/>
          </p:nvSpPr>
          <p:spPr>
            <a:xfrm flipH="false" flipV="false" rot="0">
              <a:off x="0" y="0"/>
              <a:ext cx="2118995" cy="24384000"/>
            </a:xfrm>
            <a:custGeom>
              <a:avLst/>
              <a:gdLst/>
              <a:ahLst/>
              <a:cxnLst/>
              <a:rect r="r" b="b" t="t" l="l"/>
              <a:pathLst>
                <a:path h="24384000" w="2118995">
                  <a:moveTo>
                    <a:pt x="0" y="0"/>
                  </a:moveTo>
                  <a:lnTo>
                    <a:pt x="2118995" y="0"/>
                  </a:lnTo>
                  <a:lnTo>
                    <a:pt x="2118995" y="24384000"/>
                  </a:lnTo>
                  <a:lnTo>
                    <a:pt x="0" y="24384000"/>
                  </a:lnTo>
                  <a:close/>
                </a:path>
              </a:pathLst>
            </a:custGeom>
            <a:solidFill>
              <a:srgbClr val="17375E"/>
            </a:solidFill>
          </p:spPr>
        </p:sp>
        <p:sp>
          <p:nvSpPr>
            <p:cNvPr name="Freeform 6" id="6"/>
            <p:cNvSpPr/>
            <p:nvPr/>
          </p:nvSpPr>
          <p:spPr>
            <a:xfrm flipH="false" flipV="false" rot="0">
              <a:off x="-1524" y="-1524"/>
              <a:ext cx="2122043" cy="24387048"/>
            </a:xfrm>
            <a:custGeom>
              <a:avLst/>
              <a:gdLst/>
              <a:ahLst/>
              <a:cxnLst/>
              <a:rect r="r" b="b" t="t" l="l"/>
              <a:pathLst>
                <a:path h="24387048" w="2122043">
                  <a:moveTo>
                    <a:pt x="1524" y="0"/>
                  </a:moveTo>
                  <a:lnTo>
                    <a:pt x="2120519" y="0"/>
                  </a:lnTo>
                  <a:cubicBezTo>
                    <a:pt x="2121408" y="0"/>
                    <a:pt x="2122043" y="762"/>
                    <a:pt x="2122043" y="1524"/>
                  </a:cubicBezTo>
                  <a:lnTo>
                    <a:pt x="2122043" y="24385524"/>
                  </a:lnTo>
                  <a:cubicBezTo>
                    <a:pt x="2122043" y="24386414"/>
                    <a:pt x="2121281" y="24387048"/>
                    <a:pt x="2120519" y="24387048"/>
                  </a:cubicBezTo>
                  <a:lnTo>
                    <a:pt x="1524" y="24387048"/>
                  </a:lnTo>
                  <a:cubicBezTo>
                    <a:pt x="635" y="24387048"/>
                    <a:pt x="0" y="24386287"/>
                    <a:pt x="0" y="24385524"/>
                  </a:cubicBezTo>
                  <a:lnTo>
                    <a:pt x="0" y="1524"/>
                  </a:lnTo>
                  <a:cubicBezTo>
                    <a:pt x="0" y="635"/>
                    <a:pt x="762" y="0"/>
                    <a:pt x="1524" y="0"/>
                  </a:cubicBezTo>
                  <a:moveTo>
                    <a:pt x="1524" y="3048"/>
                  </a:moveTo>
                  <a:lnTo>
                    <a:pt x="1524" y="1524"/>
                  </a:lnTo>
                  <a:lnTo>
                    <a:pt x="3048" y="1524"/>
                  </a:lnTo>
                  <a:lnTo>
                    <a:pt x="3048" y="24385524"/>
                  </a:lnTo>
                  <a:lnTo>
                    <a:pt x="1524" y="24385524"/>
                  </a:lnTo>
                  <a:lnTo>
                    <a:pt x="1524" y="24384000"/>
                  </a:lnTo>
                  <a:lnTo>
                    <a:pt x="2120519" y="24384000"/>
                  </a:lnTo>
                  <a:lnTo>
                    <a:pt x="2120519" y="24385524"/>
                  </a:lnTo>
                  <a:lnTo>
                    <a:pt x="2118995" y="24385524"/>
                  </a:lnTo>
                  <a:lnTo>
                    <a:pt x="2118995" y="1524"/>
                  </a:lnTo>
                  <a:lnTo>
                    <a:pt x="2120519" y="1524"/>
                  </a:lnTo>
                  <a:lnTo>
                    <a:pt x="2120519" y="3048"/>
                  </a:lnTo>
                  <a:lnTo>
                    <a:pt x="1524" y="3048"/>
                  </a:lnTo>
                  <a:close/>
                </a:path>
              </a:pathLst>
            </a:custGeom>
            <a:solidFill>
              <a:srgbClr val="002060"/>
            </a:solidFill>
          </p:spPr>
        </p:sp>
      </p:grpSp>
      <p:grpSp>
        <p:nvGrpSpPr>
          <p:cNvPr name="Group 7" id="7"/>
          <p:cNvGrpSpPr/>
          <p:nvPr/>
        </p:nvGrpSpPr>
        <p:grpSpPr>
          <a:xfrm rot="0">
            <a:off x="259404" y="-66599"/>
            <a:ext cx="15235942" cy="1725511"/>
            <a:chOff x="0" y="0"/>
            <a:chExt cx="20314590" cy="2300681"/>
          </a:xfrm>
        </p:grpSpPr>
        <p:sp>
          <p:nvSpPr>
            <p:cNvPr name="Freeform 8" id="8"/>
            <p:cNvSpPr/>
            <p:nvPr/>
          </p:nvSpPr>
          <p:spPr>
            <a:xfrm flipH="false" flipV="false" rot="0">
              <a:off x="0" y="0"/>
              <a:ext cx="20314586" cy="2300686"/>
            </a:xfrm>
            <a:custGeom>
              <a:avLst/>
              <a:gdLst/>
              <a:ahLst/>
              <a:cxnLst/>
              <a:rect r="r" b="b" t="t" l="l"/>
              <a:pathLst>
                <a:path h="2300686" w="20314586">
                  <a:moveTo>
                    <a:pt x="0" y="0"/>
                  </a:moveTo>
                  <a:lnTo>
                    <a:pt x="20314586" y="0"/>
                  </a:lnTo>
                  <a:lnTo>
                    <a:pt x="20314586" y="2300686"/>
                  </a:lnTo>
                  <a:lnTo>
                    <a:pt x="0" y="2300686"/>
                  </a:lnTo>
                  <a:close/>
                </a:path>
              </a:pathLst>
            </a:custGeom>
            <a:blipFill>
              <a:blip r:embed="rId3">
                <a:alphaModFix amt="0"/>
              </a:blip>
              <a:stretch>
                <a:fillRect l="0" t="-122049" r="0" b="-122048"/>
              </a:stretch>
            </a:blipFill>
          </p:spPr>
        </p:sp>
        <p:sp>
          <p:nvSpPr>
            <p:cNvPr name="TextBox 9" id="9"/>
            <p:cNvSpPr txBox="true"/>
            <p:nvPr/>
          </p:nvSpPr>
          <p:spPr>
            <a:xfrm>
              <a:off x="0" y="-161925"/>
              <a:ext cx="20314590" cy="2462606"/>
            </a:xfrm>
            <a:prstGeom prst="rect">
              <a:avLst/>
            </a:prstGeom>
          </p:spPr>
          <p:txBody>
            <a:bodyPr anchor="ctr" rtlCol="false" tIns="0" lIns="0" bIns="0" rIns="0"/>
            <a:lstStyle/>
            <a:p>
              <a:pPr algn="l">
                <a:lnSpc>
                  <a:spcPts val="9601"/>
                </a:lnSpc>
              </a:pPr>
              <a:r>
                <a:rPr lang="en-US" sz="8001">
                  <a:solidFill>
                    <a:srgbClr val="FFFFFF"/>
                  </a:solidFill>
                  <a:latin typeface="Calibri (MS)"/>
                  <a:ea typeface="Calibri (MS)"/>
                  <a:cs typeface="Calibri (MS)"/>
                  <a:sym typeface="Calibri (MS)"/>
                </a:rPr>
                <a:t>Surrogate Modelling </a:t>
              </a:r>
            </a:p>
          </p:txBody>
        </p:sp>
      </p:grpSp>
      <p:sp>
        <p:nvSpPr>
          <p:cNvPr name="Freeform 10" id="10"/>
          <p:cNvSpPr/>
          <p:nvPr/>
        </p:nvSpPr>
        <p:spPr>
          <a:xfrm flipH="false" flipV="false" rot="0">
            <a:off x="1519939" y="4253625"/>
            <a:ext cx="15739361" cy="5611425"/>
          </a:xfrm>
          <a:custGeom>
            <a:avLst/>
            <a:gdLst/>
            <a:ahLst/>
            <a:cxnLst/>
            <a:rect r="r" b="b" t="t" l="l"/>
            <a:pathLst>
              <a:path h="5611425" w="15739361">
                <a:moveTo>
                  <a:pt x="0" y="0"/>
                </a:moveTo>
                <a:lnTo>
                  <a:pt x="15739361" y="0"/>
                </a:lnTo>
                <a:lnTo>
                  <a:pt x="15739361" y="5611425"/>
                </a:lnTo>
                <a:lnTo>
                  <a:pt x="0" y="5611425"/>
                </a:lnTo>
                <a:lnTo>
                  <a:pt x="0" y="0"/>
                </a:lnTo>
                <a:close/>
              </a:path>
            </a:pathLst>
          </a:custGeom>
          <a:blipFill>
            <a:blip r:embed="rId4"/>
            <a:stretch>
              <a:fillRect l="-1471" t="-7328" r="-3998" b="-59077"/>
            </a:stretch>
          </a:blipFill>
        </p:spPr>
      </p:sp>
      <p:sp>
        <p:nvSpPr>
          <p:cNvPr name="TextBox 11" id="11"/>
          <p:cNvSpPr txBox="true"/>
          <p:nvPr/>
        </p:nvSpPr>
        <p:spPr>
          <a:xfrm rot="0">
            <a:off x="215960" y="1777136"/>
            <a:ext cx="17859604" cy="4076700"/>
          </a:xfrm>
          <a:prstGeom prst="rect">
            <a:avLst/>
          </a:prstGeom>
        </p:spPr>
        <p:txBody>
          <a:bodyPr anchor="t" rtlCol="false" tIns="0" lIns="0" bIns="0" rIns="0">
            <a:spAutoFit/>
          </a:bodyPr>
          <a:lstStyle/>
          <a:p>
            <a:pPr algn="l">
              <a:lnSpc>
                <a:spcPts val="2879"/>
              </a:lnSpc>
            </a:pPr>
            <a:r>
              <a:rPr lang="en-US" sz="2400">
                <a:solidFill>
                  <a:srgbClr val="0D1B2A"/>
                </a:solidFill>
                <a:latin typeface="Calibri (MS)"/>
                <a:ea typeface="Calibri (MS)"/>
                <a:cs typeface="Calibri (MS)"/>
                <a:sym typeface="Calibri (MS)"/>
              </a:rPr>
              <a:t>What PINN does differently</a:t>
            </a:r>
          </a:p>
          <a:p>
            <a:pPr algn="l">
              <a:lnSpc>
                <a:spcPts val="2879"/>
              </a:lnSpc>
            </a:pPr>
            <a:r>
              <a:rPr lang="en-US" sz="2400">
                <a:solidFill>
                  <a:srgbClr val="0D1B2A"/>
                </a:solidFill>
                <a:latin typeface="Calibri (MS)"/>
                <a:ea typeface="Calibri (MS)"/>
                <a:cs typeface="Calibri (MS)"/>
                <a:sym typeface="Calibri (MS)"/>
              </a:rPr>
              <a:t>A Physics-Informed Neural Network embeds the governing ODE directly into the training loss. The network is penalised not just for deviating from data but also for violating the physics of the system — forcing it to learn solutions that are physically consistent even where data is sparse.</a:t>
            </a:r>
          </a:p>
          <a:p>
            <a:pPr algn="l">
              <a:lnSpc>
                <a:spcPts val="2879"/>
              </a:lnSpc>
            </a:pPr>
          </a:p>
          <a:p>
            <a:pPr algn="l">
              <a:lnSpc>
                <a:spcPts val="2879"/>
              </a:lnSpc>
            </a:pPr>
            <a:r>
              <a:rPr lang="en-US" sz="2400">
                <a:solidFill>
                  <a:srgbClr val="0D1B2A"/>
                </a:solidFill>
                <a:latin typeface="Calibri (MS)"/>
                <a:ea typeface="Calibri (MS)"/>
                <a:cs typeface="Calibri (MS)"/>
                <a:sym typeface="Calibri (MS)"/>
              </a:rPr>
              <a:t>Data Loss: Ldata​=MSE(y^​,y)  Physics Loss: Lphys​=(ODE Residual)2</a:t>
            </a:r>
          </a:p>
          <a:p>
            <a:pPr algn="l">
              <a:lnSpc>
                <a:spcPts val="2879"/>
              </a:lnSpc>
            </a:pPr>
            <a:r>
              <a:rPr lang="en-US" sz="2400">
                <a:solidFill>
                  <a:srgbClr val="0D1B2A"/>
                </a:solidFill>
                <a:latin typeface="Calibri (MS)"/>
                <a:ea typeface="Calibri (MS)"/>
                <a:cs typeface="Calibri (MS)"/>
                <a:sym typeface="Calibri (MS)"/>
              </a:rPr>
              <a:t>Total Loss: L=λ1Ldata+λ2Lphys</a:t>
            </a:r>
          </a:p>
          <a:p>
            <a:pPr algn="l">
              <a:lnSpc>
                <a:spcPts val="2879"/>
              </a:lnSpc>
            </a:pPr>
          </a:p>
          <a:p>
            <a:pPr algn="l">
              <a:lnSpc>
                <a:spcPts val="2879"/>
              </a:lnSpc>
            </a:pPr>
          </a:p>
          <a:p>
            <a:pPr algn="l">
              <a:lnSpc>
                <a:spcPts val="2879"/>
              </a:lnSpc>
            </a:pPr>
          </a:p>
          <a:p>
            <a:pPr algn="l">
              <a:lnSpc>
                <a:spcPts val="2879"/>
              </a:lnSpc>
            </a:pPr>
          </a:p>
          <a:p>
            <a:pPr algn="l">
              <a:lnSpc>
                <a:spcPts val="3359"/>
              </a:lnSpc>
            </a:pPr>
            <a:r>
              <a:rPr lang="en-US" sz="2799" b="true">
                <a:solidFill>
                  <a:srgbClr val="0D1B2A"/>
                </a:solidFill>
                <a:latin typeface="Calibri (MS) Bold"/>
                <a:ea typeface="Calibri (MS) Bold"/>
                <a:cs typeface="Calibri (MS) Bold"/>
                <a:sym typeface="Calibri (MS) Bold"/>
              </a:rPr>
              <a:t>Detailed picture of Architecture diagram:</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8904122" y="903122"/>
            <a:ext cx="479755" cy="18288000"/>
            <a:chOff x="0" y="0"/>
            <a:chExt cx="639674" cy="24384000"/>
          </a:xfrm>
        </p:grpSpPr>
        <p:sp>
          <p:nvSpPr>
            <p:cNvPr name="Freeform 3" id="3"/>
            <p:cNvSpPr/>
            <p:nvPr/>
          </p:nvSpPr>
          <p:spPr>
            <a:xfrm flipH="false" flipV="false" rot="0">
              <a:off x="0" y="0"/>
              <a:ext cx="639699" cy="24384000"/>
            </a:xfrm>
            <a:custGeom>
              <a:avLst/>
              <a:gdLst/>
              <a:ahLst/>
              <a:cxnLst/>
              <a:rect r="r" b="b" t="t" l="l"/>
              <a:pathLst>
                <a:path h="24384000" w="639699">
                  <a:moveTo>
                    <a:pt x="0" y="0"/>
                  </a:moveTo>
                  <a:lnTo>
                    <a:pt x="639699" y="0"/>
                  </a:lnTo>
                  <a:lnTo>
                    <a:pt x="639699" y="24384000"/>
                  </a:lnTo>
                  <a:lnTo>
                    <a:pt x="0" y="24384000"/>
                  </a:lnTo>
                  <a:close/>
                </a:path>
              </a:pathLst>
            </a:custGeom>
            <a:solidFill>
              <a:srgbClr val="00ACC1"/>
            </a:solidFill>
          </p:spPr>
        </p:sp>
      </p:grpSp>
      <p:grpSp>
        <p:nvGrpSpPr>
          <p:cNvPr name="Group 4" id="4"/>
          <p:cNvGrpSpPr/>
          <p:nvPr/>
        </p:nvGrpSpPr>
        <p:grpSpPr>
          <a:xfrm rot="-5400000">
            <a:off x="8349396" y="-8349396"/>
            <a:ext cx="1589218" cy="18288000"/>
            <a:chOff x="0" y="0"/>
            <a:chExt cx="2118957" cy="24384000"/>
          </a:xfrm>
        </p:grpSpPr>
        <p:sp>
          <p:nvSpPr>
            <p:cNvPr name="Freeform 5" id="5"/>
            <p:cNvSpPr/>
            <p:nvPr/>
          </p:nvSpPr>
          <p:spPr>
            <a:xfrm flipH="false" flipV="false" rot="0">
              <a:off x="0" y="0"/>
              <a:ext cx="2118995" cy="24384000"/>
            </a:xfrm>
            <a:custGeom>
              <a:avLst/>
              <a:gdLst/>
              <a:ahLst/>
              <a:cxnLst/>
              <a:rect r="r" b="b" t="t" l="l"/>
              <a:pathLst>
                <a:path h="24384000" w="2118995">
                  <a:moveTo>
                    <a:pt x="0" y="0"/>
                  </a:moveTo>
                  <a:lnTo>
                    <a:pt x="2118995" y="0"/>
                  </a:lnTo>
                  <a:lnTo>
                    <a:pt x="2118995" y="24384000"/>
                  </a:lnTo>
                  <a:lnTo>
                    <a:pt x="0" y="24384000"/>
                  </a:lnTo>
                  <a:close/>
                </a:path>
              </a:pathLst>
            </a:custGeom>
            <a:solidFill>
              <a:srgbClr val="17375E"/>
            </a:solidFill>
          </p:spPr>
        </p:sp>
        <p:sp>
          <p:nvSpPr>
            <p:cNvPr name="Freeform 6" id="6"/>
            <p:cNvSpPr/>
            <p:nvPr/>
          </p:nvSpPr>
          <p:spPr>
            <a:xfrm flipH="false" flipV="false" rot="0">
              <a:off x="-1524" y="-1524"/>
              <a:ext cx="2122043" cy="24387048"/>
            </a:xfrm>
            <a:custGeom>
              <a:avLst/>
              <a:gdLst/>
              <a:ahLst/>
              <a:cxnLst/>
              <a:rect r="r" b="b" t="t" l="l"/>
              <a:pathLst>
                <a:path h="24387048" w="2122043">
                  <a:moveTo>
                    <a:pt x="1524" y="0"/>
                  </a:moveTo>
                  <a:lnTo>
                    <a:pt x="2120519" y="0"/>
                  </a:lnTo>
                  <a:cubicBezTo>
                    <a:pt x="2121408" y="0"/>
                    <a:pt x="2122043" y="762"/>
                    <a:pt x="2122043" y="1524"/>
                  </a:cubicBezTo>
                  <a:lnTo>
                    <a:pt x="2122043" y="24385524"/>
                  </a:lnTo>
                  <a:cubicBezTo>
                    <a:pt x="2122043" y="24386414"/>
                    <a:pt x="2121281" y="24387048"/>
                    <a:pt x="2120519" y="24387048"/>
                  </a:cubicBezTo>
                  <a:lnTo>
                    <a:pt x="1524" y="24387048"/>
                  </a:lnTo>
                  <a:cubicBezTo>
                    <a:pt x="635" y="24387048"/>
                    <a:pt x="0" y="24386287"/>
                    <a:pt x="0" y="24385524"/>
                  </a:cubicBezTo>
                  <a:lnTo>
                    <a:pt x="0" y="1524"/>
                  </a:lnTo>
                  <a:cubicBezTo>
                    <a:pt x="0" y="635"/>
                    <a:pt x="762" y="0"/>
                    <a:pt x="1524" y="0"/>
                  </a:cubicBezTo>
                  <a:moveTo>
                    <a:pt x="1524" y="3048"/>
                  </a:moveTo>
                  <a:lnTo>
                    <a:pt x="1524" y="1524"/>
                  </a:lnTo>
                  <a:lnTo>
                    <a:pt x="3048" y="1524"/>
                  </a:lnTo>
                  <a:lnTo>
                    <a:pt x="3048" y="24385524"/>
                  </a:lnTo>
                  <a:lnTo>
                    <a:pt x="1524" y="24385524"/>
                  </a:lnTo>
                  <a:lnTo>
                    <a:pt x="1524" y="24384000"/>
                  </a:lnTo>
                  <a:lnTo>
                    <a:pt x="2120519" y="24384000"/>
                  </a:lnTo>
                  <a:lnTo>
                    <a:pt x="2120519" y="24385524"/>
                  </a:lnTo>
                  <a:lnTo>
                    <a:pt x="2118995" y="24385524"/>
                  </a:lnTo>
                  <a:lnTo>
                    <a:pt x="2118995" y="1524"/>
                  </a:lnTo>
                  <a:lnTo>
                    <a:pt x="2120519" y="1524"/>
                  </a:lnTo>
                  <a:lnTo>
                    <a:pt x="2120519" y="3048"/>
                  </a:lnTo>
                  <a:lnTo>
                    <a:pt x="1524" y="3048"/>
                  </a:lnTo>
                  <a:close/>
                </a:path>
              </a:pathLst>
            </a:custGeom>
            <a:solidFill>
              <a:srgbClr val="002060"/>
            </a:solidFill>
          </p:spPr>
        </p:sp>
      </p:grpSp>
      <p:grpSp>
        <p:nvGrpSpPr>
          <p:cNvPr name="Group 7" id="7"/>
          <p:cNvGrpSpPr/>
          <p:nvPr/>
        </p:nvGrpSpPr>
        <p:grpSpPr>
          <a:xfrm rot="0">
            <a:off x="259404" y="-66599"/>
            <a:ext cx="15235942" cy="1725511"/>
            <a:chOff x="0" y="0"/>
            <a:chExt cx="20314590" cy="2300681"/>
          </a:xfrm>
        </p:grpSpPr>
        <p:sp>
          <p:nvSpPr>
            <p:cNvPr name="Freeform 8" id="8"/>
            <p:cNvSpPr/>
            <p:nvPr/>
          </p:nvSpPr>
          <p:spPr>
            <a:xfrm flipH="false" flipV="false" rot="0">
              <a:off x="0" y="0"/>
              <a:ext cx="20314586" cy="2300686"/>
            </a:xfrm>
            <a:custGeom>
              <a:avLst/>
              <a:gdLst/>
              <a:ahLst/>
              <a:cxnLst/>
              <a:rect r="r" b="b" t="t" l="l"/>
              <a:pathLst>
                <a:path h="2300686" w="20314586">
                  <a:moveTo>
                    <a:pt x="0" y="0"/>
                  </a:moveTo>
                  <a:lnTo>
                    <a:pt x="20314586" y="0"/>
                  </a:lnTo>
                  <a:lnTo>
                    <a:pt x="20314586" y="2300686"/>
                  </a:lnTo>
                  <a:lnTo>
                    <a:pt x="0" y="2300686"/>
                  </a:lnTo>
                  <a:close/>
                </a:path>
              </a:pathLst>
            </a:custGeom>
            <a:blipFill>
              <a:blip r:embed="rId3">
                <a:alphaModFix amt="0"/>
              </a:blip>
              <a:stretch>
                <a:fillRect l="0" t="-122049" r="0" b="-122048"/>
              </a:stretch>
            </a:blipFill>
          </p:spPr>
        </p:sp>
        <p:sp>
          <p:nvSpPr>
            <p:cNvPr name="TextBox 9" id="9"/>
            <p:cNvSpPr txBox="true"/>
            <p:nvPr/>
          </p:nvSpPr>
          <p:spPr>
            <a:xfrm>
              <a:off x="0" y="-161925"/>
              <a:ext cx="20314590" cy="2462606"/>
            </a:xfrm>
            <a:prstGeom prst="rect">
              <a:avLst/>
            </a:prstGeom>
          </p:spPr>
          <p:txBody>
            <a:bodyPr anchor="ctr" rtlCol="false" tIns="0" lIns="0" bIns="0" rIns="0"/>
            <a:lstStyle/>
            <a:p>
              <a:pPr algn="l">
                <a:lnSpc>
                  <a:spcPts val="9601"/>
                </a:lnSpc>
              </a:pPr>
              <a:r>
                <a:rPr lang="en-US" sz="8001">
                  <a:solidFill>
                    <a:srgbClr val="FFFFFF"/>
                  </a:solidFill>
                  <a:latin typeface="Calibri (MS)"/>
                  <a:ea typeface="Calibri (MS)"/>
                  <a:cs typeface="Calibri (MS)"/>
                  <a:sym typeface="Calibri (MS)"/>
                </a:rPr>
                <a:t>Surrogate Modelling </a:t>
              </a:r>
            </a:p>
          </p:txBody>
        </p:sp>
      </p:grpSp>
      <p:sp>
        <p:nvSpPr>
          <p:cNvPr name="Freeform 10" id="10"/>
          <p:cNvSpPr/>
          <p:nvPr/>
        </p:nvSpPr>
        <p:spPr>
          <a:xfrm flipH="false" flipV="false" rot="0">
            <a:off x="4691054" y="1658912"/>
            <a:ext cx="13596946" cy="5252212"/>
          </a:xfrm>
          <a:custGeom>
            <a:avLst/>
            <a:gdLst/>
            <a:ahLst/>
            <a:cxnLst/>
            <a:rect r="r" b="b" t="t" l="l"/>
            <a:pathLst>
              <a:path h="5252212" w="13596946">
                <a:moveTo>
                  <a:pt x="0" y="0"/>
                </a:moveTo>
                <a:lnTo>
                  <a:pt x="13596946" y="0"/>
                </a:lnTo>
                <a:lnTo>
                  <a:pt x="13596946" y="5252212"/>
                </a:lnTo>
                <a:lnTo>
                  <a:pt x="0" y="5252212"/>
                </a:lnTo>
                <a:lnTo>
                  <a:pt x="0" y="0"/>
                </a:lnTo>
                <a:close/>
              </a:path>
            </a:pathLst>
          </a:custGeom>
          <a:blipFill>
            <a:blip r:embed="rId4"/>
            <a:stretch>
              <a:fillRect l="0" t="-13998" r="0" b="-28385"/>
            </a:stretch>
          </a:blipFill>
        </p:spPr>
      </p:sp>
      <p:sp>
        <p:nvSpPr>
          <p:cNvPr name="TextBox 11" id="11"/>
          <p:cNvSpPr txBox="true"/>
          <p:nvPr/>
        </p:nvSpPr>
        <p:spPr>
          <a:xfrm rot="0">
            <a:off x="214203" y="1817896"/>
            <a:ext cx="2686793" cy="4572000"/>
          </a:xfrm>
          <a:prstGeom prst="rect">
            <a:avLst/>
          </a:prstGeom>
        </p:spPr>
        <p:txBody>
          <a:bodyPr anchor="t" rtlCol="false" tIns="0" lIns="0" bIns="0" rIns="0">
            <a:spAutoFit/>
          </a:bodyPr>
          <a:lstStyle/>
          <a:p>
            <a:pPr algn="l">
              <a:lnSpc>
                <a:spcPts val="3599"/>
              </a:lnSpc>
            </a:pPr>
            <a:r>
              <a:rPr lang="en-US" sz="2999" b="true">
                <a:solidFill>
                  <a:srgbClr val="0D1B2A"/>
                </a:solidFill>
                <a:latin typeface="Calibri (MS) Bold"/>
                <a:ea typeface="Calibri (MS) Bold"/>
                <a:cs typeface="Calibri (MS) Bold"/>
                <a:sym typeface="Calibri (MS) Bold"/>
              </a:rPr>
              <a:t>Detailed Architecture:</a:t>
            </a:r>
          </a:p>
          <a:p>
            <a:pPr algn="l">
              <a:lnSpc>
                <a:spcPts val="2879"/>
              </a:lnSpc>
            </a:pPr>
          </a:p>
          <a:p>
            <a:pPr algn="l">
              <a:lnSpc>
                <a:spcPts val="2879"/>
              </a:lnSpc>
            </a:pPr>
            <a:r>
              <a:rPr lang="en-US" sz="2400">
                <a:solidFill>
                  <a:srgbClr val="0D1B2A"/>
                </a:solidFill>
                <a:latin typeface="Calibri (MS)"/>
                <a:ea typeface="Calibri (MS)"/>
                <a:cs typeface="Calibri (MS)"/>
                <a:sym typeface="Calibri (MS)"/>
              </a:rPr>
              <a:t>Road Inputs + Physical Parameters → TCN Encoder + Parameter MLP → Feature Fusion → LSTM → State &amp; Acceleration Heads → Physics-Informed Loss</a:t>
            </a:r>
          </a:p>
        </p:txBody>
      </p:sp>
      <p:sp>
        <p:nvSpPr>
          <p:cNvPr name="TextBox 12" id="12"/>
          <p:cNvSpPr txBox="true"/>
          <p:nvPr/>
        </p:nvSpPr>
        <p:spPr>
          <a:xfrm rot="0">
            <a:off x="214198" y="6618496"/>
            <a:ext cx="17859604" cy="952500"/>
          </a:xfrm>
          <a:prstGeom prst="rect">
            <a:avLst/>
          </a:prstGeom>
        </p:spPr>
        <p:txBody>
          <a:bodyPr anchor="t" rtlCol="false" tIns="0" lIns="0" bIns="0" rIns="0">
            <a:spAutoFit/>
          </a:bodyPr>
          <a:lstStyle/>
          <a:p>
            <a:pPr algn="l">
              <a:lnSpc>
                <a:spcPts val="3599"/>
              </a:lnSpc>
            </a:pPr>
            <a:r>
              <a:rPr lang="en-US" sz="2999" b="true">
                <a:solidFill>
                  <a:srgbClr val="0D1B2A"/>
                </a:solidFill>
                <a:latin typeface="Calibri (MS) Bold"/>
                <a:ea typeface="Calibri (MS) Bold"/>
                <a:cs typeface="Calibri (MS) Bold"/>
                <a:sym typeface="Calibri (MS) Bold"/>
              </a:rPr>
              <a:t>Training evaluvation: </a:t>
            </a:r>
          </a:p>
          <a:p>
            <a:pPr algn="l">
              <a:lnSpc>
                <a:spcPts val="3599"/>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8904122" y="903122"/>
            <a:ext cx="479755" cy="18288000"/>
            <a:chOff x="0" y="0"/>
            <a:chExt cx="639674" cy="24384000"/>
          </a:xfrm>
        </p:grpSpPr>
        <p:sp>
          <p:nvSpPr>
            <p:cNvPr name="Freeform 3" id="3"/>
            <p:cNvSpPr/>
            <p:nvPr/>
          </p:nvSpPr>
          <p:spPr>
            <a:xfrm flipH="false" flipV="false" rot="0">
              <a:off x="0" y="0"/>
              <a:ext cx="639699" cy="24384000"/>
            </a:xfrm>
            <a:custGeom>
              <a:avLst/>
              <a:gdLst/>
              <a:ahLst/>
              <a:cxnLst/>
              <a:rect r="r" b="b" t="t" l="l"/>
              <a:pathLst>
                <a:path h="24384000" w="639699">
                  <a:moveTo>
                    <a:pt x="0" y="0"/>
                  </a:moveTo>
                  <a:lnTo>
                    <a:pt x="639699" y="0"/>
                  </a:lnTo>
                  <a:lnTo>
                    <a:pt x="639699" y="24384000"/>
                  </a:lnTo>
                  <a:lnTo>
                    <a:pt x="0" y="24384000"/>
                  </a:lnTo>
                  <a:close/>
                </a:path>
              </a:pathLst>
            </a:custGeom>
            <a:solidFill>
              <a:srgbClr val="00ACC1"/>
            </a:solidFill>
          </p:spPr>
        </p:sp>
      </p:grpSp>
      <p:sp>
        <p:nvSpPr>
          <p:cNvPr name="TextBox 4" id="4"/>
          <p:cNvSpPr txBox="true"/>
          <p:nvPr/>
        </p:nvSpPr>
        <p:spPr>
          <a:xfrm rot="0">
            <a:off x="215960" y="1758086"/>
            <a:ext cx="17859604" cy="952500"/>
          </a:xfrm>
          <a:prstGeom prst="rect">
            <a:avLst/>
          </a:prstGeom>
        </p:spPr>
        <p:txBody>
          <a:bodyPr anchor="t" rtlCol="false" tIns="0" lIns="0" bIns="0" rIns="0">
            <a:spAutoFit/>
          </a:bodyPr>
          <a:lstStyle/>
          <a:p>
            <a:pPr algn="l">
              <a:lnSpc>
                <a:spcPts val="3599"/>
              </a:lnSpc>
            </a:pPr>
            <a:r>
              <a:rPr lang="en-US" sz="2999" b="true">
                <a:solidFill>
                  <a:srgbClr val="0D1B2A"/>
                </a:solidFill>
                <a:latin typeface="Calibri (MS) Bold"/>
                <a:ea typeface="Calibri (MS) Bold"/>
                <a:cs typeface="Calibri (MS) Bold"/>
                <a:sym typeface="Calibri (MS) Bold"/>
              </a:rPr>
              <a:t>Test Evaluvation: </a:t>
            </a:r>
          </a:p>
          <a:p>
            <a:pPr algn="l">
              <a:lnSpc>
                <a:spcPts val="3599"/>
              </a:lnSpc>
            </a:pPr>
          </a:p>
        </p:txBody>
      </p:sp>
      <p:grpSp>
        <p:nvGrpSpPr>
          <p:cNvPr name="Group 5" id="5"/>
          <p:cNvGrpSpPr/>
          <p:nvPr/>
        </p:nvGrpSpPr>
        <p:grpSpPr>
          <a:xfrm rot="-5400000">
            <a:off x="8349396" y="-8349396"/>
            <a:ext cx="1589218" cy="18288000"/>
            <a:chOff x="0" y="0"/>
            <a:chExt cx="2118957" cy="24384000"/>
          </a:xfrm>
        </p:grpSpPr>
        <p:sp>
          <p:nvSpPr>
            <p:cNvPr name="Freeform 6" id="6"/>
            <p:cNvSpPr/>
            <p:nvPr/>
          </p:nvSpPr>
          <p:spPr>
            <a:xfrm flipH="false" flipV="false" rot="0">
              <a:off x="0" y="0"/>
              <a:ext cx="2118995" cy="24384000"/>
            </a:xfrm>
            <a:custGeom>
              <a:avLst/>
              <a:gdLst/>
              <a:ahLst/>
              <a:cxnLst/>
              <a:rect r="r" b="b" t="t" l="l"/>
              <a:pathLst>
                <a:path h="24384000" w="2118995">
                  <a:moveTo>
                    <a:pt x="0" y="0"/>
                  </a:moveTo>
                  <a:lnTo>
                    <a:pt x="2118995" y="0"/>
                  </a:lnTo>
                  <a:lnTo>
                    <a:pt x="2118995" y="24384000"/>
                  </a:lnTo>
                  <a:lnTo>
                    <a:pt x="0" y="24384000"/>
                  </a:lnTo>
                  <a:close/>
                </a:path>
              </a:pathLst>
            </a:custGeom>
            <a:solidFill>
              <a:srgbClr val="17375E"/>
            </a:solidFill>
          </p:spPr>
        </p:sp>
        <p:sp>
          <p:nvSpPr>
            <p:cNvPr name="Freeform 7" id="7"/>
            <p:cNvSpPr/>
            <p:nvPr/>
          </p:nvSpPr>
          <p:spPr>
            <a:xfrm flipH="false" flipV="false" rot="0">
              <a:off x="-1524" y="-1524"/>
              <a:ext cx="2122043" cy="24387048"/>
            </a:xfrm>
            <a:custGeom>
              <a:avLst/>
              <a:gdLst/>
              <a:ahLst/>
              <a:cxnLst/>
              <a:rect r="r" b="b" t="t" l="l"/>
              <a:pathLst>
                <a:path h="24387048" w="2122043">
                  <a:moveTo>
                    <a:pt x="1524" y="0"/>
                  </a:moveTo>
                  <a:lnTo>
                    <a:pt x="2120519" y="0"/>
                  </a:lnTo>
                  <a:cubicBezTo>
                    <a:pt x="2121408" y="0"/>
                    <a:pt x="2122043" y="762"/>
                    <a:pt x="2122043" y="1524"/>
                  </a:cubicBezTo>
                  <a:lnTo>
                    <a:pt x="2122043" y="24385524"/>
                  </a:lnTo>
                  <a:cubicBezTo>
                    <a:pt x="2122043" y="24386414"/>
                    <a:pt x="2121281" y="24387048"/>
                    <a:pt x="2120519" y="24387048"/>
                  </a:cubicBezTo>
                  <a:lnTo>
                    <a:pt x="1524" y="24387048"/>
                  </a:lnTo>
                  <a:cubicBezTo>
                    <a:pt x="635" y="24387048"/>
                    <a:pt x="0" y="24386287"/>
                    <a:pt x="0" y="24385524"/>
                  </a:cubicBezTo>
                  <a:lnTo>
                    <a:pt x="0" y="1524"/>
                  </a:lnTo>
                  <a:cubicBezTo>
                    <a:pt x="0" y="635"/>
                    <a:pt x="762" y="0"/>
                    <a:pt x="1524" y="0"/>
                  </a:cubicBezTo>
                  <a:moveTo>
                    <a:pt x="1524" y="3048"/>
                  </a:moveTo>
                  <a:lnTo>
                    <a:pt x="1524" y="1524"/>
                  </a:lnTo>
                  <a:lnTo>
                    <a:pt x="3048" y="1524"/>
                  </a:lnTo>
                  <a:lnTo>
                    <a:pt x="3048" y="24385524"/>
                  </a:lnTo>
                  <a:lnTo>
                    <a:pt x="1524" y="24385524"/>
                  </a:lnTo>
                  <a:lnTo>
                    <a:pt x="1524" y="24384000"/>
                  </a:lnTo>
                  <a:lnTo>
                    <a:pt x="2120519" y="24384000"/>
                  </a:lnTo>
                  <a:lnTo>
                    <a:pt x="2120519" y="24385524"/>
                  </a:lnTo>
                  <a:lnTo>
                    <a:pt x="2118995" y="24385524"/>
                  </a:lnTo>
                  <a:lnTo>
                    <a:pt x="2118995" y="1524"/>
                  </a:lnTo>
                  <a:lnTo>
                    <a:pt x="2120519" y="1524"/>
                  </a:lnTo>
                  <a:lnTo>
                    <a:pt x="2120519" y="3048"/>
                  </a:lnTo>
                  <a:lnTo>
                    <a:pt x="1524" y="3048"/>
                  </a:lnTo>
                  <a:close/>
                </a:path>
              </a:pathLst>
            </a:custGeom>
            <a:solidFill>
              <a:srgbClr val="002060"/>
            </a:solidFill>
          </p:spPr>
        </p:sp>
      </p:grpSp>
      <p:grpSp>
        <p:nvGrpSpPr>
          <p:cNvPr name="Group 8" id="8"/>
          <p:cNvGrpSpPr/>
          <p:nvPr/>
        </p:nvGrpSpPr>
        <p:grpSpPr>
          <a:xfrm rot="0">
            <a:off x="259404" y="-66599"/>
            <a:ext cx="15235942" cy="1725511"/>
            <a:chOff x="0" y="0"/>
            <a:chExt cx="20314590" cy="2300681"/>
          </a:xfrm>
        </p:grpSpPr>
        <p:sp>
          <p:nvSpPr>
            <p:cNvPr name="Freeform 9" id="9"/>
            <p:cNvSpPr/>
            <p:nvPr/>
          </p:nvSpPr>
          <p:spPr>
            <a:xfrm flipH="false" flipV="false" rot="0">
              <a:off x="0" y="0"/>
              <a:ext cx="20314586" cy="2300686"/>
            </a:xfrm>
            <a:custGeom>
              <a:avLst/>
              <a:gdLst/>
              <a:ahLst/>
              <a:cxnLst/>
              <a:rect r="r" b="b" t="t" l="l"/>
              <a:pathLst>
                <a:path h="2300686" w="20314586">
                  <a:moveTo>
                    <a:pt x="0" y="0"/>
                  </a:moveTo>
                  <a:lnTo>
                    <a:pt x="20314586" y="0"/>
                  </a:lnTo>
                  <a:lnTo>
                    <a:pt x="20314586" y="2300686"/>
                  </a:lnTo>
                  <a:lnTo>
                    <a:pt x="0" y="2300686"/>
                  </a:lnTo>
                  <a:close/>
                </a:path>
              </a:pathLst>
            </a:custGeom>
            <a:blipFill>
              <a:blip r:embed="rId3">
                <a:alphaModFix amt="0"/>
              </a:blip>
              <a:stretch>
                <a:fillRect l="0" t="-122049" r="0" b="-122048"/>
              </a:stretch>
            </a:blipFill>
          </p:spPr>
        </p:sp>
        <p:sp>
          <p:nvSpPr>
            <p:cNvPr name="TextBox 10" id="10"/>
            <p:cNvSpPr txBox="true"/>
            <p:nvPr/>
          </p:nvSpPr>
          <p:spPr>
            <a:xfrm>
              <a:off x="0" y="-161925"/>
              <a:ext cx="20314590" cy="2462606"/>
            </a:xfrm>
            <a:prstGeom prst="rect">
              <a:avLst/>
            </a:prstGeom>
          </p:spPr>
          <p:txBody>
            <a:bodyPr anchor="ctr" rtlCol="false" tIns="0" lIns="0" bIns="0" rIns="0"/>
            <a:lstStyle/>
            <a:p>
              <a:pPr algn="l">
                <a:lnSpc>
                  <a:spcPts val="9601"/>
                </a:lnSpc>
              </a:pPr>
              <a:r>
                <a:rPr lang="en-US" sz="8001">
                  <a:solidFill>
                    <a:srgbClr val="FFFFFF"/>
                  </a:solidFill>
                  <a:latin typeface="Calibri (MS)"/>
                  <a:ea typeface="Calibri (MS)"/>
                  <a:cs typeface="Calibri (MS)"/>
                  <a:sym typeface="Calibri (MS)"/>
                </a:rPr>
                <a:t>Surrogate Modelling </a:t>
              </a:r>
            </a:p>
          </p:txBody>
        </p:sp>
      </p:grpSp>
      <p:sp>
        <p:nvSpPr>
          <p:cNvPr name="TextBox 11" id="11"/>
          <p:cNvSpPr txBox="true"/>
          <p:nvPr/>
        </p:nvSpPr>
        <p:spPr>
          <a:xfrm rot="0">
            <a:off x="259404" y="8077200"/>
            <a:ext cx="17859604" cy="2209800"/>
          </a:xfrm>
          <a:prstGeom prst="rect">
            <a:avLst/>
          </a:prstGeom>
        </p:spPr>
        <p:txBody>
          <a:bodyPr anchor="t" rtlCol="false" tIns="0" lIns="0" bIns="0" rIns="0">
            <a:spAutoFit/>
          </a:bodyPr>
          <a:lstStyle/>
          <a:p>
            <a:pPr algn="l">
              <a:lnSpc>
                <a:spcPts val="2879"/>
              </a:lnSpc>
            </a:pPr>
            <a:r>
              <a:rPr lang="en-US" sz="2400">
                <a:solidFill>
                  <a:srgbClr val="0D1B2A"/>
                </a:solidFill>
                <a:latin typeface="Calibri (MS)"/>
                <a:ea typeface="Calibri (MS)"/>
                <a:cs typeface="Calibri (MS)"/>
                <a:sym typeface="Calibri (MS)"/>
              </a:rPr>
              <a:t>The surrogate modelling approach, trained on the current simulation dataset, successfully converged to an optimised solution with a cabin seat RMS acceleration of ______ m/s². This demonstrates that the trained model has sufficiently captured the suspension system dynamics to drive meaningful optimisation. The framework is deployment-ready — substituting the simulation dataset with real measured road and vehicle response data would further improve prediction accuracy and make the optimised parameters directly reflective of real operating conditions.</a:t>
            </a:r>
          </a:p>
          <a:p>
            <a:pPr algn="l">
              <a:lnSpc>
                <a:spcPts val="2879"/>
              </a:lnSpc>
            </a:pPr>
          </a:p>
          <a:p>
            <a:pPr algn="l">
              <a:lnSpc>
                <a:spcPts val="2879"/>
              </a:lnSpc>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8904122" y="903122"/>
            <a:ext cx="479755" cy="18288000"/>
            <a:chOff x="0" y="0"/>
            <a:chExt cx="639674" cy="24384000"/>
          </a:xfrm>
        </p:grpSpPr>
        <p:sp>
          <p:nvSpPr>
            <p:cNvPr name="Freeform 3" id="3"/>
            <p:cNvSpPr/>
            <p:nvPr/>
          </p:nvSpPr>
          <p:spPr>
            <a:xfrm flipH="false" flipV="false" rot="0">
              <a:off x="0" y="0"/>
              <a:ext cx="639699" cy="24384000"/>
            </a:xfrm>
            <a:custGeom>
              <a:avLst/>
              <a:gdLst/>
              <a:ahLst/>
              <a:cxnLst/>
              <a:rect r="r" b="b" t="t" l="l"/>
              <a:pathLst>
                <a:path h="24384000" w="639699">
                  <a:moveTo>
                    <a:pt x="0" y="0"/>
                  </a:moveTo>
                  <a:lnTo>
                    <a:pt x="639699" y="0"/>
                  </a:lnTo>
                  <a:lnTo>
                    <a:pt x="639699" y="24384000"/>
                  </a:lnTo>
                  <a:lnTo>
                    <a:pt x="0" y="24384000"/>
                  </a:lnTo>
                  <a:close/>
                </a:path>
              </a:pathLst>
            </a:custGeom>
            <a:solidFill>
              <a:srgbClr val="00ACC1"/>
            </a:solidFill>
          </p:spPr>
        </p:sp>
      </p:grpSp>
      <p:grpSp>
        <p:nvGrpSpPr>
          <p:cNvPr name="Group 4" id="4"/>
          <p:cNvGrpSpPr/>
          <p:nvPr/>
        </p:nvGrpSpPr>
        <p:grpSpPr>
          <a:xfrm rot="-5400000">
            <a:off x="8349396" y="-8349396"/>
            <a:ext cx="1589218" cy="18288000"/>
            <a:chOff x="0" y="0"/>
            <a:chExt cx="2118957" cy="24384000"/>
          </a:xfrm>
        </p:grpSpPr>
        <p:sp>
          <p:nvSpPr>
            <p:cNvPr name="Freeform 5" id="5"/>
            <p:cNvSpPr/>
            <p:nvPr/>
          </p:nvSpPr>
          <p:spPr>
            <a:xfrm flipH="false" flipV="false" rot="0">
              <a:off x="0" y="0"/>
              <a:ext cx="2118995" cy="24384000"/>
            </a:xfrm>
            <a:custGeom>
              <a:avLst/>
              <a:gdLst/>
              <a:ahLst/>
              <a:cxnLst/>
              <a:rect r="r" b="b" t="t" l="l"/>
              <a:pathLst>
                <a:path h="24384000" w="2118995">
                  <a:moveTo>
                    <a:pt x="0" y="0"/>
                  </a:moveTo>
                  <a:lnTo>
                    <a:pt x="2118995" y="0"/>
                  </a:lnTo>
                  <a:lnTo>
                    <a:pt x="2118995" y="24384000"/>
                  </a:lnTo>
                  <a:lnTo>
                    <a:pt x="0" y="24384000"/>
                  </a:lnTo>
                  <a:close/>
                </a:path>
              </a:pathLst>
            </a:custGeom>
            <a:solidFill>
              <a:srgbClr val="17375E"/>
            </a:solidFill>
          </p:spPr>
        </p:sp>
        <p:sp>
          <p:nvSpPr>
            <p:cNvPr name="Freeform 6" id="6"/>
            <p:cNvSpPr/>
            <p:nvPr/>
          </p:nvSpPr>
          <p:spPr>
            <a:xfrm flipH="false" flipV="false" rot="0">
              <a:off x="-1524" y="-1524"/>
              <a:ext cx="2122043" cy="24387048"/>
            </a:xfrm>
            <a:custGeom>
              <a:avLst/>
              <a:gdLst/>
              <a:ahLst/>
              <a:cxnLst/>
              <a:rect r="r" b="b" t="t" l="l"/>
              <a:pathLst>
                <a:path h="24387048" w="2122043">
                  <a:moveTo>
                    <a:pt x="1524" y="0"/>
                  </a:moveTo>
                  <a:lnTo>
                    <a:pt x="2120519" y="0"/>
                  </a:lnTo>
                  <a:cubicBezTo>
                    <a:pt x="2121408" y="0"/>
                    <a:pt x="2122043" y="762"/>
                    <a:pt x="2122043" y="1524"/>
                  </a:cubicBezTo>
                  <a:lnTo>
                    <a:pt x="2122043" y="24385524"/>
                  </a:lnTo>
                  <a:cubicBezTo>
                    <a:pt x="2122043" y="24386414"/>
                    <a:pt x="2121281" y="24387048"/>
                    <a:pt x="2120519" y="24387048"/>
                  </a:cubicBezTo>
                  <a:lnTo>
                    <a:pt x="1524" y="24387048"/>
                  </a:lnTo>
                  <a:cubicBezTo>
                    <a:pt x="635" y="24387048"/>
                    <a:pt x="0" y="24386287"/>
                    <a:pt x="0" y="24385524"/>
                  </a:cubicBezTo>
                  <a:lnTo>
                    <a:pt x="0" y="1524"/>
                  </a:lnTo>
                  <a:cubicBezTo>
                    <a:pt x="0" y="635"/>
                    <a:pt x="762" y="0"/>
                    <a:pt x="1524" y="0"/>
                  </a:cubicBezTo>
                  <a:moveTo>
                    <a:pt x="1524" y="3048"/>
                  </a:moveTo>
                  <a:lnTo>
                    <a:pt x="1524" y="1524"/>
                  </a:lnTo>
                  <a:lnTo>
                    <a:pt x="3048" y="1524"/>
                  </a:lnTo>
                  <a:lnTo>
                    <a:pt x="3048" y="24385524"/>
                  </a:lnTo>
                  <a:lnTo>
                    <a:pt x="1524" y="24385524"/>
                  </a:lnTo>
                  <a:lnTo>
                    <a:pt x="1524" y="24384000"/>
                  </a:lnTo>
                  <a:lnTo>
                    <a:pt x="2120519" y="24384000"/>
                  </a:lnTo>
                  <a:lnTo>
                    <a:pt x="2120519" y="24385524"/>
                  </a:lnTo>
                  <a:lnTo>
                    <a:pt x="2118995" y="24385524"/>
                  </a:lnTo>
                  <a:lnTo>
                    <a:pt x="2118995" y="1524"/>
                  </a:lnTo>
                  <a:lnTo>
                    <a:pt x="2120519" y="1524"/>
                  </a:lnTo>
                  <a:lnTo>
                    <a:pt x="2120519" y="3048"/>
                  </a:lnTo>
                  <a:lnTo>
                    <a:pt x="1524" y="3048"/>
                  </a:lnTo>
                  <a:close/>
                </a:path>
              </a:pathLst>
            </a:custGeom>
            <a:solidFill>
              <a:srgbClr val="002060"/>
            </a:solidFill>
          </p:spPr>
        </p:sp>
      </p:grpSp>
      <p:grpSp>
        <p:nvGrpSpPr>
          <p:cNvPr name="Group 7" id="7"/>
          <p:cNvGrpSpPr/>
          <p:nvPr/>
        </p:nvGrpSpPr>
        <p:grpSpPr>
          <a:xfrm rot="0">
            <a:off x="259404" y="-66599"/>
            <a:ext cx="15235942" cy="1725511"/>
            <a:chOff x="0" y="0"/>
            <a:chExt cx="20314590" cy="2300681"/>
          </a:xfrm>
        </p:grpSpPr>
        <p:sp>
          <p:nvSpPr>
            <p:cNvPr name="Freeform 8" id="8"/>
            <p:cNvSpPr/>
            <p:nvPr/>
          </p:nvSpPr>
          <p:spPr>
            <a:xfrm flipH="false" flipV="false" rot="0">
              <a:off x="0" y="0"/>
              <a:ext cx="20314586" cy="2300686"/>
            </a:xfrm>
            <a:custGeom>
              <a:avLst/>
              <a:gdLst/>
              <a:ahLst/>
              <a:cxnLst/>
              <a:rect r="r" b="b" t="t" l="l"/>
              <a:pathLst>
                <a:path h="2300686" w="20314586">
                  <a:moveTo>
                    <a:pt x="0" y="0"/>
                  </a:moveTo>
                  <a:lnTo>
                    <a:pt x="20314586" y="0"/>
                  </a:lnTo>
                  <a:lnTo>
                    <a:pt x="20314586" y="2300686"/>
                  </a:lnTo>
                  <a:lnTo>
                    <a:pt x="0" y="2300686"/>
                  </a:lnTo>
                  <a:close/>
                </a:path>
              </a:pathLst>
            </a:custGeom>
            <a:blipFill>
              <a:blip r:embed="rId3">
                <a:alphaModFix amt="0"/>
              </a:blip>
              <a:stretch>
                <a:fillRect l="0" t="-122049" r="0" b="-122048"/>
              </a:stretch>
            </a:blipFill>
          </p:spPr>
        </p:sp>
        <p:sp>
          <p:nvSpPr>
            <p:cNvPr name="TextBox 9" id="9"/>
            <p:cNvSpPr txBox="true"/>
            <p:nvPr/>
          </p:nvSpPr>
          <p:spPr>
            <a:xfrm>
              <a:off x="0" y="-161925"/>
              <a:ext cx="20314590" cy="2462606"/>
            </a:xfrm>
            <a:prstGeom prst="rect">
              <a:avLst/>
            </a:prstGeom>
          </p:spPr>
          <p:txBody>
            <a:bodyPr anchor="ctr" rtlCol="false" tIns="0" lIns="0" bIns="0" rIns="0"/>
            <a:lstStyle/>
            <a:p>
              <a:pPr algn="l">
                <a:lnSpc>
                  <a:spcPts val="9601"/>
                </a:lnSpc>
              </a:pPr>
              <a:r>
                <a:rPr lang="en-US" sz="8001">
                  <a:solidFill>
                    <a:srgbClr val="FFFFFF"/>
                  </a:solidFill>
                  <a:latin typeface="Calibri (MS)"/>
                  <a:ea typeface="Calibri (MS)"/>
                  <a:cs typeface="Calibri (MS)"/>
                  <a:sym typeface="Calibri (MS)"/>
                </a:rPr>
                <a:t>Generalised Framework</a:t>
              </a:r>
            </a:p>
          </p:txBody>
        </p:sp>
      </p:grpSp>
      <p:sp>
        <p:nvSpPr>
          <p:cNvPr name="Freeform 10" id="10"/>
          <p:cNvSpPr/>
          <p:nvPr/>
        </p:nvSpPr>
        <p:spPr>
          <a:xfrm flipH="false" flipV="false" rot="0">
            <a:off x="5953248" y="1589213"/>
            <a:ext cx="12334757" cy="8218032"/>
          </a:xfrm>
          <a:custGeom>
            <a:avLst/>
            <a:gdLst/>
            <a:ahLst/>
            <a:cxnLst/>
            <a:rect r="r" b="b" t="t" l="l"/>
            <a:pathLst>
              <a:path h="8218032" w="12334757">
                <a:moveTo>
                  <a:pt x="0" y="0"/>
                </a:moveTo>
                <a:lnTo>
                  <a:pt x="12334757" y="0"/>
                </a:lnTo>
                <a:lnTo>
                  <a:pt x="12334757" y="8218032"/>
                </a:lnTo>
                <a:lnTo>
                  <a:pt x="0" y="8218032"/>
                </a:lnTo>
                <a:lnTo>
                  <a:pt x="0" y="0"/>
                </a:lnTo>
                <a:close/>
              </a:path>
            </a:pathLst>
          </a:custGeom>
          <a:blipFill>
            <a:blip r:embed="rId4"/>
            <a:stretch>
              <a:fillRect l="0" t="0" r="0" b="0"/>
            </a:stretch>
          </a:blipFill>
        </p:spPr>
      </p:sp>
      <p:sp>
        <p:nvSpPr>
          <p:cNvPr name="TextBox 11" id="11"/>
          <p:cNvSpPr txBox="true"/>
          <p:nvPr/>
        </p:nvSpPr>
        <p:spPr>
          <a:xfrm rot="0">
            <a:off x="259404" y="2464637"/>
            <a:ext cx="5634011" cy="5829300"/>
          </a:xfrm>
          <a:prstGeom prst="rect">
            <a:avLst/>
          </a:prstGeom>
        </p:spPr>
        <p:txBody>
          <a:bodyPr anchor="t" rtlCol="false" tIns="0" lIns="0" bIns="0" rIns="0">
            <a:spAutoFit/>
          </a:bodyPr>
          <a:lstStyle/>
          <a:p>
            <a:pPr algn="l">
              <a:lnSpc>
                <a:spcPts val="2879"/>
              </a:lnSpc>
            </a:pPr>
            <a:r>
              <a:rPr lang="en-US" sz="2400">
                <a:solidFill>
                  <a:srgbClr val="0D1B2A"/>
                </a:solidFill>
                <a:latin typeface="Calibri (MS)"/>
                <a:ea typeface="Calibri (MS)"/>
                <a:cs typeface="Calibri (MS)"/>
                <a:sym typeface="Calibri (MS)"/>
              </a:rPr>
              <a:t>F</a:t>
            </a:r>
            <a:r>
              <a:rPr lang="en-US" sz="2400">
                <a:solidFill>
                  <a:srgbClr val="0D1B2A"/>
                </a:solidFill>
                <a:latin typeface="Calibri (MS)"/>
                <a:ea typeface="Calibri (MS)"/>
                <a:cs typeface="Calibri (MS)"/>
                <a:sym typeface="Calibri (MS)"/>
              </a:rPr>
              <a:t>ramework Highlights</a:t>
            </a:r>
          </a:p>
          <a:p>
            <a:pPr algn="l" marL="518160" indent="-259080" lvl="1">
              <a:lnSpc>
                <a:spcPts val="2879"/>
              </a:lnSpc>
              <a:buFont typeface="Arial"/>
              <a:buChar char="•"/>
            </a:pPr>
            <a:r>
              <a:rPr lang="en-US" sz="2400">
                <a:solidFill>
                  <a:srgbClr val="0D1B2A"/>
                </a:solidFill>
                <a:latin typeface="Calibri (MS)"/>
                <a:ea typeface="Calibri (MS)"/>
                <a:cs typeface="Calibri (MS)"/>
                <a:sym typeface="Calibri (MS)"/>
              </a:rPr>
              <a:t>Integrates both surrogate-based and ODE-based approaches, making the framework highly adaptable and flexible.</a:t>
            </a:r>
          </a:p>
          <a:p>
            <a:pPr algn="l" marL="518160" indent="-259080" lvl="1">
              <a:lnSpc>
                <a:spcPts val="2879"/>
              </a:lnSpc>
              <a:buFont typeface="Arial"/>
              <a:buChar char="•"/>
            </a:pPr>
            <a:r>
              <a:rPr lang="en-US" sz="2400">
                <a:solidFill>
                  <a:srgbClr val="0D1B2A"/>
                </a:solidFill>
                <a:latin typeface="Calibri (MS)"/>
                <a:ea typeface="Calibri (MS)"/>
                <a:cs typeface="Calibri (MS)"/>
                <a:sym typeface="Calibri (MS)"/>
              </a:rPr>
              <a:t>Enables seamless switching between different use cases and modeling strategies.</a:t>
            </a:r>
          </a:p>
          <a:p>
            <a:pPr algn="l" marL="518160" indent="-259080" lvl="1">
              <a:lnSpc>
                <a:spcPts val="2879"/>
              </a:lnSpc>
              <a:buFont typeface="Arial"/>
              <a:buChar char="•"/>
            </a:pPr>
            <a:r>
              <a:rPr lang="en-US" sz="2400">
                <a:solidFill>
                  <a:srgbClr val="0D1B2A"/>
                </a:solidFill>
                <a:latin typeface="Calibri (MS)"/>
                <a:ea typeface="Calibri (MS)"/>
                <a:cs typeface="Calibri (MS)"/>
                <a:sym typeface="Calibri (MS)"/>
              </a:rPr>
              <a:t>Supports a wide range of optimization algorithms for diverse problem requirements.</a:t>
            </a:r>
          </a:p>
          <a:p>
            <a:pPr algn="l" marL="518160" indent="-259080" lvl="1">
              <a:lnSpc>
                <a:spcPts val="2879"/>
              </a:lnSpc>
              <a:buFont typeface="Arial"/>
              <a:buChar char="•"/>
            </a:pPr>
            <a:r>
              <a:rPr lang="en-US" sz="2400">
                <a:solidFill>
                  <a:srgbClr val="0D1B2A"/>
                </a:solidFill>
                <a:latin typeface="Calibri (MS)"/>
                <a:ea typeface="Calibri (MS)"/>
                <a:cs typeface="Calibri (MS)"/>
                <a:sym typeface="Calibri (MS)"/>
              </a:rPr>
              <a:t>Facilitates effective comparison of results to support better decision-making.</a:t>
            </a:r>
          </a:p>
          <a:p>
            <a:pPr algn="l">
              <a:lnSpc>
                <a:spcPts val="2879"/>
              </a:lnSpc>
            </a:pPr>
          </a:p>
          <a:p>
            <a:pPr algn="l">
              <a:lnSpc>
                <a:spcPts val="2879"/>
              </a:lnSpc>
            </a:pPr>
          </a:p>
          <a:p>
            <a:pPr algn="l">
              <a:lnSpc>
                <a:spcPts val="2879"/>
              </a:lnSpc>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8904122" y="903122"/>
            <a:ext cx="479755" cy="18288000"/>
            <a:chOff x="0" y="0"/>
            <a:chExt cx="639674" cy="24384000"/>
          </a:xfrm>
        </p:grpSpPr>
        <p:sp>
          <p:nvSpPr>
            <p:cNvPr name="Freeform 3" id="3"/>
            <p:cNvSpPr/>
            <p:nvPr/>
          </p:nvSpPr>
          <p:spPr>
            <a:xfrm flipH="false" flipV="false" rot="0">
              <a:off x="0" y="0"/>
              <a:ext cx="639699" cy="24384000"/>
            </a:xfrm>
            <a:custGeom>
              <a:avLst/>
              <a:gdLst/>
              <a:ahLst/>
              <a:cxnLst/>
              <a:rect r="r" b="b" t="t" l="l"/>
              <a:pathLst>
                <a:path h="24384000" w="639699">
                  <a:moveTo>
                    <a:pt x="0" y="0"/>
                  </a:moveTo>
                  <a:lnTo>
                    <a:pt x="639699" y="0"/>
                  </a:lnTo>
                  <a:lnTo>
                    <a:pt x="639699" y="24384000"/>
                  </a:lnTo>
                  <a:lnTo>
                    <a:pt x="0" y="24384000"/>
                  </a:lnTo>
                  <a:close/>
                </a:path>
              </a:pathLst>
            </a:custGeom>
            <a:solidFill>
              <a:srgbClr val="00ACC1"/>
            </a:solidFill>
          </p:spPr>
        </p:sp>
      </p:grpSp>
      <p:grpSp>
        <p:nvGrpSpPr>
          <p:cNvPr name="Group 4" id="4"/>
          <p:cNvGrpSpPr/>
          <p:nvPr/>
        </p:nvGrpSpPr>
        <p:grpSpPr>
          <a:xfrm rot="-5400000">
            <a:off x="8349396" y="-8349396"/>
            <a:ext cx="1589218" cy="18288000"/>
            <a:chOff x="0" y="0"/>
            <a:chExt cx="2118957" cy="24384000"/>
          </a:xfrm>
        </p:grpSpPr>
        <p:sp>
          <p:nvSpPr>
            <p:cNvPr name="Freeform 5" id="5"/>
            <p:cNvSpPr/>
            <p:nvPr/>
          </p:nvSpPr>
          <p:spPr>
            <a:xfrm flipH="false" flipV="false" rot="0">
              <a:off x="0" y="0"/>
              <a:ext cx="2118995" cy="24384000"/>
            </a:xfrm>
            <a:custGeom>
              <a:avLst/>
              <a:gdLst/>
              <a:ahLst/>
              <a:cxnLst/>
              <a:rect r="r" b="b" t="t" l="l"/>
              <a:pathLst>
                <a:path h="24384000" w="2118995">
                  <a:moveTo>
                    <a:pt x="0" y="0"/>
                  </a:moveTo>
                  <a:lnTo>
                    <a:pt x="2118995" y="0"/>
                  </a:lnTo>
                  <a:lnTo>
                    <a:pt x="2118995" y="24384000"/>
                  </a:lnTo>
                  <a:lnTo>
                    <a:pt x="0" y="24384000"/>
                  </a:lnTo>
                  <a:close/>
                </a:path>
              </a:pathLst>
            </a:custGeom>
            <a:solidFill>
              <a:srgbClr val="17375E"/>
            </a:solidFill>
          </p:spPr>
        </p:sp>
        <p:sp>
          <p:nvSpPr>
            <p:cNvPr name="Freeform 6" id="6"/>
            <p:cNvSpPr/>
            <p:nvPr/>
          </p:nvSpPr>
          <p:spPr>
            <a:xfrm flipH="false" flipV="false" rot="0">
              <a:off x="-1524" y="-1524"/>
              <a:ext cx="2122043" cy="24387048"/>
            </a:xfrm>
            <a:custGeom>
              <a:avLst/>
              <a:gdLst/>
              <a:ahLst/>
              <a:cxnLst/>
              <a:rect r="r" b="b" t="t" l="l"/>
              <a:pathLst>
                <a:path h="24387048" w="2122043">
                  <a:moveTo>
                    <a:pt x="1524" y="0"/>
                  </a:moveTo>
                  <a:lnTo>
                    <a:pt x="2120519" y="0"/>
                  </a:lnTo>
                  <a:cubicBezTo>
                    <a:pt x="2121408" y="0"/>
                    <a:pt x="2122043" y="762"/>
                    <a:pt x="2122043" y="1524"/>
                  </a:cubicBezTo>
                  <a:lnTo>
                    <a:pt x="2122043" y="24385524"/>
                  </a:lnTo>
                  <a:cubicBezTo>
                    <a:pt x="2122043" y="24386414"/>
                    <a:pt x="2121281" y="24387048"/>
                    <a:pt x="2120519" y="24387048"/>
                  </a:cubicBezTo>
                  <a:lnTo>
                    <a:pt x="1524" y="24387048"/>
                  </a:lnTo>
                  <a:cubicBezTo>
                    <a:pt x="635" y="24387048"/>
                    <a:pt x="0" y="24386287"/>
                    <a:pt x="0" y="24385524"/>
                  </a:cubicBezTo>
                  <a:lnTo>
                    <a:pt x="0" y="1524"/>
                  </a:lnTo>
                  <a:cubicBezTo>
                    <a:pt x="0" y="635"/>
                    <a:pt x="762" y="0"/>
                    <a:pt x="1524" y="0"/>
                  </a:cubicBezTo>
                  <a:moveTo>
                    <a:pt x="1524" y="3048"/>
                  </a:moveTo>
                  <a:lnTo>
                    <a:pt x="1524" y="1524"/>
                  </a:lnTo>
                  <a:lnTo>
                    <a:pt x="3048" y="1524"/>
                  </a:lnTo>
                  <a:lnTo>
                    <a:pt x="3048" y="24385524"/>
                  </a:lnTo>
                  <a:lnTo>
                    <a:pt x="1524" y="24385524"/>
                  </a:lnTo>
                  <a:lnTo>
                    <a:pt x="1524" y="24384000"/>
                  </a:lnTo>
                  <a:lnTo>
                    <a:pt x="2120519" y="24384000"/>
                  </a:lnTo>
                  <a:lnTo>
                    <a:pt x="2120519" y="24385524"/>
                  </a:lnTo>
                  <a:lnTo>
                    <a:pt x="2118995" y="24385524"/>
                  </a:lnTo>
                  <a:lnTo>
                    <a:pt x="2118995" y="1524"/>
                  </a:lnTo>
                  <a:lnTo>
                    <a:pt x="2120519" y="1524"/>
                  </a:lnTo>
                  <a:lnTo>
                    <a:pt x="2120519" y="3048"/>
                  </a:lnTo>
                  <a:lnTo>
                    <a:pt x="1524" y="3048"/>
                  </a:lnTo>
                  <a:close/>
                </a:path>
              </a:pathLst>
            </a:custGeom>
            <a:solidFill>
              <a:srgbClr val="002060"/>
            </a:solidFill>
          </p:spPr>
        </p:sp>
      </p:grpSp>
      <p:grpSp>
        <p:nvGrpSpPr>
          <p:cNvPr name="Group 7" id="7"/>
          <p:cNvGrpSpPr/>
          <p:nvPr/>
        </p:nvGrpSpPr>
        <p:grpSpPr>
          <a:xfrm rot="0">
            <a:off x="259404" y="-66599"/>
            <a:ext cx="15235942" cy="1725511"/>
            <a:chOff x="0" y="0"/>
            <a:chExt cx="20314590" cy="2300681"/>
          </a:xfrm>
        </p:grpSpPr>
        <p:sp>
          <p:nvSpPr>
            <p:cNvPr name="Freeform 8" id="8"/>
            <p:cNvSpPr/>
            <p:nvPr/>
          </p:nvSpPr>
          <p:spPr>
            <a:xfrm flipH="false" flipV="false" rot="0">
              <a:off x="0" y="0"/>
              <a:ext cx="20314586" cy="2300686"/>
            </a:xfrm>
            <a:custGeom>
              <a:avLst/>
              <a:gdLst/>
              <a:ahLst/>
              <a:cxnLst/>
              <a:rect r="r" b="b" t="t" l="l"/>
              <a:pathLst>
                <a:path h="2300686" w="20314586">
                  <a:moveTo>
                    <a:pt x="0" y="0"/>
                  </a:moveTo>
                  <a:lnTo>
                    <a:pt x="20314586" y="0"/>
                  </a:lnTo>
                  <a:lnTo>
                    <a:pt x="20314586" y="2300686"/>
                  </a:lnTo>
                  <a:lnTo>
                    <a:pt x="0" y="2300686"/>
                  </a:lnTo>
                  <a:close/>
                </a:path>
              </a:pathLst>
            </a:custGeom>
            <a:blipFill>
              <a:blip r:embed="rId3">
                <a:alphaModFix amt="0"/>
              </a:blip>
              <a:stretch>
                <a:fillRect l="0" t="-122049" r="0" b="-122048"/>
              </a:stretch>
            </a:blipFill>
          </p:spPr>
        </p:sp>
        <p:sp>
          <p:nvSpPr>
            <p:cNvPr name="TextBox 9" id="9"/>
            <p:cNvSpPr txBox="true"/>
            <p:nvPr/>
          </p:nvSpPr>
          <p:spPr>
            <a:xfrm>
              <a:off x="0" y="-161925"/>
              <a:ext cx="20314590" cy="2462606"/>
            </a:xfrm>
            <a:prstGeom prst="rect">
              <a:avLst/>
            </a:prstGeom>
          </p:spPr>
          <p:txBody>
            <a:bodyPr anchor="ctr" rtlCol="false" tIns="0" lIns="0" bIns="0" rIns="0"/>
            <a:lstStyle/>
            <a:p>
              <a:pPr algn="l">
                <a:lnSpc>
                  <a:spcPts val="9601"/>
                </a:lnSpc>
              </a:pPr>
              <a:r>
                <a:rPr lang="en-US" sz="8001">
                  <a:solidFill>
                    <a:srgbClr val="FFFFFF"/>
                  </a:solidFill>
                  <a:latin typeface="Calibri (MS)"/>
                  <a:ea typeface="Calibri (MS)"/>
                  <a:cs typeface="Calibri (MS)"/>
                  <a:sym typeface="Calibri (MS)"/>
                </a:rPr>
                <a:t>Fitting in Agentic Architecture </a:t>
              </a:r>
            </a:p>
          </p:txBody>
        </p:sp>
      </p:grpSp>
      <p:sp>
        <p:nvSpPr>
          <p:cNvPr name="TextBox 10" id="10"/>
          <p:cNvSpPr txBox="true"/>
          <p:nvPr/>
        </p:nvSpPr>
        <p:spPr>
          <a:xfrm rot="0">
            <a:off x="214198" y="5372100"/>
            <a:ext cx="17859604" cy="3657600"/>
          </a:xfrm>
          <a:prstGeom prst="rect">
            <a:avLst/>
          </a:prstGeom>
        </p:spPr>
        <p:txBody>
          <a:bodyPr anchor="t" rtlCol="false" tIns="0" lIns="0" bIns="0" rIns="0">
            <a:spAutoFit/>
          </a:bodyPr>
          <a:lstStyle/>
          <a:p>
            <a:pPr algn="l">
              <a:lnSpc>
                <a:spcPts val="2879"/>
              </a:lnSpc>
            </a:pPr>
            <a:r>
              <a:rPr lang="en-US" sz="2400">
                <a:solidFill>
                  <a:srgbClr val="0D1B2A"/>
                </a:solidFill>
                <a:latin typeface="Calibri (MS)"/>
                <a:ea typeface="Calibri (MS)"/>
                <a:cs typeface="Calibri (MS)"/>
                <a:sym typeface="Calibri (MS)"/>
              </a:rPr>
              <a:t>The ODE, solver, and optimiser are tools the agent calls — they do not decide whether results make sense or what to do when something goes wrong. That is the agent's job.</a:t>
            </a:r>
          </a:p>
          <a:p>
            <a:pPr algn="l">
              <a:lnSpc>
                <a:spcPts val="2879"/>
              </a:lnSpc>
            </a:pPr>
            <a:r>
              <a:rPr lang="en-US" sz="2400">
                <a:solidFill>
                  <a:srgbClr val="0D1B2A"/>
                </a:solidFill>
                <a:latin typeface="Calibri (MS)"/>
                <a:ea typeface="Calibri (MS)"/>
                <a:cs typeface="Calibri (MS)"/>
                <a:sym typeface="Calibri (MS)"/>
              </a:rPr>
              <a:t>At every stage, the agent chooses one of four paths:</a:t>
            </a:r>
          </a:p>
          <a:p>
            <a:pPr algn="l">
              <a:lnSpc>
                <a:spcPts val="2879"/>
              </a:lnSpc>
            </a:pPr>
            <a:r>
              <a:rPr lang="en-US" sz="2400">
                <a:solidFill>
                  <a:srgbClr val="0D1B2A"/>
                </a:solidFill>
                <a:latin typeface="Calibri (MS)"/>
                <a:ea typeface="Calibri (MS)"/>
                <a:cs typeface="Calibri (MS)"/>
                <a:sym typeface="Calibri (MS)"/>
              </a:rPr>
              <a:t>Proceed — stage completed cleanly, move forward. Retry — recoverable failure, reattempt before deciding whether to continue. Warn — completed but result is outside expected bounds, flag it and continue. Stop — failure makes continuing meaningless, halt and return a structured explanation.</a:t>
            </a:r>
          </a:p>
          <a:p>
            <a:pPr algn="l">
              <a:lnSpc>
                <a:spcPts val="2879"/>
              </a:lnSpc>
            </a:pPr>
            <a:r>
              <a:rPr lang="en-US" sz="2400">
                <a:solidFill>
                  <a:srgbClr val="0D1B2A"/>
                </a:solidFill>
                <a:latin typeface="Calibri (MS)"/>
                <a:ea typeface="Calibri (MS)"/>
                <a:cs typeface="Calibri (MS)"/>
                <a:sym typeface="Calibri (MS)"/>
              </a:rPr>
              <a:t>Every decision is recorded — which path, and why. That audit trail is part of the structured output available to downstream agents and the user.</a:t>
            </a:r>
          </a:p>
          <a:p>
            <a:pPr algn="l">
              <a:lnSpc>
                <a:spcPts val="2879"/>
              </a:lnSpc>
            </a:pPr>
            <a:r>
              <a:rPr lang="en-US" sz="2400">
                <a:solidFill>
                  <a:srgbClr val="0D1B2A"/>
                </a:solidFill>
                <a:latin typeface="Calibri (MS)"/>
                <a:ea typeface="Calibri (MS)"/>
                <a:cs typeface="Calibri (MS)"/>
                <a:sym typeface="Calibri (MS)"/>
              </a:rPr>
              <a:t>The physics never changes run to run. What the agent adds is the reasoning layer above it — deciding whether the tools are working, whether results are trustworthy, and ensuring nothing downstream receives incomplete information.</a:t>
            </a:r>
          </a:p>
          <a:p>
            <a:pPr algn="l">
              <a:lnSpc>
                <a:spcPts val="2879"/>
              </a:lnSpc>
            </a:pPr>
          </a:p>
        </p:txBody>
      </p:sp>
      <p:grpSp>
        <p:nvGrpSpPr>
          <p:cNvPr name="Group 11" id="11"/>
          <p:cNvGrpSpPr/>
          <p:nvPr/>
        </p:nvGrpSpPr>
        <p:grpSpPr>
          <a:xfrm rot="0">
            <a:off x="139739" y="1815838"/>
            <a:ext cx="3131917" cy="3327662"/>
            <a:chOff x="0" y="0"/>
            <a:chExt cx="3901440" cy="4145280"/>
          </a:xfrm>
        </p:grpSpPr>
        <p:sp>
          <p:nvSpPr>
            <p:cNvPr name="Freeform 12" id="12"/>
            <p:cNvSpPr/>
            <p:nvPr/>
          </p:nvSpPr>
          <p:spPr>
            <a:xfrm flipH="false" flipV="false" rot="0">
              <a:off x="0" y="0"/>
              <a:ext cx="3901440" cy="4145280"/>
            </a:xfrm>
            <a:custGeom>
              <a:avLst/>
              <a:gdLst/>
              <a:ahLst/>
              <a:cxnLst/>
              <a:rect r="r" b="b" t="t" l="l"/>
              <a:pathLst>
                <a:path h="4145280" w="3901440">
                  <a:moveTo>
                    <a:pt x="0" y="0"/>
                  </a:moveTo>
                  <a:lnTo>
                    <a:pt x="3901440" y="0"/>
                  </a:lnTo>
                  <a:lnTo>
                    <a:pt x="3901440" y="4145280"/>
                  </a:lnTo>
                  <a:lnTo>
                    <a:pt x="0" y="4145280"/>
                  </a:lnTo>
                  <a:close/>
                </a:path>
              </a:pathLst>
            </a:custGeom>
            <a:solidFill>
              <a:srgbClr val="0D1B2A"/>
            </a:solidFill>
          </p:spPr>
        </p:sp>
      </p:grpSp>
      <p:grpSp>
        <p:nvGrpSpPr>
          <p:cNvPr name="Group 13" id="13"/>
          <p:cNvGrpSpPr/>
          <p:nvPr/>
        </p:nvGrpSpPr>
        <p:grpSpPr>
          <a:xfrm rot="0">
            <a:off x="300531" y="1952860"/>
            <a:ext cx="880852" cy="898121"/>
            <a:chOff x="0" y="0"/>
            <a:chExt cx="1097280" cy="1118792"/>
          </a:xfrm>
        </p:grpSpPr>
        <p:sp>
          <p:nvSpPr>
            <p:cNvPr name="Freeform 14" id="14"/>
            <p:cNvSpPr/>
            <p:nvPr/>
          </p:nvSpPr>
          <p:spPr>
            <a:xfrm flipH="false" flipV="false" rot="0">
              <a:off x="0" y="0"/>
              <a:ext cx="1097280" cy="1118792"/>
            </a:xfrm>
            <a:custGeom>
              <a:avLst/>
              <a:gdLst/>
              <a:ahLst/>
              <a:cxnLst/>
              <a:rect r="r" b="b" t="t" l="l"/>
              <a:pathLst>
                <a:path h="1118792" w="1097280">
                  <a:moveTo>
                    <a:pt x="0" y="0"/>
                  </a:moveTo>
                  <a:lnTo>
                    <a:pt x="1097280" y="0"/>
                  </a:lnTo>
                  <a:lnTo>
                    <a:pt x="1097280" y="1118792"/>
                  </a:lnTo>
                  <a:lnTo>
                    <a:pt x="0" y="1118792"/>
                  </a:lnTo>
                  <a:close/>
                </a:path>
              </a:pathLst>
            </a:custGeom>
            <a:blipFill>
              <a:blip r:embed="rId3">
                <a:alphaModFix amt="0"/>
              </a:blip>
              <a:stretch>
                <a:fillRect l="-78303" t="0" r="-78303" b="1922"/>
              </a:stretch>
            </a:blipFill>
          </p:spPr>
        </p:sp>
        <p:sp>
          <p:nvSpPr>
            <p:cNvPr name="TextBox 15" id="15"/>
            <p:cNvSpPr txBox="true"/>
            <p:nvPr/>
          </p:nvSpPr>
          <p:spPr>
            <a:xfrm>
              <a:off x="0" y="-85725"/>
              <a:ext cx="1097280" cy="1204517"/>
            </a:xfrm>
            <a:prstGeom prst="rect">
              <a:avLst/>
            </a:prstGeom>
          </p:spPr>
          <p:txBody>
            <a:bodyPr anchor="ctr" rtlCol="false" tIns="0" lIns="0" bIns="0" rIns="0"/>
            <a:lstStyle/>
            <a:p>
              <a:pPr algn="l">
                <a:lnSpc>
                  <a:spcPts val="5399"/>
                </a:lnSpc>
              </a:pPr>
              <a:r>
                <a:rPr lang="en-US" sz="4499" b="true">
                  <a:solidFill>
                    <a:srgbClr val="00B4D8"/>
                  </a:solidFill>
                  <a:latin typeface="Calibri (MS) Bold"/>
                  <a:ea typeface="Calibri (MS) Bold"/>
                  <a:cs typeface="Calibri (MS) Bold"/>
                  <a:sym typeface="Calibri (MS) Bold"/>
                </a:rPr>
                <a:t>1</a:t>
              </a:r>
            </a:p>
          </p:txBody>
        </p:sp>
      </p:grpSp>
      <p:grpSp>
        <p:nvGrpSpPr>
          <p:cNvPr name="Group 16" id="16"/>
          <p:cNvGrpSpPr/>
          <p:nvPr/>
        </p:nvGrpSpPr>
        <p:grpSpPr>
          <a:xfrm rot="0">
            <a:off x="300531" y="2674841"/>
            <a:ext cx="2818725" cy="1196318"/>
            <a:chOff x="0" y="0"/>
            <a:chExt cx="3511296" cy="1490257"/>
          </a:xfrm>
        </p:grpSpPr>
        <p:sp>
          <p:nvSpPr>
            <p:cNvPr name="Freeform 17" id="17"/>
            <p:cNvSpPr/>
            <p:nvPr/>
          </p:nvSpPr>
          <p:spPr>
            <a:xfrm flipH="false" flipV="false" rot="0">
              <a:off x="0" y="0"/>
              <a:ext cx="3511296" cy="1490257"/>
            </a:xfrm>
            <a:custGeom>
              <a:avLst/>
              <a:gdLst/>
              <a:ahLst/>
              <a:cxnLst/>
              <a:rect r="r" b="b" t="t" l="l"/>
              <a:pathLst>
                <a:path h="1490257" w="3511296">
                  <a:moveTo>
                    <a:pt x="0" y="0"/>
                  </a:moveTo>
                  <a:lnTo>
                    <a:pt x="3511296" y="0"/>
                  </a:lnTo>
                  <a:lnTo>
                    <a:pt x="3511296" y="1490257"/>
                  </a:lnTo>
                  <a:lnTo>
                    <a:pt x="0" y="1490257"/>
                  </a:lnTo>
                  <a:close/>
                </a:path>
              </a:pathLst>
            </a:custGeom>
            <a:blipFill>
              <a:blip r:embed="rId3">
                <a:alphaModFix amt="0"/>
              </a:blip>
              <a:stretch>
                <a:fillRect l="-3459" t="0" r="-3459" b="1826"/>
              </a:stretch>
            </a:blipFill>
          </p:spPr>
        </p:sp>
        <p:sp>
          <p:nvSpPr>
            <p:cNvPr name="TextBox 18" id="18"/>
            <p:cNvSpPr txBox="true"/>
            <p:nvPr/>
          </p:nvSpPr>
          <p:spPr>
            <a:xfrm>
              <a:off x="0" y="-66675"/>
              <a:ext cx="3511296" cy="1556932"/>
            </a:xfrm>
            <a:prstGeom prst="rect">
              <a:avLst/>
            </a:prstGeom>
          </p:spPr>
          <p:txBody>
            <a:bodyPr anchor="ctr" rtlCol="false" tIns="0" lIns="0" bIns="0" rIns="0"/>
            <a:lstStyle/>
            <a:p>
              <a:pPr algn="l">
                <a:lnSpc>
                  <a:spcPts val="4079"/>
                </a:lnSpc>
              </a:pPr>
              <a:r>
                <a:rPr lang="en-US" sz="3399" b="true">
                  <a:solidFill>
                    <a:srgbClr val="FFFFFF"/>
                  </a:solidFill>
                  <a:latin typeface="Calibri (MS) Bold"/>
                  <a:ea typeface="Calibri (MS) Bold"/>
                  <a:cs typeface="Calibri (MS) Bold"/>
                  <a:sym typeface="Calibri (MS) Bold"/>
                </a:rPr>
                <a:t>Parse &amp;</a:t>
              </a:r>
            </a:p>
            <a:p>
              <a:pPr algn="l">
                <a:lnSpc>
                  <a:spcPts val="4079"/>
                </a:lnSpc>
              </a:pPr>
              <a:r>
                <a:rPr lang="en-US" sz="3399" b="true">
                  <a:solidFill>
                    <a:srgbClr val="FFFFFF"/>
                  </a:solidFill>
                  <a:latin typeface="Calibri (MS) Bold"/>
                  <a:ea typeface="Calibri (MS) Bold"/>
                  <a:cs typeface="Calibri (MS) Bold"/>
                  <a:sym typeface="Calibri (MS) Bold"/>
                </a:rPr>
                <a:t>Validate</a:t>
              </a:r>
            </a:p>
          </p:txBody>
        </p:sp>
      </p:grpSp>
      <p:grpSp>
        <p:nvGrpSpPr>
          <p:cNvPr name="Group 19" id="19"/>
          <p:cNvGrpSpPr/>
          <p:nvPr/>
        </p:nvGrpSpPr>
        <p:grpSpPr>
          <a:xfrm rot="0">
            <a:off x="296335" y="3871159"/>
            <a:ext cx="2818725" cy="1272341"/>
            <a:chOff x="0" y="0"/>
            <a:chExt cx="3511296" cy="1584960"/>
          </a:xfrm>
        </p:grpSpPr>
        <p:sp>
          <p:nvSpPr>
            <p:cNvPr name="Freeform 20" id="20"/>
            <p:cNvSpPr/>
            <p:nvPr/>
          </p:nvSpPr>
          <p:spPr>
            <a:xfrm flipH="false" flipV="false" rot="0">
              <a:off x="0" y="0"/>
              <a:ext cx="3511296" cy="1584960"/>
            </a:xfrm>
            <a:custGeom>
              <a:avLst/>
              <a:gdLst/>
              <a:ahLst/>
              <a:cxnLst/>
              <a:rect r="r" b="b" t="t" l="l"/>
              <a:pathLst>
                <a:path h="1584960" w="3511296">
                  <a:moveTo>
                    <a:pt x="0" y="0"/>
                  </a:moveTo>
                  <a:lnTo>
                    <a:pt x="3511296" y="0"/>
                  </a:lnTo>
                  <a:lnTo>
                    <a:pt x="3511296" y="1584960"/>
                  </a:lnTo>
                  <a:lnTo>
                    <a:pt x="0" y="1584960"/>
                  </a:lnTo>
                  <a:close/>
                </a:path>
              </a:pathLst>
            </a:custGeom>
            <a:blipFill>
              <a:blip r:embed="rId3">
                <a:alphaModFix amt="0"/>
              </a:blip>
              <a:stretch>
                <a:fillRect l="-7914" t="0" r="-7914" b="0"/>
              </a:stretch>
            </a:blipFill>
          </p:spPr>
        </p:sp>
        <p:sp>
          <p:nvSpPr>
            <p:cNvPr name="TextBox 21" id="21"/>
            <p:cNvSpPr txBox="true"/>
            <p:nvPr/>
          </p:nvSpPr>
          <p:spPr>
            <a:xfrm>
              <a:off x="0" y="-47625"/>
              <a:ext cx="3511296" cy="1632585"/>
            </a:xfrm>
            <a:prstGeom prst="rect">
              <a:avLst/>
            </a:prstGeom>
          </p:spPr>
          <p:txBody>
            <a:bodyPr anchor="ctr" rtlCol="false" tIns="0" lIns="0" bIns="0" rIns="0"/>
            <a:lstStyle/>
            <a:p>
              <a:pPr algn="l">
                <a:lnSpc>
                  <a:spcPts val="2999"/>
                </a:lnSpc>
              </a:pPr>
              <a:r>
                <a:rPr lang="en-US" sz="2499">
                  <a:solidFill>
                    <a:srgbClr val="CAE9FF"/>
                  </a:solidFill>
                  <a:latin typeface="Calibri (MS)"/>
                  <a:ea typeface="Calibri (MS)"/>
                  <a:cs typeface="Calibri (MS)"/>
                  <a:sym typeface="Calibri (MS)"/>
                </a:rPr>
                <a:t>Physics code checked for syntax &amp; model validity</a:t>
              </a:r>
            </a:p>
          </p:txBody>
        </p:sp>
      </p:grpSp>
      <p:grpSp>
        <p:nvGrpSpPr>
          <p:cNvPr name="Group 22" id="22"/>
          <p:cNvGrpSpPr/>
          <p:nvPr/>
        </p:nvGrpSpPr>
        <p:grpSpPr>
          <a:xfrm rot="0">
            <a:off x="3271656" y="3127329"/>
            <a:ext cx="587234" cy="117447"/>
            <a:chOff x="0" y="0"/>
            <a:chExt cx="731520" cy="146304"/>
          </a:xfrm>
        </p:grpSpPr>
        <p:sp>
          <p:nvSpPr>
            <p:cNvPr name="Freeform 23" id="23"/>
            <p:cNvSpPr/>
            <p:nvPr/>
          </p:nvSpPr>
          <p:spPr>
            <a:xfrm flipH="false" flipV="false" rot="0">
              <a:off x="0" y="0"/>
              <a:ext cx="731520" cy="146304"/>
            </a:xfrm>
            <a:custGeom>
              <a:avLst/>
              <a:gdLst/>
              <a:ahLst/>
              <a:cxnLst/>
              <a:rect r="r" b="b" t="t" l="l"/>
              <a:pathLst>
                <a:path h="146304" w="731520">
                  <a:moveTo>
                    <a:pt x="0" y="0"/>
                  </a:moveTo>
                  <a:lnTo>
                    <a:pt x="731520" y="0"/>
                  </a:lnTo>
                  <a:lnTo>
                    <a:pt x="731520" y="146304"/>
                  </a:lnTo>
                  <a:lnTo>
                    <a:pt x="0" y="146304"/>
                  </a:lnTo>
                  <a:close/>
                </a:path>
              </a:pathLst>
            </a:custGeom>
            <a:solidFill>
              <a:srgbClr val="00B4D8"/>
            </a:solidFill>
          </p:spPr>
        </p:sp>
      </p:grpSp>
      <p:grpSp>
        <p:nvGrpSpPr>
          <p:cNvPr name="Group 24" id="24"/>
          <p:cNvGrpSpPr/>
          <p:nvPr/>
        </p:nvGrpSpPr>
        <p:grpSpPr>
          <a:xfrm rot="0">
            <a:off x="3858891" y="1815838"/>
            <a:ext cx="3131917" cy="3327662"/>
            <a:chOff x="0" y="0"/>
            <a:chExt cx="3901440" cy="4145280"/>
          </a:xfrm>
        </p:grpSpPr>
        <p:sp>
          <p:nvSpPr>
            <p:cNvPr name="Freeform 25" id="25"/>
            <p:cNvSpPr/>
            <p:nvPr/>
          </p:nvSpPr>
          <p:spPr>
            <a:xfrm flipH="false" flipV="false" rot="0">
              <a:off x="0" y="0"/>
              <a:ext cx="3901440" cy="4145280"/>
            </a:xfrm>
            <a:custGeom>
              <a:avLst/>
              <a:gdLst/>
              <a:ahLst/>
              <a:cxnLst/>
              <a:rect r="r" b="b" t="t" l="l"/>
              <a:pathLst>
                <a:path h="4145280" w="3901440">
                  <a:moveTo>
                    <a:pt x="0" y="0"/>
                  </a:moveTo>
                  <a:lnTo>
                    <a:pt x="3901440" y="0"/>
                  </a:lnTo>
                  <a:lnTo>
                    <a:pt x="3901440" y="4145280"/>
                  </a:lnTo>
                  <a:lnTo>
                    <a:pt x="0" y="4145280"/>
                  </a:lnTo>
                  <a:close/>
                </a:path>
              </a:pathLst>
            </a:custGeom>
            <a:solidFill>
              <a:srgbClr val="0D1B2A"/>
            </a:solidFill>
          </p:spPr>
        </p:sp>
      </p:grpSp>
      <p:grpSp>
        <p:nvGrpSpPr>
          <p:cNvPr name="Group 26" id="26"/>
          <p:cNvGrpSpPr/>
          <p:nvPr/>
        </p:nvGrpSpPr>
        <p:grpSpPr>
          <a:xfrm rot="0">
            <a:off x="4015486" y="1952860"/>
            <a:ext cx="880852" cy="907647"/>
            <a:chOff x="0" y="0"/>
            <a:chExt cx="1097280" cy="1130659"/>
          </a:xfrm>
        </p:grpSpPr>
        <p:sp>
          <p:nvSpPr>
            <p:cNvPr name="Freeform 27" id="27"/>
            <p:cNvSpPr/>
            <p:nvPr/>
          </p:nvSpPr>
          <p:spPr>
            <a:xfrm flipH="false" flipV="false" rot="0">
              <a:off x="0" y="0"/>
              <a:ext cx="1097280" cy="1130659"/>
            </a:xfrm>
            <a:custGeom>
              <a:avLst/>
              <a:gdLst/>
              <a:ahLst/>
              <a:cxnLst/>
              <a:rect r="r" b="b" t="t" l="l"/>
              <a:pathLst>
                <a:path h="1130659" w="1097280">
                  <a:moveTo>
                    <a:pt x="0" y="0"/>
                  </a:moveTo>
                  <a:lnTo>
                    <a:pt x="1097280" y="0"/>
                  </a:lnTo>
                  <a:lnTo>
                    <a:pt x="1097280" y="1130659"/>
                  </a:lnTo>
                  <a:lnTo>
                    <a:pt x="0" y="1130659"/>
                  </a:lnTo>
                  <a:close/>
                </a:path>
              </a:pathLst>
            </a:custGeom>
            <a:blipFill>
              <a:blip r:embed="rId3">
                <a:alphaModFix amt="0"/>
              </a:blip>
              <a:stretch>
                <a:fillRect l="-78303" t="0" r="-78303" b="2952"/>
              </a:stretch>
            </a:blipFill>
          </p:spPr>
        </p:sp>
        <p:sp>
          <p:nvSpPr>
            <p:cNvPr name="TextBox 28" id="28"/>
            <p:cNvSpPr txBox="true"/>
            <p:nvPr/>
          </p:nvSpPr>
          <p:spPr>
            <a:xfrm>
              <a:off x="0" y="-95250"/>
              <a:ext cx="1097280" cy="1225909"/>
            </a:xfrm>
            <a:prstGeom prst="rect">
              <a:avLst/>
            </a:prstGeom>
          </p:spPr>
          <p:txBody>
            <a:bodyPr anchor="ctr" rtlCol="false" tIns="0" lIns="0" bIns="0" rIns="0"/>
            <a:lstStyle/>
            <a:p>
              <a:pPr algn="l">
                <a:lnSpc>
                  <a:spcPts val="5400"/>
                </a:lnSpc>
              </a:pPr>
              <a:r>
                <a:rPr lang="en-US" sz="4500" b="true">
                  <a:solidFill>
                    <a:srgbClr val="00B4D8"/>
                  </a:solidFill>
                  <a:latin typeface="Calibri (MS) Bold"/>
                  <a:ea typeface="Calibri (MS) Bold"/>
                  <a:cs typeface="Calibri (MS) Bold"/>
                  <a:sym typeface="Calibri (MS) Bold"/>
                </a:rPr>
                <a:t>2</a:t>
              </a:r>
            </a:p>
          </p:txBody>
        </p:sp>
      </p:grpSp>
      <p:grpSp>
        <p:nvGrpSpPr>
          <p:cNvPr name="Group 29" id="29"/>
          <p:cNvGrpSpPr/>
          <p:nvPr/>
        </p:nvGrpSpPr>
        <p:grpSpPr>
          <a:xfrm rot="0">
            <a:off x="4015486" y="2833711"/>
            <a:ext cx="2818725" cy="1196318"/>
            <a:chOff x="0" y="0"/>
            <a:chExt cx="3511296" cy="1490257"/>
          </a:xfrm>
        </p:grpSpPr>
        <p:sp>
          <p:nvSpPr>
            <p:cNvPr name="Freeform 30" id="30"/>
            <p:cNvSpPr/>
            <p:nvPr/>
          </p:nvSpPr>
          <p:spPr>
            <a:xfrm flipH="false" flipV="false" rot="0">
              <a:off x="0" y="0"/>
              <a:ext cx="3511296" cy="1490257"/>
            </a:xfrm>
            <a:custGeom>
              <a:avLst/>
              <a:gdLst/>
              <a:ahLst/>
              <a:cxnLst/>
              <a:rect r="r" b="b" t="t" l="l"/>
              <a:pathLst>
                <a:path h="1490257" w="3511296">
                  <a:moveTo>
                    <a:pt x="0" y="0"/>
                  </a:moveTo>
                  <a:lnTo>
                    <a:pt x="3511296" y="0"/>
                  </a:lnTo>
                  <a:lnTo>
                    <a:pt x="3511296" y="1490257"/>
                  </a:lnTo>
                  <a:lnTo>
                    <a:pt x="0" y="1490257"/>
                  </a:lnTo>
                  <a:close/>
                </a:path>
              </a:pathLst>
            </a:custGeom>
            <a:blipFill>
              <a:blip r:embed="rId3">
                <a:alphaModFix amt="0"/>
              </a:blip>
              <a:stretch>
                <a:fillRect l="-3459" t="0" r="-3459" b="1826"/>
              </a:stretch>
            </a:blipFill>
          </p:spPr>
        </p:sp>
        <p:sp>
          <p:nvSpPr>
            <p:cNvPr name="TextBox 31" id="31"/>
            <p:cNvSpPr txBox="true"/>
            <p:nvPr/>
          </p:nvSpPr>
          <p:spPr>
            <a:xfrm>
              <a:off x="0" y="-66675"/>
              <a:ext cx="3511296" cy="1556932"/>
            </a:xfrm>
            <a:prstGeom prst="rect">
              <a:avLst/>
            </a:prstGeom>
          </p:spPr>
          <p:txBody>
            <a:bodyPr anchor="ctr" rtlCol="false" tIns="0" lIns="0" bIns="0" rIns="0"/>
            <a:lstStyle/>
            <a:p>
              <a:pPr algn="l">
                <a:lnSpc>
                  <a:spcPts val="4079"/>
                </a:lnSpc>
              </a:pPr>
              <a:r>
                <a:rPr lang="en-US" sz="3399" b="true">
                  <a:solidFill>
                    <a:srgbClr val="FFFFFF"/>
                  </a:solidFill>
                  <a:latin typeface="Calibri (MS) Bold"/>
                  <a:ea typeface="Calibri (MS) Bold"/>
                  <a:cs typeface="Calibri (MS) Bold"/>
                  <a:sym typeface="Calibri (MS) Bold"/>
                </a:rPr>
                <a:t>Load</a:t>
              </a:r>
            </a:p>
            <a:p>
              <a:pPr algn="l">
                <a:lnSpc>
                  <a:spcPts val="4079"/>
                </a:lnSpc>
              </a:pPr>
              <a:r>
                <a:rPr lang="en-US" sz="3399" b="true">
                  <a:solidFill>
                    <a:srgbClr val="FFFFFF"/>
                  </a:solidFill>
                  <a:latin typeface="Calibri (MS) Bold"/>
                  <a:ea typeface="Calibri (MS) Bold"/>
                  <a:cs typeface="Calibri (MS) Bold"/>
                  <a:sym typeface="Calibri (MS) Bold"/>
                </a:rPr>
                <a:t>Road Data</a:t>
              </a:r>
            </a:p>
          </p:txBody>
        </p:sp>
      </p:grpSp>
      <p:grpSp>
        <p:nvGrpSpPr>
          <p:cNvPr name="Group 32" id="32"/>
          <p:cNvGrpSpPr/>
          <p:nvPr/>
        </p:nvGrpSpPr>
        <p:grpSpPr>
          <a:xfrm rot="0">
            <a:off x="4015486" y="3871159"/>
            <a:ext cx="2818725" cy="1272341"/>
            <a:chOff x="0" y="0"/>
            <a:chExt cx="3511296" cy="1584960"/>
          </a:xfrm>
        </p:grpSpPr>
        <p:sp>
          <p:nvSpPr>
            <p:cNvPr name="Freeform 33" id="33"/>
            <p:cNvSpPr/>
            <p:nvPr/>
          </p:nvSpPr>
          <p:spPr>
            <a:xfrm flipH="false" flipV="false" rot="0">
              <a:off x="0" y="0"/>
              <a:ext cx="3511296" cy="1584960"/>
            </a:xfrm>
            <a:custGeom>
              <a:avLst/>
              <a:gdLst/>
              <a:ahLst/>
              <a:cxnLst/>
              <a:rect r="r" b="b" t="t" l="l"/>
              <a:pathLst>
                <a:path h="1584960" w="3511296">
                  <a:moveTo>
                    <a:pt x="0" y="0"/>
                  </a:moveTo>
                  <a:lnTo>
                    <a:pt x="3511296" y="0"/>
                  </a:lnTo>
                  <a:lnTo>
                    <a:pt x="3511296" y="1584960"/>
                  </a:lnTo>
                  <a:lnTo>
                    <a:pt x="0" y="1584960"/>
                  </a:lnTo>
                  <a:close/>
                </a:path>
              </a:pathLst>
            </a:custGeom>
            <a:blipFill>
              <a:blip r:embed="rId3">
                <a:alphaModFix amt="0"/>
              </a:blip>
              <a:stretch>
                <a:fillRect l="-7914" t="0" r="-7914" b="0"/>
              </a:stretch>
            </a:blipFill>
          </p:spPr>
        </p:sp>
        <p:sp>
          <p:nvSpPr>
            <p:cNvPr name="TextBox 34" id="34"/>
            <p:cNvSpPr txBox="true"/>
            <p:nvPr/>
          </p:nvSpPr>
          <p:spPr>
            <a:xfrm>
              <a:off x="0" y="-47625"/>
              <a:ext cx="3511296" cy="1632585"/>
            </a:xfrm>
            <a:prstGeom prst="rect">
              <a:avLst/>
            </a:prstGeom>
          </p:spPr>
          <p:txBody>
            <a:bodyPr anchor="ctr" rtlCol="false" tIns="0" lIns="0" bIns="0" rIns="0"/>
            <a:lstStyle/>
            <a:p>
              <a:pPr algn="l">
                <a:lnSpc>
                  <a:spcPts val="2999"/>
                </a:lnSpc>
              </a:pPr>
              <a:r>
                <a:rPr lang="en-US" sz="2499">
                  <a:solidFill>
                    <a:srgbClr val="CAE9FF"/>
                  </a:solidFill>
                  <a:latin typeface="Calibri (MS)"/>
                  <a:ea typeface="Calibri (MS)"/>
                  <a:cs typeface="Calibri (MS)"/>
                  <a:sym typeface="Calibri (MS)"/>
                </a:rPr>
                <a:t>Input road profile loaded &amp; verified</a:t>
              </a:r>
            </a:p>
          </p:txBody>
        </p:sp>
      </p:grpSp>
      <p:grpSp>
        <p:nvGrpSpPr>
          <p:cNvPr name="Group 35" id="35"/>
          <p:cNvGrpSpPr/>
          <p:nvPr/>
        </p:nvGrpSpPr>
        <p:grpSpPr>
          <a:xfrm rot="0">
            <a:off x="6990807" y="3127329"/>
            <a:ext cx="587234" cy="117447"/>
            <a:chOff x="0" y="0"/>
            <a:chExt cx="731520" cy="146304"/>
          </a:xfrm>
        </p:grpSpPr>
        <p:sp>
          <p:nvSpPr>
            <p:cNvPr name="Freeform 36" id="36"/>
            <p:cNvSpPr/>
            <p:nvPr/>
          </p:nvSpPr>
          <p:spPr>
            <a:xfrm flipH="false" flipV="false" rot="0">
              <a:off x="0" y="0"/>
              <a:ext cx="731520" cy="146304"/>
            </a:xfrm>
            <a:custGeom>
              <a:avLst/>
              <a:gdLst/>
              <a:ahLst/>
              <a:cxnLst/>
              <a:rect r="r" b="b" t="t" l="l"/>
              <a:pathLst>
                <a:path h="146304" w="731520">
                  <a:moveTo>
                    <a:pt x="0" y="0"/>
                  </a:moveTo>
                  <a:lnTo>
                    <a:pt x="731520" y="0"/>
                  </a:lnTo>
                  <a:lnTo>
                    <a:pt x="731520" y="146304"/>
                  </a:lnTo>
                  <a:lnTo>
                    <a:pt x="0" y="146304"/>
                  </a:lnTo>
                  <a:close/>
                </a:path>
              </a:pathLst>
            </a:custGeom>
            <a:solidFill>
              <a:srgbClr val="00B4D8"/>
            </a:solidFill>
          </p:spPr>
        </p:sp>
      </p:grpSp>
      <p:grpSp>
        <p:nvGrpSpPr>
          <p:cNvPr name="Group 37" id="37"/>
          <p:cNvGrpSpPr/>
          <p:nvPr/>
        </p:nvGrpSpPr>
        <p:grpSpPr>
          <a:xfrm rot="0">
            <a:off x="7578042" y="1815838"/>
            <a:ext cx="3131917" cy="3327662"/>
            <a:chOff x="0" y="0"/>
            <a:chExt cx="3901440" cy="4145280"/>
          </a:xfrm>
        </p:grpSpPr>
        <p:sp>
          <p:nvSpPr>
            <p:cNvPr name="Freeform 38" id="38"/>
            <p:cNvSpPr/>
            <p:nvPr/>
          </p:nvSpPr>
          <p:spPr>
            <a:xfrm flipH="false" flipV="false" rot="0">
              <a:off x="0" y="0"/>
              <a:ext cx="3901440" cy="4145280"/>
            </a:xfrm>
            <a:custGeom>
              <a:avLst/>
              <a:gdLst/>
              <a:ahLst/>
              <a:cxnLst/>
              <a:rect r="r" b="b" t="t" l="l"/>
              <a:pathLst>
                <a:path h="4145280" w="3901440">
                  <a:moveTo>
                    <a:pt x="0" y="0"/>
                  </a:moveTo>
                  <a:lnTo>
                    <a:pt x="3901440" y="0"/>
                  </a:lnTo>
                  <a:lnTo>
                    <a:pt x="3901440" y="4145280"/>
                  </a:lnTo>
                  <a:lnTo>
                    <a:pt x="0" y="4145280"/>
                  </a:lnTo>
                  <a:close/>
                </a:path>
              </a:pathLst>
            </a:custGeom>
            <a:solidFill>
              <a:srgbClr val="0D1B2A"/>
            </a:solidFill>
          </p:spPr>
        </p:sp>
      </p:grpSp>
      <p:grpSp>
        <p:nvGrpSpPr>
          <p:cNvPr name="Group 39" id="39"/>
          <p:cNvGrpSpPr/>
          <p:nvPr/>
        </p:nvGrpSpPr>
        <p:grpSpPr>
          <a:xfrm rot="0">
            <a:off x="7734637" y="1926065"/>
            <a:ext cx="880852" cy="907647"/>
            <a:chOff x="0" y="0"/>
            <a:chExt cx="1097280" cy="1130659"/>
          </a:xfrm>
        </p:grpSpPr>
        <p:sp>
          <p:nvSpPr>
            <p:cNvPr name="Freeform 40" id="40"/>
            <p:cNvSpPr/>
            <p:nvPr/>
          </p:nvSpPr>
          <p:spPr>
            <a:xfrm flipH="false" flipV="false" rot="0">
              <a:off x="0" y="0"/>
              <a:ext cx="1097280" cy="1130659"/>
            </a:xfrm>
            <a:custGeom>
              <a:avLst/>
              <a:gdLst/>
              <a:ahLst/>
              <a:cxnLst/>
              <a:rect r="r" b="b" t="t" l="l"/>
              <a:pathLst>
                <a:path h="1130659" w="1097280">
                  <a:moveTo>
                    <a:pt x="0" y="0"/>
                  </a:moveTo>
                  <a:lnTo>
                    <a:pt x="1097280" y="0"/>
                  </a:lnTo>
                  <a:lnTo>
                    <a:pt x="1097280" y="1130659"/>
                  </a:lnTo>
                  <a:lnTo>
                    <a:pt x="0" y="1130659"/>
                  </a:lnTo>
                  <a:close/>
                </a:path>
              </a:pathLst>
            </a:custGeom>
            <a:blipFill>
              <a:blip r:embed="rId3">
                <a:alphaModFix amt="0"/>
              </a:blip>
              <a:stretch>
                <a:fillRect l="-78303" t="0" r="-78303" b="2952"/>
              </a:stretch>
            </a:blipFill>
          </p:spPr>
        </p:sp>
        <p:sp>
          <p:nvSpPr>
            <p:cNvPr name="TextBox 41" id="41"/>
            <p:cNvSpPr txBox="true"/>
            <p:nvPr/>
          </p:nvSpPr>
          <p:spPr>
            <a:xfrm>
              <a:off x="0" y="-95250"/>
              <a:ext cx="1097280" cy="1225909"/>
            </a:xfrm>
            <a:prstGeom prst="rect">
              <a:avLst/>
            </a:prstGeom>
          </p:spPr>
          <p:txBody>
            <a:bodyPr anchor="ctr" rtlCol="false" tIns="0" lIns="0" bIns="0" rIns="0"/>
            <a:lstStyle/>
            <a:p>
              <a:pPr algn="l">
                <a:lnSpc>
                  <a:spcPts val="5400"/>
                </a:lnSpc>
              </a:pPr>
              <a:r>
                <a:rPr lang="en-US" sz="4500" b="true">
                  <a:solidFill>
                    <a:srgbClr val="00B4D8"/>
                  </a:solidFill>
                  <a:latin typeface="Calibri (MS) Bold"/>
                  <a:ea typeface="Calibri (MS) Bold"/>
                  <a:cs typeface="Calibri (MS) Bold"/>
                  <a:sym typeface="Calibri (MS) Bold"/>
                </a:rPr>
                <a:t>3</a:t>
              </a:r>
            </a:p>
          </p:txBody>
        </p:sp>
      </p:grpSp>
      <p:grpSp>
        <p:nvGrpSpPr>
          <p:cNvPr name="Group 42" id="42"/>
          <p:cNvGrpSpPr/>
          <p:nvPr/>
        </p:nvGrpSpPr>
        <p:grpSpPr>
          <a:xfrm rot="0">
            <a:off x="7734637" y="2833711"/>
            <a:ext cx="2818725" cy="1196317"/>
            <a:chOff x="0" y="0"/>
            <a:chExt cx="3511296" cy="1490256"/>
          </a:xfrm>
        </p:grpSpPr>
        <p:sp>
          <p:nvSpPr>
            <p:cNvPr name="Freeform 43" id="43"/>
            <p:cNvSpPr/>
            <p:nvPr/>
          </p:nvSpPr>
          <p:spPr>
            <a:xfrm flipH="false" flipV="false" rot="0">
              <a:off x="0" y="0"/>
              <a:ext cx="3511296" cy="1490256"/>
            </a:xfrm>
            <a:custGeom>
              <a:avLst/>
              <a:gdLst/>
              <a:ahLst/>
              <a:cxnLst/>
              <a:rect r="r" b="b" t="t" l="l"/>
              <a:pathLst>
                <a:path h="1490256" w="3511296">
                  <a:moveTo>
                    <a:pt x="0" y="0"/>
                  </a:moveTo>
                  <a:lnTo>
                    <a:pt x="3511296" y="0"/>
                  </a:lnTo>
                  <a:lnTo>
                    <a:pt x="3511296" y="1490256"/>
                  </a:lnTo>
                  <a:lnTo>
                    <a:pt x="0" y="1490256"/>
                  </a:lnTo>
                  <a:close/>
                </a:path>
              </a:pathLst>
            </a:custGeom>
            <a:blipFill>
              <a:blip r:embed="rId3">
                <a:alphaModFix amt="0"/>
              </a:blip>
              <a:stretch>
                <a:fillRect l="-3459" t="0" r="-3459" b="1826"/>
              </a:stretch>
            </a:blipFill>
          </p:spPr>
        </p:sp>
        <p:sp>
          <p:nvSpPr>
            <p:cNvPr name="TextBox 44" id="44"/>
            <p:cNvSpPr txBox="true"/>
            <p:nvPr/>
          </p:nvSpPr>
          <p:spPr>
            <a:xfrm>
              <a:off x="0" y="-66675"/>
              <a:ext cx="3511296" cy="1556931"/>
            </a:xfrm>
            <a:prstGeom prst="rect">
              <a:avLst/>
            </a:prstGeom>
          </p:spPr>
          <p:txBody>
            <a:bodyPr anchor="ctr" rtlCol="false" tIns="0" lIns="0" bIns="0" rIns="0"/>
            <a:lstStyle/>
            <a:p>
              <a:pPr algn="l">
                <a:lnSpc>
                  <a:spcPts val="4079"/>
                </a:lnSpc>
              </a:pPr>
              <a:r>
                <a:rPr lang="en-US" sz="3399" b="true">
                  <a:solidFill>
                    <a:srgbClr val="FFFFFF"/>
                  </a:solidFill>
                  <a:latin typeface="Calibri (MS) Bold"/>
                  <a:ea typeface="Calibri (MS) Bold"/>
                  <a:cs typeface="Calibri (MS) Bold"/>
                  <a:sym typeface="Calibri (MS) Bold"/>
                </a:rPr>
                <a:t>Pre-flight</a:t>
              </a:r>
            </a:p>
            <a:p>
              <a:pPr algn="l">
                <a:lnSpc>
                  <a:spcPts val="4079"/>
                </a:lnSpc>
              </a:pPr>
              <a:r>
                <a:rPr lang="en-US" sz="3399" b="true">
                  <a:solidFill>
                    <a:srgbClr val="FFFFFF"/>
                  </a:solidFill>
                  <a:latin typeface="Calibri (MS) Bold"/>
                  <a:ea typeface="Calibri (MS) Bold"/>
                  <a:cs typeface="Calibri (MS) Bold"/>
                  <a:sym typeface="Calibri (MS) Bold"/>
                </a:rPr>
                <a:t>Test</a:t>
              </a:r>
            </a:p>
          </p:txBody>
        </p:sp>
      </p:grpSp>
      <p:grpSp>
        <p:nvGrpSpPr>
          <p:cNvPr name="Group 45" id="45"/>
          <p:cNvGrpSpPr/>
          <p:nvPr/>
        </p:nvGrpSpPr>
        <p:grpSpPr>
          <a:xfrm rot="0">
            <a:off x="7734637" y="3871159"/>
            <a:ext cx="2818725" cy="1272341"/>
            <a:chOff x="0" y="0"/>
            <a:chExt cx="3511296" cy="1584960"/>
          </a:xfrm>
        </p:grpSpPr>
        <p:sp>
          <p:nvSpPr>
            <p:cNvPr name="Freeform 46" id="46"/>
            <p:cNvSpPr/>
            <p:nvPr/>
          </p:nvSpPr>
          <p:spPr>
            <a:xfrm flipH="false" flipV="false" rot="0">
              <a:off x="0" y="0"/>
              <a:ext cx="3511296" cy="1584960"/>
            </a:xfrm>
            <a:custGeom>
              <a:avLst/>
              <a:gdLst/>
              <a:ahLst/>
              <a:cxnLst/>
              <a:rect r="r" b="b" t="t" l="l"/>
              <a:pathLst>
                <a:path h="1584960" w="3511296">
                  <a:moveTo>
                    <a:pt x="0" y="0"/>
                  </a:moveTo>
                  <a:lnTo>
                    <a:pt x="3511296" y="0"/>
                  </a:lnTo>
                  <a:lnTo>
                    <a:pt x="3511296" y="1584960"/>
                  </a:lnTo>
                  <a:lnTo>
                    <a:pt x="0" y="1584960"/>
                  </a:lnTo>
                  <a:close/>
                </a:path>
              </a:pathLst>
            </a:custGeom>
            <a:blipFill>
              <a:blip r:embed="rId3">
                <a:alphaModFix amt="0"/>
              </a:blip>
              <a:stretch>
                <a:fillRect l="-7914" t="0" r="-7914" b="0"/>
              </a:stretch>
            </a:blipFill>
          </p:spPr>
        </p:sp>
        <p:sp>
          <p:nvSpPr>
            <p:cNvPr name="TextBox 47" id="47"/>
            <p:cNvSpPr txBox="true"/>
            <p:nvPr/>
          </p:nvSpPr>
          <p:spPr>
            <a:xfrm>
              <a:off x="0" y="-47625"/>
              <a:ext cx="3511296" cy="1632585"/>
            </a:xfrm>
            <a:prstGeom prst="rect">
              <a:avLst/>
            </a:prstGeom>
          </p:spPr>
          <p:txBody>
            <a:bodyPr anchor="ctr" rtlCol="false" tIns="0" lIns="0" bIns="0" rIns="0"/>
            <a:lstStyle/>
            <a:p>
              <a:pPr algn="l">
                <a:lnSpc>
                  <a:spcPts val="2999"/>
                </a:lnSpc>
              </a:pPr>
              <a:r>
                <a:rPr lang="en-US" sz="2499">
                  <a:solidFill>
                    <a:srgbClr val="CAE9FF"/>
                  </a:solidFill>
                  <a:latin typeface="Calibri (MS)"/>
                  <a:ea typeface="Calibri (MS)"/>
                  <a:cs typeface="Calibri (MS)"/>
                  <a:sym typeface="Calibri (MS)"/>
                </a:rPr>
                <a:t>Stability check; compute-time estimate</a:t>
              </a:r>
            </a:p>
          </p:txBody>
        </p:sp>
      </p:grpSp>
      <p:grpSp>
        <p:nvGrpSpPr>
          <p:cNvPr name="Group 48" id="48"/>
          <p:cNvGrpSpPr/>
          <p:nvPr/>
        </p:nvGrpSpPr>
        <p:grpSpPr>
          <a:xfrm rot="0">
            <a:off x="10709958" y="3127329"/>
            <a:ext cx="587234" cy="117447"/>
            <a:chOff x="0" y="0"/>
            <a:chExt cx="731520" cy="146304"/>
          </a:xfrm>
        </p:grpSpPr>
        <p:sp>
          <p:nvSpPr>
            <p:cNvPr name="Freeform 49" id="49"/>
            <p:cNvSpPr/>
            <p:nvPr/>
          </p:nvSpPr>
          <p:spPr>
            <a:xfrm flipH="false" flipV="false" rot="0">
              <a:off x="0" y="0"/>
              <a:ext cx="731520" cy="146304"/>
            </a:xfrm>
            <a:custGeom>
              <a:avLst/>
              <a:gdLst/>
              <a:ahLst/>
              <a:cxnLst/>
              <a:rect r="r" b="b" t="t" l="l"/>
              <a:pathLst>
                <a:path h="146304" w="731520">
                  <a:moveTo>
                    <a:pt x="0" y="0"/>
                  </a:moveTo>
                  <a:lnTo>
                    <a:pt x="731520" y="0"/>
                  </a:lnTo>
                  <a:lnTo>
                    <a:pt x="731520" y="146304"/>
                  </a:lnTo>
                  <a:lnTo>
                    <a:pt x="0" y="146304"/>
                  </a:lnTo>
                  <a:close/>
                </a:path>
              </a:pathLst>
            </a:custGeom>
            <a:solidFill>
              <a:srgbClr val="00B4D8"/>
            </a:solidFill>
          </p:spPr>
        </p:sp>
      </p:grpSp>
      <p:grpSp>
        <p:nvGrpSpPr>
          <p:cNvPr name="Group 50" id="50"/>
          <p:cNvGrpSpPr/>
          <p:nvPr/>
        </p:nvGrpSpPr>
        <p:grpSpPr>
          <a:xfrm rot="0">
            <a:off x="11297193" y="1815838"/>
            <a:ext cx="3131917" cy="3327662"/>
            <a:chOff x="0" y="0"/>
            <a:chExt cx="3901440" cy="4145280"/>
          </a:xfrm>
        </p:grpSpPr>
        <p:sp>
          <p:nvSpPr>
            <p:cNvPr name="Freeform 51" id="51"/>
            <p:cNvSpPr/>
            <p:nvPr/>
          </p:nvSpPr>
          <p:spPr>
            <a:xfrm flipH="false" flipV="false" rot="0">
              <a:off x="0" y="0"/>
              <a:ext cx="3901440" cy="4145280"/>
            </a:xfrm>
            <a:custGeom>
              <a:avLst/>
              <a:gdLst/>
              <a:ahLst/>
              <a:cxnLst/>
              <a:rect r="r" b="b" t="t" l="l"/>
              <a:pathLst>
                <a:path h="4145280" w="3901440">
                  <a:moveTo>
                    <a:pt x="0" y="0"/>
                  </a:moveTo>
                  <a:lnTo>
                    <a:pt x="3901440" y="0"/>
                  </a:lnTo>
                  <a:lnTo>
                    <a:pt x="3901440" y="4145280"/>
                  </a:lnTo>
                  <a:lnTo>
                    <a:pt x="0" y="4145280"/>
                  </a:lnTo>
                  <a:close/>
                </a:path>
              </a:pathLst>
            </a:custGeom>
            <a:solidFill>
              <a:srgbClr val="0D1B2A"/>
            </a:solidFill>
          </p:spPr>
        </p:sp>
      </p:grpSp>
      <p:grpSp>
        <p:nvGrpSpPr>
          <p:cNvPr name="Group 52" id="52"/>
          <p:cNvGrpSpPr/>
          <p:nvPr/>
        </p:nvGrpSpPr>
        <p:grpSpPr>
          <a:xfrm rot="0">
            <a:off x="11457984" y="1926065"/>
            <a:ext cx="880852" cy="907647"/>
            <a:chOff x="0" y="0"/>
            <a:chExt cx="1097280" cy="1130659"/>
          </a:xfrm>
        </p:grpSpPr>
        <p:sp>
          <p:nvSpPr>
            <p:cNvPr name="Freeform 53" id="53"/>
            <p:cNvSpPr/>
            <p:nvPr/>
          </p:nvSpPr>
          <p:spPr>
            <a:xfrm flipH="false" flipV="false" rot="0">
              <a:off x="0" y="0"/>
              <a:ext cx="1097280" cy="1130659"/>
            </a:xfrm>
            <a:custGeom>
              <a:avLst/>
              <a:gdLst/>
              <a:ahLst/>
              <a:cxnLst/>
              <a:rect r="r" b="b" t="t" l="l"/>
              <a:pathLst>
                <a:path h="1130659" w="1097280">
                  <a:moveTo>
                    <a:pt x="0" y="0"/>
                  </a:moveTo>
                  <a:lnTo>
                    <a:pt x="1097280" y="0"/>
                  </a:lnTo>
                  <a:lnTo>
                    <a:pt x="1097280" y="1130659"/>
                  </a:lnTo>
                  <a:lnTo>
                    <a:pt x="0" y="1130659"/>
                  </a:lnTo>
                  <a:close/>
                </a:path>
              </a:pathLst>
            </a:custGeom>
            <a:blipFill>
              <a:blip r:embed="rId3">
                <a:alphaModFix amt="0"/>
              </a:blip>
              <a:stretch>
                <a:fillRect l="-78303" t="0" r="-78303" b="2952"/>
              </a:stretch>
            </a:blipFill>
          </p:spPr>
        </p:sp>
        <p:sp>
          <p:nvSpPr>
            <p:cNvPr name="TextBox 54" id="54"/>
            <p:cNvSpPr txBox="true"/>
            <p:nvPr/>
          </p:nvSpPr>
          <p:spPr>
            <a:xfrm>
              <a:off x="0" y="-95250"/>
              <a:ext cx="1097280" cy="1225909"/>
            </a:xfrm>
            <a:prstGeom prst="rect">
              <a:avLst/>
            </a:prstGeom>
          </p:spPr>
          <p:txBody>
            <a:bodyPr anchor="ctr" rtlCol="false" tIns="0" lIns="0" bIns="0" rIns="0"/>
            <a:lstStyle/>
            <a:p>
              <a:pPr algn="l">
                <a:lnSpc>
                  <a:spcPts val="5400"/>
                </a:lnSpc>
              </a:pPr>
              <a:r>
                <a:rPr lang="en-US" sz="4500" b="true">
                  <a:solidFill>
                    <a:srgbClr val="00B4D8"/>
                  </a:solidFill>
                  <a:latin typeface="Calibri (MS) Bold"/>
                  <a:ea typeface="Calibri (MS) Bold"/>
                  <a:cs typeface="Calibri (MS) Bold"/>
                  <a:sym typeface="Calibri (MS) Bold"/>
                </a:rPr>
                <a:t>4</a:t>
              </a:r>
            </a:p>
          </p:txBody>
        </p:sp>
      </p:grpSp>
      <p:grpSp>
        <p:nvGrpSpPr>
          <p:cNvPr name="Group 55" id="55"/>
          <p:cNvGrpSpPr/>
          <p:nvPr/>
        </p:nvGrpSpPr>
        <p:grpSpPr>
          <a:xfrm rot="0">
            <a:off x="11457984" y="2646617"/>
            <a:ext cx="2818725" cy="1196318"/>
            <a:chOff x="0" y="0"/>
            <a:chExt cx="3511296" cy="1490257"/>
          </a:xfrm>
        </p:grpSpPr>
        <p:sp>
          <p:nvSpPr>
            <p:cNvPr name="Freeform 56" id="56"/>
            <p:cNvSpPr/>
            <p:nvPr/>
          </p:nvSpPr>
          <p:spPr>
            <a:xfrm flipH="false" flipV="false" rot="0">
              <a:off x="0" y="0"/>
              <a:ext cx="3511296" cy="1490257"/>
            </a:xfrm>
            <a:custGeom>
              <a:avLst/>
              <a:gdLst/>
              <a:ahLst/>
              <a:cxnLst/>
              <a:rect r="r" b="b" t="t" l="l"/>
              <a:pathLst>
                <a:path h="1490257" w="3511296">
                  <a:moveTo>
                    <a:pt x="0" y="0"/>
                  </a:moveTo>
                  <a:lnTo>
                    <a:pt x="3511296" y="0"/>
                  </a:lnTo>
                  <a:lnTo>
                    <a:pt x="3511296" y="1490257"/>
                  </a:lnTo>
                  <a:lnTo>
                    <a:pt x="0" y="1490257"/>
                  </a:lnTo>
                  <a:close/>
                </a:path>
              </a:pathLst>
            </a:custGeom>
            <a:blipFill>
              <a:blip r:embed="rId3">
                <a:alphaModFix amt="0"/>
              </a:blip>
              <a:stretch>
                <a:fillRect l="-3459" t="0" r="-3459" b="1826"/>
              </a:stretch>
            </a:blipFill>
          </p:spPr>
        </p:sp>
        <p:sp>
          <p:nvSpPr>
            <p:cNvPr name="TextBox 57" id="57"/>
            <p:cNvSpPr txBox="true"/>
            <p:nvPr/>
          </p:nvSpPr>
          <p:spPr>
            <a:xfrm>
              <a:off x="0" y="-66675"/>
              <a:ext cx="3511296" cy="1556932"/>
            </a:xfrm>
            <a:prstGeom prst="rect">
              <a:avLst/>
            </a:prstGeom>
          </p:spPr>
          <p:txBody>
            <a:bodyPr anchor="ctr" rtlCol="false" tIns="0" lIns="0" bIns="0" rIns="0"/>
            <a:lstStyle/>
            <a:p>
              <a:pPr algn="l">
                <a:lnSpc>
                  <a:spcPts val="4079"/>
                </a:lnSpc>
              </a:pPr>
              <a:r>
                <a:rPr lang="en-US" sz="3399" b="true">
                  <a:solidFill>
                    <a:srgbClr val="FFFFFF"/>
                  </a:solidFill>
                  <a:latin typeface="Calibri (MS) Bold"/>
                  <a:ea typeface="Calibri (MS) Bold"/>
                  <a:cs typeface="Calibri (MS) Bold"/>
                  <a:sym typeface="Calibri (MS) Bold"/>
                </a:rPr>
                <a:t>Run</a:t>
              </a:r>
            </a:p>
            <a:p>
              <a:pPr algn="l">
                <a:lnSpc>
                  <a:spcPts val="4079"/>
                </a:lnSpc>
              </a:pPr>
              <a:r>
                <a:rPr lang="en-US" sz="3399" b="true">
                  <a:solidFill>
                    <a:srgbClr val="FFFFFF"/>
                  </a:solidFill>
                  <a:latin typeface="Calibri (MS) Bold"/>
                  <a:ea typeface="Calibri (MS) Bold"/>
                  <a:cs typeface="Calibri (MS) Bold"/>
                  <a:sym typeface="Calibri (MS) Bold"/>
                </a:rPr>
                <a:t>Optimiser</a:t>
              </a:r>
            </a:p>
          </p:txBody>
        </p:sp>
      </p:grpSp>
      <p:grpSp>
        <p:nvGrpSpPr>
          <p:cNvPr name="Group 58" id="58"/>
          <p:cNvGrpSpPr/>
          <p:nvPr/>
        </p:nvGrpSpPr>
        <p:grpSpPr>
          <a:xfrm rot="0">
            <a:off x="11453789" y="3871159"/>
            <a:ext cx="2818725" cy="1272341"/>
            <a:chOff x="0" y="0"/>
            <a:chExt cx="3511296" cy="1584960"/>
          </a:xfrm>
        </p:grpSpPr>
        <p:sp>
          <p:nvSpPr>
            <p:cNvPr name="Freeform 59" id="59"/>
            <p:cNvSpPr/>
            <p:nvPr/>
          </p:nvSpPr>
          <p:spPr>
            <a:xfrm flipH="false" flipV="false" rot="0">
              <a:off x="0" y="0"/>
              <a:ext cx="3511296" cy="1584960"/>
            </a:xfrm>
            <a:custGeom>
              <a:avLst/>
              <a:gdLst/>
              <a:ahLst/>
              <a:cxnLst/>
              <a:rect r="r" b="b" t="t" l="l"/>
              <a:pathLst>
                <a:path h="1584960" w="3511296">
                  <a:moveTo>
                    <a:pt x="0" y="0"/>
                  </a:moveTo>
                  <a:lnTo>
                    <a:pt x="3511296" y="0"/>
                  </a:lnTo>
                  <a:lnTo>
                    <a:pt x="3511296" y="1584960"/>
                  </a:lnTo>
                  <a:lnTo>
                    <a:pt x="0" y="1584960"/>
                  </a:lnTo>
                  <a:close/>
                </a:path>
              </a:pathLst>
            </a:custGeom>
            <a:blipFill>
              <a:blip r:embed="rId3">
                <a:alphaModFix amt="0"/>
              </a:blip>
              <a:stretch>
                <a:fillRect l="-7914" t="0" r="-7914" b="0"/>
              </a:stretch>
            </a:blipFill>
          </p:spPr>
        </p:sp>
        <p:sp>
          <p:nvSpPr>
            <p:cNvPr name="TextBox 60" id="60"/>
            <p:cNvSpPr txBox="true"/>
            <p:nvPr/>
          </p:nvSpPr>
          <p:spPr>
            <a:xfrm>
              <a:off x="0" y="-47625"/>
              <a:ext cx="3511296" cy="1632585"/>
            </a:xfrm>
            <a:prstGeom prst="rect">
              <a:avLst/>
            </a:prstGeom>
          </p:spPr>
          <p:txBody>
            <a:bodyPr anchor="ctr" rtlCol="false" tIns="0" lIns="0" bIns="0" rIns="0"/>
            <a:lstStyle/>
            <a:p>
              <a:pPr algn="l">
                <a:lnSpc>
                  <a:spcPts val="2999"/>
                </a:lnSpc>
              </a:pPr>
              <a:r>
                <a:rPr lang="en-US" sz="2499">
                  <a:solidFill>
                    <a:srgbClr val="CAE9FF"/>
                  </a:solidFill>
                  <a:latin typeface="Calibri (MS)"/>
                  <a:ea typeface="Calibri (MS)"/>
                  <a:cs typeface="Calibri (MS)"/>
                  <a:sym typeface="Calibri (MS)"/>
                </a:rPr>
                <a:t>Multi-objective (Pareto) or single-objective</a:t>
              </a:r>
            </a:p>
          </p:txBody>
        </p:sp>
      </p:grpSp>
      <p:grpSp>
        <p:nvGrpSpPr>
          <p:cNvPr name="Group 61" id="61"/>
          <p:cNvGrpSpPr/>
          <p:nvPr/>
        </p:nvGrpSpPr>
        <p:grpSpPr>
          <a:xfrm rot="0">
            <a:off x="14429109" y="3127329"/>
            <a:ext cx="587234" cy="117447"/>
            <a:chOff x="0" y="0"/>
            <a:chExt cx="731520" cy="146304"/>
          </a:xfrm>
        </p:grpSpPr>
        <p:sp>
          <p:nvSpPr>
            <p:cNvPr name="Freeform 62" id="62"/>
            <p:cNvSpPr/>
            <p:nvPr/>
          </p:nvSpPr>
          <p:spPr>
            <a:xfrm flipH="false" flipV="false" rot="0">
              <a:off x="0" y="0"/>
              <a:ext cx="731520" cy="146304"/>
            </a:xfrm>
            <a:custGeom>
              <a:avLst/>
              <a:gdLst/>
              <a:ahLst/>
              <a:cxnLst/>
              <a:rect r="r" b="b" t="t" l="l"/>
              <a:pathLst>
                <a:path h="146304" w="731520">
                  <a:moveTo>
                    <a:pt x="0" y="0"/>
                  </a:moveTo>
                  <a:lnTo>
                    <a:pt x="731520" y="0"/>
                  </a:lnTo>
                  <a:lnTo>
                    <a:pt x="731520" y="146304"/>
                  </a:lnTo>
                  <a:lnTo>
                    <a:pt x="0" y="146304"/>
                  </a:lnTo>
                  <a:close/>
                </a:path>
              </a:pathLst>
            </a:custGeom>
            <a:solidFill>
              <a:srgbClr val="00B4D8"/>
            </a:solidFill>
          </p:spPr>
        </p:sp>
      </p:grpSp>
      <p:grpSp>
        <p:nvGrpSpPr>
          <p:cNvPr name="Group 63" id="63"/>
          <p:cNvGrpSpPr/>
          <p:nvPr/>
        </p:nvGrpSpPr>
        <p:grpSpPr>
          <a:xfrm rot="0">
            <a:off x="15016344" y="1815838"/>
            <a:ext cx="3131917" cy="3327662"/>
            <a:chOff x="0" y="0"/>
            <a:chExt cx="3901440" cy="4145280"/>
          </a:xfrm>
        </p:grpSpPr>
        <p:sp>
          <p:nvSpPr>
            <p:cNvPr name="Freeform 64" id="64"/>
            <p:cNvSpPr/>
            <p:nvPr/>
          </p:nvSpPr>
          <p:spPr>
            <a:xfrm flipH="false" flipV="false" rot="0">
              <a:off x="0" y="0"/>
              <a:ext cx="3901440" cy="4145280"/>
            </a:xfrm>
            <a:custGeom>
              <a:avLst/>
              <a:gdLst/>
              <a:ahLst/>
              <a:cxnLst/>
              <a:rect r="r" b="b" t="t" l="l"/>
              <a:pathLst>
                <a:path h="4145280" w="3901440">
                  <a:moveTo>
                    <a:pt x="0" y="0"/>
                  </a:moveTo>
                  <a:lnTo>
                    <a:pt x="3901440" y="0"/>
                  </a:lnTo>
                  <a:lnTo>
                    <a:pt x="3901440" y="4145280"/>
                  </a:lnTo>
                  <a:lnTo>
                    <a:pt x="0" y="4145280"/>
                  </a:lnTo>
                  <a:close/>
                </a:path>
              </a:pathLst>
            </a:custGeom>
            <a:solidFill>
              <a:srgbClr val="0D1B2A"/>
            </a:solidFill>
          </p:spPr>
        </p:sp>
      </p:grpSp>
      <p:grpSp>
        <p:nvGrpSpPr>
          <p:cNvPr name="Group 65" id="65"/>
          <p:cNvGrpSpPr/>
          <p:nvPr/>
        </p:nvGrpSpPr>
        <p:grpSpPr>
          <a:xfrm rot="0">
            <a:off x="15054920" y="1926065"/>
            <a:ext cx="880852" cy="907647"/>
            <a:chOff x="0" y="0"/>
            <a:chExt cx="1097280" cy="1130659"/>
          </a:xfrm>
        </p:grpSpPr>
        <p:sp>
          <p:nvSpPr>
            <p:cNvPr name="Freeform 66" id="66"/>
            <p:cNvSpPr/>
            <p:nvPr/>
          </p:nvSpPr>
          <p:spPr>
            <a:xfrm flipH="false" flipV="false" rot="0">
              <a:off x="0" y="0"/>
              <a:ext cx="1097280" cy="1130659"/>
            </a:xfrm>
            <a:custGeom>
              <a:avLst/>
              <a:gdLst/>
              <a:ahLst/>
              <a:cxnLst/>
              <a:rect r="r" b="b" t="t" l="l"/>
              <a:pathLst>
                <a:path h="1130659" w="1097280">
                  <a:moveTo>
                    <a:pt x="0" y="0"/>
                  </a:moveTo>
                  <a:lnTo>
                    <a:pt x="1097280" y="0"/>
                  </a:lnTo>
                  <a:lnTo>
                    <a:pt x="1097280" y="1130659"/>
                  </a:lnTo>
                  <a:lnTo>
                    <a:pt x="0" y="1130659"/>
                  </a:lnTo>
                  <a:close/>
                </a:path>
              </a:pathLst>
            </a:custGeom>
            <a:blipFill>
              <a:blip r:embed="rId3">
                <a:alphaModFix amt="0"/>
              </a:blip>
              <a:stretch>
                <a:fillRect l="-78303" t="0" r="-78303" b="2952"/>
              </a:stretch>
            </a:blipFill>
          </p:spPr>
        </p:sp>
        <p:sp>
          <p:nvSpPr>
            <p:cNvPr name="TextBox 67" id="67"/>
            <p:cNvSpPr txBox="true"/>
            <p:nvPr/>
          </p:nvSpPr>
          <p:spPr>
            <a:xfrm>
              <a:off x="0" y="-95250"/>
              <a:ext cx="1097280" cy="1225909"/>
            </a:xfrm>
            <a:prstGeom prst="rect">
              <a:avLst/>
            </a:prstGeom>
          </p:spPr>
          <p:txBody>
            <a:bodyPr anchor="ctr" rtlCol="false" tIns="0" lIns="0" bIns="0" rIns="0"/>
            <a:lstStyle/>
            <a:p>
              <a:pPr algn="l">
                <a:lnSpc>
                  <a:spcPts val="5400"/>
                </a:lnSpc>
              </a:pPr>
              <a:r>
                <a:rPr lang="en-US" sz="4500" b="true">
                  <a:solidFill>
                    <a:srgbClr val="00B4D8"/>
                  </a:solidFill>
                  <a:latin typeface="Calibri (MS) Bold"/>
                  <a:ea typeface="Calibri (MS) Bold"/>
                  <a:cs typeface="Calibri (MS) Bold"/>
                  <a:sym typeface="Calibri (MS) Bold"/>
                </a:rPr>
                <a:t>5</a:t>
              </a:r>
            </a:p>
          </p:txBody>
        </p:sp>
      </p:grpSp>
      <p:grpSp>
        <p:nvGrpSpPr>
          <p:cNvPr name="Group 68" id="68"/>
          <p:cNvGrpSpPr/>
          <p:nvPr/>
        </p:nvGrpSpPr>
        <p:grpSpPr>
          <a:xfrm rot="0">
            <a:off x="15178269" y="2646617"/>
            <a:ext cx="2818725" cy="1196318"/>
            <a:chOff x="0" y="0"/>
            <a:chExt cx="3511296" cy="1490257"/>
          </a:xfrm>
        </p:grpSpPr>
        <p:sp>
          <p:nvSpPr>
            <p:cNvPr name="Freeform 69" id="69"/>
            <p:cNvSpPr/>
            <p:nvPr/>
          </p:nvSpPr>
          <p:spPr>
            <a:xfrm flipH="false" flipV="false" rot="0">
              <a:off x="0" y="0"/>
              <a:ext cx="3511296" cy="1490257"/>
            </a:xfrm>
            <a:custGeom>
              <a:avLst/>
              <a:gdLst/>
              <a:ahLst/>
              <a:cxnLst/>
              <a:rect r="r" b="b" t="t" l="l"/>
              <a:pathLst>
                <a:path h="1490257" w="3511296">
                  <a:moveTo>
                    <a:pt x="0" y="0"/>
                  </a:moveTo>
                  <a:lnTo>
                    <a:pt x="3511296" y="0"/>
                  </a:lnTo>
                  <a:lnTo>
                    <a:pt x="3511296" y="1490257"/>
                  </a:lnTo>
                  <a:lnTo>
                    <a:pt x="0" y="1490257"/>
                  </a:lnTo>
                  <a:close/>
                </a:path>
              </a:pathLst>
            </a:custGeom>
            <a:blipFill>
              <a:blip r:embed="rId3">
                <a:alphaModFix amt="0"/>
              </a:blip>
              <a:stretch>
                <a:fillRect l="-3459" t="0" r="-3459" b="1826"/>
              </a:stretch>
            </a:blipFill>
          </p:spPr>
        </p:sp>
        <p:sp>
          <p:nvSpPr>
            <p:cNvPr name="TextBox 70" id="70"/>
            <p:cNvSpPr txBox="true"/>
            <p:nvPr/>
          </p:nvSpPr>
          <p:spPr>
            <a:xfrm>
              <a:off x="0" y="-66675"/>
              <a:ext cx="3511296" cy="1556932"/>
            </a:xfrm>
            <a:prstGeom prst="rect">
              <a:avLst/>
            </a:prstGeom>
          </p:spPr>
          <p:txBody>
            <a:bodyPr anchor="ctr" rtlCol="false" tIns="0" lIns="0" bIns="0" rIns="0"/>
            <a:lstStyle/>
            <a:p>
              <a:pPr algn="l">
                <a:lnSpc>
                  <a:spcPts val="4079"/>
                </a:lnSpc>
              </a:pPr>
              <a:r>
                <a:rPr lang="en-US" sz="3399" b="true">
                  <a:solidFill>
                    <a:srgbClr val="FFFFFF"/>
                  </a:solidFill>
                  <a:latin typeface="Calibri (MS) Bold"/>
                  <a:ea typeface="Calibri (MS) Bold"/>
                  <a:cs typeface="Calibri (MS) Bold"/>
                  <a:sym typeface="Calibri (MS) Bold"/>
                </a:rPr>
                <a:t>Generate</a:t>
              </a:r>
            </a:p>
            <a:p>
              <a:pPr algn="l">
                <a:lnSpc>
                  <a:spcPts val="4079"/>
                </a:lnSpc>
              </a:pPr>
              <a:r>
                <a:rPr lang="en-US" sz="3399" b="true">
                  <a:solidFill>
                    <a:srgbClr val="FFFFFF"/>
                  </a:solidFill>
                  <a:latin typeface="Calibri (MS) Bold"/>
                  <a:ea typeface="Calibri (MS) Bold"/>
                  <a:cs typeface="Calibri (MS) Bold"/>
                  <a:sym typeface="Calibri (MS) Bold"/>
                </a:rPr>
                <a:t>Outputs</a:t>
              </a:r>
            </a:p>
          </p:txBody>
        </p:sp>
      </p:grpSp>
      <p:grpSp>
        <p:nvGrpSpPr>
          <p:cNvPr name="Group 71" id="71"/>
          <p:cNvGrpSpPr/>
          <p:nvPr/>
        </p:nvGrpSpPr>
        <p:grpSpPr>
          <a:xfrm rot="0">
            <a:off x="15172940" y="3871159"/>
            <a:ext cx="2818725" cy="1272341"/>
            <a:chOff x="0" y="0"/>
            <a:chExt cx="3511296" cy="1584960"/>
          </a:xfrm>
        </p:grpSpPr>
        <p:sp>
          <p:nvSpPr>
            <p:cNvPr name="Freeform 72" id="72"/>
            <p:cNvSpPr/>
            <p:nvPr/>
          </p:nvSpPr>
          <p:spPr>
            <a:xfrm flipH="false" flipV="false" rot="0">
              <a:off x="0" y="0"/>
              <a:ext cx="3511296" cy="1584960"/>
            </a:xfrm>
            <a:custGeom>
              <a:avLst/>
              <a:gdLst/>
              <a:ahLst/>
              <a:cxnLst/>
              <a:rect r="r" b="b" t="t" l="l"/>
              <a:pathLst>
                <a:path h="1584960" w="3511296">
                  <a:moveTo>
                    <a:pt x="0" y="0"/>
                  </a:moveTo>
                  <a:lnTo>
                    <a:pt x="3511296" y="0"/>
                  </a:lnTo>
                  <a:lnTo>
                    <a:pt x="3511296" y="1584960"/>
                  </a:lnTo>
                  <a:lnTo>
                    <a:pt x="0" y="1584960"/>
                  </a:lnTo>
                  <a:close/>
                </a:path>
              </a:pathLst>
            </a:custGeom>
            <a:blipFill>
              <a:blip r:embed="rId3">
                <a:alphaModFix amt="0"/>
              </a:blip>
              <a:stretch>
                <a:fillRect l="-7914" t="0" r="-7914" b="0"/>
              </a:stretch>
            </a:blipFill>
          </p:spPr>
        </p:sp>
        <p:sp>
          <p:nvSpPr>
            <p:cNvPr name="TextBox 73" id="73"/>
            <p:cNvSpPr txBox="true"/>
            <p:nvPr/>
          </p:nvSpPr>
          <p:spPr>
            <a:xfrm>
              <a:off x="0" y="-47625"/>
              <a:ext cx="3511296" cy="1632585"/>
            </a:xfrm>
            <a:prstGeom prst="rect">
              <a:avLst/>
            </a:prstGeom>
          </p:spPr>
          <p:txBody>
            <a:bodyPr anchor="ctr" rtlCol="false" tIns="0" lIns="0" bIns="0" rIns="0"/>
            <a:lstStyle/>
            <a:p>
              <a:pPr algn="l">
                <a:lnSpc>
                  <a:spcPts val="2999"/>
                </a:lnSpc>
              </a:pPr>
              <a:r>
                <a:rPr lang="en-US" sz="2499">
                  <a:solidFill>
                    <a:srgbClr val="CAE9FF"/>
                  </a:solidFill>
                  <a:latin typeface="Calibri (MS)"/>
                  <a:ea typeface="Calibri (MS)"/>
                  <a:cs typeface="Calibri (MS)"/>
                  <a:sym typeface="Calibri (MS)"/>
                </a:rPr>
                <a:t>Results packaged into structured summary</a:t>
              </a:r>
            </a:p>
          </p:txBody>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8904122" y="903122"/>
            <a:ext cx="479755" cy="18288000"/>
            <a:chOff x="0" y="0"/>
            <a:chExt cx="639674" cy="24384000"/>
          </a:xfrm>
        </p:grpSpPr>
        <p:sp>
          <p:nvSpPr>
            <p:cNvPr name="Freeform 3" id="3"/>
            <p:cNvSpPr/>
            <p:nvPr/>
          </p:nvSpPr>
          <p:spPr>
            <a:xfrm flipH="false" flipV="false" rot="0">
              <a:off x="0" y="0"/>
              <a:ext cx="639699" cy="24384000"/>
            </a:xfrm>
            <a:custGeom>
              <a:avLst/>
              <a:gdLst/>
              <a:ahLst/>
              <a:cxnLst/>
              <a:rect r="r" b="b" t="t" l="l"/>
              <a:pathLst>
                <a:path h="24384000" w="639699">
                  <a:moveTo>
                    <a:pt x="0" y="0"/>
                  </a:moveTo>
                  <a:lnTo>
                    <a:pt x="639699" y="0"/>
                  </a:lnTo>
                  <a:lnTo>
                    <a:pt x="639699" y="24384000"/>
                  </a:lnTo>
                  <a:lnTo>
                    <a:pt x="0" y="24384000"/>
                  </a:lnTo>
                  <a:close/>
                </a:path>
              </a:pathLst>
            </a:custGeom>
            <a:solidFill>
              <a:srgbClr val="00ACC1"/>
            </a:solidFill>
          </p:spPr>
        </p:sp>
      </p:grpSp>
      <p:grpSp>
        <p:nvGrpSpPr>
          <p:cNvPr name="Group 4" id="4"/>
          <p:cNvGrpSpPr/>
          <p:nvPr/>
        </p:nvGrpSpPr>
        <p:grpSpPr>
          <a:xfrm rot="-5400000">
            <a:off x="8349396" y="-8349396"/>
            <a:ext cx="1589218" cy="18288000"/>
            <a:chOff x="0" y="0"/>
            <a:chExt cx="2118957" cy="24384000"/>
          </a:xfrm>
        </p:grpSpPr>
        <p:sp>
          <p:nvSpPr>
            <p:cNvPr name="Freeform 5" id="5"/>
            <p:cNvSpPr/>
            <p:nvPr/>
          </p:nvSpPr>
          <p:spPr>
            <a:xfrm flipH="false" flipV="false" rot="0">
              <a:off x="0" y="0"/>
              <a:ext cx="2118995" cy="24384000"/>
            </a:xfrm>
            <a:custGeom>
              <a:avLst/>
              <a:gdLst/>
              <a:ahLst/>
              <a:cxnLst/>
              <a:rect r="r" b="b" t="t" l="l"/>
              <a:pathLst>
                <a:path h="24384000" w="2118995">
                  <a:moveTo>
                    <a:pt x="0" y="0"/>
                  </a:moveTo>
                  <a:lnTo>
                    <a:pt x="2118995" y="0"/>
                  </a:lnTo>
                  <a:lnTo>
                    <a:pt x="2118995" y="24384000"/>
                  </a:lnTo>
                  <a:lnTo>
                    <a:pt x="0" y="24384000"/>
                  </a:lnTo>
                  <a:close/>
                </a:path>
              </a:pathLst>
            </a:custGeom>
            <a:solidFill>
              <a:srgbClr val="17375E"/>
            </a:solidFill>
          </p:spPr>
        </p:sp>
        <p:sp>
          <p:nvSpPr>
            <p:cNvPr name="Freeform 6" id="6"/>
            <p:cNvSpPr/>
            <p:nvPr/>
          </p:nvSpPr>
          <p:spPr>
            <a:xfrm flipH="false" flipV="false" rot="0">
              <a:off x="-1524" y="-1524"/>
              <a:ext cx="2122043" cy="24387048"/>
            </a:xfrm>
            <a:custGeom>
              <a:avLst/>
              <a:gdLst/>
              <a:ahLst/>
              <a:cxnLst/>
              <a:rect r="r" b="b" t="t" l="l"/>
              <a:pathLst>
                <a:path h="24387048" w="2122043">
                  <a:moveTo>
                    <a:pt x="1524" y="0"/>
                  </a:moveTo>
                  <a:lnTo>
                    <a:pt x="2120519" y="0"/>
                  </a:lnTo>
                  <a:cubicBezTo>
                    <a:pt x="2121408" y="0"/>
                    <a:pt x="2122043" y="762"/>
                    <a:pt x="2122043" y="1524"/>
                  </a:cubicBezTo>
                  <a:lnTo>
                    <a:pt x="2122043" y="24385524"/>
                  </a:lnTo>
                  <a:cubicBezTo>
                    <a:pt x="2122043" y="24386414"/>
                    <a:pt x="2121281" y="24387048"/>
                    <a:pt x="2120519" y="24387048"/>
                  </a:cubicBezTo>
                  <a:lnTo>
                    <a:pt x="1524" y="24387048"/>
                  </a:lnTo>
                  <a:cubicBezTo>
                    <a:pt x="635" y="24387048"/>
                    <a:pt x="0" y="24386287"/>
                    <a:pt x="0" y="24385524"/>
                  </a:cubicBezTo>
                  <a:lnTo>
                    <a:pt x="0" y="1524"/>
                  </a:lnTo>
                  <a:cubicBezTo>
                    <a:pt x="0" y="635"/>
                    <a:pt x="762" y="0"/>
                    <a:pt x="1524" y="0"/>
                  </a:cubicBezTo>
                  <a:moveTo>
                    <a:pt x="1524" y="3048"/>
                  </a:moveTo>
                  <a:lnTo>
                    <a:pt x="1524" y="1524"/>
                  </a:lnTo>
                  <a:lnTo>
                    <a:pt x="3048" y="1524"/>
                  </a:lnTo>
                  <a:lnTo>
                    <a:pt x="3048" y="24385524"/>
                  </a:lnTo>
                  <a:lnTo>
                    <a:pt x="1524" y="24385524"/>
                  </a:lnTo>
                  <a:lnTo>
                    <a:pt x="1524" y="24384000"/>
                  </a:lnTo>
                  <a:lnTo>
                    <a:pt x="2120519" y="24384000"/>
                  </a:lnTo>
                  <a:lnTo>
                    <a:pt x="2120519" y="24385524"/>
                  </a:lnTo>
                  <a:lnTo>
                    <a:pt x="2118995" y="24385524"/>
                  </a:lnTo>
                  <a:lnTo>
                    <a:pt x="2118995" y="1524"/>
                  </a:lnTo>
                  <a:lnTo>
                    <a:pt x="2120519" y="1524"/>
                  </a:lnTo>
                  <a:lnTo>
                    <a:pt x="2120519" y="3048"/>
                  </a:lnTo>
                  <a:lnTo>
                    <a:pt x="1524" y="3048"/>
                  </a:lnTo>
                  <a:close/>
                </a:path>
              </a:pathLst>
            </a:custGeom>
            <a:solidFill>
              <a:srgbClr val="002060"/>
            </a:solidFill>
          </p:spPr>
        </p:sp>
      </p:grpSp>
      <p:grpSp>
        <p:nvGrpSpPr>
          <p:cNvPr name="Group 7" id="7"/>
          <p:cNvGrpSpPr/>
          <p:nvPr/>
        </p:nvGrpSpPr>
        <p:grpSpPr>
          <a:xfrm rot="0">
            <a:off x="259404" y="-66599"/>
            <a:ext cx="15235942" cy="1725514"/>
            <a:chOff x="0" y="0"/>
            <a:chExt cx="20314590" cy="2300686"/>
          </a:xfrm>
        </p:grpSpPr>
        <p:sp>
          <p:nvSpPr>
            <p:cNvPr name="Freeform 8" id="8"/>
            <p:cNvSpPr/>
            <p:nvPr/>
          </p:nvSpPr>
          <p:spPr>
            <a:xfrm flipH="false" flipV="false" rot="0">
              <a:off x="0" y="0"/>
              <a:ext cx="20314586" cy="2300691"/>
            </a:xfrm>
            <a:custGeom>
              <a:avLst/>
              <a:gdLst/>
              <a:ahLst/>
              <a:cxnLst/>
              <a:rect r="r" b="b" t="t" l="l"/>
              <a:pathLst>
                <a:path h="2300691" w="20314586">
                  <a:moveTo>
                    <a:pt x="0" y="0"/>
                  </a:moveTo>
                  <a:lnTo>
                    <a:pt x="20314586" y="0"/>
                  </a:lnTo>
                  <a:lnTo>
                    <a:pt x="20314586" y="2300691"/>
                  </a:lnTo>
                  <a:lnTo>
                    <a:pt x="0" y="2300691"/>
                  </a:lnTo>
                  <a:close/>
                </a:path>
              </a:pathLst>
            </a:custGeom>
            <a:blipFill>
              <a:blip r:embed="rId3">
                <a:alphaModFix amt="0"/>
              </a:blip>
              <a:stretch>
                <a:fillRect l="0" t="-122048" r="0" b="-122048"/>
              </a:stretch>
            </a:blipFill>
          </p:spPr>
        </p:sp>
        <p:sp>
          <p:nvSpPr>
            <p:cNvPr name="TextBox 9" id="9"/>
            <p:cNvSpPr txBox="true"/>
            <p:nvPr/>
          </p:nvSpPr>
          <p:spPr>
            <a:xfrm>
              <a:off x="0" y="-161925"/>
              <a:ext cx="20314590" cy="2462611"/>
            </a:xfrm>
            <a:prstGeom prst="rect">
              <a:avLst/>
            </a:prstGeom>
          </p:spPr>
          <p:txBody>
            <a:bodyPr anchor="ctr" rtlCol="false" tIns="0" lIns="0" bIns="0" rIns="0"/>
            <a:lstStyle/>
            <a:p>
              <a:pPr algn="l">
                <a:lnSpc>
                  <a:spcPts val="9601"/>
                </a:lnSpc>
              </a:pPr>
              <a:r>
                <a:rPr lang="en-US" sz="8001">
                  <a:solidFill>
                    <a:srgbClr val="FFFFFF"/>
                  </a:solidFill>
                  <a:latin typeface="Calibri (MS)"/>
                  <a:ea typeface="Calibri (MS)"/>
                  <a:cs typeface="Calibri (MS)"/>
                  <a:sym typeface="Calibri (MS)"/>
                </a:rPr>
                <a:t>Demo</a:t>
              </a:r>
            </a:p>
          </p:txBody>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0" y="0"/>
            <a:ext cx="219456" cy="10287000"/>
            <a:chOff x="0" y="0"/>
            <a:chExt cx="292608" cy="13716000"/>
          </a:xfrm>
        </p:grpSpPr>
        <p:sp>
          <p:nvSpPr>
            <p:cNvPr name="Freeform 3" id="3"/>
            <p:cNvSpPr/>
            <p:nvPr/>
          </p:nvSpPr>
          <p:spPr>
            <a:xfrm flipH="false" flipV="false" rot="0">
              <a:off x="0" y="0"/>
              <a:ext cx="292608" cy="13716000"/>
            </a:xfrm>
            <a:custGeom>
              <a:avLst/>
              <a:gdLst/>
              <a:ahLst/>
              <a:cxnLst/>
              <a:rect r="r" b="b" t="t" l="l"/>
              <a:pathLst>
                <a:path h="13716000" w="292608">
                  <a:moveTo>
                    <a:pt x="0" y="0"/>
                  </a:moveTo>
                  <a:lnTo>
                    <a:pt x="292608" y="0"/>
                  </a:lnTo>
                  <a:lnTo>
                    <a:pt x="292608" y="13716000"/>
                  </a:lnTo>
                  <a:lnTo>
                    <a:pt x="0" y="13716000"/>
                  </a:lnTo>
                  <a:close/>
                </a:path>
              </a:pathLst>
            </a:custGeom>
            <a:solidFill>
              <a:srgbClr val="00ACC1"/>
            </a:solidFill>
          </p:spPr>
        </p:sp>
      </p:grpSp>
      <p:grpSp>
        <p:nvGrpSpPr>
          <p:cNvPr name="Group 4" id="4"/>
          <p:cNvGrpSpPr/>
          <p:nvPr/>
        </p:nvGrpSpPr>
        <p:grpSpPr>
          <a:xfrm rot="0">
            <a:off x="11887200" y="0"/>
            <a:ext cx="6400800" cy="10287000"/>
            <a:chOff x="0" y="0"/>
            <a:chExt cx="8534400" cy="13716000"/>
          </a:xfrm>
        </p:grpSpPr>
        <p:sp>
          <p:nvSpPr>
            <p:cNvPr name="Freeform 5" id="5"/>
            <p:cNvSpPr/>
            <p:nvPr/>
          </p:nvSpPr>
          <p:spPr>
            <a:xfrm flipH="false" flipV="false" rot="0">
              <a:off x="0" y="0"/>
              <a:ext cx="8534400" cy="13716000"/>
            </a:xfrm>
            <a:custGeom>
              <a:avLst/>
              <a:gdLst/>
              <a:ahLst/>
              <a:cxnLst/>
              <a:rect r="r" b="b" t="t" l="l"/>
              <a:pathLst>
                <a:path h="13716000" w="8534400">
                  <a:moveTo>
                    <a:pt x="0" y="0"/>
                  </a:moveTo>
                  <a:lnTo>
                    <a:pt x="8534400" y="0"/>
                  </a:lnTo>
                  <a:lnTo>
                    <a:pt x="8534400" y="13716000"/>
                  </a:lnTo>
                  <a:lnTo>
                    <a:pt x="0" y="13716000"/>
                  </a:lnTo>
                  <a:close/>
                </a:path>
              </a:pathLst>
            </a:custGeom>
            <a:solidFill>
              <a:srgbClr val="0A2540">
                <a:alpha val="23529"/>
              </a:srgbClr>
            </a:solidFill>
          </p:spPr>
        </p:sp>
      </p:grpSp>
      <p:grpSp>
        <p:nvGrpSpPr>
          <p:cNvPr name="Group 6" id="6"/>
          <p:cNvGrpSpPr/>
          <p:nvPr/>
        </p:nvGrpSpPr>
        <p:grpSpPr>
          <a:xfrm rot="0">
            <a:off x="731520" y="914400"/>
            <a:ext cx="10972800" cy="731520"/>
            <a:chOff x="0" y="0"/>
            <a:chExt cx="14630400" cy="975360"/>
          </a:xfrm>
        </p:grpSpPr>
        <p:sp>
          <p:nvSpPr>
            <p:cNvPr name="Freeform 7" id="7"/>
            <p:cNvSpPr/>
            <p:nvPr/>
          </p:nvSpPr>
          <p:spPr>
            <a:xfrm flipH="false" flipV="false" rot="0">
              <a:off x="0" y="0"/>
              <a:ext cx="14630400" cy="975360"/>
            </a:xfrm>
            <a:custGeom>
              <a:avLst/>
              <a:gdLst/>
              <a:ahLst/>
              <a:cxnLst/>
              <a:rect r="r" b="b" t="t" l="l"/>
              <a:pathLst>
                <a:path h="975360" w="14630400">
                  <a:moveTo>
                    <a:pt x="0" y="0"/>
                  </a:moveTo>
                  <a:lnTo>
                    <a:pt x="14630400" y="0"/>
                  </a:lnTo>
                  <a:lnTo>
                    <a:pt x="14630400" y="975360"/>
                  </a:lnTo>
                  <a:lnTo>
                    <a:pt x="0" y="975360"/>
                  </a:lnTo>
                  <a:close/>
                </a:path>
              </a:pathLst>
            </a:custGeom>
            <a:blipFill>
              <a:blip r:embed="rId3">
                <a:alphaModFix amt="0"/>
              </a:blip>
              <a:stretch>
                <a:fillRect l="0" t="-242072" r="0" b="-242071"/>
              </a:stretch>
            </a:blipFill>
          </p:spPr>
        </p:sp>
      </p:grpSp>
      <p:grpSp>
        <p:nvGrpSpPr>
          <p:cNvPr name="Group 8" id="8"/>
          <p:cNvGrpSpPr/>
          <p:nvPr/>
        </p:nvGrpSpPr>
        <p:grpSpPr>
          <a:xfrm rot="0">
            <a:off x="731520" y="1737360"/>
            <a:ext cx="10972800" cy="2560320"/>
            <a:chOff x="0" y="0"/>
            <a:chExt cx="14630400" cy="3413760"/>
          </a:xfrm>
        </p:grpSpPr>
        <p:sp>
          <p:nvSpPr>
            <p:cNvPr name="Freeform 9" id="9"/>
            <p:cNvSpPr/>
            <p:nvPr/>
          </p:nvSpPr>
          <p:spPr>
            <a:xfrm flipH="false" flipV="false" rot="0">
              <a:off x="0" y="0"/>
              <a:ext cx="14630400" cy="3413760"/>
            </a:xfrm>
            <a:custGeom>
              <a:avLst/>
              <a:gdLst/>
              <a:ahLst/>
              <a:cxnLst/>
              <a:rect r="r" b="b" t="t" l="l"/>
              <a:pathLst>
                <a:path h="3413760" w="14630400">
                  <a:moveTo>
                    <a:pt x="0" y="0"/>
                  </a:moveTo>
                  <a:lnTo>
                    <a:pt x="14630400" y="0"/>
                  </a:lnTo>
                  <a:lnTo>
                    <a:pt x="14630400" y="3413760"/>
                  </a:lnTo>
                  <a:lnTo>
                    <a:pt x="0" y="3413760"/>
                  </a:lnTo>
                  <a:close/>
                </a:path>
              </a:pathLst>
            </a:custGeom>
            <a:blipFill>
              <a:blip r:embed="rId3">
                <a:alphaModFix amt="0"/>
              </a:blip>
              <a:stretch>
                <a:fillRect l="0" t="-33449" r="0" b="-33449"/>
              </a:stretch>
            </a:blipFill>
          </p:spPr>
        </p:sp>
      </p:grpSp>
      <p:grpSp>
        <p:nvGrpSpPr>
          <p:cNvPr name="Group 10" id="10"/>
          <p:cNvGrpSpPr/>
          <p:nvPr/>
        </p:nvGrpSpPr>
        <p:grpSpPr>
          <a:xfrm rot="0">
            <a:off x="731520" y="3431857"/>
            <a:ext cx="10972800" cy="2660333"/>
            <a:chOff x="0" y="0"/>
            <a:chExt cx="14630400" cy="3547110"/>
          </a:xfrm>
        </p:grpSpPr>
        <p:sp>
          <p:nvSpPr>
            <p:cNvPr name="Freeform 11" id="11"/>
            <p:cNvSpPr/>
            <p:nvPr/>
          </p:nvSpPr>
          <p:spPr>
            <a:xfrm flipH="false" flipV="false" rot="0">
              <a:off x="0" y="0"/>
              <a:ext cx="14630400" cy="3547110"/>
            </a:xfrm>
            <a:custGeom>
              <a:avLst/>
              <a:gdLst/>
              <a:ahLst/>
              <a:cxnLst/>
              <a:rect r="r" b="b" t="t" l="l"/>
              <a:pathLst>
                <a:path h="3547110" w="14630400">
                  <a:moveTo>
                    <a:pt x="0" y="0"/>
                  </a:moveTo>
                  <a:lnTo>
                    <a:pt x="14630400" y="0"/>
                  </a:lnTo>
                  <a:lnTo>
                    <a:pt x="14630400" y="3547110"/>
                  </a:lnTo>
                  <a:lnTo>
                    <a:pt x="0" y="3547110"/>
                  </a:lnTo>
                  <a:close/>
                </a:path>
              </a:pathLst>
            </a:custGeom>
            <a:blipFill>
              <a:blip r:embed="rId4">
                <a:alphaModFix amt="0"/>
              </a:blip>
              <a:stretch>
                <a:fillRect l="0" t="-30367" r="0" b="-30367"/>
              </a:stretch>
            </a:blipFill>
          </p:spPr>
        </p:sp>
        <p:sp>
          <p:nvSpPr>
            <p:cNvPr name="TextBox 12" id="12"/>
            <p:cNvSpPr txBox="true"/>
            <p:nvPr/>
          </p:nvSpPr>
          <p:spPr>
            <a:xfrm>
              <a:off x="0" y="-133350"/>
              <a:ext cx="14630400" cy="3680460"/>
            </a:xfrm>
            <a:prstGeom prst="rect">
              <a:avLst/>
            </a:prstGeom>
          </p:spPr>
          <p:txBody>
            <a:bodyPr anchor="ctr" rtlCol="false" tIns="0" lIns="0" bIns="0" rIns="0"/>
            <a:lstStyle/>
            <a:p>
              <a:pPr algn="l">
                <a:lnSpc>
                  <a:spcPts val="8160"/>
                </a:lnSpc>
              </a:pPr>
              <a:r>
                <a:rPr lang="en-US" sz="6801" b="true">
                  <a:solidFill>
                    <a:srgbClr val="FFFFFF"/>
                  </a:solidFill>
                  <a:latin typeface="Calibri (MS) Bold"/>
                  <a:ea typeface="Calibri (MS) Bold"/>
                  <a:cs typeface="Calibri (MS) Bold"/>
                  <a:sym typeface="Calibri (MS) Bold"/>
                </a:rPr>
                <a:t>Thank You!</a:t>
              </a:r>
            </a:p>
          </p:txBody>
        </p:sp>
      </p:grpSp>
      <p:grpSp>
        <p:nvGrpSpPr>
          <p:cNvPr name="Group 13" id="13"/>
          <p:cNvGrpSpPr/>
          <p:nvPr/>
        </p:nvGrpSpPr>
        <p:grpSpPr>
          <a:xfrm rot="0">
            <a:off x="731520" y="4572000"/>
            <a:ext cx="10424160" cy="1554480"/>
            <a:chOff x="0" y="0"/>
            <a:chExt cx="13898880" cy="2072640"/>
          </a:xfrm>
        </p:grpSpPr>
        <p:sp>
          <p:nvSpPr>
            <p:cNvPr name="Freeform 14" id="14"/>
            <p:cNvSpPr/>
            <p:nvPr/>
          </p:nvSpPr>
          <p:spPr>
            <a:xfrm flipH="false" flipV="false" rot="0">
              <a:off x="0" y="0"/>
              <a:ext cx="13898880" cy="2072640"/>
            </a:xfrm>
            <a:custGeom>
              <a:avLst/>
              <a:gdLst/>
              <a:ahLst/>
              <a:cxnLst/>
              <a:rect r="r" b="b" t="t" l="l"/>
              <a:pathLst>
                <a:path h="2072640" w="13898880">
                  <a:moveTo>
                    <a:pt x="0" y="0"/>
                  </a:moveTo>
                  <a:lnTo>
                    <a:pt x="13898880" y="0"/>
                  </a:lnTo>
                  <a:lnTo>
                    <a:pt x="13898880" y="2072640"/>
                  </a:lnTo>
                  <a:lnTo>
                    <a:pt x="0" y="2072640"/>
                  </a:lnTo>
                  <a:close/>
                </a:path>
              </a:pathLst>
            </a:custGeom>
            <a:blipFill>
              <a:blip r:embed="rId3">
                <a:alphaModFix amt="0"/>
              </a:blip>
              <a:stretch>
                <a:fillRect l="0" t="-80573" r="0" b="-80573"/>
              </a:stretch>
            </a:blipFill>
          </p:spPr>
        </p:sp>
      </p:grpSp>
      <p:grpSp>
        <p:nvGrpSpPr>
          <p:cNvPr name="Group 15" id="15"/>
          <p:cNvGrpSpPr/>
          <p:nvPr/>
        </p:nvGrpSpPr>
        <p:grpSpPr>
          <a:xfrm rot="0">
            <a:off x="731520" y="4529138"/>
            <a:ext cx="10424160" cy="1597343"/>
            <a:chOff x="0" y="0"/>
            <a:chExt cx="13898880" cy="2129790"/>
          </a:xfrm>
        </p:grpSpPr>
        <p:sp>
          <p:nvSpPr>
            <p:cNvPr name="Freeform 16" id="16"/>
            <p:cNvSpPr/>
            <p:nvPr/>
          </p:nvSpPr>
          <p:spPr>
            <a:xfrm flipH="false" flipV="false" rot="0">
              <a:off x="0" y="0"/>
              <a:ext cx="13898880" cy="2129790"/>
            </a:xfrm>
            <a:custGeom>
              <a:avLst/>
              <a:gdLst/>
              <a:ahLst/>
              <a:cxnLst/>
              <a:rect r="r" b="b" t="t" l="l"/>
              <a:pathLst>
                <a:path h="2129790" w="13898880">
                  <a:moveTo>
                    <a:pt x="0" y="0"/>
                  </a:moveTo>
                  <a:lnTo>
                    <a:pt x="13898880" y="0"/>
                  </a:lnTo>
                  <a:lnTo>
                    <a:pt x="13898880" y="2129790"/>
                  </a:lnTo>
                  <a:lnTo>
                    <a:pt x="0" y="2129790"/>
                  </a:lnTo>
                  <a:close/>
                </a:path>
              </a:pathLst>
            </a:custGeom>
            <a:blipFill>
              <a:blip r:embed="rId4">
                <a:alphaModFix amt="0"/>
              </a:blip>
              <a:stretch>
                <a:fillRect l="0" t="-77158" r="0" b="-77158"/>
              </a:stretch>
            </a:blipFill>
          </p:spPr>
        </p:sp>
        <p:sp>
          <p:nvSpPr>
            <p:cNvPr name="TextBox 17" id="17"/>
            <p:cNvSpPr txBox="true"/>
            <p:nvPr/>
          </p:nvSpPr>
          <p:spPr>
            <a:xfrm>
              <a:off x="0" y="-57150"/>
              <a:ext cx="13898880" cy="2186940"/>
            </a:xfrm>
            <a:prstGeom prst="rect">
              <a:avLst/>
            </a:prstGeom>
          </p:spPr>
          <p:txBody>
            <a:bodyPr anchor="ctr" rtlCol="false" tIns="0" lIns="0" bIns="0" rIns="0"/>
            <a:lstStyle/>
            <a:p>
              <a:pPr algn="l">
                <a:lnSpc>
                  <a:spcPts val="3120"/>
                </a:lnSpc>
              </a:pPr>
            </a:p>
          </p:txBody>
        </p:sp>
      </p:grpSp>
      <p:grpSp>
        <p:nvGrpSpPr>
          <p:cNvPr name="Group 18" id="18"/>
          <p:cNvGrpSpPr/>
          <p:nvPr/>
        </p:nvGrpSpPr>
        <p:grpSpPr>
          <a:xfrm rot="0">
            <a:off x="12070080" y="4023360"/>
            <a:ext cx="5669280" cy="1005840"/>
            <a:chOff x="0" y="0"/>
            <a:chExt cx="7559040" cy="1341120"/>
          </a:xfrm>
        </p:grpSpPr>
        <p:sp>
          <p:nvSpPr>
            <p:cNvPr name="Freeform 19" id="19"/>
            <p:cNvSpPr/>
            <p:nvPr/>
          </p:nvSpPr>
          <p:spPr>
            <a:xfrm flipH="false" flipV="false" rot="0">
              <a:off x="0" y="0"/>
              <a:ext cx="7559040" cy="1341120"/>
            </a:xfrm>
            <a:custGeom>
              <a:avLst/>
              <a:gdLst/>
              <a:ahLst/>
              <a:cxnLst/>
              <a:rect r="r" b="b" t="t" l="l"/>
              <a:pathLst>
                <a:path h="1341120" w="7559040">
                  <a:moveTo>
                    <a:pt x="0" y="0"/>
                  </a:moveTo>
                  <a:lnTo>
                    <a:pt x="7559040" y="0"/>
                  </a:lnTo>
                  <a:lnTo>
                    <a:pt x="7559040" y="1341120"/>
                  </a:lnTo>
                  <a:lnTo>
                    <a:pt x="0" y="1341120"/>
                  </a:lnTo>
                  <a:close/>
                </a:path>
              </a:pathLst>
            </a:custGeom>
            <a:blipFill>
              <a:blip r:embed="rId3">
                <a:alphaModFix amt="0"/>
              </a:blip>
              <a:stretch>
                <a:fillRect l="0" t="-59748" r="0" b="-59749"/>
              </a:stretch>
            </a:blipFill>
          </p:spPr>
        </p:sp>
      </p:grpSp>
      <p:grpSp>
        <p:nvGrpSpPr>
          <p:cNvPr name="Group 20" id="20"/>
          <p:cNvGrpSpPr/>
          <p:nvPr/>
        </p:nvGrpSpPr>
        <p:grpSpPr>
          <a:xfrm rot="0">
            <a:off x="12429185" y="3699034"/>
            <a:ext cx="5669280" cy="1062990"/>
            <a:chOff x="0" y="0"/>
            <a:chExt cx="7559040" cy="1417320"/>
          </a:xfrm>
        </p:grpSpPr>
        <p:sp>
          <p:nvSpPr>
            <p:cNvPr name="Freeform 21" id="21"/>
            <p:cNvSpPr/>
            <p:nvPr/>
          </p:nvSpPr>
          <p:spPr>
            <a:xfrm flipH="false" flipV="false" rot="0">
              <a:off x="0" y="0"/>
              <a:ext cx="7559040" cy="1417320"/>
            </a:xfrm>
            <a:custGeom>
              <a:avLst/>
              <a:gdLst/>
              <a:ahLst/>
              <a:cxnLst/>
              <a:rect r="r" b="b" t="t" l="l"/>
              <a:pathLst>
                <a:path h="1417320" w="7559040">
                  <a:moveTo>
                    <a:pt x="0" y="0"/>
                  </a:moveTo>
                  <a:lnTo>
                    <a:pt x="7559040" y="0"/>
                  </a:lnTo>
                  <a:lnTo>
                    <a:pt x="7559040" y="1417320"/>
                  </a:lnTo>
                  <a:lnTo>
                    <a:pt x="0" y="1417320"/>
                  </a:lnTo>
                  <a:close/>
                </a:path>
              </a:pathLst>
            </a:custGeom>
            <a:blipFill>
              <a:blip r:embed="rId4">
                <a:alphaModFix amt="0"/>
              </a:blip>
              <a:stretch>
                <a:fillRect l="0" t="-53920" r="0" b="-53920"/>
              </a:stretch>
            </a:blipFill>
          </p:spPr>
        </p:sp>
        <p:sp>
          <p:nvSpPr>
            <p:cNvPr name="TextBox 22" id="22"/>
            <p:cNvSpPr txBox="true"/>
            <p:nvPr/>
          </p:nvSpPr>
          <p:spPr>
            <a:xfrm>
              <a:off x="0" y="-95250"/>
              <a:ext cx="7559040" cy="1512570"/>
            </a:xfrm>
            <a:prstGeom prst="rect">
              <a:avLst/>
            </a:prstGeom>
          </p:spPr>
          <p:txBody>
            <a:bodyPr anchor="ctr" rtlCol="false" tIns="0" lIns="0" bIns="0" rIns="0"/>
            <a:lstStyle/>
            <a:p>
              <a:pPr algn="ctr">
                <a:lnSpc>
                  <a:spcPts val="5280"/>
                </a:lnSpc>
              </a:pPr>
              <a:r>
                <a:rPr lang="en-US" sz="4399" b="true">
                  <a:solidFill>
                    <a:srgbClr val="FFFFFF"/>
                  </a:solidFill>
                  <a:latin typeface="Calibri (MS) Bold"/>
                  <a:ea typeface="Calibri (MS) Bold"/>
                  <a:cs typeface="Calibri (MS) Bold"/>
                  <a:sym typeface="Calibri (MS) Bold"/>
                </a:rPr>
                <a:t>Questions?</a:t>
              </a:r>
            </a:p>
          </p:txBody>
        </p:sp>
      </p:grpSp>
      <p:grpSp>
        <p:nvGrpSpPr>
          <p:cNvPr name="Group 23" id="23"/>
          <p:cNvGrpSpPr/>
          <p:nvPr/>
        </p:nvGrpSpPr>
        <p:grpSpPr>
          <a:xfrm rot="0">
            <a:off x="12070080" y="5029200"/>
            <a:ext cx="5669280" cy="822960"/>
            <a:chOff x="0" y="0"/>
            <a:chExt cx="7559040" cy="1097280"/>
          </a:xfrm>
        </p:grpSpPr>
        <p:sp>
          <p:nvSpPr>
            <p:cNvPr name="Freeform 24" id="24"/>
            <p:cNvSpPr/>
            <p:nvPr/>
          </p:nvSpPr>
          <p:spPr>
            <a:xfrm flipH="false" flipV="false" rot="0">
              <a:off x="0" y="0"/>
              <a:ext cx="7559040" cy="1097280"/>
            </a:xfrm>
            <a:custGeom>
              <a:avLst/>
              <a:gdLst/>
              <a:ahLst/>
              <a:cxnLst/>
              <a:rect r="r" b="b" t="t" l="l"/>
              <a:pathLst>
                <a:path h="1097280" w="7559040">
                  <a:moveTo>
                    <a:pt x="0" y="0"/>
                  </a:moveTo>
                  <a:lnTo>
                    <a:pt x="7559040" y="0"/>
                  </a:lnTo>
                  <a:lnTo>
                    <a:pt x="7559040" y="1097280"/>
                  </a:lnTo>
                  <a:lnTo>
                    <a:pt x="0" y="1097280"/>
                  </a:lnTo>
                  <a:close/>
                </a:path>
              </a:pathLst>
            </a:custGeom>
            <a:blipFill>
              <a:blip r:embed="rId3">
                <a:alphaModFix amt="0"/>
              </a:blip>
              <a:stretch>
                <a:fillRect l="0" t="-84136" r="0" b="-84137"/>
              </a:stretch>
            </a:blipFill>
          </p:spPr>
        </p:sp>
      </p:grpSp>
      <p:grpSp>
        <p:nvGrpSpPr>
          <p:cNvPr name="Group 25" id="25"/>
          <p:cNvGrpSpPr/>
          <p:nvPr/>
        </p:nvGrpSpPr>
        <p:grpSpPr>
          <a:xfrm rot="0">
            <a:off x="12252960" y="5260658"/>
            <a:ext cx="5669280" cy="865823"/>
            <a:chOff x="0" y="0"/>
            <a:chExt cx="7559040" cy="1154430"/>
          </a:xfrm>
        </p:grpSpPr>
        <p:sp>
          <p:nvSpPr>
            <p:cNvPr name="Freeform 26" id="26"/>
            <p:cNvSpPr/>
            <p:nvPr/>
          </p:nvSpPr>
          <p:spPr>
            <a:xfrm flipH="false" flipV="false" rot="0">
              <a:off x="0" y="0"/>
              <a:ext cx="7559040" cy="1154430"/>
            </a:xfrm>
            <a:custGeom>
              <a:avLst/>
              <a:gdLst/>
              <a:ahLst/>
              <a:cxnLst/>
              <a:rect r="r" b="b" t="t" l="l"/>
              <a:pathLst>
                <a:path h="1154430" w="7559040">
                  <a:moveTo>
                    <a:pt x="0" y="0"/>
                  </a:moveTo>
                  <a:lnTo>
                    <a:pt x="7559040" y="0"/>
                  </a:lnTo>
                  <a:lnTo>
                    <a:pt x="7559040" y="1154430"/>
                  </a:lnTo>
                  <a:lnTo>
                    <a:pt x="0" y="1154430"/>
                  </a:lnTo>
                  <a:close/>
                </a:path>
              </a:pathLst>
            </a:custGeom>
            <a:blipFill>
              <a:blip r:embed="rId4">
                <a:alphaModFix amt="0"/>
              </a:blip>
              <a:stretch>
                <a:fillRect l="0" t="-77585" r="0" b="-77585"/>
              </a:stretch>
            </a:blipFill>
          </p:spPr>
        </p:sp>
        <p:sp>
          <p:nvSpPr>
            <p:cNvPr name="TextBox 27" id="27"/>
            <p:cNvSpPr txBox="true"/>
            <p:nvPr/>
          </p:nvSpPr>
          <p:spPr>
            <a:xfrm>
              <a:off x="0" y="-76200"/>
              <a:ext cx="7559040" cy="1230630"/>
            </a:xfrm>
            <a:prstGeom prst="rect">
              <a:avLst/>
            </a:prstGeom>
          </p:spPr>
          <p:txBody>
            <a:bodyPr anchor="ctr" rtlCol="false" tIns="0" lIns="0" bIns="0" rIns="0"/>
            <a:lstStyle/>
            <a:p>
              <a:pPr algn="ctr">
                <a:lnSpc>
                  <a:spcPts val="3840"/>
                </a:lnSpc>
              </a:pPr>
              <a:r>
                <a:rPr lang="en-US" sz="3199">
                  <a:solidFill>
                    <a:srgbClr val="90CAF9"/>
                  </a:solidFill>
                  <a:latin typeface="Calibri (MS)"/>
                  <a:ea typeface="Calibri (MS)"/>
                  <a:cs typeface="Calibri (MS)"/>
                  <a:sym typeface="Calibri (MS)"/>
                </a:rPr>
                <a:t>Let's dig in.</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DAHJXAxzx9g</dc:identifier>
  <dcterms:modified xsi:type="dcterms:W3CDTF">2011-08-01T06:04:30Z</dcterms:modified>
  <cp:revision>1</cp:revision>
  <dc:title>Presentation.pptx</dc:title>
</cp:coreProperties>
</file>